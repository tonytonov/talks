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455" r:id="rId6"/>
    <p:sldId id="2147483460" r:id="rId7"/>
    <p:sldId id="492" r:id="rId8"/>
    <p:sldId id="458" r:id="rId9"/>
    <p:sldId id="460" r:id="rId10"/>
    <p:sldId id="463" r:id="rId11"/>
    <p:sldId id="464" r:id="rId12"/>
    <p:sldId id="466" r:id="rId13"/>
    <p:sldId id="493" r:id="rId14"/>
    <p:sldId id="472" r:id="rId15"/>
    <p:sldId id="468" r:id="rId16"/>
    <p:sldId id="469" r:id="rId17"/>
    <p:sldId id="494" r:id="rId18"/>
    <p:sldId id="473" r:id="rId19"/>
    <p:sldId id="474" r:id="rId20"/>
    <p:sldId id="475" r:id="rId21"/>
    <p:sldId id="476" r:id="rId22"/>
    <p:sldId id="478" r:id="rId23"/>
    <p:sldId id="479" r:id="rId24"/>
    <p:sldId id="482" r:id="rId25"/>
    <p:sldId id="481" r:id="rId26"/>
    <p:sldId id="486" r:id="rId27"/>
    <p:sldId id="487" r:id="rId28"/>
    <p:sldId id="488" r:id="rId29"/>
    <p:sldId id="489" r:id="rId30"/>
    <p:sldId id="415" r:id="rId31"/>
  </p:sldIdLst>
  <p:sldSz cx="12192000" cy="6858000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directions" id="{9E4ACA30-D387-48B9-B60B-FCAB7867C6F7}">
          <p14:sldIdLst>
            <p14:sldId id="256"/>
            <p14:sldId id="455"/>
            <p14:sldId id="2147483460"/>
            <p14:sldId id="492"/>
            <p14:sldId id="458"/>
            <p14:sldId id="460"/>
            <p14:sldId id="463"/>
            <p14:sldId id="464"/>
            <p14:sldId id="466"/>
            <p14:sldId id="493"/>
            <p14:sldId id="472"/>
            <p14:sldId id="468"/>
            <p14:sldId id="469"/>
            <p14:sldId id="494"/>
            <p14:sldId id="473"/>
            <p14:sldId id="474"/>
            <p14:sldId id="475"/>
            <p14:sldId id="476"/>
            <p14:sldId id="478"/>
            <p14:sldId id="479"/>
            <p14:sldId id="482"/>
            <p14:sldId id="481"/>
            <p14:sldId id="486"/>
            <p14:sldId id="487"/>
            <p14:sldId id="488"/>
            <p14:sldId id="489"/>
            <p14:sldId id="4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232F3E"/>
    <a:srgbClr val="000000"/>
    <a:srgbClr val="00D6C7"/>
    <a:srgbClr val="7F1EE7"/>
    <a:srgbClr val="41B3FF"/>
    <a:srgbClr val="FCFCFD"/>
    <a:srgbClr val="997ADA"/>
    <a:srgbClr val="8A6900"/>
    <a:srgbClr val="755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53F06-3282-4F2A-94CE-29ACA0D215FF}" v="5" dt="2025-10-14T11:41:31.754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52" autoAdjust="0"/>
    <p:restoredTop sz="97382" autoAdjust="0"/>
  </p:normalViewPr>
  <p:slideViewPr>
    <p:cSldViewPr snapToGrid="0">
      <p:cViewPr varScale="1">
        <p:scale>
          <a:sx n="152" d="100"/>
          <a:sy n="152" d="100"/>
        </p:scale>
        <p:origin x="156" y="204"/>
      </p:cViewPr>
      <p:guideLst>
        <p:guide orient="horz" pos="12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0" d="100"/>
          <a:sy n="110" d="100"/>
        </p:scale>
        <p:origin x="333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tus, Arseni" userId="ee235184-4e4b-4d91-b524-e131035bd3bb" providerId="ADAL" clId="{62753F06-3282-4F2A-94CE-29ACA0D215FF}"/>
    <pc:docChg chg="custSel modSld">
      <pc:chgData name="Yustus, Arseni" userId="ee235184-4e4b-4d91-b524-e131035bd3bb" providerId="ADAL" clId="{62753F06-3282-4F2A-94CE-29ACA0D215FF}" dt="2025-10-15T10:10:31.253" v="170" actId="6549"/>
      <pc:docMkLst>
        <pc:docMk/>
      </pc:docMkLst>
      <pc:sldChg chg="modNotesTx">
        <pc:chgData name="Yustus, Arseni" userId="ee235184-4e4b-4d91-b524-e131035bd3bb" providerId="ADAL" clId="{62753F06-3282-4F2A-94CE-29ACA0D215FF}" dt="2025-10-15T09:54:07.191" v="144" actId="33524"/>
        <pc:sldMkLst>
          <pc:docMk/>
          <pc:sldMk cId="1697114955" sldId="256"/>
        </pc:sldMkLst>
      </pc:sldChg>
      <pc:sldChg chg="modNotesTx">
        <pc:chgData name="Yustus, Arseni" userId="ee235184-4e4b-4d91-b524-e131035bd3bb" providerId="ADAL" clId="{62753F06-3282-4F2A-94CE-29ACA0D215FF}" dt="2025-10-15T09:53:43.364" v="143" actId="20577"/>
        <pc:sldMkLst>
          <pc:docMk/>
          <pc:sldMk cId="3515977525" sldId="421"/>
        </pc:sldMkLst>
      </pc:sldChg>
      <pc:sldChg chg="modAnim modNotesTx">
        <pc:chgData name="Yustus, Arseni" userId="ee235184-4e4b-4d91-b524-e131035bd3bb" providerId="ADAL" clId="{62753F06-3282-4F2A-94CE-29ACA0D215FF}" dt="2025-10-15T09:52:41.339" v="104" actId="20577"/>
        <pc:sldMkLst>
          <pc:docMk/>
          <pc:sldMk cId="2745193714" sldId="422"/>
        </pc:sldMkLst>
      </pc:sldChg>
      <pc:sldChg chg="modNotesTx">
        <pc:chgData name="Yustus, Arseni" userId="ee235184-4e4b-4d91-b524-e131035bd3bb" providerId="ADAL" clId="{62753F06-3282-4F2A-94CE-29ACA0D215FF}" dt="2025-10-15T10:10:31.253" v="170" actId="6549"/>
        <pc:sldMkLst>
          <pc:docMk/>
          <pc:sldMk cId="1596423990" sldId="426"/>
        </pc:sldMkLst>
      </pc:sldChg>
      <pc:sldChg chg="modNotesTx">
        <pc:chgData name="Yustus, Arseni" userId="ee235184-4e4b-4d91-b524-e131035bd3bb" providerId="ADAL" clId="{62753F06-3282-4F2A-94CE-29ACA0D215FF}" dt="2025-10-14T11:41:00.725" v="55" actId="20577"/>
        <pc:sldMkLst>
          <pc:docMk/>
          <pc:sldMk cId="2905342999" sldId="4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Verdana" panose="020F0603020204020204" pitchFamily="34" charset="0"/>
              </a:rPr>
              <a:pPr algn="ctr"/>
              <a:t>‹#›</a:t>
            </a:fld>
            <a:endParaRPr lang="en-US" sz="1000" dirty="0">
              <a:latin typeface="Verdana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Verdana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Verdana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Verdana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Verdana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Verdana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Verdana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51435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A1041-9B3C-439E-B0CD-6B58F9A3AC8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10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1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89F7AE3-B186-CC6C-972A-B5DF6BA0D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512" y="5458762"/>
            <a:ext cx="6831099" cy="1008061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 Surname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E80D372B-D6E9-8FC8-C924-3B064EFB386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56588" y="522556"/>
            <a:ext cx="3419475" cy="58226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ts val="3900"/>
              </a:lnSpc>
              <a:buNone/>
              <a:defRPr sz="29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Click </a:t>
            </a:r>
            <a:r>
              <a:rPr lang="en-US" dirty="0"/>
              <a:t>I</a:t>
            </a:r>
            <a:r>
              <a:rPr lang="en-GB" dirty="0"/>
              <a:t>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1FC476-F760-8999-AFA3-13BEC91058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6" y="1714866"/>
            <a:ext cx="6831099" cy="3154710"/>
          </a:xfrm>
        </p:spPr>
        <p:txBody>
          <a:bodyPr anchor="t">
            <a:spAutoFit/>
          </a:bodyPr>
          <a:lstStyle>
            <a:lvl1pPr algn="l">
              <a:lnSpc>
                <a:spcPts val="80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</a:t>
            </a:r>
            <a:r>
              <a:rPr lang="en-US" dirty="0"/>
              <a:t>Presentation</a:t>
            </a:r>
            <a:r>
              <a:rPr lang="en-GB" dirty="0"/>
              <a:t> Title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1575A3-E68C-4363-DD03-5D1D85CF1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D8F49AE-2127-4EC2-0ADD-5D789BB898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042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F52E9E-2ED6-075F-62C7-C218ED3FA0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F8867FE-301A-926A-A653-51710EE792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512" y="5458762"/>
            <a:ext cx="6831099" cy="1008061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 Surname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A9C1FA-EE14-2B83-E57D-4381A9EF19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6" y="1714866"/>
            <a:ext cx="6831099" cy="3154710"/>
          </a:xfrm>
        </p:spPr>
        <p:txBody>
          <a:bodyPr anchor="t">
            <a:spAutoFit/>
          </a:bodyPr>
          <a:lstStyle>
            <a:lvl1pPr algn="l">
              <a:lnSpc>
                <a:spcPts val="80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</a:t>
            </a:r>
            <a:r>
              <a:rPr lang="en-US" dirty="0"/>
              <a:t>Presentation</a:t>
            </a:r>
            <a:r>
              <a:rPr lang="en-GB" dirty="0"/>
              <a:t> Title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ED54D57D-DCB5-77D2-182C-AA21BFAFF4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BC754EA-4460-7537-021F-33437FC822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8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C5A289-5659-8476-1F2F-6588937260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BF1463F-FB84-9CA4-93B5-2859A2DE01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512" y="5458762"/>
            <a:ext cx="6831099" cy="1008061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 Surname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E0297F3-56A5-D3BC-4E05-276172ECB8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6" y="1714866"/>
            <a:ext cx="6831099" cy="3154710"/>
          </a:xfrm>
        </p:spPr>
        <p:txBody>
          <a:bodyPr anchor="t">
            <a:spAutoFit/>
          </a:bodyPr>
          <a:lstStyle>
            <a:lvl1pPr algn="l">
              <a:lnSpc>
                <a:spcPts val="80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</a:t>
            </a:r>
            <a:r>
              <a:rPr lang="en-US" dirty="0"/>
              <a:t>Presentation</a:t>
            </a:r>
            <a:r>
              <a:rPr lang="en-GB" dirty="0"/>
              <a:t> Title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88308B83-8CAE-9018-CBF0-18049672F2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38F13E6-DF33-3AF6-D592-57BE1E87CA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96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7E6456-8332-998D-1195-AF474E0555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EEF3BE-8883-E2FF-A97C-85DB9B2B1B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512" y="5458762"/>
            <a:ext cx="6831099" cy="1008061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 Surname</a:t>
            </a:r>
            <a:br>
              <a:rPr lang="en-GB" dirty="0"/>
            </a:br>
            <a:r>
              <a:rPr lang="en-GB" dirty="0"/>
              <a:t>Job 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8FABB7-65F4-7893-B2EF-A7054E8BB9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6" y="1714866"/>
            <a:ext cx="6831099" cy="3154710"/>
          </a:xfrm>
        </p:spPr>
        <p:txBody>
          <a:bodyPr anchor="t">
            <a:spAutoFit/>
          </a:bodyPr>
          <a:lstStyle>
            <a:lvl1pPr algn="l">
              <a:lnSpc>
                <a:spcPts val="80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</a:t>
            </a:r>
            <a:r>
              <a:rPr lang="en-US" dirty="0"/>
              <a:t>Presentation</a:t>
            </a:r>
            <a:r>
              <a:rPr lang="en-GB" dirty="0"/>
              <a:t> Title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CCBB9195-265F-B465-3559-3BEAABB5B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A1A34D-1736-1E42-6E5B-2334EAF43D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29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D079DBA9-DCBD-9051-8C1E-C4D5EEB99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866483" y="5929890"/>
            <a:ext cx="2039018" cy="36982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2442C83-0DDB-F8B3-0E6E-32373F960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418763" y="3536950"/>
            <a:ext cx="1257300" cy="17018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C48C1CA-ED31-E5E0-602E-C135AD4C62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2335" y="523707"/>
            <a:ext cx="381000" cy="1524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8D45E2-E2D5-A9FB-E544-B33BE04526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6113" y="884394"/>
            <a:ext cx="1143000" cy="2565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2A01800-7778-39DD-0DAD-70CA658F87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062" y="3024034"/>
            <a:ext cx="850900" cy="25654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8E269804-A968-5F3F-BDB7-5B451B4A0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03725" y="2997200"/>
            <a:ext cx="660400" cy="2565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5936" y="512764"/>
            <a:ext cx="11167399" cy="2462213"/>
          </a:xfrm>
        </p:spPr>
        <p:txBody>
          <a:bodyPr wrap="square" anchor="t">
            <a:spAutoFit/>
          </a:bodyPr>
          <a:lstStyle>
            <a:lvl1pPr algn="l">
              <a:lnSpc>
                <a:spcPts val="9600"/>
              </a:lnSpc>
              <a:spcBef>
                <a:spcPts val="0"/>
              </a:spcBef>
              <a:defRPr sz="96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</a:t>
            </a:r>
            <a:r>
              <a:rPr lang="en-US" dirty="0"/>
              <a:t>Presentation</a:t>
            </a:r>
            <a:r>
              <a:rPr lang="en-GB" dirty="0"/>
              <a:t> Title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B0597C3-86A6-79F9-ACCF-869CA5DBB5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5876" y="5862702"/>
            <a:ext cx="2796409" cy="512826"/>
          </a:xfrm>
          <a:prstGeom prst="roundRect">
            <a:avLst>
              <a:gd name="adj" fmla="val 17182"/>
            </a:avLst>
          </a:prstGeom>
          <a:solidFill>
            <a:schemeClr val="accent1"/>
          </a:solidFill>
        </p:spPr>
        <p:txBody>
          <a:bodyPr wrap="none" lIns="180000" tIns="36000" rIns="180000" bIns="36000">
            <a:sp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AE22DA0D-7B4F-724C-CC22-218D28BC65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4398" y="5862702"/>
            <a:ext cx="1703569" cy="512826"/>
          </a:xfrm>
          <a:prstGeom prst="roundRect">
            <a:avLst>
              <a:gd name="adj" fmla="val 17182"/>
            </a:avLst>
          </a:prstGeom>
          <a:solidFill>
            <a:schemeClr val="accent2"/>
          </a:solidFill>
        </p:spPr>
        <p:txBody>
          <a:bodyPr wrap="none" lIns="180000" tIns="36000" rIns="180000" bIns="3600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E78B14C-D8F7-0909-11BC-B5D47BD260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0079" y="5862702"/>
            <a:ext cx="2249657" cy="512826"/>
          </a:xfrm>
          <a:prstGeom prst="roundRect">
            <a:avLst>
              <a:gd name="adj" fmla="val 17182"/>
            </a:avLst>
          </a:prstGeom>
          <a:solidFill>
            <a:schemeClr val="tx1"/>
          </a:solidFill>
        </p:spPr>
        <p:txBody>
          <a:bodyPr wrap="none" lIns="180000" tIns="36000" rIns="180000" bIns="36000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00/00/2024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79C88D2-BB15-C58D-3072-97B4E0E52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112248" y="5934279"/>
            <a:ext cx="1571087" cy="3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77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28AE1A1A-A306-E0DF-6030-998AC0017F5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356476" y="522556"/>
            <a:ext cx="4319588" cy="5319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ts val="3900"/>
              </a:lnSpc>
              <a:buNone/>
              <a:defRPr sz="29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Click </a:t>
            </a:r>
            <a:r>
              <a:rPr lang="en-US" dirty="0"/>
              <a:t>I</a:t>
            </a:r>
            <a:r>
              <a:rPr lang="en-GB" dirty="0"/>
              <a:t>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BB11C3-A795-ACE7-C93F-3C2F625804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8" y="425748"/>
            <a:ext cx="6615198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</a:t>
            </a:r>
            <a:r>
              <a:rPr lang="en-US" dirty="0"/>
              <a:t>Section</a:t>
            </a:r>
            <a:r>
              <a:rPr lang="en-GB" dirty="0"/>
              <a:t> Title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A9078B-9708-19E9-2F32-1847EF530D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376" y="2950266"/>
            <a:ext cx="6615199" cy="1699055"/>
          </a:xfrm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1076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1 -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0D6803-D8AA-2249-B909-AB664DD5AC8A}" type="slidenum">
              <a:rPr lang="en-RU" smtClean="0"/>
              <a:pPr/>
              <a:t>‹#›</a:t>
            </a:fld>
            <a:endParaRPr lang="en-RU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28AE1A1A-A306-E0DF-6030-998AC0017F5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356476" y="522556"/>
            <a:ext cx="4319588" cy="53194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ts val="3900"/>
              </a:lnSpc>
              <a:buNone/>
              <a:defRPr sz="29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Click </a:t>
            </a:r>
            <a:r>
              <a:rPr lang="en-US" dirty="0"/>
              <a:t>I</a:t>
            </a:r>
            <a:r>
              <a:rPr lang="en-GB" dirty="0"/>
              <a:t>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645979-DCEA-A6B1-C980-54D1BD22A8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8" y="425748"/>
            <a:ext cx="5426160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2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31E08C-B0DD-CD9A-F21A-BE6397A49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377" y="2950266"/>
            <a:ext cx="5426160" cy="1699055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1666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241B4-28C5-349D-FE6D-6774480A33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3950" y="523914"/>
            <a:ext cx="5460961" cy="529231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A5972B-ED9D-741F-24F7-D0BBC231D6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8" y="425748"/>
            <a:ext cx="5426160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2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488B181-C0E7-14D0-1C33-FD9846F53E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377" y="2950266"/>
            <a:ext cx="5426160" cy="1699055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9128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2 -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0D6803-D8AA-2249-B909-AB664DD5AC8A}" type="slidenum">
              <a:rPr lang="en-RU" smtClean="0"/>
              <a:pPr/>
              <a:t>‹#›</a:t>
            </a:fld>
            <a:endParaRPr lang="en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A5972B-ED9D-741F-24F7-D0BBC231D6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8" y="425748"/>
            <a:ext cx="5426160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488B181-C0E7-14D0-1C33-FD9846F53E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377" y="2950266"/>
            <a:ext cx="5426160" cy="1750287"/>
          </a:xfr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476C96-E4A1-F35F-2A0E-F941D45883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240463" y="512762"/>
            <a:ext cx="5435599" cy="527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5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92381B-8896-6EDF-CAAA-DA75C00E7D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A5972B-ED9D-741F-24F7-D0BBC231D6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8" y="425748"/>
            <a:ext cx="5426160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488B181-C0E7-14D0-1C33-FD9846F53E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377" y="2950266"/>
            <a:ext cx="5426160" cy="1750287"/>
          </a:xfr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7775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A56B4-FC5E-D69E-89A2-D6475C144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A5972B-ED9D-741F-24F7-D0BBC231D6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378" y="425748"/>
            <a:ext cx="5426160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488B181-C0E7-14D0-1C33-FD9846F53E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377" y="2950266"/>
            <a:ext cx="5426160" cy="1750287"/>
          </a:xfr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017195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8F9963-2637-CF8C-18B8-6668CB918D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50" y="425748"/>
            <a:ext cx="5472114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1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272AD0B-6A29-CD8E-5C09-93A9143CAE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2950266"/>
            <a:ext cx="5472113" cy="1750287"/>
          </a:xfr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6603EC4-8078-6818-F46B-DD25F88FBA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45522" y="266542"/>
            <a:ext cx="5426721" cy="3816429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lnSpc>
                <a:spcPct val="80000"/>
              </a:lnSpc>
              <a:defRPr sz="30000" b="0" i="0">
                <a:solidFill>
                  <a:schemeClr val="accent1"/>
                </a:solidFill>
                <a:latin typeface="+mn-lt"/>
                <a:ea typeface="Verdana" panose="02000503000000020004" pitchFamily="2" charset="0"/>
              </a:defRPr>
            </a:lvl1pPr>
            <a:lvl3pPr marL="0" indent="0">
              <a:lnSpc>
                <a:spcPts val="9600"/>
              </a:lnSpc>
              <a:spcBef>
                <a:spcPts val="0"/>
              </a:spcBef>
              <a:buFont typeface="Arial" panose="020B0604020202020204" pitchFamily="34" charset="0"/>
              <a:buNone/>
              <a:defRPr sz="9600" b="1" i="0">
                <a:solidFill>
                  <a:schemeClr val="accent1"/>
                </a:solidFill>
                <a:latin typeface="Verdana" panose="02000503000000020004" pitchFamily="2" charset="0"/>
                <a:ea typeface="Verdana" panose="02000503000000020004" pitchFamily="2" charset="0"/>
              </a:defRPr>
            </a:lvl3pPr>
            <a:lvl4pPr marL="270900" indent="-270900">
              <a:lnSpc>
                <a:spcPts val="3000"/>
              </a:lnSpc>
              <a:buClr>
                <a:schemeClr val="accent1"/>
              </a:buClr>
              <a:buFont typeface="Wingdings" pitchFamily="2" charset="2"/>
              <a:buChar char="§"/>
              <a:defRPr sz="2300">
                <a:latin typeface="Verdana" panose="02000503000000020004" pitchFamily="2" charset="0"/>
                <a:ea typeface="Verdana" panose="02000503000000020004" pitchFamily="2" charset="0"/>
              </a:defRPr>
            </a:lvl4pPr>
            <a:lvl5pPr marL="465750" indent="-213750">
              <a:buClr>
                <a:schemeClr val="accent1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299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84523F4-F32B-F3DB-7771-9102F733402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624" b="29623"/>
          <a:stretch/>
        </p:blipFill>
        <p:spPr>
          <a:xfrm>
            <a:off x="1619486" y="0"/>
            <a:ext cx="4332052" cy="6857999"/>
          </a:xfrm>
          <a:prstGeom prst="rect">
            <a:avLst/>
          </a:prstGeom>
        </p:spPr>
      </p:pic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5AD38FC7-DBBB-94EC-371F-B01E6AB2B9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4866713" cy="6872534"/>
          </a:xfrm>
          <a:custGeom>
            <a:avLst/>
            <a:gdLst>
              <a:gd name="connsiteX0" fmla="*/ 0 w 4835525"/>
              <a:gd name="connsiteY0" fmla="*/ 0 h 6858000"/>
              <a:gd name="connsiteX1" fmla="*/ 2417763 w 4835525"/>
              <a:gd name="connsiteY1" fmla="*/ 0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08388 w 4835525"/>
              <a:gd name="connsiteY1" fmla="*/ 0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08388 w 4835525"/>
              <a:gd name="connsiteY1" fmla="*/ 0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4835525 w 4835525"/>
              <a:gd name="connsiteY2" fmla="*/ 3429000 h 6858000"/>
              <a:gd name="connsiteX3" fmla="*/ 2417763 w 4835525"/>
              <a:gd name="connsiteY3" fmla="*/ 6858000 h 6858000"/>
              <a:gd name="connsiteX4" fmla="*/ 0 w 4835525"/>
              <a:gd name="connsiteY4" fmla="*/ 6858000 h 6858000"/>
              <a:gd name="connsiteX5" fmla="*/ 0 w 4835525"/>
              <a:gd name="connsiteY5" fmla="*/ 0 h 6858000"/>
              <a:gd name="connsiteX0" fmla="*/ 0 w 4858057"/>
              <a:gd name="connsiteY0" fmla="*/ 0 h 6858000"/>
              <a:gd name="connsiteX1" fmla="*/ 3616663 w 4858057"/>
              <a:gd name="connsiteY1" fmla="*/ 4138 h 6858000"/>
              <a:gd name="connsiteX2" fmla="*/ 3625516 w 4858057"/>
              <a:gd name="connsiteY2" fmla="*/ 1772653 h 6858000"/>
              <a:gd name="connsiteX3" fmla="*/ 4835525 w 4858057"/>
              <a:gd name="connsiteY3" fmla="*/ 3429000 h 6858000"/>
              <a:gd name="connsiteX4" fmla="*/ 2417763 w 4858057"/>
              <a:gd name="connsiteY4" fmla="*/ 6858000 h 6858000"/>
              <a:gd name="connsiteX5" fmla="*/ 0 w 4858057"/>
              <a:gd name="connsiteY5" fmla="*/ 6858000 h 6858000"/>
              <a:gd name="connsiteX6" fmla="*/ 0 w 4858057"/>
              <a:gd name="connsiteY6" fmla="*/ 0 h 6858000"/>
              <a:gd name="connsiteX0" fmla="*/ 0 w 4858057"/>
              <a:gd name="connsiteY0" fmla="*/ 0 h 6858000"/>
              <a:gd name="connsiteX1" fmla="*/ 3616663 w 4858057"/>
              <a:gd name="connsiteY1" fmla="*/ 4138 h 6858000"/>
              <a:gd name="connsiteX2" fmla="*/ 3625516 w 4858057"/>
              <a:gd name="connsiteY2" fmla="*/ 1772653 h 6858000"/>
              <a:gd name="connsiteX3" fmla="*/ 4835525 w 4858057"/>
              <a:gd name="connsiteY3" fmla="*/ 3429000 h 6858000"/>
              <a:gd name="connsiteX4" fmla="*/ 2417763 w 4858057"/>
              <a:gd name="connsiteY4" fmla="*/ 6858000 h 6858000"/>
              <a:gd name="connsiteX5" fmla="*/ 0 w 4858057"/>
              <a:gd name="connsiteY5" fmla="*/ 6858000 h 6858000"/>
              <a:gd name="connsiteX6" fmla="*/ 0 w 4858057"/>
              <a:gd name="connsiteY6" fmla="*/ 0 h 6858000"/>
              <a:gd name="connsiteX0" fmla="*/ 0 w 4858057"/>
              <a:gd name="connsiteY0" fmla="*/ 0 h 6858000"/>
              <a:gd name="connsiteX1" fmla="*/ 3616663 w 4858057"/>
              <a:gd name="connsiteY1" fmla="*/ 4138 h 6858000"/>
              <a:gd name="connsiteX2" fmla="*/ 3625516 w 4858057"/>
              <a:gd name="connsiteY2" fmla="*/ 1772653 h 6858000"/>
              <a:gd name="connsiteX3" fmla="*/ 4835525 w 4858057"/>
              <a:gd name="connsiteY3" fmla="*/ 3429000 h 6858000"/>
              <a:gd name="connsiteX4" fmla="*/ 2417763 w 4858057"/>
              <a:gd name="connsiteY4" fmla="*/ 6858000 h 6858000"/>
              <a:gd name="connsiteX5" fmla="*/ 0 w 4858057"/>
              <a:gd name="connsiteY5" fmla="*/ 6858000 h 6858000"/>
              <a:gd name="connsiteX6" fmla="*/ 0 w 4858057"/>
              <a:gd name="connsiteY6" fmla="*/ 0 h 6858000"/>
              <a:gd name="connsiteX0" fmla="*/ 0 w 4854915"/>
              <a:gd name="connsiteY0" fmla="*/ 0 h 6858000"/>
              <a:gd name="connsiteX1" fmla="*/ 3616663 w 4854915"/>
              <a:gd name="connsiteY1" fmla="*/ 4138 h 6858000"/>
              <a:gd name="connsiteX2" fmla="*/ 3625516 w 4854915"/>
              <a:gd name="connsiteY2" fmla="*/ 1772653 h 6858000"/>
              <a:gd name="connsiteX3" fmla="*/ 4835525 w 4854915"/>
              <a:gd name="connsiteY3" fmla="*/ 3429000 h 6858000"/>
              <a:gd name="connsiteX4" fmla="*/ 2417763 w 4854915"/>
              <a:gd name="connsiteY4" fmla="*/ 6858000 h 6858000"/>
              <a:gd name="connsiteX5" fmla="*/ 0 w 4854915"/>
              <a:gd name="connsiteY5" fmla="*/ 6858000 h 6858000"/>
              <a:gd name="connsiteX6" fmla="*/ 0 w 4854915"/>
              <a:gd name="connsiteY6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3625516 w 4835525"/>
              <a:gd name="connsiteY2" fmla="*/ 1772653 h 6858000"/>
              <a:gd name="connsiteX3" fmla="*/ 4835525 w 4835525"/>
              <a:gd name="connsiteY3" fmla="*/ 3429000 h 6858000"/>
              <a:gd name="connsiteX4" fmla="*/ 2417763 w 4835525"/>
              <a:gd name="connsiteY4" fmla="*/ 6858000 h 6858000"/>
              <a:gd name="connsiteX5" fmla="*/ 0 w 4835525"/>
              <a:gd name="connsiteY5" fmla="*/ 6858000 h 6858000"/>
              <a:gd name="connsiteX6" fmla="*/ 0 w 4835525"/>
              <a:gd name="connsiteY6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3625516 w 4835525"/>
              <a:gd name="connsiteY2" fmla="*/ 1772653 h 6858000"/>
              <a:gd name="connsiteX3" fmla="*/ 4835525 w 4835525"/>
              <a:gd name="connsiteY3" fmla="*/ 3429000 h 6858000"/>
              <a:gd name="connsiteX4" fmla="*/ 2417763 w 4835525"/>
              <a:gd name="connsiteY4" fmla="*/ 6858000 h 6858000"/>
              <a:gd name="connsiteX5" fmla="*/ 0 w 4835525"/>
              <a:gd name="connsiteY5" fmla="*/ 6858000 h 6858000"/>
              <a:gd name="connsiteX6" fmla="*/ 0 w 4835525"/>
              <a:gd name="connsiteY6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3625516 w 4835525"/>
              <a:gd name="connsiteY2" fmla="*/ 1772653 h 6858000"/>
              <a:gd name="connsiteX3" fmla="*/ 4835525 w 4835525"/>
              <a:gd name="connsiteY3" fmla="*/ 3429000 h 6858000"/>
              <a:gd name="connsiteX4" fmla="*/ 2417763 w 4835525"/>
              <a:gd name="connsiteY4" fmla="*/ 6858000 h 6858000"/>
              <a:gd name="connsiteX5" fmla="*/ 0 w 4835525"/>
              <a:gd name="connsiteY5" fmla="*/ 6858000 h 6858000"/>
              <a:gd name="connsiteX6" fmla="*/ 0 w 4835525"/>
              <a:gd name="connsiteY6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3625516 w 4835525"/>
              <a:gd name="connsiteY2" fmla="*/ 1772653 h 6858000"/>
              <a:gd name="connsiteX3" fmla="*/ 4835525 w 4835525"/>
              <a:gd name="connsiteY3" fmla="*/ 3429000 h 6858000"/>
              <a:gd name="connsiteX4" fmla="*/ 3612900 w 4835525"/>
              <a:gd name="connsiteY4" fmla="*/ 6858000 h 6858000"/>
              <a:gd name="connsiteX5" fmla="*/ 0 w 4835525"/>
              <a:gd name="connsiteY5" fmla="*/ 6858000 h 6858000"/>
              <a:gd name="connsiteX6" fmla="*/ 0 w 4835525"/>
              <a:gd name="connsiteY6" fmla="*/ 0 h 6858000"/>
              <a:gd name="connsiteX0" fmla="*/ 0 w 4846000"/>
              <a:gd name="connsiteY0" fmla="*/ 0 h 6858000"/>
              <a:gd name="connsiteX1" fmla="*/ 3616663 w 4846000"/>
              <a:gd name="connsiteY1" fmla="*/ 4138 h 6858000"/>
              <a:gd name="connsiteX2" fmla="*/ 3625516 w 4846000"/>
              <a:gd name="connsiteY2" fmla="*/ 1772653 h 6858000"/>
              <a:gd name="connsiteX3" fmla="*/ 4835525 w 4846000"/>
              <a:gd name="connsiteY3" fmla="*/ 3429000 h 6858000"/>
              <a:gd name="connsiteX4" fmla="*/ 3625516 w 4846000"/>
              <a:gd name="connsiteY4" fmla="*/ 5109411 h 6858000"/>
              <a:gd name="connsiteX5" fmla="*/ 3612900 w 4846000"/>
              <a:gd name="connsiteY5" fmla="*/ 6858000 h 6858000"/>
              <a:gd name="connsiteX6" fmla="*/ 0 w 4846000"/>
              <a:gd name="connsiteY6" fmla="*/ 6858000 h 6858000"/>
              <a:gd name="connsiteX7" fmla="*/ 0 w 4846000"/>
              <a:gd name="connsiteY7" fmla="*/ 0 h 6858000"/>
              <a:gd name="connsiteX0" fmla="*/ 0 w 4846000"/>
              <a:gd name="connsiteY0" fmla="*/ 0 h 6858000"/>
              <a:gd name="connsiteX1" fmla="*/ 3616663 w 4846000"/>
              <a:gd name="connsiteY1" fmla="*/ 4138 h 6858000"/>
              <a:gd name="connsiteX2" fmla="*/ 3625516 w 4846000"/>
              <a:gd name="connsiteY2" fmla="*/ 1772653 h 6858000"/>
              <a:gd name="connsiteX3" fmla="*/ 4835525 w 4846000"/>
              <a:gd name="connsiteY3" fmla="*/ 3429000 h 6858000"/>
              <a:gd name="connsiteX4" fmla="*/ 3625516 w 4846000"/>
              <a:gd name="connsiteY4" fmla="*/ 5109411 h 6858000"/>
              <a:gd name="connsiteX5" fmla="*/ 3612900 w 4846000"/>
              <a:gd name="connsiteY5" fmla="*/ 6858000 h 6858000"/>
              <a:gd name="connsiteX6" fmla="*/ 0 w 4846000"/>
              <a:gd name="connsiteY6" fmla="*/ 6858000 h 6858000"/>
              <a:gd name="connsiteX7" fmla="*/ 0 w 4846000"/>
              <a:gd name="connsiteY7" fmla="*/ 0 h 6858000"/>
              <a:gd name="connsiteX0" fmla="*/ 0 w 4846000"/>
              <a:gd name="connsiteY0" fmla="*/ 0 h 6858000"/>
              <a:gd name="connsiteX1" fmla="*/ 3616663 w 4846000"/>
              <a:gd name="connsiteY1" fmla="*/ 4138 h 6858000"/>
              <a:gd name="connsiteX2" fmla="*/ 3625516 w 4846000"/>
              <a:gd name="connsiteY2" fmla="*/ 1772653 h 6858000"/>
              <a:gd name="connsiteX3" fmla="*/ 4835525 w 4846000"/>
              <a:gd name="connsiteY3" fmla="*/ 3429000 h 6858000"/>
              <a:gd name="connsiteX4" fmla="*/ 3625516 w 4846000"/>
              <a:gd name="connsiteY4" fmla="*/ 5109411 h 6858000"/>
              <a:gd name="connsiteX5" fmla="*/ 3612900 w 4846000"/>
              <a:gd name="connsiteY5" fmla="*/ 6858000 h 6858000"/>
              <a:gd name="connsiteX6" fmla="*/ 0 w 4846000"/>
              <a:gd name="connsiteY6" fmla="*/ 6858000 h 6858000"/>
              <a:gd name="connsiteX7" fmla="*/ 0 w 4846000"/>
              <a:gd name="connsiteY7" fmla="*/ 0 h 6858000"/>
              <a:gd name="connsiteX0" fmla="*/ 0 w 4844407"/>
              <a:gd name="connsiteY0" fmla="*/ 0 h 6858000"/>
              <a:gd name="connsiteX1" fmla="*/ 3616663 w 4844407"/>
              <a:gd name="connsiteY1" fmla="*/ 4138 h 6858000"/>
              <a:gd name="connsiteX2" fmla="*/ 3625516 w 4844407"/>
              <a:gd name="connsiteY2" fmla="*/ 1772653 h 6858000"/>
              <a:gd name="connsiteX3" fmla="*/ 4835525 w 4844407"/>
              <a:gd name="connsiteY3" fmla="*/ 3429000 h 6858000"/>
              <a:gd name="connsiteX4" fmla="*/ 3625516 w 4844407"/>
              <a:gd name="connsiteY4" fmla="*/ 5109411 h 6858000"/>
              <a:gd name="connsiteX5" fmla="*/ 3612900 w 4844407"/>
              <a:gd name="connsiteY5" fmla="*/ 6858000 h 6858000"/>
              <a:gd name="connsiteX6" fmla="*/ 0 w 4844407"/>
              <a:gd name="connsiteY6" fmla="*/ 6858000 h 6858000"/>
              <a:gd name="connsiteX7" fmla="*/ 0 w 4844407"/>
              <a:gd name="connsiteY7" fmla="*/ 0 h 6858000"/>
              <a:gd name="connsiteX0" fmla="*/ 0 w 4844407"/>
              <a:gd name="connsiteY0" fmla="*/ 0 h 6858000"/>
              <a:gd name="connsiteX1" fmla="*/ 3616663 w 4844407"/>
              <a:gd name="connsiteY1" fmla="*/ 4138 h 6858000"/>
              <a:gd name="connsiteX2" fmla="*/ 3625516 w 4844407"/>
              <a:gd name="connsiteY2" fmla="*/ 1772653 h 6858000"/>
              <a:gd name="connsiteX3" fmla="*/ 4835525 w 4844407"/>
              <a:gd name="connsiteY3" fmla="*/ 3429000 h 6858000"/>
              <a:gd name="connsiteX4" fmla="*/ 3625516 w 4844407"/>
              <a:gd name="connsiteY4" fmla="*/ 5109411 h 6858000"/>
              <a:gd name="connsiteX5" fmla="*/ 3612900 w 4844407"/>
              <a:gd name="connsiteY5" fmla="*/ 6858000 h 6858000"/>
              <a:gd name="connsiteX6" fmla="*/ 0 w 4844407"/>
              <a:gd name="connsiteY6" fmla="*/ 6858000 h 6858000"/>
              <a:gd name="connsiteX7" fmla="*/ 0 w 4844407"/>
              <a:gd name="connsiteY7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3625516 w 4835525"/>
              <a:gd name="connsiteY2" fmla="*/ 1772653 h 6858000"/>
              <a:gd name="connsiteX3" fmla="*/ 4835525 w 4835525"/>
              <a:gd name="connsiteY3" fmla="*/ 3429000 h 6858000"/>
              <a:gd name="connsiteX4" fmla="*/ 3625516 w 4835525"/>
              <a:gd name="connsiteY4" fmla="*/ 5109411 h 6858000"/>
              <a:gd name="connsiteX5" fmla="*/ 3612900 w 4835525"/>
              <a:gd name="connsiteY5" fmla="*/ 6858000 h 6858000"/>
              <a:gd name="connsiteX6" fmla="*/ 0 w 4835525"/>
              <a:gd name="connsiteY6" fmla="*/ 6858000 h 6858000"/>
              <a:gd name="connsiteX7" fmla="*/ 0 w 4835525"/>
              <a:gd name="connsiteY7" fmla="*/ 0 h 6858000"/>
              <a:gd name="connsiteX0" fmla="*/ 0 w 4835525"/>
              <a:gd name="connsiteY0" fmla="*/ 0 h 6858000"/>
              <a:gd name="connsiteX1" fmla="*/ 3616663 w 4835525"/>
              <a:gd name="connsiteY1" fmla="*/ 4138 h 6858000"/>
              <a:gd name="connsiteX2" fmla="*/ 3625516 w 4835525"/>
              <a:gd name="connsiteY2" fmla="*/ 1772653 h 6858000"/>
              <a:gd name="connsiteX3" fmla="*/ 4835525 w 4835525"/>
              <a:gd name="connsiteY3" fmla="*/ 3429000 h 6858000"/>
              <a:gd name="connsiteX4" fmla="*/ 3625516 w 4835525"/>
              <a:gd name="connsiteY4" fmla="*/ 5109411 h 6858000"/>
              <a:gd name="connsiteX5" fmla="*/ 3612900 w 4835525"/>
              <a:gd name="connsiteY5" fmla="*/ 6858000 h 6858000"/>
              <a:gd name="connsiteX6" fmla="*/ 0 w 4835525"/>
              <a:gd name="connsiteY6" fmla="*/ 6858000 h 6858000"/>
              <a:gd name="connsiteX7" fmla="*/ 0 w 4835525"/>
              <a:gd name="connsiteY7" fmla="*/ 0 h 6858000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5516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5516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5516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8"/>
              <a:gd name="connsiteX1" fmla="*/ 3616663 w 4835525"/>
              <a:gd name="connsiteY1" fmla="*/ 4138 h 6862738"/>
              <a:gd name="connsiteX2" fmla="*/ 3625516 w 4835525"/>
              <a:gd name="connsiteY2" fmla="*/ 1772653 h 6862738"/>
              <a:gd name="connsiteX3" fmla="*/ 4835525 w 4835525"/>
              <a:gd name="connsiteY3" fmla="*/ 3429000 h 6862738"/>
              <a:gd name="connsiteX4" fmla="*/ 3625516 w 4835525"/>
              <a:gd name="connsiteY4" fmla="*/ 5109411 h 6862738"/>
              <a:gd name="connsiteX5" fmla="*/ 3622376 w 4835525"/>
              <a:gd name="connsiteY5" fmla="*/ 6862737 h 6862738"/>
              <a:gd name="connsiteX6" fmla="*/ 0 w 4835525"/>
              <a:gd name="connsiteY6" fmla="*/ 6858000 h 6862738"/>
              <a:gd name="connsiteX7" fmla="*/ 0 w 4835525"/>
              <a:gd name="connsiteY7" fmla="*/ 0 h 6862738"/>
              <a:gd name="connsiteX0" fmla="*/ 0 w 4835525"/>
              <a:gd name="connsiteY0" fmla="*/ 0 h 6862738"/>
              <a:gd name="connsiteX1" fmla="*/ 3616663 w 4835525"/>
              <a:gd name="connsiteY1" fmla="*/ 4138 h 6862738"/>
              <a:gd name="connsiteX2" fmla="*/ 3625516 w 4835525"/>
              <a:gd name="connsiteY2" fmla="*/ 1772653 h 6862738"/>
              <a:gd name="connsiteX3" fmla="*/ 4835525 w 4835525"/>
              <a:gd name="connsiteY3" fmla="*/ 3429000 h 6862738"/>
              <a:gd name="connsiteX4" fmla="*/ 3625516 w 4835525"/>
              <a:gd name="connsiteY4" fmla="*/ 5109411 h 6862738"/>
              <a:gd name="connsiteX5" fmla="*/ 3622376 w 4835525"/>
              <a:gd name="connsiteY5" fmla="*/ 6862737 h 6862738"/>
              <a:gd name="connsiteX6" fmla="*/ 0 w 4835525"/>
              <a:gd name="connsiteY6" fmla="*/ 6858000 h 6862738"/>
              <a:gd name="connsiteX7" fmla="*/ 0 w 4835525"/>
              <a:gd name="connsiteY7" fmla="*/ 0 h 6862738"/>
              <a:gd name="connsiteX0" fmla="*/ 0 w 4835525"/>
              <a:gd name="connsiteY0" fmla="*/ 0 h 6862738"/>
              <a:gd name="connsiteX1" fmla="*/ 3616663 w 4835525"/>
              <a:gd name="connsiteY1" fmla="*/ 4138 h 6862738"/>
              <a:gd name="connsiteX2" fmla="*/ 3625516 w 4835525"/>
              <a:gd name="connsiteY2" fmla="*/ 1772653 h 6862738"/>
              <a:gd name="connsiteX3" fmla="*/ 4835525 w 4835525"/>
              <a:gd name="connsiteY3" fmla="*/ 3429000 h 6862738"/>
              <a:gd name="connsiteX4" fmla="*/ 3625516 w 4835525"/>
              <a:gd name="connsiteY4" fmla="*/ 5109411 h 6862738"/>
              <a:gd name="connsiteX5" fmla="*/ 3622376 w 4835525"/>
              <a:gd name="connsiteY5" fmla="*/ 6862737 h 6862738"/>
              <a:gd name="connsiteX6" fmla="*/ 0 w 4835525"/>
              <a:gd name="connsiteY6" fmla="*/ 6858000 h 6862738"/>
              <a:gd name="connsiteX7" fmla="*/ 0 w 4835525"/>
              <a:gd name="connsiteY7" fmla="*/ 0 h 6862738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5516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5516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5516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805553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805553 w 4835525"/>
              <a:gd name="connsiteY4" fmla="*/ 5109411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16040 w 4835525"/>
              <a:gd name="connsiteY4" fmla="*/ 5114148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16040 w 4835525"/>
              <a:gd name="connsiteY4" fmla="*/ 5114148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16040 w 4835525"/>
              <a:gd name="connsiteY4" fmla="*/ 5114148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16040 w 4835525"/>
              <a:gd name="connsiteY4" fmla="*/ 5114148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16040 w 4835525"/>
              <a:gd name="connsiteY4" fmla="*/ 5114148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09414 w 4835525"/>
              <a:gd name="connsiteY4" fmla="*/ 5120774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2667 w 4835525"/>
              <a:gd name="connsiteY4" fmla="*/ 5127400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2667 w 4835525"/>
              <a:gd name="connsiteY4" fmla="*/ 5127400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35525"/>
              <a:gd name="connsiteY0" fmla="*/ 0 h 6862737"/>
              <a:gd name="connsiteX1" fmla="*/ 3616663 w 4835525"/>
              <a:gd name="connsiteY1" fmla="*/ 4138 h 6862737"/>
              <a:gd name="connsiteX2" fmla="*/ 3625516 w 4835525"/>
              <a:gd name="connsiteY2" fmla="*/ 1772653 h 6862737"/>
              <a:gd name="connsiteX3" fmla="*/ 4835525 w 4835525"/>
              <a:gd name="connsiteY3" fmla="*/ 3429000 h 6862737"/>
              <a:gd name="connsiteX4" fmla="*/ 3622667 w 4835525"/>
              <a:gd name="connsiteY4" fmla="*/ 5127400 h 6862737"/>
              <a:gd name="connsiteX5" fmla="*/ 3622376 w 4835525"/>
              <a:gd name="connsiteY5" fmla="*/ 6862737 h 6862737"/>
              <a:gd name="connsiteX6" fmla="*/ 0 w 4835525"/>
              <a:gd name="connsiteY6" fmla="*/ 6858000 h 6862737"/>
              <a:gd name="connsiteX7" fmla="*/ 0 w 4835525"/>
              <a:gd name="connsiteY7" fmla="*/ 0 h 6862737"/>
              <a:gd name="connsiteX0" fmla="*/ 0 w 4854575"/>
              <a:gd name="connsiteY0" fmla="*/ 0 h 6862737"/>
              <a:gd name="connsiteX1" fmla="*/ 3616663 w 4854575"/>
              <a:gd name="connsiteY1" fmla="*/ 4138 h 6862737"/>
              <a:gd name="connsiteX2" fmla="*/ 3625516 w 4854575"/>
              <a:gd name="connsiteY2" fmla="*/ 1772653 h 6862737"/>
              <a:gd name="connsiteX3" fmla="*/ 4854575 w 4854575"/>
              <a:gd name="connsiteY3" fmla="*/ 3432175 h 6862737"/>
              <a:gd name="connsiteX4" fmla="*/ 3622667 w 4854575"/>
              <a:gd name="connsiteY4" fmla="*/ 5127400 h 6862737"/>
              <a:gd name="connsiteX5" fmla="*/ 3622376 w 4854575"/>
              <a:gd name="connsiteY5" fmla="*/ 6862737 h 6862737"/>
              <a:gd name="connsiteX6" fmla="*/ 0 w 4854575"/>
              <a:gd name="connsiteY6" fmla="*/ 6858000 h 6862737"/>
              <a:gd name="connsiteX7" fmla="*/ 0 w 4854575"/>
              <a:gd name="connsiteY7" fmla="*/ 0 h 6862737"/>
              <a:gd name="connsiteX0" fmla="*/ 0 w 4854575"/>
              <a:gd name="connsiteY0" fmla="*/ 0 h 6862737"/>
              <a:gd name="connsiteX1" fmla="*/ 3616663 w 4854575"/>
              <a:gd name="connsiteY1" fmla="*/ 4138 h 6862737"/>
              <a:gd name="connsiteX2" fmla="*/ 3625516 w 4854575"/>
              <a:gd name="connsiteY2" fmla="*/ 1772653 h 6862737"/>
              <a:gd name="connsiteX3" fmla="*/ 4854575 w 4854575"/>
              <a:gd name="connsiteY3" fmla="*/ 3432175 h 6862737"/>
              <a:gd name="connsiteX4" fmla="*/ 3622667 w 4854575"/>
              <a:gd name="connsiteY4" fmla="*/ 5127400 h 6862737"/>
              <a:gd name="connsiteX5" fmla="*/ 3622376 w 4854575"/>
              <a:gd name="connsiteY5" fmla="*/ 6862737 h 6862737"/>
              <a:gd name="connsiteX6" fmla="*/ 0 w 4854575"/>
              <a:gd name="connsiteY6" fmla="*/ 6858000 h 6862737"/>
              <a:gd name="connsiteX7" fmla="*/ 0 w 4854575"/>
              <a:gd name="connsiteY7" fmla="*/ 0 h 6862737"/>
              <a:gd name="connsiteX0" fmla="*/ 0 w 4854575"/>
              <a:gd name="connsiteY0" fmla="*/ 0 h 6862737"/>
              <a:gd name="connsiteX1" fmla="*/ 3616663 w 4854575"/>
              <a:gd name="connsiteY1" fmla="*/ 4138 h 6862737"/>
              <a:gd name="connsiteX2" fmla="*/ 3625516 w 4854575"/>
              <a:gd name="connsiteY2" fmla="*/ 1772653 h 6862737"/>
              <a:gd name="connsiteX3" fmla="*/ 4854575 w 4854575"/>
              <a:gd name="connsiteY3" fmla="*/ 3432175 h 6862737"/>
              <a:gd name="connsiteX4" fmla="*/ 3622667 w 4854575"/>
              <a:gd name="connsiteY4" fmla="*/ 5127400 h 6862737"/>
              <a:gd name="connsiteX5" fmla="*/ 3622376 w 4854575"/>
              <a:gd name="connsiteY5" fmla="*/ 6862737 h 6862737"/>
              <a:gd name="connsiteX6" fmla="*/ 0 w 4854575"/>
              <a:gd name="connsiteY6" fmla="*/ 6858000 h 6862737"/>
              <a:gd name="connsiteX7" fmla="*/ 0 w 4854575"/>
              <a:gd name="connsiteY7" fmla="*/ 0 h 6862737"/>
              <a:gd name="connsiteX0" fmla="*/ 0 w 4854575"/>
              <a:gd name="connsiteY0" fmla="*/ 0 h 6862737"/>
              <a:gd name="connsiteX1" fmla="*/ 3616663 w 4854575"/>
              <a:gd name="connsiteY1" fmla="*/ 4138 h 6862737"/>
              <a:gd name="connsiteX2" fmla="*/ 3625516 w 4854575"/>
              <a:gd name="connsiteY2" fmla="*/ 1772653 h 6862737"/>
              <a:gd name="connsiteX3" fmla="*/ 4854575 w 4854575"/>
              <a:gd name="connsiteY3" fmla="*/ 3432175 h 6862737"/>
              <a:gd name="connsiteX4" fmla="*/ 3622667 w 4854575"/>
              <a:gd name="connsiteY4" fmla="*/ 5127400 h 6862737"/>
              <a:gd name="connsiteX5" fmla="*/ 3622376 w 4854575"/>
              <a:gd name="connsiteY5" fmla="*/ 6862737 h 6862737"/>
              <a:gd name="connsiteX6" fmla="*/ 0 w 4854575"/>
              <a:gd name="connsiteY6" fmla="*/ 6858000 h 6862737"/>
              <a:gd name="connsiteX7" fmla="*/ 0 w 4854575"/>
              <a:gd name="connsiteY7" fmla="*/ 0 h 6862737"/>
              <a:gd name="connsiteX0" fmla="*/ 0 w 4854575"/>
              <a:gd name="connsiteY0" fmla="*/ 0 h 6862737"/>
              <a:gd name="connsiteX1" fmla="*/ 3616663 w 4854575"/>
              <a:gd name="connsiteY1" fmla="*/ 4138 h 6862737"/>
              <a:gd name="connsiteX2" fmla="*/ 3625516 w 4854575"/>
              <a:gd name="connsiteY2" fmla="*/ 1772653 h 6862737"/>
              <a:gd name="connsiteX3" fmla="*/ 4854575 w 4854575"/>
              <a:gd name="connsiteY3" fmla="*/ 3432175 h 6862737"/>
              <a:gd name="connsiteX4" fmla="*/ 3622667 w 4854575"/>
              <a:gd name="connsiteY4" fmla="*/ 5127400 h 6862737"/>
              <a:gd name="connsiteX5" fmla="*/ 3622376 w 4854575"/>
              <a:gd name="connsiteY5" fmla="*/ 6862737 h 6862737"/>
              <a:gd name="connsiteX6" fmla="*/ 0 w 4854575"/>
              <a:gd name="connsiteY6" fmla="*/ 6858000 h 6862737"/>
              <a:gd name="connsiteX7" fmla="*/ 0 w 4854575"/>
              <a:gd name="connsiteY7" fmla="*/ 0 h 6862737"/>
              <a:gd name="connsiteX0" fmla="*/ 0 w 4866713"/>
              <a:gd name="connsiteY0" fmla="*/ 0 h 6862737"/>
              <a:gd name="connsiteX1" fmla="*/ 3616663 w 4866713"/>
              <a:gd name="connsiteY1" fmla="*/ 4138 h 6862737"/>
              <a:gd name="connsiteX2" fmla="*/ 3625516 w 4866713"/>
              <a:gd name="connsiteY2" fmla="*/ 1772653 h 6862737"/>
              <a:gd name="connsiteX3" fmla="*/ 4866713 w 4866713"/>
              <a:gd name="connsiteY3" fmla="*/ 3432175 h 6862737"/>
              <a:gd name="connsiteX4" fmla="*/ 3622667 w 4866713"/>
              <a:gd name="connsiteY4" fmla="*/ 5127400 h 6862737"/>
              <a:gd name="connsiteX5" fmla="*/ 3622376 w 4866713"/>
              <a:gd name="connsiteY5" fmla="*/ 6862737 h 6862737"/>
              <a:gd name="connsiteX6" fmla="*/ 0 w 4866713"/>
              <a:gd name="connsiteY6" fmla="*/ 6858000 h 6862737"/>
              <a:gd name="connsiteX7" fmla="*/ 0 w 4866713"/>
              <a:gd name="connsiteY7" fmla="*/ 0 h 6862737"/>
              <a:gd name="connsiteX0" fmla="*/ 0 w 4866713"/>
              <a:gd name="connsiteY0" fmla="*/ 0 h 6862737"/>
              <a:gd name="connsiteX1" fmla="*/ 3616663 w 4866713"/>
              <a:gd name="connsiteY1" fmla="*/ 4138 h 6862737"/>
              <a:gd name="connsiteX2" fmla="*/ 3625516 w 4866713"/>
              <a:gd name="connsiteY2" fmla="*/ 1772653 h 6862737"/>
              <a:gd name="connsiteX3" fmla="*/ 4866713 w 4866713"/>
              <a:gd name="connsiteY3" fmla="*/ 3432175 h 6862737"/>
              <a:gd name="connsiteX4" fmla="*/ 3622667 w 4866713"/>
              <a:gd name="connsiteY4" fmla="*/ 5127400 h 6862737"/>
              <a:gd name="connsiteX5" fmla="*/ 3622376 w 4866713"/>
              <a:gd name="connsiteY5" fmla="*/ 6862737 h 6862737"/>
              <a:gd name="connsiteX6" fmla="*/ 0 w 4866713"/>
              <a:gd name="connsiteY6" fmla="*/ 6858000 h 6862737"/>
              <a:gd name="connsiteX7" fmla="*/ 0 w 4866713"/>
              <a:gd name="connsiteY7" fmla="*/ 0 h 6862737"/>
              <a:gd name="connsiteX0" fmla="*/ 0 w 4866713"/>
              <a:gd name="connsiteY0" fmla="*/ 0 h 6862737"/>
              <a:gd name="connsiteX1" fmla="*/ 3616663 w 4866713"/>
              <a:gd name="connsiteY1" fmla="*/ 4138 h 6862737"/>
              <a:gd name="connsiteX2" fmla="*/ 3625516 w 4866713"/>
              <a:gd name="connsiteY2" fmla="*/ 1772653 h 6862737"/>
              <a:gd name="connsiteX3" fmla="*/ 4866713 w 4866713"/>
              <a:gd name="connsiteY3" fmla="*/ 3432175 h 6862737"/>
              <a:gd name="connsiteX4" fmla="*/ 3622667 w 4866713"/>
              <a:gd name="connsiteY4" fmla="*/ 5127400 h 6862737"/>
              <a:gd name="connsiteX5" fmla="*/ 3622376 w 4866713"/>
              <a:gd name="connsiteY5" fmla="*/ 6862737 h 6862737"/>
              <a:gd name="connsiteX6" fmla="*/ 0 w 4866713"/>
              <a:gd name="connsiteY6" fmla="*/ 6858000 h 6862737"/>
              <a:gd name="connsiteX7" fmla="*/ 0 w 4866713"/>
              <a:gd name="connsiteY7" fmla="*/ 0 h 6862737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22667 w 4866713"/>
              <a:gd name="connsiteY4" fmla="*/ 512740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30759 w 4866713"/>
              <a:gd name="connsiteY4" fmla="*/ 510717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30759 w 4866713"/>
              <a:gd name="connsiteY4" fmla="*/ 510717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66783"/>
              <a:gd name="connsiteX1" fmla="*/ 3616663 w 4866713"/>
              <a:gd name="connsiteY1" fmla="*/ 4138 h 6866783"/>
              <a:gd name="connsiteX2" fmla="*/ 3625516 w 4866713"/>
              <a:gd name="connsiteY2" fmla="*/ 1772653 h 6866783"/>
              <a:gd name="connsiteX3" fmla="*/ 4866713 w 4866713"/>
              <a:gd name="connsiteY3" fmla="*/ 3432175 h 6866783"/>
              <a:gd name="connsiteX4" fmla="*/ 3630759 w 4866713"/>
              <a:gd name="connsiteY4" fmla="*/ 5107170 h 6866783"/>
              <a:gd name="connsiteX5" fmla="*/ 3634514 w 4866713"/>
              <a:gd name="connsiteY5" fmla="*/ 6866783 h 6866783"/>
              <a:gd name="connsiteX6" fmla="*/ 0 w 4866713"/>
              <a:gd name="connsiteY6" fmla="*/ 6858000 h 6866783"/>
              <a:gd name="connsiteX7" fmla="*/ 0 w 4866713"/>
              <a:gd name="connsiteY7" fmla="*/ 0 h 6866783"/>
              <a:gd name="connsiteX0" fmla="*/ 0 w 4866713"/>
              <a:gd name="connsiteY0" fmla="*/ 0 h 6872534"/>
              <a:gd name="connsiteX1" fmla="*/ 3616663 w 4866713"/>
              <a:gd name="connsiteY1" fmla="*/ 4138 h 6872534"/>
              <a:gd name="connsiteX2" fmla="*/ 3625516 w 4866713"/>
              <a:gd name="connsiteY2" fmla="*/ 1772653 h 6872534"/>
              <a:gd name="connsiteX3" fmla="*/ 4866713 w 4866713"/>
              <a:gd name="connsiteY3" fmla="*/ 3432175 h 6872534"/>
              <a:gd name="connsiteX4" fmla="*/ 3630759 w 4866713"/>
              <a:gd name="connsiteY4" fmla="*/ 5107170 h 6872534"/>
              <a:gd name="connsiteX5" fmla="*/ 3623012 w 4866713"/>
              <a:gd name="connsiteY5" fmla="*/ 6872534 h 6872534"/>
              <a:gd name="connsiteX6" fmla="*/ 0 w 4866713"/>
              <a:gd name="connsiteY6" fmla="*/ 6858000 h 6872534"/>
              <a:gd name="connsiteX7" fmla="*/ 0 w 4866713"/>
              <a:gd name="connsiteY7" fmla="*/ 0 h 687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6713" h="6872534">
                <a:moveTo>
                  <a:pt x="0" y="0"/>
                </a:moveTo>
                <a:lnTo>
                  <a:pt x="3616663" y="4138"/>
                </a:lnTo>
                <a:cubicBezTo>
                  <a:pt x="3627358" y="607054"/>
                  <a:pt x="3614877" y="1137675"/>
                  <a:pt x="3625516" y="1772653"/>
                </a:cubicBezTo>
                <a:cubicBezTo>
                  <a:pt x="3636155" y="2985148"/>
                  <a:pt x="4543246" y="3402218"/>
                  <a:pt x="4866713" y="3432175"/>
                </a:cubicBezTo>
                <a:cubicBezTo>
                  <a:pt x="4541836" y="3463210"/>
                  <a:pt x="3625834" y="3677678"/>
                  <a:pt x="3630759" y="5107170"/>
                </a:cubicBezTo>
                <a:cubicBezTo>
                  <a:pt x="3632787" y="5695793"/>
                  <a:pt x="3618280" y="6613093"/>
                  <a:pt x="3623012" y="6872534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>
            <a:norm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RU" dirty="0"/>
              <a:t>Place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E8CA-12B6-0578-C3EB-97AB3EE8DB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1992" y="425748"/>
            <a:ext cx="5426160" cy="2103140"/>
          </a:xfrm>
        </p:spPr>
        <p:txBody>
          <a:bodyPr wrap="square" anchor="t">
            <a:spAutoFit/>
          </a:bodyPr>
          <a:lstStyle>
            <a:lvl1pPr algn="l">
              <a:lnSpc>
                <a:spcPts val="8200"/>
              </a:lnSpc>
              <a:spcBef>
                <a:spcPts val="0"/>
              </a:spcBef>
              <a:defRPr sz="7500" b="0" i="0">
                <a:solidFill>
                  <a:schemeClr val="tx2"/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DABD8CB-4A97-FE80-24AD-0FF1BFD1F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1991" y="2950266"/>
            <a:ext cx="5426160" cy="1699055"/>
          </a:xfrm>
        </p:spPr>
        <p:txBody>
          <a:bodyPr wrap="square" lIns="0" tIns="0" rIns="0" bIns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87750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CE9D8-69CA-79FA-A38B-C5FEF861A9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83681" y="3077974"/>
            <a:ext cx="6624638" cy="702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ts val="6000"/>
              </a:lnSpc>
              <a:spcBef>
                <a:spcPts val="1600"/>
              </a:spcBef>
              <a:defRPr sz="4700" b="0" i="0">
                <a:solidFill>
                  <a:schemeClr val="tx2"/>
                </a:solidFill>
                <a:latin typeface="+mn-lt"/>
                <a:ea typeface="Verdana" panose="02000503000000020004" pitchFamily="2" charset="0"/>
              </a:defRPr>
            </a:lvl1pPr>
            <a:lvl2pPr marL="0" indent="0">
              <a:lnSpc>
                <a:spcPts val="3000"/>
              </a:lnSpc>
              <a:spcBef>
                <a:spcPts val="4000"/>
              </a:spcBef>
              <a:buNone/>
              <a:defRPr sz="2300">
                <a:solidFill>
                  <a:schemeClr val="accent1"/>
                </a:solidFill>
                <a:latin typeface="+mn-lt"/>
              </a:defRPr>
            </a:lvl2pPr>
            <a:lvl5pPr marL="270900" indent="-270900">
              <a:lnSpc>
                <a:spcPts val="3000"/>
              </a:lnSpc>
              <a:buClr>
                <a:schemeClr val="accent1"/>
              </a:buClr>
              <a:buFont typeface="Wingdings" pitchFamily="2" charset="2"/>
              <a:buChar char="§"/>
              <a:defRPr sz="2300">
                <a:solidFill>
                  <a:schemeClr val="accent1"/>
                </a:solidFill>
                <a:latin typeface="+mn-lt"/>
              </a:defRPr>
            </a:lvl5pPr>
            <a:lvl6pPr marL="464400" indent="-212400">
              <a:lnSpc>
                <a:spcPts val="2000"/>
              </a:lnSpc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+mn-lt"/>
                <a:ea typeface="Verdana" panose="02000503000000020004" pitchFamily="2" charset="0"/>
              </a:defRPr>
            </a:lvl6pPr>
          </a:lstStyle>
          <a:p>
            <a:pPr lvl="0"/>
            <a:r>
              <a:rPr lang="en-GB" dirty="0"/>
              <a:t>Click to paste quote</a:t>
            </a:r>
          </a:p>
        </p:txBody>
      </p:sp>
    </p:spTree>
    <p:extLst>
      <p:ext uri="{BB962C8B-B14F-4D97-AF65-F5344CB8AC3E}">
        <p14:creationId xmlns:p14="http://schemas.microsoft.com/office/powerpoint/2010/main" val="2370750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CE9D8-69CA-79FA-A38B-C5FEF861A9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35413" y="1071186"/>
            <a:ext cx="6624637" cy="702052"/>
          </a:xfrm>
          <a:prstGeom prst="rect">
            <a:avLst/>
          </a:prstGeom>
        </p:spPr>
        <p:txBody>
          <a:bodyPr wrap="square" anchor="t"/>
          <a:lstStyle>
            <a:lvl1pPr algn="l">
              <a:lnSpc>
                <a:spcPts val="6000"/>
              </a:lnSpc>
              <a:spcBef>
                <a:spcPts val="1600"/>
              </a:spcBef>
              <a:defRPr sz="4700" b="0" i="0">
                <a:solidFill>
                  <a:schemeClr val="tx2"/>
                </a:solidFill>
                <a:latin typeface="+mn-lt"/>
                <a:ea typeface="Verdana" panose="02000503000000020004" pitchFamily="2" charset="0"/>
              </a:defRPr>
            </a:lvl1pPr>
            <a:lvl2pPr marL="0" indent="0">
              <a:lnSpc>
                <a:spcPts val="3000"/>
              </a:lnSpc>
              <a:spcBef>
                <a:spcPts val="4000"/>
              </a:spcBef>
              <a:buNone/>
              <a:defRPr sz="2300">
                <a:solidFill>
                  <a:schemeClr val="accent1"/>
                </a:solidFill>
                <a:latin typeface="+mn-lt"/>
              </a:defRPr>
            </a:lvl2pPr>
            <a:lvl5pPr marL="270900" indent="-270900">
              <a:lnSpc>
                <a:spcPts val="3000"/>
              </a:lnSpc>
              <a:buClr>
                <a:schemeClr val="accent1"/>
              </a:buClr>
              <a:buFont typeface="Wingdings" pitchFamily="2" charset="2"/>
              <a:buChar char="§"/>
              <a:defRPr sz="2300">
                <a:solidFill>
                  <a:schemeClr val="accent1"/>
                </a:solidFill>
                <a:latin typeface="+mn-lt"/>
              </a:defRPr>
            </a:lvl5pPr>
            <a:lvl6pPr marL="464400" indent="-212400">
              <a:lnSpc>
                <a:spcPts val="2000"/>
              </a:lnSpc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accent1"/>
                </a:solidFill>
                <a:latin typeface="+mn-lt"/>
                <a:ea typeface="Verdana" panose="02000503000000020004" pitchFamily="2" charset="0"/>
              </a:defRPr>
            </a:lvl6pPr>
          </a:lstStyle>
          <a:p>
            <a:pPr lvl="0"/>
            <a:r>
              <a:rPr lang="en-GB" dirty="0"/>
              <a:t>Click to paste quote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0528AB3-8792-6F58-9965-7EBB97A482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95682" y="2100906"/>
            <a:ext cx="3564368" cy="38919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ts val="3000"/>
              </a:lnSpc>
              <a:spcBef>
                <a:spcPts val="0"/>
              </a:spcBef>
              <a:buNone/>
              <a:defRPr sz="23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add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FC9281-2957-93AD-30CA-DA9DEDD798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724" y="1080918"/>
            <a:ext cx="2445428" cy="229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51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444C-C045-09FD-4CF2-9690E5E5E5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6" y="403551"/>
            <a:ext cx="11151245" cy="769441"/>
          </a:xfrm>
        </p:spPr>
        <p:txBody>
          <a:bodyPr/>
          <a:lstStyle/>
          <a:p>
            <a:r>
              <a:rPr lang="en-GB" dirty="0"/>
              <a:t>Click to Edit Slide Title</a:t>
            </a:r>
            <a:endParaRPr lang="en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DE80D-955B-B874-BCDE-2353A50E8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690038D-5AFE-7129-3BE8-6529C8E8A1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5463" y="1749990"/>
            <a:ext cx="11150600" cy="40920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8514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EFDDA8-2BEF-95F2-9010-81BA53B5B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7" y="401143"/>
            <a:ext cx="5426722" cy="1538883"/>
          </a:xfrm>
        </p:spPr>
        <p:txBody>
          <a:bodyPr/>
          <a:lstStyle/>
          <a:p>
            <a:r>
              <a:rPr lang="en-GB" dirty="0"/>
              <a:t>Click to Edit Slide Title</a:t>
            </a:r>
            <a:endParaRPr lang="en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B2AA26-F79C-0C17-6C78-175E99FD59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3950" y="401143"/>
            <a:ext cx="5472113" cy="5440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572466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2508E6-4F1C-E285-A938-629617BB9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pPr/>
              <a:t>‹#›</a:t>
            </a:fld>
            <a:endParaRPr lang="en-R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BF5C78-098E-D980-920C-CD112F3544A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5563" y="522388"/>
            <a:ext cx="11150500" cy="5319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2C8C55-C2F9-6C28-5633-60702C348F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5562" y="6050263"/>
            <a:ext cx="10034487" cy="371243"/>
          </a:xfrm>
          <a:prstGeom prst="rect">
            <a:avLst/>
          </a:prstGeom>
        </p:spPr>
        <p:txBody>
          <a:bodyPr anchor="b" anchorCtr="0"/>
          <a:lstStyle/>
          <a:p>
            <a:pPr lvl="4"/>
            <a:r>
              <a:rPr lang="en-GB" dirty="0"/>
              <a:t>Click to edit </a:t>
            </a:r>
            <a:r>
              <a:rPr lang="en-US" dirty="0"/>
              <a:t>description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30104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BBAE7AD2-B6ED-1463-B8EF-42B45D675C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7089" y="1749991"/>
            <a:ext cx="5424449" cy="40920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A25F75B2-C7B1-D811-38BF-82F2AFF32A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5102" y="1749991"/>
            <a:ext cx="5460961" cy="40920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13FFAC-A6ED-6F71-B412-37FEFF049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7" y="394557"/>
            <a:ext cx="11160124" cy="769441"/>
          </a:xfrm>
        </p:spPr>
        <p:txBody>
          <a:bodyPr/>
          <a:lstStyle/>
          <a:p>
            <a:r>
              <a:rPr lang="en-GB" dirty="0"/>
              <a:t>Click to Edit </a:t>
            </a:r>
            <a:r>
              <a:rPr lang="en-US" dirty="0"/>
              <a:t>Slide </a:t>
            </a: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644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2790048-9A1D-FE6F-2E21-BAFB5EBAB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2348653"/>
            <a:ext cx="5426075" cy="1211742"/>
          </a:xfrm>
        </p:spPr>
        <p:txBody>
          <a:bodyPr/>
          <a:lstStyle/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34F612-F85C-86A3-97E0-8D0AC0F88E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5877" y="1658026"/>
            <a:ext cx="5425661" cy="48731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8A226D8-762E-FE22-496D-8AF7BDAA7B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5063" y="2348653"/>
            <a:ext cx="5426075" cy="1211742"/>
          </a:xfrm>
        </p:spPr>
        <p:txBody>
          <a:bodyPr/>
          <a:lstStyle/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5EB806-877A-F833-7135-13472849F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5477" y="1658026"/>
            <a:ext cx="5425661" cy="48731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2851620-7FB7-25CA-3DBB-B4552745D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7" y="394557"/>
            <a:ext cx="11160124" cy="769441"/>
          </a:xfrm>
        </p:spPr>
        <p:txBody>
          <a:bodyPr/>
          <a:lstStyle/>
          <a:p>
            <a:r>
              <a:rPr lang="en-GB" dirty="0"/>
              <a:t>Click to Edit </a:t>
            </a:r>
            <a:r>
              <a:rPr lang="en-US" dirty="0"/>
              <a:t>Slide </a:t>
            </a: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310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762FE-6292-B6B8-E6BB-F40A6F3D0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pPr/>
              <a:t>‹#›</a:t>
            </a:fld>
            <a:endParaRPr lang="en-RU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223722E-2E5C-AAB2-2691-5056147B5AC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15938" y="1773238"/>
            <a:ext cx="7740650" cy="4068762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itchFamily="2" charset="2"/>
              <a:buNone/>
              <a:tabLst/>
              <a:defRPr/>
            </a:lvl1pPr>
          </a:lstStyle>
          <a:p>
            <a:pPr marL="0" marR="0" lvl="0" indent="0" algn="ctr" defTabSz="914377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GB" dirty="0"/>
              <a:t>Click </a:t>
            </a:r>
            <a:r>
              <a:rPr lang="en-US" dirty="0"/>
              <a:t>I</a:t>
            </a:r>
            <a:r>
              <a:rPr lang="en-GB" dirty="0"/>
              <a:t>con to Add Chart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1ED372-B80F-E9ED-DA5A-F90CCAB9B8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72488" y="1773238"/>
            <a:ext cx="3203575" cy="4068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A768314-497B-1A29-9DAB-34CAB826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6157521"/>
            <a:ext cx="10044112" cy="22422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000"/>
              </a:lnSpc>
              <a:defRPr sz="1200"/>
            </a:lvl1pPr>
          </a:lstStyle>
          <a:p>
            <a:pPr lvl="0"/>
            <a:r>
              <a:rPr lang="en-GB" dirty="0"/>
              <a:t>Click to edit </a:t>
            </a:r>
            <a:r>
              <a:rPr lang="en-US" dirty="0"/>
              <a:t>description</a:t>
            </a:r>
            <a:endParaRPr lang="en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3DD31C-7AF3-17E4-82F5-748AE0592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7" y="394557"/>
            <a:ext cx="11160124" cy="769441"/>
          </a:xfrm>
        </p:spPr>
        <p:txBody>
          <a:bodyPr/>
          <a:lstStyle/>
          <a:p>
            <a:r>
              <a:rPr lang="en-GB" dirty="0"/>
              <a:t>Click to Edit </a:t>
            </a:r>
            <a:r>
              <a:rPr lang="en-US" dirty="0"/>
              <a:t>Slide </a:t>
            </a: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448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9BBE0D-D76F-986D-7055-72DE63166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24817" y="512763"/>
            <a:ext cx="3155911" cy="15478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11000" b="0" i="0">
                <a:solidFill>
                  <a:schemeClr val="accent2"/>
                </a:solidFill>
                <a:latin typeface="+mn-lt"/>
                <a:ea typeface="Verdana" panose="02000503000000020004" pitchFamily="2" charset="0"/>
              </a:defRPr>
            </a:lvl1pPr>
            <a:lvl3pPr marL="0" indent="0">
              <a:lnSpc>
                <a:spcPts val="9600"/>
              </a:lnSpc>
              <a:spcBef>
                <a:spcPts val="0"/>
              </a:spcBef>
              <a:buFont typeface="Arial" panose="020B0604020202020204" pitchFamily="34" charset="0"/>
              <a:buNone/>
              <a:defRPr sz="9600" b="1" i="0">
                <a:solidFill>
                  <a:schemeClr val="accent1"/>
                </a:solidFill>
                <a:latin typeface="Verdana" panose="02000503000000020004" pitchFamily="2" charset="0"/>
                <a:ea typeface="Verdana" panose="02000503000000020004" pitchFamily="2" charset="0"/>
              </a:defRPr>
            </a:lvl3pPr>
            <a:lvl4pPr marL="270900" indent="-270900">
              <a:lnSpc>
                <a:spcPts val="3000"/>
              </a:lnSpc>
              <a:buClr>
                <a:schemeClr val="accent1"/>
              </a:buClr>
              <a:buFont typeface="Wingdings" pitchFamily="2" charset="2"/>
              <a:buChar char="§"/>
              <a:defRPr sz="2300">
                <a:latin typeface="Verdana" panose="02000503000000020004" pitchFamily="2" charset="0"/>
                <a:ea typeface="Verdana" panose="02000503000000020004" pitchFamily="2" charset="0"/>
              </a:defRPr>
            </a:lvl4pPr>
            <a:lvl5pPr marL="465750" indent="-213750">
              <a:buClr>
                <a:schemeClr val="accent1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11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3C4C37A-0AB2-7811-AECD-EC3F88153C5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67049" y="512763"/>
            <a:ext cx="3204342" cy="15478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11000" b="0" i="0">
                <a:solidFill>
                  <a:schemeClr val="accent2"/>
                </a:solidFill>
                <a:latin typeface="+mn-lt"/>
                <a:ea typeface="Verdana" panose="02000503000000020004" pitchFamily="2" charset="0"/>
              </a:defRPr>
            </a:lvl1pPr>
            <a:lvl3pPr marL="0" indent="0">
              <a:lnSpc>
                <a:spcPts val="9600"/>
              </a:lnSpc>
              <a:spcBef>
                <a:spcPts val="0"/>
              </a:spcBef>
              <a:buFont typeface="Arial" panose="020B0604020202020204" pitchFamily="34" charset="0"/>
              <a:buNone/>
              <a:defRPr sz="9600" b="1" i="0">
                <a:solidFill>
                  <a:schemeClr val="accent1"/>
                </a:solidFill>
                <a:latin typeface="Verdana" panose="02000503000000020004" pitchFamily="2" charset="0"/>
                <a:ea typeface="Verdana" panose="02000503000000020004" pitchFamily="2" charset="0"/>
              </a:defRPr>
            </a:lvl3pPr>
            <a:lvl4pPr marL="270900" indent="-270900">
              <a:lnSpc>
                <a:spcPts val="3000"/>
              </a:lnSpc>
              <a:buClr>
                <a:schemeClr val="accent1"/>
              </a:buClr>
              <a:buFont typeface="Wingdings" pitchFamily="2" charset="2"/>
              <a:buChar char="§"/>
              <a:defRPr sz="2300">
                <a:latin typeface="Verdana" panose="02000503000000020004" pitchFamily="2" charset="0"/>
                <a:ea typeface="Verdana" panose="02000503000000020004" pitchFamily="2" charset="0"/>
              </a:defRPr>
            </a:lvl4pPr>
            <a:lvl5pPr marL="465750" indent="-213750">
              <a:buClr>
                <a:schemeClr val="accent1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GB" dirty="0"/>
              <a:t>22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908CC04-3829-1984-B986-FEFC5C34B6D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472488" y="512763"/>
            <a:ext cx="3196556" cy="15478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11000" b="0" i="0">
                <a:solidFill>
                  <a:schemeClr val="accent2"/>
                </a:solidFill>
                <a:latin typeface="+mn-lt"/>
                <a:ea typeface="Verdana" panose="02000503000000020004" pitchFamily="2" charset="0"/>
              </a:defRPr>
            </a:lvl1pPr>
            <a:lvl3pPr marL="0" indent="0">
              <a:lnSpc>
                <a:spcPts val="9600"/>
              </a:lnSpc>
              <a:spcBef>
                <a:spcPts val="0"/>
              </a:spcBef>
              <a:buFont typeface="Arial" panose="020B0604020202020204" pitchFamily="34" charset="0"/>
              <a:buNone/>
              <a:defRPr sz="9600" b="1" i="0">
                <a:solidFill>
                  <a:schemeClr val="accent1"/>
                </a:solidFill>
                <a:latin typeface="Verdana" panose="02000503000000020004" pitchFamily="2" charset="0"/>
                <a:ea typeface="Verdana" panose="02000503000000020004" pitchFamily="2" charset="0"/>
              </a:defRPr>
            </a:lvl3pPr>
            <a:lvl4pPr marL="270900" indent="-270900">
              <a:lnSpc>
                <a:spcPts val="3000"/>
              </a:lnSpc>
              <a:buClr>
                <a:schemeClr val="accent1"/>
              </a:buClr>
              <a:buFont typeface="Wingdings" pitchFamily="2" charset="2"/>
              <a:buChar char="§"/>
              <a:defRPr sz="2300">
                <a:latin typeface="Verdana" panose="02000503000000020004" pitchFamily="2" charset="0"/>
                <a:ea typeface="Verdana" panose="02000503000000020004" pitchFamily="2" charset="0"/>
              </a:defRPr>
            </a:lvl4pPr>
            <a:lvl5pPr marL="465750" indent="-213750">
              <a:buClr>
                <a:schemeClr val="accent1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GB" dirty="0"/>
              <a:t>33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42758929-4EFE-E89D-C2F1-9BEE1A7D2F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463" y="2219144"/>
            <a:ext cx="3157537" cy="205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F8B532A2-B326-132A-B035-27237E98B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67816" y="2219144"/>
            <a:ext cx="3203575" cy="205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F85395CF-2E50-8141-0D8C-D54684B728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2488" y="2219144"/>
            <a:ext cx="3194049" cy="20526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71809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2C413-BFD5-78BB-81CF-28108CE8F8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955" y="1784255"/>
            <a:ext cx="4980164" cy="1000960"/>
          </a:xfrm>
          <a:prstGeom prst="roundRect">
            <a:avLst>
              <a:gd name="adj" fmla="val 7302"/>
            </a:avLst>
          </a:prstGeom>
          <a:solidFill>
            <a:schemeClr val="bg2">
              <a:lumMod val="90000"/>
              <a:lumOff val="1000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>
                <a:latin typeface="Consolas" pitchFamily="2" charset="0"/>
                <a:ea typeface="Consolas" panose="020B0609030202020204" pitchFamily="49" charset="0"/>
                <a:cs typeface="Consolas" panose="020B0609030202020204" pitchFamily="49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400">
                <a:latin typeface="Consolas" pitchFamily="2" charset="0"/>
                <a:ea typeface="Consolas" panose="020B0609030202020204" pitchFamily="49" charset="0"/>
                <a:cs typeface="Consolas" panose="020B0609030202020204" pitchFamily="49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800">
                <a:latin typeface="Consolas" pitchFamily="2" charset="0"/>
                <a:ea typeface="Consolas" panose="020B0609030202020204" pitchFamily="49" charset="0"/>
                <a:cs typeface="Consolas" panose="020B0609030202020204" pitchFamily="49" charset="0"/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600">
                <a:latin typeface="Consolas" pitchFamily="2" charset="0"/>
                <a:ea typeface="Consolas" panose="020B0609030202020204" pitchFamily="49" charset="0"/>
                <a:cs typeface="Consolas" panose="020B0609030202020204" pitchFamily="49" charset="0"/>
              </a:defRPr>
            </a:lvl4pPr>
            <a:lvl5pPr>
              <a:lnSpc>
                <a:spcPct val="100000"/>
              </a:lnSpc>
              <a:spcAft>
                <a:spcPts val="0"/>
              </a:spcAft>
              <a:defRPr>
                <a:latin typeface="Consolas" pitchFamily="2" charset="0"/>
                <a:ea typeface="Consolas" panose="020B0609030202020204" pitchFamily="49" charset="0"/>
                <a:cs typeface="Consolas" panose="020B0609030202020204" pitchFamily="49" charset="0"/>
              </a:defRPr>
            </a:lvl5pPr>
          </a:lstStyle>
          <a:p>
            <a:pPr lvl="0"/>
            <a:r>
              <a:rPr lang="en-GB" dirty="0"/>
              <a:t>Click to edit </a:t>
            </a:r>
            <a:r>
              <a:rPr lang="en-US" dirty="0"/>
              <a:t>Code block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F4155-AA5F-2E28-EFD9-58C9AF89A2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7" y="394557"/>
            <a:ext cx="11160124" cy="769441"/>
          </a:xfrm>
        </p:spPr>
        <p:txBody>
          <a:bodyPr/>
          <a:lstStyle/>
          <a:p>
            <a:r>
              <a:rPr lang="en-GB" dirty="0"/>
              <a:t>Click to Edit </a:t>
            </a:r>
            <a:r>
              <a:rPr lang="en-US" dirty="0"/>
              <a:t>Slide </a:t>
            </a: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41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i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61983-7451-0967-D52C-21C2BB40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73169" y="528452"/>
            <a:ext cx="2890740" cy="5853298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C67B94-674C-9D45-FA5D-1884C2E96A1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821827" y="679621"/>
            <a:ext cx="2596080" cy="5575129"/>
          </a:xfrm>
          <a:prstGeom prst="roundRect">
            <a:avLst>
              <a:gd name="adj" fmla="val 12934"/>
            </a:avLst>
          </a:prstGeo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356C9-AFF2-651E-C1E7-179C8EA9FB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399630"/>
            <a:ext cx="5688012" cy="2237664"/>
          </a:xfrm>
        </p:spPr>
        <p:txBody>
          <a:bodyPr/>
          <a:lstStyle>
            <a:lvl1pPr>
              <a:lnSpc>
                <a:spcPts val="6000"/>
              </a:lnSpc>
              <a:spcAft>
                <a:spcPts val="2000"/>
              </a:spcAft>
              <a:defRPr sz="5500"/>
            </a:lvl1pPr>
          </a:lstStyle>
          <a:p>
            <a:pPr lvl="0"/>
            <a:r>
              <a:rPr lang="en-GB" dirty="0"/>
              <a:t>Slide Title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504904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Andr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61983-7451-0967-D52C-21C2BB40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864382" y="512763"/>
            <a:ext cx="2705005" cy="587686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C67B94-674C-9D45-FA5D-1884C2E96A1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969908" y="753035"/>
            <a:ext cx="2482534" cy="5501716"/>
          </a:xfrm>
          <a:prstGeom prst="roundRect">
            <a:avLst>
              <a:gd name="adj" fmla="val 7659"/>
            </a:avLst>
          </a:prstGeo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R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E48EF70-CBE3-2BD5-F41E-BE3A64DBE5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7" y="399630"/>
            <a:ext cx="6624637" cy="2237664"/>
          </a:xfrm>
        </p:spPr>
        <p:txBody>
          <a:bodyPr/>
          <a:lstStyle>
            <a:lvl1pPr>
              <a:lnSpc>
                <a:spcPts val="6000"/>
              </a:lnSpc>
              <a:spcAft>
                <a:spcPts val="2000"/>
              </a:spcAft>
              <a:defRPr sz="5500"/>
            </a:lvl1pPr>
          </a:lstStyle>
          <a:p>
            <a:pPr lvl="0"/>
            <a:r>
              <a:rPr lang="en-GB" dirty="0"/>
              <a:t>Slide Title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97970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M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C67B94-674C-9D45-FA5D-1884C2E96A1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522847" y="664142"/>
            <a:ext cx="7113070" cy="4696361"/>
          </a:xfrm>
          <a:prstGeom prst="roundRect">
            <a:avLst>
              <a:gd name="adj" fmla="val 1942"/>
            </a:avLst>
          </a:prstGeo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61983-7451-0967-D52C-21C2BB40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30488" y="520413"/>
            <a:ext cx="8893682" cy="5386918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B7F1ED9-840D-29D1-91BD-BF23DFAF06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399630"/>
            <a:ext cx="2266950" cy="2237664"/>
          </a:xfrm>
        </p:spPr>
        <p:txBody>
          <a:bodyPr/>
          <a:lstStyle>
            <a:lvl1pPr>
              <a:lnSpc>
                <a:spcPts val="6000"/>
              </a:lnSpc>
              <a:spcAft>
                <a:spcPts val="2000"/>
              </a:spcAft>
              <a:defRPr sz="5500"/>
            </a:lvl1pPr>
          </a:lstStyle>
          <a:p>
            <a:pPr lvl="0"/>
            <a:r>
              <a:rPr lang="en-GB" dirty="0"/>
              <a:t>Slide Title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880102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CE02D-FE0C-22A2-6070-D06D1F6EFB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17" y="394557"/>
            <a:ext cx="11160124" cy="769441"/>
          </a:xfrm>
        </p:spPr>
        <p:txBody>
          <a:bodyPr/>
          <a:lstStyle/>
          <a:p>
            <a:r>
              <a:rPr lang="en-GB" dirty="0"/>
              <a:t>Click to Edit </a:t>
            </a:r>
            <a:r>
              <a:rPr lang="en-US" dirty="0"/>
              <a:t>Slide </a:t>
            </a: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07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6E75E-C9B3-740B-AC05-E4C307C4E4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201431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6803-D8AA-2249-B909-AB664DD5AC8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296894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21FF8DD-F218-6EAE-6C65-72116F39ED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6024433"/>
            <a:ext cx="6831099" cy="43191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25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Contact info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9593817-445F-F546-D769-C5C2B9E5FC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1921103"/>
            <a:ext cx="5426162" cy="1538883"/>
          </a:xfr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C053786-9423-B802-10D2-683A33D847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3611" y="1517946"/>
            <a:ext cx="4722416" cy="3101126"/>
          </a:xfrm>
          <a:prstGeom prst="rect">
            <a:avLst/>
          </a:prstGeom>
        </p:spPr>
      </p:pic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53C4D254-E365-E96C-FB42-2AD35B324C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CF9EE55-BD90-624D-088E-4B61323BA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4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9593817-445F-F546-D769-C5C2B9E5FC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5" y="1921103"/>
            <a:ext cx="5678575" cy="1538883"/>
          </a:xfr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6FC82E8-6A24-FB0F-4374-7CACFEBD53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346" y="3833965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0EA9B40-EE0E-6B32-55C9-2D1E7EDE4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6346" y="4628719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ED92994-5BAD-ADDD-C52E-B66E3158C8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6346" y="5381073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4934C85-B005-F91F-99C9-E19131F7F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452" y="3835916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42FC1E4-199E-4A2C-AA54-5A8DF4BB42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2452" y="4619095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30A2AD5-FF04-F79C-BC0E-06ABF739D6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62452" y="5383024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3C219EB-2DA6-1B46-7CA6-AA18BB4BF70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5563" y="3837915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4960FC8-70EA-272A-5C69-E763F0F59A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5563" y="4627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2003C27-E122-F449-29AE-BA77C6F117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945038" y="3837915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087A1BA2-3F7A-4A8B-6C11-6C1114D856C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45038" y="4627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6950C-D8A4-B51F-10A1-2205D661A998}"/>
              </a:ext>
            </a:extLst>
          </p:cNvPr>
          <p:cNvSpPr txBox="1"/>
          <p:nvPr userDrawn="1"/>
        </p:nvSpPr>
        <p:spPr>
          <a:xfrm>
            <a:off x="537641" y="6181829"/>
            <a:ext cx="16476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tx1"/>
                </a:solidFill>
              </a:rPr>
              <a:t>devexperts.com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A6BF94-F900-0D46-6DE9-B746559449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3611" y="1517946"/>
            <a:ext cx="4722416" cy="3101126"/>
          </a:xfrm>
          <a:prstGeom prst="rect">
            <a:avLst/>
          </a:prstGeom>
        </p:spPr>
      </p:pic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C1AA383B-814B-8748-3EEC-5811B7B15B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5563" y="5389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8546AB0D-290D-DE02-D985-8BA226AB84F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45038" y="53641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9DB9BA4C-F569-BE04-0C0A-CE362C6557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D58B5B4-BF9E-081E-53E5-CAFD20A81C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580D37-BBAD-F209-5AFC-809B80CACB49}"/>
              </a:ext>
            </a:extLst>
          </p:cNvPr>
          <p:cNvSpPr txBox="1"/>
          <p:nvPr userDrawn="1"/>
        </p:nvSpPr>
        <p:spPr>
          <a:xfrm>
            <a:off x="2390355" y="6181829"/>
            <a:ext cx="12022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tx1"/>
                </a:solidFill>
              </a:rPr>
              <a:t>dxfeed.com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504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780B614-F2A1-7E2E-0E5C-BCE2263450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8277" y="1113841"/>
            <a:ext cx="5779069" cy="5385600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EB1B1E8C-3C1B-1E6F-8B3D-A591E3A8F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5" y="1921103"/>
            <a:ext cx="5678575" cy="1538883"/>
          </a:xfr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1284679-30A4-3B97-358D-B89B4E90E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346" y="3833965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A24AF6D8-72A9-7AEC-A640-87EBDF869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6346" y="4628719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46D466F-883B-4E23-603D-B16BA12A1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6346" y="5381073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B97E662-5E45-5AF8-634A-C7DC0A4C0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452" y="3835916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B30F2A6C-EF41-927D-9CAF-3A7667E990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2452" y="4619095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D722B265-9042-82A3-5408-21AC76DD1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62452" y="5383024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91A1C36-87B0-B091-011C-5F8DD1E41F2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5563" y="3837915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44826E40-8936-7336-F2E4-4E022CE2AA5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5563" y="4627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D9854114-5673-4B58-06D8-69E67517057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945038" y="3837915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45" name="Picture Placeholder 7">
            <a:extLst>
              <a:ext uri="{FF2B5EF4-FFF2-40B4-BE49-F238E27FC236}">
                <a16:creationId xmlns:a16="http://schemas.microsoft.com/office/drawing/2014/main" id="{A573802E-510A-9D54-760E-25AE53A6C23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45038" y="4627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F8008D-25B0-2DCE-00F5-3266874CA4A9}"/>
              </a:ext>
            </a:extLst>
          </p:cNvPr>
          <p:cNvSpPr txBox="1"/>
          <p:nvPr userDrawn="1"/>
        </p:nvSpPr>
        <p:spPr>
          <a:xfrm>
            <a:off x="537641" y="6181829"/>
            <a:ext cx="16476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tx1"/>
                </a:solidFill>
              </a:rPr>
              <a:t>devexperts.com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716DF41F-288B-BE2E-DA4A-5CADFA40740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5563" y="5389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49" name="Picture Placeholder 7">
            <a:extLst>
              <a:ext uri="{FF2B5EF4-FFF2-40B4-BE49-F238E27FC236}">
                <a16:creationId xmlns:a16="http://schemas.microsoft.com/office/drawing/2014/main" id="{B23F7764-FED8-EEA5-1B61-1C7E96EA20A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45038" y="53641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C5C73E3A-7C9D-3D24-C10B-D360E5994E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EBDE6BC-9ACA-1270-D719-343B01F965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5B5D79-7DD5-6688-0742-532400C04E5A}"/>
              </a:ext>
            </a:extLst>
          </p:cNvPr>
          <p:cNvSpPr txBox="1"/>
          <p:nvPr userDrawn="1"/>
        </p:nvSpPr>
        <p:spPr>
          <a:xfrm>
            <a:off x="2390355" y="6181829"/>
            <a:ext cx="12022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tx1"/>
                </a:solidFill>
              </a:rPr>
              <a:t>dxfeed.com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74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1615E7D7-4981-A63D-0FDD-9A7D3CAF17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5375" y="523419"/>
            <a:ext cx="2817264" cy="51097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3992A6F-359E-04A8-76B5-C0BE1C0ADF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7213" y="2130619"/>
            <a:ext cx="4565449" cy="4254712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C7F1524-CCE3-EB54-D813-988FD79BF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5" y="1921103"/>
            <a:ext cx="5678575" cy="1538883"/>
          </a:xfr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61F5B698-2C3F-9B3B-4C78-31058DD34E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6346" y="3833965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A8D6B1EC-AF46-5F13-324B-519FDFAA88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6346" y="4628719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3E62416-D7B8-5E21-B235-20615BD575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6346" y="5381073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6BDF51-4E16-0D95-60C4-8B74036B8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452" y="3835916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772AE51-FAA2-E573-16DF-BA05FC272F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2452" y="4619095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4272B616-9B17-13D5-EACA-22FAB1C602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62452" y="5383024"/>
            <a:ext cx="2539479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>
                <a:effectLst/>
              </a:rPr>
              <a:t>@username</a:t>
            </a:r>
            <a:endParaRPr lang="en-GB" dirty="0"/>
          </a:p>
        </p:txBody>
      </p:sp>
      <p:sp>
        <p:nvSpPr>
          <p:cNvPr id="30" name="Picture Placeholder 7">
            <a:extLst>
              <a:ext uri="{FF2B5EF4-FFF2-40B4-BE49-F238E27FC236}">
                <a16:creationId xmlns:a16="http://schemas.microsoft.com/office/drawing/2014/main" id="{7C97AC42-1CC8-2AB4-1C6E-79CA075E789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5563" y="3837915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31" name="Picture Placeholder 7">
            <a:extLst>
              <a:ext uri="{FF2B5EF4-FFF2-40B4-BE49-F238E27FC236}">
                <a16:creationId xmlns:a16="http://schemas.microsoft.com/office/drawing/2014/main" id="{972F6ECB-5CA0-A0F9-29C8-869F592AA2A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5563" y="4627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D0AABA72-8ABF-EF6B-DC7C-7A9B1EC64D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945038" y="3837915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05AF4BBE-18BF-0A94-759B-1D96DD70100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45038" y="4627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201DDD-D1B8-7175-9571-70A97906A3CC}"/>
              </a:ext>
            </a:extLst>
          </p:cNvPr>
          <p:cNvSpPr txBox="1"/>
          <p:nvPr userDrawn="1"/>
        </p:nvSpPr>
        <p:spPr>
          <a:xfrm>
            <a:off x="537641" y="6181829"/>
            <a:ext cx="16476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tx1"/>
                </a:solidFill>
              </a:rPr>
              <a:t>devexperts.com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" name="Picture Placeholder 7">
            <a:extLst>
              <a:ext uri="{FF2B5EF4-FFF2-40B4-BE49-F238E27FC236}">
                <a16:creationId xmlns:a16="http://schemas.microsoft.com/office/drawing/2014/main" id="{CEA72919-CDBB-AF40-8607-47C23815AD0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5563" y="53895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2EF225FE-392F-CC20-C56C-22D383E9C1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45038" y="5364170"/>
            <a:ext cx="468000" cy="468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000"/>
            </a:lvl1pPr>
          </a:lstStyle>
          <a:p>
            <a:r>
              <a:rPr lang="en-RU" dirty="0"/>
              <a:t>Icon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055B943-C061-DC27-D153-987D6B365E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43061" y="522556"/>
            <a:ext cx="2089611" cy="531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053099-75B3-DAAB-35AC-72401ED028FD}"/>
              </a:ext>
            </a:extLst>
          </p:cNvPr>
          <p:cNvSpPr txBox="1"/>
          <p:nvPr userDrawn="1"/>
        </p:nvSpPr>
        <p:spPr>
          <a:xfrm>
            <a:off x="2390355" y="6181829"/>
            <a:ext cx="120225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tx1"/>
                </a:solidFill>
              </a:rPr>
              <a:t>dxfeed.com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4216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4816" y="396429"/>
            <a:ext cx="11151245" cy="76944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0050" y="6122884"/>
            <a:ext cx="111601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2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Verdana" panose="02000503000000020004" pitchFamily="2" charset="0"/>
              </a:defRPr>
            </a:lvl1pPr>
          </a:lstStyle>
          <a:p>
            <a:fld id="{230D6803-D8AA-2249-B909-AB664DD5AC8A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BF971E-6B7C-3EF8-D3E6-89733840B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817" y="1749991"/>
            <a:ext cx="11151246" cy="1993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67737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4" r:id="rId21"/>
    <p:sldLayoutId id="2147483925" r:id="rId22"/>
    <p:sldLayoutId id="2147483926" r:id="rId23"/>
    <p:sldLayoutId id="2147483927" r:id="rId24"/>
    <p:sldLayoutId id="2147483928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</p:sldLayoutIdLst>
  <p:hf hdr="0" ftr="0" dt="0"/>
  <p:txStyles>
    <p:titleStyle>
      <a:lvl1pPr algn="l" defTabSz="914377" rtl="0" eaLnBrk="1" latinLnBrk="0" hangingPunct="1">
        <a:lnSpc>
          <a:spcPts val="6000"/>
        </a:lnSpc>
        <a:spcBef>
          <a:spcPct val="0"/>
        </a:spcBef>
        <a:buNone/>
        <a:defRPr lang="en-US" sz="5500" b="0" i="0" kern="1200" dirty="0">
          <a:solidFill>
            <a:schemeClr val="tx1"/>
          </a:solidFill>
          <a:latin typeface="+mn-lt"/>
          <a:ea typeface="Verdana" panose="02000503000000020004" pitchFamily="2" charset="0"/>
          <a:cs typeface="+mj-cs"/>
        </a:defRPr>
      </a:lvl1pPr>
    </p:titleStyle>
    <p:bodyStyle>
      <a:lvl1pPr marL="0" indent="0" algn="l" defTabSz="914377" rtl="0" eaLnBrk="1" latinLnBrk="0" hangingPunct="1">
        <a:lnSpc>
          <a:spcPts val="3400"/>
        </a:lnSpc>
        <a:spcBef>
          <a:spcPts val="0"/>
        </a:spcBef>
        <a:spcAft>
          <a:spcPts val="800"/>
        </a:spcAft>
        <a:buFont typeface="Wingdings" pitchFamily="2" charset="2"/>
        <a:buNone/>
        <a:tabLst/>
        <a:defRPr sz="2500" kern="1200">
          <a:solidFill>
            <a:schemeClr val="tx1"/>
          </a:solidFill>
          <a:latin typeface="+mn-lt"/>
          <a:ea typeface="Verdana" panose="02000503000000020004" pitchFamily="2" charset="0"/>
          <a:cs typeface="+mn-cs"/>
        </a:defRPr>
      </a:lvl1pPr>
      <a:lvl2pPr marL="0" indent="0" algn="l" defTabSz="914377" rtl="0" eaLnBrk="1" latinLnBrk="0" hangingPunct="1">
        <a:lnSpc>
          <a:spcPts val="2400"/>
        </a:lnSpc>
        <a:spcBef>
          <a:spcPts val="0"/>
        </a:spcBef>
        <a:spcAft>
          <a:spcPts val="800"/>
        </a:spcAft>
        <a:buClr>
          <a:schemeClr val="tx1"/>
        </a:buClr>
        <a:buFont typeface="+mj-lt"/>
        <a:buNone/>
        <a:tabLst/>
        <a:defRPr sz="1600" b="0" i="0" kern="1200">
          <a:solidFill>
            <a:schemeClr val="tx1"/>
          </a:solidFill>
          <a:latin typeface="+mn-lt"/>
          <a:ea typeface="Verdana" panose="02000503000000020004" pitchFamily="2" charset="0"/>
          <a:cs typeface="+mn-cs"/>
        </a:defRPr>
      </a:lvl2pPr>
      <a:lvl3pPr marL="216000" indent="-216000" algn="l" defTabSz="914377" rtl="0" eaLnBrk="1" latinLnBrk="0" hangingPunct="1">
        <a:lnSpc>
          <a:spcPts val="2400"/>
        </a:lnSpc>
        <a:spcBef>
          <a:spcPts val="0"/>
        </a:spcBef>
        <a:spcAft>
          <a:spcPts val="800"/>
        </a:spcAft>
        <a:buClr>
          <a:schemeClr val="tx1"/>
        </a:buClr>
        <a:buSzPct val="120000"/>
        <a:buFont typeface="Verdana"/>
        <a:buChar char="●"/>
        <a:tabLst/>
        <a:defRPr sz="1600" b="0" i="0" kern="1200">
          <a:solidFill>
            <a:schemeClr val="tx1"/>
          </a:solidFill>
          <a:latin typeface="+mn-lt"/>
          <a:ea typeface="Verdana" panose="02000503000000020004" pitchFamily="2" charset="0"/>
          <a:cs typeface="+mn-cs"/>
        </a:defRPr>
      </a:lvl3pPr>
      <a:lvl4pPr marL="216000" indent="-216000" algn="l" defTabSz="914377" rtl="0" eaLnBrk="1" latinLnBrk="0" hangingPunct="1">
        <a:lnSpc>
          <a:spcPts val="2400"/>
        </a:lnSpc>
        <a:spcBef>
          <a:spcPts val="0"/>
        </a:spcBef>
        <a:spcAft>
          <a:spcPts val="800"/>
        </a:spcAft>
        <a:buClr>
          <a:schemeClr val="tx1"/>
        </a:buClr>
        <a:buSzPct val="100000"/>
        <a:buFont typeface="+mj-lt"/>
        <a:buAutoNum type="arabicPeriod"/>
        <a:tabLst/>
        <a:defRPr sz="1600" b="0" i="0" kern="1200">
          <a:solidFill>
            <a:schemeClr val="tx1"/>
          </a:solidFill>
          <a:latin typeface="+mn-lt"/>
          <a:ea typeface="Verdana" panose="02000503000000020004" pitchFamily="2" charset="0"/>
          <a:cs typeface="+mn-cs"/>
        </a:defRPr>
      </a:lvl4pPr>
      <a:lvl5pPr marL="0" indent="0" algn="l" defTabSz="914377" rtl="0" eaLnBrk="1" latinLnBrk="0" hangingPunct="1">
        <a:lnSpc>
          <a:spcPts val="1800"/>
        </a:lnSpc>
        <a:spcBef>
          <a:spcPts val="0"/>
        </a:spcBef>
        <a:spcAft>
          <a:spcPts val="500"/>
        </a:spcAft>
        <a:buClr>
          <a:schemeClr val="tx2"/>
        </a:buClr>
        <a:buFont typeface="+mj-lt"/>
        <a:buNone/>
        <a:tabLst/>
        <a:defRPr sz="1200" kern="1200">
          <a:solidFill>
            <a:schemeClr val="tx1"/>
          </a:solidFill>
          <a:latin typeface="+mn-lt"/>
          <a:ea typeface="Verdana" panose="02000503000000020004" pitchFamily="2" charset="0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>
          <p15:clr>
            <a:srgbClr val="F26B43"/>
          </p15:clr>
        </p15:guide>
        <p15:guide id="2" orient="horz" pos="323">
          <p15:clr>
            <a:srgbClr val="F26B43"/>
          </p15:clr>
        </p15:guide>
        <p15:guide id="4" pos="7355">
          <p15:clr>
            <a:srgbClr val="F26B43"/>
          </p15:clr>
        </p15:guide>
        <p15:guide id="5" pos="892">
          <p15:clr>
            <a:srgbClr val="F26B43"/>
          </p15:clr>
        </p15:guide>
        <p15:guide id="6" pos="1028">
          <p15:clr>
            <a:srgbClr val="F26B43"/>
          </p15:clr>
        </p15:guide>
        <p15:guide id="7" pos="1595">
          <p15:clr>
            <a:srgbClr val="F26B43"/>
          </p15:clr>
        </p15:guide>
        <p15:guide id="8" pos="1753">
          <p15:clr>
            <a:srgbClr val="F26B43"/>
          </p15:clr>
        </p15:guide>
        <p15:guide id="9" pos="2320">
          <p15:clr>
            <a:srgbClr val="F26B43"/>
          </p15:clr>
        </p15:guide>
        <p15:guide id="10" pos="2479">
          <p15:clr>
            <a:srgbClr val="F26B43"/>
          </p15:clr>
        </p15:guide>
        <p15:guide id="11" pos="3046">
          <p15:clr>
            <a:srgbClr val="F26B43"/>
          </p15:clr>
        </p15:guide>
        <p15:guide id="12" pos="3205">
          <p15:clr>
            <a:srgbClr val="F26B43"/>
          </p15:clr>
        </p15:guide>
        <p15:guide id="13" pos="3749">
          <p15:clr>
            <a:srgbClr val="F26B43"/>
          </p15:clr>
        </p15:guide>
        <p15:guide id="14" pos="3908">
          <p15:clr>
            <a:srgbClr val="F26B43"/>
          </p15:clr>
        </p15:guide>
        <p15:guide id="15" pos="4498">
          <p15:clr>
            <a:srgbClr val="F26B43"/>
          </p15:clr>
        </p15:guide>
        <p15:guide id="16" pos="4634">
          <p15:clr>
            <a:srgbClr val="F26B43"/>
          </p15:clr>
        </p15:guide>
        <p15:guide id="17" pos="5201">
          <p15:clr>
            <a:srgbClr val="F26B43"/>
          </p15:clr>
        </p15:guide>
        <p15:guide id="19" pos="5927">
          <p15:clr>
            <a:srgbClr val="F26B43"/>
          </p15:clr>
        </p15:guide>
        <p15:guide id="20" pos="6085">
          <p15:clr>
            <a:srgbClr val="F26B43"/>
          </p15:clr>
        </p15:guide>
        <p15:guide id="21" pos="6652">
          <p15:clr>
            <a:srgbClr val="F26B43"/>
          </p15:clr>
        </p15:guide>
        <p15:guide id="22" pos="6788">
          <p15:clr>
            <a:srgbClr val="F26B43"/>
          </p15:clr>
        </p15:guide>
        <p15:guide id="23" orient="horz" pos="640">
          <p15:clr>
            <a:srgbClr val="F26B43"/>
          </p15:clr>
        </p15:guide>
        <p15:guide id="24" orient="horz" pos="799">
          <p15:clr>
            <a:srgbClr val="F26B43"/>
          </p15:clr>
        </p15:guide>
        <p15:guide id="25" orient="horz" pos="1117">
          <p15:clr>
            <a:srgbClr val="F26B43"/>
          </p15:clr>
        </p15:guide>
        <p15:guide id="26" orient="horz" pos="1298">
          <p15:clr>
            <a:srgbClr val="F26B43"/>
          </p15:clr>
        </p15:guide>
        <p15:guide id="27" orient="horz" pos="1593">
          <p15:clr>
            <a:srgbClr val="F26B43"/>
          </p15:clr>
        </p15:guide>
        <p15:guide id="28" orient="horz" pos="1752">
          <p15:clr>
            <a:srgbClr val="F26B43"/>
          </p15:clr>
        </p15:guide>
        <p15:guide id="29" orient="horz" pos="2069">
          <p15:clr>
            <a:srgbClr val="F26B43"/>
          </p15:clr>
        </p15:guide>
        <p15:guide id="30" orient="horz" pos="2228">
          <p15:clr>
            <a:srgbClr val="F26B43"/>
          </p15:clr>
        </p15:guide>
        <p15:guide id="31" orient="horz" pos="2568">
          <p15:clr>
            <a:srgbClr val="F26B43"/>
          </p15:clr>
        </p15:guide>
        <p15:guide id="32" orient="horz" pos="2727">
          <p15:clr>
            <a:srgbClr val="F26B43"/>
          </p15:clr>
        </p15:guide>
        <p15:guide id="33" orient="horz" pos="3045">
          <p15:clr>
            <a:srgbClr val="F26B43"/>
          </p15:clr>
        </p15:guide>
        <p15:guide id="34" orient="horz" pos="3203">
          <p15:clr>
            <a:srgbClr val="F26B43"/>
          </p15:clr>
        </p15:guide>
        <p15:guide id="35" orient="horz" pos="3521">
          <p15:clr>
            <a:srgbClr val="F26B43"/>
          </p15:clr>
        </p15:guide>
        <p15:guide id="36" orient="horz" pos="3680">
          <p15:clr>
            <a:srgbClr val="F26B43"/>
          </p15:clr>
        </p15:guide>
        <p15:guide id="37" orient="horz" pos="4020">
          <p15:clr>
            <a:srgbClr val="F26B43"/>
          </p15:clr>
        </p15:guide>
        <p15:guide id="38" pos="533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xperts.com/" TargetMode="Externa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xfeed.com/solutions/summerfox-market-intelligence-plus-ai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xfeed.com/solutions/dxfeed-grenadier/" TargetMode="External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3.png"/><Relationship Id="rId4" Type="http://schemas.openxmlformats.org/officeDocument/2006/relationships/hyperlink" Target="https://dxfeed.com/dxfeed-elevates-real-time-market-intelligenc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www.linkedin.com/in/tonytonov/" TargetMode="External"/><Relationship Id="rId4" Type="http://schemas.openxmlformats.org/officeDocument/2006/relationships/hyperlink" Target="mailto:antonov@dxfee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062F0BB-4B56-4AC7-9635-A2E5D9F36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6" y="1714866"/>
            <a:ext cx="10611385" cy="3154710"/>
          </a:xfrm>
        </p:spPr>
        <p:txBody>
          <a:bodyPr>
            <a:normAutofit/>
          </a:bodyPr>
          <a:lstStyle/>
          <a:p>
            <a:pPr>
              <a:lnSpc>
                <a:spcPts val="6000"/>
              </a:lnSpc>
            </a:pPr>
            <a:r>
              <a:rPr lang="en-US" sz="5400" dirty="0"/>
              <a:t>From Demo to Production</a:t>
            </a:r>
            <a:br>
              <a:rPr lang="en-US" sz="5400" dirty="0"/>
            </a:br>
            <a:r>
              <a:rPr lang="en-US" sz="3600" i="1" dirty="0"/>
              <a:t>A Year of Agentic AI in Financial Markets</a:t>
            </a:r>
          </a:p>
        </p:txBody>
      </p:sp>
      <p:sp>
        <p:nvSpPr>
          <p:cNvPr id="50" name="Speaker"/>
          <p:cNvSpPr>
            <a:spLocks noGrp="1"/>
          </p:cNvSpPr>
          <p:nvPr>
            <p:ph type="body" idx="11"/>
          </p:nvPr>
        </p:nvSpPr>
        <p:spPr>
          <a:xfrm>
            <a:off x="527512" y="4902292"/>
            <a:ext cx="10426369" cy="1564531"/>
          </a:xfrm>
        </p:spPr>
        <p:txBody>
          <a:bodyPr/>
          <a:lstStyle/>
          <a:p>
            <a:r>
              <a:rPr lang="en-US" dirty="0"/>
              <a:t>Anton Antonov, Head of AI &amp; Quant, </a:t>
            </a:r>
            <a:r>
              <a:rPr lang="en-US" dirty="0" err="1"/>
              <a:t>dxFeed</a:t>
            </a:r>
            <a:endParaRPr lang="en-US" dirty="0"/>
          </a:p>
          <a:p>
            <a:r>
              <a:rPr lang="en-US" dirty="0"/>
              <a:t>Munich-London,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9711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About </a:t>
            </a:r>
            <a:r>
              <a:rPr lang="en-US" sz="3200" dirty="0" err="1"/>
              <a:t>dxFeed</a:t>
            </a:r>
            <a:endParaRPr dirty="0"/>
          </a:p>
        </p:txBody>
      </p:sp>
      <p:sp>
        <p:nvSpPr>
          <p:cNvPr id="8" name="Google Shape;491;p52">
            <a:extLst>
              <a:ext uri="{FF2B5EF4-FFF2-40B4-BE49-F238E27FC236}">
                <a16:creationId xmlns:a16="http://schemas.microsoft.com/office/drawing/2014/main" id="{009AD394-FC3D-8112-602E-8198D98E383D}"/>
              </a:ext>
            </a:extLst>
          </p:cNvPr>
          <p:cNvSpPr txBox="1"/>
          <p:nvPr/>
        </p:nvSpPr>
        <p:spPr>
          <a:xfrm>
            <a:off x="1008061" y="3808228"/>
            <a:ext cx="2065800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Verdana"/>
              </a:rPr>
              <a:t>6M</a:t>
            </a:r>
            <a:endParaRPr sz="5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End-Users through direct and B2B2C relationships</a:t>
            </a:r>
            <a:endParaRPr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Google Shape;492;p52">
            <a:extLst>
              <a:ext uri="{FF2B5EF4-FFF2-40B4-BE49-F238E27FC236}">
                <a16:creationId xmlns:a16="http://schemas.microsoft.com/office/drawing/2014/main" id="{5C175D75-7607-A25A-D877-4434CDA30CC4}"/>
              </a:ext>
            </a:extLst>
          </p:cNvPr>
          <p:cNvSpPr txBox="1"/>
          <p:nvPr/>
        </p:nvSpPr>
        <p:spPr>
          <a:xfrm>
            <a:off x="8919949" y="3808228"/>
            <a:ext cx="2147444" cy="170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+mn-lt"/>
              </a:rPr>
              <a:t>&gt;100</a:t>
            </a:r>
            <a:endParaRPr sz="5400" dirty="0">
              <a:solidFill>
                <a:schemeClr val="tx1"/>
              </a:solidFill>
              <a:latin typeface="+mn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B2B clients around </a:t>
            </a:r>
            <a:endParaRPr sz="16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the world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Google Shape;493;p52">
            <a:extLst>
              <a:ext uri="{FF2B5EF4-FFF2-40B4-BE49-F238E27FC236}">
                <a16:creationId xmlns:a16="http://schemas.microsoft.com/office/drawing/2014/main" id="{0054FE16-04CB-D733-BA7A-ECC86715109C}"/>
              </a:ext>
            </a:extLst>
          </p:cNvPr>
          <p:cNvSpPr txBox="1"/>
          <p:nvPr/>
        </p:nvSpPr>
        <p:spPr>
          <a:xfrm>
            <a:off x="2865000" y="3808228"/>
            <a:ext cx="3231000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+mn-lt"/>
                <a:sym typeface="Verdana"/>
              </a:rPr>
              <a:t>200,000</a:t>
            </a:r>
            <a:endParaRPr sz="5400" dirty="0">
              <a:solidFill>
                <a:schemeClr val="tx1"/>
              </a:solidFill>
              <a:latin typeface="+mn-lt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Arial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Simultaneous streaming clients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Google Shape;494;p52">
            <a:extLst>
              <a:ext uri="{FF2B5EF4-FFF2-40B4-BE49-F238E27FC236}">
                <a16:creationId xmlns:a16="http://schemas.microsoft.com/office/drawing/2014/main" id="{0832D2FB-66FA-D4A8-ACF9-B81FC281527E}"/>
              </a:ext>
            </a:extLst>
          </p:cNvPr>
          <p:cNvSpPr txBox="1"/>
          <p:nvPr/>
        </p:nvSpPr>
        <p:spPr>
          <a:xfrm>
            <a:off x="6431309" y="3794895"/>
            <a:ext cx="20658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+mn-lt"/>
                <a:sym typeface="Verdana"/>
              </a:rPr>
              <a:t>3.5M</a:t>
            </a:r>
            <a:endParaRPr sz="5400" dirty="0">
              <a:solidFill>
                <a:schemeClr val="tx1"/>
              </a:solidFill>
              <a:latin typeface="+mn-lt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Arial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Instruments</a:t>
            </a:r>
            <a:endParaRPr sz="1600" dirty="0">
              <a:solidFill>
                <a:schemeClr val="tx1"/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Font typeface="Arial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(Equities, Futures, Options, Indices, FX, Crypto, etc.)</a:t>
            </a:r>
            <a:endParaRPr sz="16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77DEF4E-F3EB-BEE6-0D59-49DB80704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7047"/>
            <a:ext cx="10972800" cy="2251899"/>
          </a:xfrm>
        </p:spPr>
        <p:txBody>
          <a:bodyPr wrap="square"/>
          <a:lstStyle/>
          <a:p>
            <a:r>
              <a:rPr lang="en-US" dirty="0" err="1"/>
              <a:t>dxFeed</a:t>
            </a:r>
            <a:r>
              <a:rPr lang="en-US" dirty="0"/>
              <a:t> is a subsidiary of </a:t>
            </a:r>
            <a:r>
              <a:rPr lang="en-US" u="sng" dirty="0" err="1">
                <a:hlinkClick r:id="rId2"/>
              </a:rPr>
              <a:t>Devexperts</a:t>
            </a:r>
            <a:r>
              <a:rPr lang="en-US" dirty="0"/>
              <a:t>, with the primary focus of delivering financial markets information to buy-side and sell-side institutions and individuals, specifically to traders, data analysts, quants and portfolio managers.</a:t>
            </a:r>
            <a:endParaRPr lang="en-DE" sz="1800" dirty="0"/>
          </a:p>
          <a:p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6197-EB34-E8B3-3E39-B45EB0D8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FE3E-2DB1-6330-43A8-149B048F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What we shipped this year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D3B874-6549-8E36-13F3-B72DA4F78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358355"/>
              </p:ext>
            </p:extLst>
          </p:nvPr>
        </p:nvGraphicFramePr>
        <p:xfrm>
          <a:off x="609600" y="3950447"/>
          <a:ext cx="10972800" cy="199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288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Headline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288">
                <a:tc>
                  <a:txBody>
                    <a:bodyPr/>
                    <a:lstStyle/>
                    <a:p>
                      <a:r>
                        <a:rPr sz="1400" dirty="0"/>
                        <a:t>Grenadier-2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Capable of streaming f</a:t>
                      </a:r>
                      <a:r>
                        <a:rPr sz="1400" dirty="0"/>
                        <a:t>ull US equity universe </a:t>
                      </a:r>
                      <a:r>
                        <a:rPr lang="en-US" sz="1400" dirty="0"/>
                        <a:t>@</a:t>
                      </a:r>
                      <a:r>
                        <a:rPr sz="1400" dirty="0"/>
                        <a:t> 4,000 RPS</a:t>
                      </a:r>
                      <a:r>
                        <a:rPr lang="en-US" sz="1400" dirty="0"/>
                        <a:t>; production latency </a:t>
                      </a:r>
                      <a:r>
                        <a:rPr sz="1400" dirty="0"/>
                        <a:t>p50 51 </a:t>
                      </a:r>
                      <a:r>
                        <a:rPr sz="1400" dirty="0" err="1"/>
                        <a:t>ms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288">
                <a:tc>
                  <a:txBody>
                    <a:bodyPr/>
                    <a:lstStyle/>
                    <a:p>
                      <a:r>
                        <a:rPr sz="1400"/>
                        <a:t>GDELT News -&gt; SummerFox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Licence-free news source, live in </a:t>
                      </a:r>
                      <a:r>
                        <a:rPr sz="1400" dirty="0" err="1"/>
                        <a:t>SummerFox</a:t>
                      </a:r>
                      <a:r>
                        <a:rPr sz="1400" dirty="0"/>
                        <a:t>; </a:t>
                      </a:r>
                      <a:r>
                        <a:rPr lang="en-US" sz="1400" dirty="0"/>
                        <a:t>includes </a:t>
                      </a:r>
                      <a:r>
                        <a:rPr sz="1400" dirty="0"/>
                        <a:t>stocks</a:t>
                      </a:r>
                      <a:r>
                        <a:rPr lang="en-US" sz="1400" dirty="0"/>
                        <a:t>, commodities,</a:t>
                      </a:r>
                      <a:r>
                        <a:rPr sz="1400" dirty="0"/>
                        <a:t> crypto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288">
                <a:tc>
                  <a:txBody>
                    <a:bodyPr/>
                    <a:lstStyle/>
                    <a:p>
                      <a:r>
                        <a:rPr sz="1400"/>
                        <a:t>dxMCP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Market data + Grenadier + </a:t>
                      </a:r>
                      <a:r>
                        <a:rPr sz="1400" dirty="0" err="1"/>
                        <a:t>SummerFox</a:t>
                      </a:r>
                      <a:r>
                        <a:rPr sz="1400" dirty="0"/>
                        <a:t> on one MCP surface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5B178A3-1F33-E9D0-5353-4EBCF998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853"/>
            <a:ext cx="3740787" cy="1870394"/>
          </a:xfrm>
          <a:prstGeom prst="rect">
            <a:avLst/>
          </a:prstGeom>
        </p:spPr>
      </p:pic>
      <p:pic>
        <p:nvPicPr>
          <p:cNvPr id="7" name="Google Shape;144;p33">
            <a:extLst>
              <a:ext uri="{FF2B5EF4-FFF2-40B4-BE49-F238E27FC236}">
                <a16:creationId xmlns:a16="http://schemas.microsoft.com/office/drawing/2014/main" id="{554E564E-6689-E506-7640-1741E5D0FF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186" y="1690853"/>
            <a:ext cx="3527748" cy="18703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09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The model </a:t>
            </a:r>
            <a:r>
              <a:rPr lang="en-US" sz="3200" dirty="0"/>
              <a:t>stopped being </a:t>
            </a:r>
            <a:r>
              <a:rPr sz="3200" dirty="0"/>
              <a:t>the </a:t>
            </a:r>
            <a:r>
              <a:rPr lang="en-US" sz="3200" dirty="0"/>
              <a:t>interesting</a:t>
            </a:r>
            <a:r>
              <a:rPr sz="3200" dirty="0"/>
              <a:t> part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822960" y="2103120"/>
            <a:ext cx="1051560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l"/>
            <a:r>
              <a:rPr lang="en-US" sz="2800" b="1" dirty="0"/>
              <a:t>Everything that makes AI work in production </a:t>
            </a:r>
            <a:br>
              <a:rPr lang="en-US" sz="2800" b="1" dirty="0"/>
            </a:br>
            <a:r>
              <a:rPr lang="en-US" sz="2800" b="1" dirty="0"/>
              <a:t>now lives in the harness around it.</a:t>
            </a:r>
          </a:p>
          <a:p>
            <a:pPr algn="l"/>
            <a:endParaRPr lang="en-US" sz="2800" b="1" dirty="0"/>
          </a:p>
          <a:p>
            <a:pPr algn="l"/>
            <a:r>
              <a:rPr lang="en-US" sz="2400" dirty="0"/>
              <a:t>Three proofs from one year of shipping: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 gateway that turns products into tools,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 pipeline that buys model judgement by the call,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and a product with no LLM in it at all.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8233B-9D2A-440B-6760-5458F425BF93}"/>
              </a:ext>
            </a:extLst>
          </p:cNvPr>
          <p:cNvSpPr txBox="1"/>
          <p:nvPr/>
        </p:nvSpPr>
        <p:spPr>
          <a:xfrm>
            <a:off x="10130367" y="5510368"/>
            <a:ext cx="88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3600" dirty="0"/>
              <a:t>🍓</a:t>
            </a:r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7E7C21-E972-F388-40CA-198B25C7A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301" y="5510368"/>
            <a:ext cx="668079" cy="722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dxMCP: what's on the surface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09600" y="1463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l"/>
            <a:r>
              <a:rPr lang="en-US" sz="1400" i="1" dirty="0"/>
              <a:t>Model Context Protocol: the open standard for connecting AI applications to external systems</a:t>
            </a:r>
            <a:r>
              <a:rPr lang="ru-RU" sz="1400" i="1" dirty="0"/>
              <a:t>.</a:t>
            </a:r>
            <a:endParaRPr lang="en-US" sz="1400" i="1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948393"/>
              </p:ext>
            </p:extLst>
          </p:nvPr>
        </p:nvGraphicFramePr>
        <p:xfrm>
          <a:off x="609600" y="2011680"/>
          <a:ext cx="10972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600" b="1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On the surface today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Candles / OHLC</a:t>
                      </a:r>
                      <a:r>
                        <a:rPr lang="en-US" sz="1600" dirty="0"/>
                        <a:t>, trades &amp; quotes,</a:t>
                      </a:r>
                      <a:r>
                        <a:rPr sz="1600" dirty="0"/>
                        <a:t> instrument profiles (IPF)</a:t>
                      </a:r>
                      <a:r>
                        <a:rPr lang="en-US" sz="1600" dirty="0"/>
                        <a:t>,</a:t>
                      </a:r>
                      <a:r>
                        <a:rPr sz="1600" dirty="0"/>
                        <a:t> fundamentals</a:t>
                      </a:r>
                      <a:r>
                        <a:rPr lang="en-US" sz="1600" dirty="0"/>
                        <a:t>,</a:t>
                      </a:r>
                      <a:r>
                        <a:rPr sz="1600" dirty="0"/>
                        <a:t> news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Options and underlying scanners - 4</a:t>
                      </a:r>
                      <a:r>
                        <a:rPr lang="en-US" sz="1600" dirty="0"/>
                        <a:t>00</a:t>
                      </a:r>
                      <a:r>
                        <a:rPr sz="1600" dirty="0"/>
                        <a:t>+ datapoints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Products as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Grenadier anomaly scores</a:t>
                      </a:r>
                      <a:r>
                        <a:rPr lang="en-US" sz="1600" dirty="0"/>
                        <a:t>, </a:t>
                      </a:r>
                      <a:r>
                        <a:rPr sz="1600" dirty="0" err="1"/>
                        <a:t>SummerFox</a:t>
                      </a:r>
                      <a:r>
                        <a:rPr sz="1600" dirty="0"/>
                        <a:t> per-symbol and portfolio summaries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Consumers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 agents and human operators, e.g. </a:t>
                      </a:r>
                      <a:r>
                        <a:rPr sz="1600" dirty="0"/>
                        <a:t>any MCP client on a desktop</a:t>
                      </a: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Products: </a:t>
                      </a:r>
                      <a:r>
                        <a:rPr lang="en-US" sz="1600" dirty="0" err="1"/>
                        <a:t>DXcharts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DXtrade</a:t>
                      </a:r>
                      <a:r>
                        <a:rPr lang="en-US" sz="1600" dirty="0"/>
                        <a:t> AI agent, </a:t>
                      </a:r>
                      <a:r>
                        <a:rPr lang="en-US" sz="1600" dirty="0" err="1"/>
                        <a:t>SummerFox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0469D7-58B6-0AF2-AE09-587E63C1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57" y="729000"/>
            <a:ext cx="10738286" cy="54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896B4-6E8D-FAC3-371C-46A5E9189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57" y="728662"/>
            <a:ext cx="10738286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32C872-256D-2B76-6130-772E831BBEBA}"/>
              </a:ext>
            </a:extLst>
          </p:cNvPr>
          <p:cNvSpPr txBox="1"/>
          <p:nvPr/>
        </p:nvSpPr>
        <p:spPr>
          <a:xfrm>
            <a:off x="1709592" y="3059668"/>
            <a:ext cx="138852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defRPr>
            </a:lvl1pPr>
          </a:lstStyle>
          <a:p>
            <a:r>
              <a:rPr lang="en-US" sz="1800" dirty="0"/>
              <a:t>MCP Client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1754A-5CCD-835F-FD5D-2EA70B9882B9}"/>
              </a:ext>
            </a:extLst>
          </p:cNvPr>
          <p:cNvSpPr txBox="1"/>
          <p:nvPr/>
        </p:nvSpPr>
        <p:spPr>
          <a:xfrm>
            <a:off x="471268" y="4355609"/>
            <a:ext cx="1396536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</a:rPr>
              <a:t>AI &amp; non-AI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agents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AB2910-76E3-6442-26CE-8A353EFBBBF9}"/>
              </a:ext>
            </a:extLst>
          </p:cNvPr>
          <p:cNvSpPr>
            <a:spLocks noChangeAspect="1"/>
          </p:cNvSpPr>
          <p:nvPr/>
        </p:nvSpPr>
        <p:spPr>
          <a:xfrm>
            <a:off x="843848" y="3715529"/>
            <a:ext cx="579693" cy="640080"/>
          </a:xfrm>
          <a:custGeom>
            <a:avLst/>
            <a:gdLst>
              <a:gd name="connsiteX0" fmla="*/ 301561 w 384047"/>
              <a:gd name="connsiteY0" fmla="*/ 109061 h 424053"/>
              <a:gd name="connsiteX1" fmla="*/ 192500 w 384047"/>
              <a:gd name="connsiteY1" fmla="*/ 218123 h 424053"/>
              <a:gd name="connsiteX2" fmla="*/ 83439 w 384047"/>
              <a:gd name="connsiteY2" fmla="*/ 109061 h 424053"/>
              <a:gd name="connsiteX3" fmla="*/ 192500 w 384047"/>
              <a:gd name="connsiteY3" fmla="*/ 0 h 424053"/>
              <a:gd name="connsiteX4" fmla="*/ 301561 w 384047"/>
              <a:gd name="connsiteY4" fmla="*/ 109061 h 424053"/>
              <a:gd name="connsiteX5" fmla="*/ 384048 w 384047"/>
              <a:gd name="connsiteY5" fmla="*/ 424053 h 424053"/>
              <a:gd name="connsiteX6" fmla="*/ 191357 w 384047"/>
              <a:gd name="connsiteY6" fmla="*/ 225171 h 424053"/>
              <a:gd name="connsiteX7" fmla="*/ 93250 w 384047"/>
              <a:gd name="connsiteY7" fmla="*/ 253270 h 424053"/>
              <a:gd name="connsiteX8" fmla="*/ 0 w 384047"/>
              <a:gd name="connsiteY8" fmla="*/ 424053 h 424053"/>
              <a:gd name="connsiteX9" fmla="*/ 384048 w 384047"/>
              <a:gd name="connsiteY9" fmla="*/ 424053 h 424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047" h="424053">
                <a:moveTo>
                  <a:pt x="301561" y="109061"/>
                </a:moveTo>
                <a:cubicBezTo>
                  <a:pt x="301561" y="169450"/>
                  <a:pt x="252889" y="218123"/>
                  <a:pt x="192500" y="218123"/>
                </a:cubicBezTo>
                <a:cubicBezTo>
                  <a:pt x="132112" y="218123"/>
                  <a:pt x="83439" y="169450"/>
                  <a:pt x="83439" y="109061"/>
                </a:cubicBezTo>
                <a:cubicBezTo>
                  <a:pt x="83439" y="48673"/>
                  <a:pt x="132112" y="0"/>
                  <a:pt x="192500" y="0"/>
                </a:cubicBezTo>
                <a:cubicBezTo>
                  <a:pt x="252889" y="0"/>
                  <a:pt x="301561" y="48673"/>
                  <a:pt x="301561" y="109061"/>
                </a:cubicBezTo>
                <a:moveTo>
                  <a:pt x="384048" y="424053"/>
                </a:moveTo>
                <a:cubicBezTo>
                  <a:pt x="384048" y="313658"/>
                  <a:pt x="298323" y="225171"/>
                  <a:pt x="191357" y="225171"/>
                </a:cubicBezTo>
                <a:cubicBezTo>
                  <a:pt x="155734" y="225171"/>
                  <a:pt x="122111" y="235458"/>
                  <a:pt x="93250" y="253270"/>
                </a:cubicBezTo>
                <a:cubicBezTo>
                  <a:pt x="37719" y="288227"/>
                  <a:pt x="0" y="351377"/>
                  <a:pt x="0" y="424053"/>
                </a:cubicBezTo>
                <a:lnTo>
                  <a:pt x="384048" y="424053"/>
                </a:ln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75B8F4-6C19-6EA0-142E-C382449D0538}"/>
              </a:ext>
            </a:extLst>
          </p:cNvPr>
          <p:cNvGrpSpPr>
            <a:grpSpLocks noChangeAspect="1"/>
          </p:cNvGrpSpPr>
          <p:nvPr/>
        </p:nvGrpSpPr>
        <p:grpSpPr>
          <a:xfrm>
            <a:off x="1998660" y="2430464"/>
            <a:ext cx="810387" cy="551268"/>
            <a:chOff x="10382275" y="2708527"/>
            <a:chExt cx="810387" cy="55126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37BC0ED-1BC0-DD42-7C69-0AC0D84A3C20}"/>
                </a:ext>
              </a:extLst>
            </p:cNvPr>
            <p:cNvSpPr/>
            <p:nvPr/>
          </p:nvSpPr>
          <p:spPr>
            <a:xfrm>
              <a:off x="10382275" y="2708527"/>
              <a:ext cx="810387" cy="551268"/>
            </a:xfrm>
            <a:custGeom>
              <a:avLst/>
              <a:gdLst>
                <a:gd name="connsiteX0" fmla="*/ 0 w 810387"/>
                <a:gd name="connsiteY0" fmla="*/ 493776 h 551268"/>
                <a:gd name="connsiteX1" fmla="*/ 810387 w 810387"/>
                <a:gd name="connsiteY1" fmla="*/ 493776 h 551268"/>
                <a:gd name="connsiteX2" fmla="*/ 810387 w 810387"/>
                <a:gd name="connsiteY2" fmla="*/ 533781 h 551268"/>
                <a:gd name="connsiteX3" fmla="*/ 805472 w 810387"/>
                <a:gd name="connsiteY3" fmla="*/ 538124 h 551268"/>
                <a:gd name="connsiteX4" fmla="*/ 768210 w 810387"/>
                <a:gd name="connsiteY4" fmla="*/ 551269 h 551268"/>
                <a:gd name="connsiteX5" fmla="*/ 47777 w 810387"/>
                <a:gd name="connsiteY5" fmla="*/ 551269 h 551268"/>
                <a:gd name="connsiteX6" fmla="*/ 2743 w 810387"/>
                <a:gd name="connsiteY6" fmla="*/ 535953 h 551268"/>
                <a:gd name="connsiteX7" fmla="*/ 0 w 810387"/>
                <a:gd name="connsiteY7" fmla="*/ 533781 h 551268"/>
                <a:gd name="connsiteX8" fmla="*/ 0 w 810387"/>
                <a:gd name="connsiteY8" fmla="*/ 493776 h 551268"/>
                <a:gd name="connsiteX9" fmla="*/ 0 w 810387"/>
                <a:gd name="connsiteY9" fmla="*/ 493776 h 551268"/>
                <a:gd name="connsiteX10" fmla="*/ 700888 w 810387"/>
                <a:gd name="connsiteY10" fmla="*/ 426568 h 551268"/>
                <a:gd name="connsiteX11" fmla="*/ 700888 w 810387"/>
                <a:gd name="connsiteY11" fmla="*/ 426568 h 551268"/>
                <a:gd name="connsiteX12" fmla="*/ 697573 w 810387"/>
                <a:gd name="connsiteY12" fmla="*/ 53492 h 551268"/>
                <a:gd name="connsiteX13" fmla="*/ 681114 w 810387"/>
                <a:gd name="connsiteY13" fmla="*/ 37033 h 551268"/>
                <a:gd name="connsiteX14" fmla="*/ 125959 w 810387"/>
                <a:gd name="connsiteY14" fmla="*/ 37033 h 551268"/>
                <a:gd name="connsiteX15" fmla="*/ 109499 w 810387"/>
                <a:gd name="connsiteY15" fmla="*/ 53492 h 551268"/>
                <a:gd name="connsiteX16" fmla="*/ 109499 w 810387"/>
                <a:gd name="connsiteY16" fmla="*/ 426568 h 551268"/>
                <a:gd name="connsiteX17" fmla="*/ 125959 w 810387"/>
                <a:gd name="connsiteY17" fmla="*/ 443027 h 551268"/>
                <a:gd name="connsiteX18" fmla="*/ 684428 w 810387"/>
                <a:gd name="connsiteY18" fmla="*/ 443027 h 551268"/>
                <a:gd name="connsiteX19" fmla="*/ 700888 w 810387"/>
                <a:gd name="connsiteY19" fmla="*/ 426568 h 551268"/>
                <a:gd name="connsiteX20" fmla="*/ 700888 w 810387"/>
                <a:gd name="connsiteY20" fmla="*/ 426568 h 551268"/>
                <a:gd name="connsiteX21" fmla="*/ 724433 w 810387"/>
                <a:gd name="connsiteY21" fmla="*/ 491604 h 551268"/>
                <a:gd name="connsiteX22" fmla="*/ 740893 w 810387"/>
                <a:gd name="connsiteY22" fmla="*/ 475145 h 551268"/>
                <a:gd name="connsiteX23" fmla="*/ 740893 w 810387"/>
                <a:gd name="connsiteY23" fmla="*/ 475145 h 551268"/>
                <a:gd name="connsiteX24" fmla="*/ 740893 w 810387"/>
                <a:gd name="connsiteY24" fmla="*/ 16459 h 551268"/>
                <a:gd name="connsiteX25" fmla="*/ 724433 w 810387"/>
                <a:gd name="connsiteY25" fmla="*/ 0 h 551268"/>
                <a:gd name="connsiteX26" fmla="*/ 85839 w 810387"/>
                <a:gd name="connsiteY26" fmla="*/ 0 h 551268"/>
                <a:gd name="connsiteX27" fmla="*/ 69380 w 810387"/>
                <a:gd name="connsiteY27" fmla="*/ 16459 h 551268"/>
                <a:gd name="connsiteX28" fmla="*/ 69380 w 810387"/>
                <a:gd name="connsiteY28" fmla="*/ 475145 h 551268"/>
                <a:gd name="connsiteX29" fmla="*/ 85839 w 810387"/>
                <a:gd name="connsiteY29" fmla="*/ 491604 h 55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10387" h="551268">
                  <a:moveTo>
                    <a:pt x="0" y="493776"/>
                  </a:moveTo>
                  <a:lnTo>
                    <a:pt x="810387" y="493776"/>
                  </a:lnTo>
                  <a:lnTo>
                    <a:pt x="810387" y="533781"/>
                  </a:lnTo>
                  <a:lnTo>
                    <a:pt x="805472" y="538124"/>
                  </a:lnTo>
                  <a:cubicBezTo>
                    <a:pt x="795071" y="546926"/>
                    <a:pt x="781926" y="551269"/>
                    <a:pt x="768210" y="551269"/>
                  </a:cubicBezTo>
                  <a:lnTo>
                    <a:pt x="47777" y="551269"/>
                  </a:lnTo>
                  <a:cubicBezTo>
                    <a:pt x="31890" y="551269"/>
                    <a:pt x="16002" y="545783"/>
                    <a:pt x="2743" y="535953"/>
                  </a:cubicBezTo>
                  <a:lnTo>
                    <a:pt x="0" y="533781"/>
                  </a:lnTo>
                  <a:lnTo>
                    <a:pt x="0" y="493776"/>
                  </a:lnTo>
                  <a:lnTo>
                    <a:pt x="0" y="493776"/>
                  </a:lnTo>
                  <a:close/>
                  <a:moveTo>
                    <a:pt x="700888" y="426568"/>
                  </a:moveTo>
                  <a:lnTo>
                    <a:pt x="700888" y="426568"/>
                  </a:lnTo>
                  <a:lnTo>
                    <a:pt x="697573" y="53492"/>
                  </a:lnTo>
                  <a:cubicBezTo>
                    <a:pt x="697573" y="44120"/>
                    <a:pt x="689915" y="37033"/>
                    <a:pt x="681114" y="37033"/>
                  </a:cubicBezTo>
                  <a:lnTo>
                    <a:pt x="125959" y="37033"/>
                  </a:lnTo>
                  <a:cubicBezTo>
                    <a:pt x="116586" y="37033"/>
                    <a:pt x="109499" y="44691"/>
                    <a:pt x="109499" y="53492"/>
                  </a:cubicBezTo>
                  <a:lnTo>
                    <a:pt x="109499" y="426568"/>
                  </a:lnTo>
                  <a:cubicBezTo>
                    <a:pt x="109499" y="435940"/>
                    <a:pt x="117158" y="443027"/>
                    <a:pt x="125959" y="443027"/>
                  </a:cubicBezTo>
                  <a:lnTo>
                    <a:pt x="684428" y="443027"/>
                  </a:lnTo>
                  <a:cubicBezTo>
                    <a:pt x="693801" y="443027"/>
                    <a:pt x="700888" y="435369"/>
                    <a:pt x="700888" y="426568"/>
                  </a:cubicBezTo>
                  <a:lnTo>
                    <a:pt x="700888" y="426568"/>
                  </a:lnTo>
                  <a:close/>
                  <a:moveTo>
                    <a:pt x="724433" y="491604"/>
                  </a:moveTo>
                  <a:cubicBezTo>
                    <a:pt x="733806" y="491604"/>
                    <a:pt x="740893" y="483946"/>
                    <a:pt x="740893" y="475145"/>
                  </a:cubicBezTo>
                  <a:lnTo>
                    <a:pt x="740893" y="475145"/>
                  </a:lnTo>
                  <a:lnTo>
                    <a:pt x="740893" y="16459"/>
                  </a:lnTo>
                  <a:cubicBezTo>
                    <a:pt x="740893" y="7087"/>
                    <a:pt x="733235" y="0"/>
                    <a:pt x="724433" y="0"/>
                  </a:cubicBezTo>
                  <a:lnTo>
                    <a:pt x="85839" y="0"/>
                  </a:lnTo>
                  <a:cubicBezTo>
                    <a:pt x="76467" y="0"/>
                    <a:pt x="69380" y="7658"/>
                    <a:pt x="69380" y="16459"/>
                  </a:cubicBezTo>
                  <a:lnTo>
                    <a:pt x="69380" y="475145"/>
                  </a:lnTo>
                  <a:cubicBezTo>
                    <a:pt x="69380" y="484518"/>
                    <a:pt x="77038" y="491604"/>
                    <a:pt x="85839" y="491604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7395126-D6FF-76E6-C9EE-9EB35AD4E793}"/>
                </a:ext>
              </a:extLst>
            </p:cNvPr>
            <p:cNvSpPr/>
            <p:nvPr/>
          </p:nvSpPr>
          <p:spPr>
            <a:xfrm>
              <a:off x="10630992" y="2790137"/>
              <a:ext cx="312953" cy="312724"/>
            </a:xfrm>
            <a:custGeom>
              <a:avLst/>
              <a:gdLst>
                <a:gd name="connsiteX0" fmla="*/ 273406 w 312953"/>
                <a:gd name="connsiteY0" fmla="*/ 52692 h 312724"/>
                <a:gd name="connsiteX1" fmla="*/ 217513 w 312953"/>
                <a:gd name="connsiteY1" fmla="*/ 77724 h 312724"/>
                <a:gd name="connsiteX2" fmla="*/ 158877 w 312953"/>
                <a:gd name="connsiteY2" fmla="*/ 82182 h 312724"/>
                <a:gd name="connsiteX3" fmla="*/ 90640 w 312953"/>
                <a:gd name="connsiteY3" fmla="*/ 76124 h 312724"/>
                <a:gd name="connsiteX4" fmla="*/ 44006 w 312953"/>
                <a:gd name="connsiteY4" fmla="*/ 49492 h 312724"/>
                <a:gd name="connsiteX5" fmla="*/ 241859 w 312953"/>
                <a:gd name="connsiteY5" fmla="*/ 156362 h 312724"/>
                <a:gd name="connsiteX6" fmla="*/ 155219 w 312953"/>
                <a:gd name="connsiteY6" fmla="*/ 0 h 312724"/>
                <a:gd name="connsiteX7" fmla="*/ 68580 w 312953"/>
                <a:gd name="connsiteY7" fmla="*/ 156362 h 312724"/>
                <a:gd name="connsiteX8" fmla="*/ 155219 w 312953"/>
                <a:gd name="connsiteY8" fmla="*/ 312725 h 312724"/>
                <a:gd name="connsiteX9" fmla="*/ 241859 w 312953"/>
                <a:gd name="connsiteY9" fmla="*/ 156362 h 312724"/>
                <a:gd name="connsiteX10" fmla="*/ 241859 w 312953"/>
                <a:gd name="connsiteY10" fmla="*/ 156362 h 312724"/>
                <a:gd name="connsiteX11" fmla="*/ 0 w 312953"/>
                <a:gd name="connsiteY11" fmla="*/ 156362 h 312724"/>
                <a:gd name="connsiteX12" fmla="*/ 312953 w 312953"/>
                <a:gd name="connsiteY12" fmla="*/ 156362 h 312724"/>
                <a:gd name="connsiteX13" fmla="*/ 269977 w 312953"/>
                <a:gd name="connsiteY13" fmla="*/ 263576 h 312724"/>
                <a:gd name="connsiteX14" fmla="*/ 269977 w 312953"/>
                <a:gd name="connsiteY14" fmla="*/ 263576 h 312724"/>
                <a:gd name="connsiteX15" fmla="*/ 216370 w 312953"/>
                <a:gd name="connsiteY15" fmla="*/ 237858 h 312724"/>
                <a:gd name="connsiteX16" fmla="*/ 216370 w 312953"/>
                <a:gd name="connsiteY16" fmla="*/ 237858 h 312724"/>
                <a:gd name="connsiteX17" fmla="*/ 155219 w 312953"/>
                <a:gd name="connsiteY17" fmla="*/ 233286 h 312724"/>
                <a:gd name="connsiteX18" fmla="*/ 90640 w 312953"/>
                <a:gd name="connsiteY18" fmla="*/ 238658 h 312724"/>
                <a:gd name="connsiteX19" fmla="*/ 41148 w 312953"/>
                <a:gd name="connsiteY19" fmla="*/ 261518 h 312724"/>
                <a:gd name="connsiteX20" fmla="*/ 312725 w 312953"/>
                <a:gd name="connsiteY20" fmla="*/ 156362 h 312724"/>
                <a:gd name="connsiteX21" fmla="*/ 157048 w 312953"/>
                <a:gd name="connsiteY21" fmla="*/ 0 h 312724"/>
                <a:gd name="connsiteX22" fmla="*/ 1372 w 312953"/>
                <a:gd name="connsiteY22" fmla="*/ 156362 h 312724"/>
                <a:gd name="connsiteX23" fmla="*/ 157048 w 312953"/>
                <a:gd name="connsiteY23" fmla="*/ 312725 h 312724"/>
                <a:gd name="connsiteX24" fmla="*/ 312725 w 312953"/>
                <a:gd name="connsiteY24" fmla="*/ 156362 h 312724"/>
                <a:gd name="connsiteX25" fmla="*/ 312725 w 312953"/>
                <a:gd name="connsiteY25" fmla="*/ 156362 h 312724"/>
                <a:gd name="connsiteX26" fmla="*/ 156362 w 312953"/>
                <a:gd name="connsiteY26" fmla="*/ 4115 h 312724"/>
                <a:gd name="connsiteX27" fmla="*/ 156362 w 312953"/>
                <a:gd name="connsiteY27" fmla="*/ 309524 h 31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12953" h="312724">
                  <a:moveTo>
                    <a:pt x="273406" y="52692"/>
                  </a:moveTo>
                  <a:cubicBezTo>
                    <a:pt x="269977" y="63436"/>
                    <a:pt x="249060" y="72581"/>
                    <a:pt x="217513" y="77724"/>
                  </a:cubicBezTo>
                  <a:cubicBezTo>
                    <a:pt x="200482" y="80582"/>
                    <a:pt x="180708" y="82182"/>
                    <a:pt x="158877" y="82182"/>
                  </a:cubicBezTo>
                  <a:cubicBezTo>
                    <a:pt x="132702" y="82182"/>
                    <a:pt x="109157" y="79896"/>
                    <a:pt x="90640" y="76124"/>
                  </a:cubicBezTo>
                  <a:cubicBezTo>
                    <a:pt x="61722" y="70066"/>
                    <a:pt x="44006" y="60465"/>
                    <a:pt x="44006" y="49492"/>
                  </a:cubicBezTo>
                  <a:moveTo>
                    <a:pt x="241859" y="156362"/>
                  </a:moveTo>
                  <a:cubicBezTo>
                    <a:pt x="241859" y="70066"/>
                    <a:pt x="203111" y="0"/>
                    <a:pt x="155219" y="0"/>
                  </a:cubicBezTo>
                  <a:cubicBezTo>
                    <a:pt x="107328" y="0"/>
                    <a:pt x="68580" y="69952"/>
                    <a:pt x="68580" y="156362"/>
                  </a:cubicBezTo>
                  <a:cubicBezTo>
                    <a:pt x="68580" y="242773"/>
                    <a:pt x="107328" y="312725"/>
                    <a:pt x="155219" y="312725"/>
                  </a:cubicBezTo>
                  <a:cubicBezTo>
                    <a:pt x="203111" y="312725"/>
                    <a:pt x="241859" y="242773"/>
                    <a:pt x="241859" y="156362"/>
                  </a:cubicBezTo>
                  <a:lnTo>
                    <a:pt x="241859" y="156362"/>
                  </a:lnTo>
                  <a:close/>
                  <a:moveTo>
                    <a:pt x="0" y="156362"/>
                  </a:moveTo>
                  <a:lnTo>
                    <a:pt x="312953" y="156362"/>
                  </a:lnTo>
                  <a:moveTo>
                    <a:pt x="269977" y="263576"/>
                  </a:moveTo>
                  <a:lnTo>
                    <a:pt x="269977" y="263576"/>
                  </a:lnTo>
                  <a:cubicBezTo>
                    <a:pt x="267691" y="252717"/>
                    <a:pt x="247460" y="243230"/>
                    <a:pt x="216370" y="237858"/>
                  </a:cubicBezTo>
                  <a:lnTo>
                    <a:pt x="216370" y="237858"/>
                  </a:lnTo>
                  <a:cubicBezTo>
                    <a:pt x="198882" y="234887"/>
                    <a:pt x="178194" y="233286"/>
                    <a:pt x="155219" y="233286"/>
                  </a:cubicBezTo>
                  <a:cubicBezTo>
                    <a:pt x="130645" y="233286"/>
                    <a:pt x="108585" y="235115"/>
                    <a:pt x="90640" y="238658"/>
                  </a:cubicBezTo>
                  <a:cubicBezTo>
                    <a:pt x="63551" y="243802"/>
                    <a:pt x="45377" y="252032"/>
                    <a:pt x="41148" y="261518"/>
                  </a:cubicBezTo>
                  <a:moveTo>
                    <a:pt x="312725" y="156362"/>
                  </a:moveTo>
                  <a:cubicBezTo>
                    <a:pt x="312725" y="70066"/>
                    <a:pt x="243002" y="0"/>
                    <a:pt x="157048" y="0"/>
                  </a:cubicBezTo>
                  <a:cubicBezTo>
                    <a:pt x="71095" y="0"/>
                    <a:pt x="1372" y="69952"/>
                    <a:pt x="1372" y="156362"/>
                  </a:cubicBezTo>
                  <a:cubicBezTo>
                    <a:pt x="1372" y="242773"/>
                    <a:pt x="71095" y="312725"/>
                    <a:pt x="157048" y="312725"/>
                  </a:cubicBezTo>
                  <a:cubicBezTo>
                    <a:pt x="243002" y="312725"/>
                    <a:pt x="312725" y="242773"/>
                    <a:pt x="312725" y="156362"/>
                  </a:cubicBezTo>
                  <a:lnTo>
                    <a:pt x="312725" y="156362"/>
                  </a:lnTo>
                  <a:close/>
                  <a:moveTo>
                    <a:pt x="156362" y="4115"/>
                  </a:moveTo>
                  <a:lnTo>
                    <a:pt x="156362" y="309524"/>
                  </a:lnTo>
                </a:path>
              </a:pathLst>
            </a:custGeom>
            <a:noFill/>
            <a:ln w="19050" cap="flat">
              <a:solidFill>
                <a:srgbClr val="AD5C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Rectangle: Rounded Corners 54">
            <a:extLst>
              <a:ext uri="{FF2B5EF4-FFF2-40B4-BE49-F238E27FC236}">
                <a16:creationId xmlns:a16="http://schemas.microsoft.com/office/drawing/2014/main" id="{762510A0-3FB5-094A-785D-ED2A59C62E71}"/>
              </a:ext>
            </a:extLst>
          </p:cNvPr>
          <p:cNvSpPr/>
          <p:nvPr/>
        </p:nvSpPr>
        <p:spPr>
          <a:xfrm>
            <a:off x="9753018" y="4120396"/>
            <a:ext cx="1754338" cy="1266927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00E500"/>
                </a:gs>
                <a:gs pos="50000">
                  <a:srgbClr val="3CB2FF"/>
                </a:gs>
                <a:gs pos="10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AWS Bedrock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E0F6B73B-59C1-8BE3-1B80-FDEA817BD5EC}"/>
              </a:ext>
            </a:extLst>
          </p:cNvPr>
          <p:cNvSpPr/>
          <p:nvPr/>
        </p:nvSpPr>
        <p:spPr>
          <a:xfrm>
            <a:off x="3853364" y="4538121"/>
            <a:ext cx="1931804" cy="847284"/>
          </a:xfrm>
          <a:prstGeom prst="roundRect">
            <a:avLst>
              <a:gd name="adj" fmla="val 17215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3CB2FF"/>
                </a:gs>
                <a:gs pos="7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rgbClr val="FF5C85"/>
          </a:lnRef>
          <a:fillRef idx="1">
            <a:schemeClr val="lt1"/>
          </a:fillRef>
          <a:effectRef idx="0">
            <a:srgbClr val="FF5C8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Application  code</a:t>
            </a:r>
          </a:p>
        </p:txBody>
      </p:sp>
      <p:pic>
        <p:nvPicPr>
          <p:cNvPr id="18" name="Picture 2" descr="Docker Logo Icons for Your Projects">
            <a:extLst>
              <a:ext uri="{FF2B5EF4-FFF2-40B4-BE49-F238E27FC236}">
                <a16:creationId xmlns:a16="http://schemas.microsoft.com/office/drawing/2014/main" id="{AE690261-1576-4540-4EE3-C97224D04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538" y="4940305"/>
            <a:ext cx="465365" cy="46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DCC9B736-E5D7-9794-947F-76A279F9C086}"/>
              </a:ext>
            </a:extLst>
          </p:cNvPr>
          <p:cNvSpPr/>
          <p:nvPr/>
        </p:nvSpPr>
        <p:spPr>
          <a:xfrm>
            <a:off x="3555293" y="3852176"/>
            <a:ext cx="5624940" cy="1803368"/>
          </a:xfrm>
          <a:prstGeom prst="roundRect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3CB2FF"/>
          </a:fontRef>
        </p:style>
        <p:txBody>
          <a:bodyPr lIns="45720" tIns="45720" rIns="4572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B3AAB2-DEDE-AED9-F1C0-B05D86FE2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458" y="3802216"/>
            <a:ext cx="589116" cy="55339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738A3A-E8E4-763A-11E5-A80B58CA8D0A}"/>
              </a:ext>
            </a:extLst>
          </p:cNvPr>
          <p:cNvSpPr txBox="1"/>
          <p:nvPr/>
        </p:nvSpPr>
        <p:spPr>
          <a:xfrm>
            <a:off x="4255488" y="3919028"/>
            <a:ext cx="316304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defRPr>
            </a:lvl1pPr>
          </a:lstStyle>
          <a:p>
            <a:r>
              <a:rPr lang="en-US" sz="1800" dirty="0" err="1">
                <a:solidFill>
                  <a:schemeClr val="tx1"/>
                </a:solidFill>
              </a:rPr>
              <a:t>SummerFox</a:t>
            </a:r>
            <a:r>
              <a:rPr lang="en-US" sz="1800" dirty="0">
                <a:solidFill>
                  <a:schemeClr val="tx1"/>
                </a:solidFill>
              </a:rPr>
              <a:t> @ </a:t>
            </a:r>
            <a:r>
              <a:rPr lang="en-US" sz="1800" dirty="0"/>
              <a:t>Amazon EC2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44F7F2B-EF24-096C-5F54-BB9AAE465EE5}"/>
              </a:ext>
            </a:extLst>
          </p:cNvPr>
          <p:cNvCxnSpPr>
            <a:cxnSpLocks/>
          </p:cNvCxnSpPr>
          <p:nvPr/>
        </p:nvCxnSpPr>
        <p:spPr>
          <a:xfrm>
            <a:off x="2809047" y="2668435"/>
            <a:ext cx="625720" cy="0"/>
          </a:xfrm>
          <a:prstGeom prst="straightConnector1">
            <a:avLst/>
          </a:prstGeom>
          <a:ln w="19050" cap="flat" cmpd="sng" algn="ctr">
            <a:solidFill>
              <a:srgbClr val="FF5C8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Rectangle: Rounded Corners 54">
            <a:extLst>
              <a:ext uri="{FF2B5EF4-FFF2-40B4-BE49-F238E27FC236}">
                <a16:creationId xmlns:a16="http://schemas.microsoft.com/office/drawing/2014/main" id="{DB390362-3779-2452-69C2-B654FBAC4466}"/>
              </a:ext>
            </a:extLst>
          </p:cNvPr>
          <p:cNvSpPr/>
          <p:nvPr/>
        </p:nvSpPr>
        <p:spPr>
          <a:xfrm>
            <a:off x="5486938" y="2654094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00E500"/>
                </a:gs>
                <a:gs pos="50000">
                  <a:srgbClr val="3CB2FF"/>
                </a:gs>
                <a:gs pos="10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Grenadier scores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FBF17A-D373-548E-814E-D8D68C9599D7}"/>
              </a:ext>
            </a:extLst>
          </p:cNvPr>
          <p:cNvSpPr txBox="1"/>
          <p:nvPr/>
        </p:nvSpPr>
        <p:spPr>
          <a:xfrm>
            <a:off x="6296383" y="5046626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000" dirty="0"/>
              <a:t>Agent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C5324CA-1E50-E064-8F0E-8478CEB3A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595" y="4560519"/>
            <a:ext cx="504372" cy="50437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B81A757-2E0B-C20A-0276-9A49ADBB6458}"/>
              </a:ext>
            </a:extLst>
          </p:cNvPr>
          <p:cNvSpPr txBox="1"/>
          <p:nvPr/>
        </p:nvSpPr>
        <p:spPr>
          <a:xfrm>
            <a:off x="7251346" y="5046355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000" dirty="0"/>
              <a:t>Agent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A8A6A15C-3D0C-7FBB-8441-FC84E20F3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5558" y="4560248"/>
            <a:ext cx="504372" cy="50437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640BBDE-7239-E088-7100-678E111582E4}"/>
              </a:ext>
            </a:extLst>
          </p:cNvPr>
          <p:cNvSpPr txBox="1"/>
          <p:nvPr/>
        </p:nvSpPr>
        <p:spPr>
          <a:xfrm>
            <a:off x="8195890" y="5045384"/>
            <a:ext cx="48891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000" dirty="0"/>
              <a:t>Agent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72C4C90C-416B-0488-66FE-625ED15F4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0102" y="4559277"/>
            <a:ext cx="504372" cy="504372"/>
          </a:xfrm>
          <a:prstGeom prst="rect">
            <a:avLst/>
          </a:prstGeom>
        </p:spPr>
      </p:pic>
      <p:sp>
        <p:nvSpPr>
          <p:cNvPr id="29" name="Rectangle: Rounded Corners 54">
            <a:extLst>
              <a:ext uri="{FF2B5EF4-FFF2-40B4-BE49-F238E27FC236}">
                <a16:creationId xmlns:a16="http://schemas.microsoft.com/office/drawing/2014/main" id="{DA0A7434-CEE5-A4D9-D6CF-009053168DE1}"/>
              </a:ext>
            </a:extLst>
          </p:cNvPr>
          <p:cNvSpPr/>
          <p:nvPr/>
        </p:nvSpPr>
        <p:spPr>
          <a:xfrm>
            <a:off x="5486938" y="1971382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00E500"/>
                </a:gs>
                <a:gs pos="50000">
                  <a:srgbClr val="3CB2FF"/>
                </a:gs>
                <a:gs pos="10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Candles Scanners</a:t>
            </a:r>
          </a:p>
        </p:txBody>
      </p:sp>
      <p:sp>
        <p:nvSpPr>
          <p:cNvPr id="32" name="Rectangle: Rounded Corners 54">
            <a:extLst>
              <a:ext uri="{FF2B5EF4-FFF2-40B4-BE49-F238E27FC236}">
                <a16:creationId xmlns:a16="http://schemas.microsoft.com/office/drawing/2014/main" id="{552E4DA9-88E3-D63B-3A50-DF309488818C}"/>
              </a:ext>
            </a:extLst>
          </p:cNvPr>
          <p:cNvSpPr/>
          <p:nvPr/>
        </p:nvSpPr>
        <p:spPr>
          <a:xfrm>
            <a:off x="3648548" y="1976283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00E500"/>
                </a:gs>
                <a:gs pos="50000">
                  <a:srgbClr val="3CB2FF"/>
                </a:gs>
                <a:gs pos="10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News </a:t>
            </a:r>
          </a:p>
        </p:txBody>
      </p:sp>
      <p:sp>
        <p:nvSpPr>
          <p:cNvPr id="33" name="Rectangle: Rounded Corners 54">
            <a:extLst>
              <a:ext uri="{FF2B5EF4-FFF2-40B4-BE49-F238E27FC236}">
                <a16:creationId xmlns:a16="http://schemas.microsoft.com/office/drawing/2014/main" id="{804003A1-28ED-DAC7-DDFD-3FFFC34A2445}"/>
              </a:ext>
            </a:extLst>
          </p:cNvPr>
          <p:cNvSpPr/>
          <p:nvPr/>
        </p:nvSpPr>
        <p:spPr>
          <a:xfrm>
            <a:off x="3648548" y="2661091"/>
            <a:ext cx="1754338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00E500"/>
                </a:gs>
                <a:gs pos="50000">
                  <a:srgbClr val="3CB2FF"/>
                </a:gs>
                <a:gs pos="10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SummerFox</a:t>
            </a:r>
            <a:r>
              <a:rPr lang="en-US" dirty="0">
                <a:solidFill>
                  <a:schemeClr val="tx1"/>
                </a:solidFill>
              </a:rPr>
              <a:t> reports</a:t>
            </a:r>
          </a:p>
        </p:txBody>
      </p:sp>
      <p:sp>
        <p:nvSpPr>
          <p:cNvPr id="1054" name="Rounded Rectangle 5">
            <a:extLst>
              <a:ext uri="{FF2B5EF4-FFF2-40B4-BE49-F238E27FC236}">
                <a16:creationId xmlns:a16="http://schemas.microsoft.com/office/drawing/2014/main" id="{826264AE-AAAE-A02C-45FE-80EE9EB8EA0C}"/>
              </a:ext>
            </a:extLst>
          </p:cNvPr>
          <p:cNvSpPr/>
          <p:nvPr/>
        </p:nvSpPr>
        <p:spPr>
          <a:xfrm>
            <a:off x="3555293" y="1913826"/>
            <a:ext cx="5714831" cy="1448418"/>
          </a:xfrm>
          <a:prstGeom prst="roundRect">
            <a:avLst>
              <a:gd name="adj" fmla="val 8074"/>
            </a:avLst>
          </a:prstGeom>
          <a:noFill/>
          <a:ln w="12700" cap="flat" cmpd="sng" algn="ctr">
            <a:solidFill>
              <a:srgbClr val="3CB2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3CB2FF"/>
          </a:fontRef>
        </p:style>
        <p:txBody>
          <a:bodyPr lIns="45720" tIns="45720" rIns="45720"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61" name="Rectangle: Rounded Corners 54">
            <a:extLst>
              <a:ext uri="{FF2B5EF4-FFF2-40B4-BE49-F238E27FC236}">
                <a16:creationId xmlns:a16="http://schemas.microsoft.com/office/drawing/2014/main" id="{81B7AFBD-9673-32B6-DC6E-2A8679FF7556}"/>
              </a:ext>
            </a:extLst>
          </p:cNvPr>
          <p:cNvSpPr/>
          <p:nvPr/>
        </p:nvSpPr>
        <p:spPr>
          <a:xfrm>
            <a:off x="7321579" y="1966574"/>
            <a:ext cx="1878873" cy="607158"/>
          </a:xfrm>
          <a:prstGeom prst="roundRect">
            <a:avLst>
              <a:gd name="adj" fmla="val 15900"/>
            </a:avLst>
          </a:prstGeom>
          <a:solidFill>
            <a:schemeClr val="bg2"/>
          </a:solidFill>
          <a:ln w="19050">
            <a:gradFill flip="none" rotWithShape="1">
              <a:gsLst>
                <a:gs pos="0">
                  <a:srgbClr val="00E500"/>
                </a:gs>
                <a:gs pos="50000">
                  <a:srgbClr val="3CB2FF"/>
                </a:gs>
                <a:gs pos="100000">
                  <a:srgbClr val="AD5C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IPF Fundamentals</a:t>
            </a:r>
          </a:p>
        </p:txBody>
      </p:sp>
      <p:pic>
        <p:nvPicPr>
          <p:cNvPr id="1069" name="Graphic 1068">
            <a:extLst>
              <a:ext uri="{FF2B5EF4-FFF2-40B4-BE49-F238E27FC236}">
                <a16:creationId xmlns:a16="http://schemas.microsoft.com/office/drawing/2014/main" id="{7CC1ED4A-4ABD-0E26-C995-6BAD994AFC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4548" y="2855530"/>
            <a:ext cx="1431107" cy="335543"/>
          </a:xfrm>
          <a:prstGeom prst="rect">
            <a:avLst/>
          </a:prstGeom>
        </p:spPr>
      </p:pic>
      <p:sp>
        <p:nvSpPr>
          <p:cNvPr id="1070" name="TextBox 1069"/>
          <p:cNvSpPr txBox="1"/>
          <p:nvPr/>
        </p:nvSpPr>
        <p:spPr>
          <a:xfrm>
            <a:off x="533601" y="83377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/>
              <a:t>Products as tools, not just apps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F79131-3142-C3D2-A4A3-4A988D72E457}"/>
              </a:ext>
            </a:extLst>
          </p:cNvPr>
          <p:cNvCxnSpPr>
            <a:cxnSpLocks/>
          </p:cNvCxnSpPr>
          <p:nvPr/>
        </p:nvCxnSpPr>
        <p:spPr>
          <a:xfrm flipV="1">
            <a:off x="8340277" y="3375842"/>
            <a:ext cx="0" cy="1067785"/>
          </a:xfrm>
          <a:prstGeom prst="straightConnector1">
            <a:avLst/>
          </a:prstGeom>
          <a:ln w="19050" cap="flat" cmpd="sng" algn="ctr">
            <a:solidFill>
              <a:srgbClr val="FF5C8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84BA2C20-5C07-104F-ED78-64BC60CC86F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77454" y="2724677"/>
            <a:ext cx="934138" cy="821655"/>
          </a:xfrm>
          <a:prstGeom prst="bentConnector3">
            <a:avLst>
              <a:gd name="adj1" fmla="val 99956"/>
            </a:avLst>
          </a:prstGeom>
          <a:ln w="19050" cap="flat" cmpd="sng" algn="ctr">
            <a:solidFill>
              <a:srgbClr val="FF5C8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9C8F05A3-8590-D9E0-02E8-ECB7CA91B295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4525717" y="3268249"/>
            <a:ext cx="0" cy="534004"/>
          </a:xfrm>
          <a:prstGeom prst="straightConnector1">
            <a:avLst/>
          </a:prstGeom>
          <a:ln w="19050" cap="flat" cmpd="sng" algn="ctr">
            <a:solidFill>
              <a:srgbClr val="FF5C8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CD8D0DEF-8B7E-D1AD-4880-8A951B46FA9F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>
            <a:off x="9180233" y="4753860"/>
            <a:ext cx="572785" cy="0"/>
          </a:xfrm>
          <a:prstGeom prst="straightConnector1">
            <a:avLst/>
          </a:prstGeom>
          <a:ln w="19050" cap="flat" cmpd="sng" algn="ctr">
            <a:solidFill>
              <a:srgbClr val="FF5C8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1CCF70E5-9262-001F-AE9C-AB29FBB74F7D}"/>
              </a:ext>
            </a:extLst>
          </p:cNvPr>
          <p:cNvSpPr/>
          <p:nvPr/>
        </p:nvSpPr>
        <p:spPr>
          <a:xfrm>
            <a:off x="8055620" y="4443627"/>
            <a:ext cx="759933" cy="847284"/>
          </a:xfrm>
          <a:prstGeom prst="rect">
            <a:avLst/>
          </a:prstGeom>
          <a:noFill/>
          <a:ln w="19050">
            <a:solidFill>
              <a:srgbClr val="FF5C85"/>
            </a:solidFill>
          </a:ln>
        </p:spPr>
        <p:style>
          <a:lnRef idx="2">
            <a:srgbClr val="FF5C85"/>
          </a:lnRef>
          <a:fillRef idx="1">
            <a:srgbClr val="FF5C85"/>
          </a:fillRef>
          <a:effectRef idx="0">
            <a:srgbClr val="FF5C8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66B615FF-EC97-73C0-5935-DC0527C410F3}"/>
              </a:ext>
            </a:extLst>
          </p:cNvPr>
          <p:cNvCxnSpPr>
            <a:cxnSpLocks/>
          </p:cNvCxnSpPr>
          <p:nvPr/>
        </p:nvCxnSpPr>
        <p:spPr>
          <a:xfrm>
            <a:off x="8527274" y="3382639"/>
            <a:ext cx="0" cy="1060988"/>
          </a:xfrm>
          <a:prstGeom prst="straightConnector1">
            <a:avLst/>
          </a:prstGeom>
          <a:ln w="19050" cap="flat" cmpd="sng" algn="ctr">
            <a:solidFill>
              <a:srgbClr val="FF5C8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76" name="Graphic 1075" descr="Magnifying glass with solid fill">
            <a:extLst>
              <a:ext uri="{FF2B5EF4-FFF2-40B4-BE49-F238E27FC236}">
                <a16:creationId xmlns:a16="http://schemas.microsoft.com/office/drawing/2014/main" id="{ACB64468-FDFB-53B1-1861-C27E599C8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5649" y="4690052"/>
            <a:ext cx="481161" cy="481161"/>
          </a:xfrm>
          <a:prstGeom prst="rect">
            <a:avLst/>
          </a:prstGeom>
        </p:spPr>
      </p:pic>
      <p:pic>
        <p:nvPicPr>
          <p:cNvPr id="1078" name="Graphic 1077" descr="Tools with solid fill">
            <a:extLst>
              <a:ext uri="{FF2B5EF4-FFF2-40B4-BE49-F238E27FC236}">
                <a16:creationId xmlns:a16="http://schemas.microsoft.com/office/drawing/2014/main" id="{80D4EA71-BDDB-4B46-14EA-822CC86B9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3564" y="4699724"/>
            <a:ext cx="481161" cy="481161"/>
          </a:xfrm>
          <a:prstGeom prst="rect">
            <a:avLst/>
          </a:prstGeom>
        </p:spPr>
      </p:pic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5EE32F41-7211-D966-2493-41B5EF669F72}"/>
              </a:ext>
            </a:extLst>
          </p:cNvPr>
          <p:cNvCxnSpPr>
            <a:cxnSpLocks/>
          </p:cNvCxnSpPr>
          <p:nvPr/>
        </p:nvCxnSpPr>
        <p:spPr>
          <a:xfrm>
            <a:off x="10033686" y="4812957"/>
            <a:ext cx="1180071" cy="307016"/>
          </a:xfrm>
          <a:prstGeom prst="line">
            <a:avLst/>
          </a:prstGeom>
          <a:ln w="76200"/>
        </p:spPr>
        <p:style>
          <a:lnRef idx="3">
            <a:srgbClr val="F3511E"/>
          </a:lnRef>
          <a:fillRef idx="0">
            <a:srgbClr val="F3511E"/>
          </a:fillRef>
          <a:effectRef idx="2">
            <a:srgbClr val="F3511E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85061E36-499D-816E-EDDF-CB7F345A074B}"/>
              </a:ext>
            </a:extLst>
          </p:cNvPr>
          <p:cNvCxnSpPr>
            <a:cxnSpLocks/>
          </p:cNvCxnSpPr>
          <p:nvPr/>
        </p:nvCxnSpPr>
        <p:spPr>
          <a:xfrm flipV="1">
            <a:off x="10033686" y="4811463"/>
            <a:ext cx="1180071" cy="323540"/>
          </a:xfrm>
          <a:prstGeom prst="line">
            <a:avLst/>
          </a:prstGeom>
          <a:ln w="76200"/>
        </p:spPr>
        <p:style>
          <a:lnRef idx="3">
            <a:srgbClr val="F3511E"/>
          </a:lnRef>
          <a:fillRef idx="0">
            <a:srgbClr val="F3511E"/>
          </a:fillRef>
          <a:effectRef idx="2">
            <a:srgbClr val="F3511E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Decision rule #1: when MCP is the right answer</a:t>
            </a:r>
          </a:p>
        </p:txBody>
      </p:sp>
      <p:sp>
        <p:nvSpPr>
          <p:cNvPr id="3" name="Text Placeholder 2"/>
          <p:cNvSpPr txBox="1"/>
          <p:nvPr/>
        </p:nvSpPr>
        <p:spPr>
          <a:xfrm>
            <a:off x="609599" y="1743647"/>
            <a:ext cx="524865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3CB2FF"/>
                </a:solidFill>
              </a:rPr>
              <a:t>Use it when</a:t>
            </a:r>
          </a:p>
        </p:txBody>
      </p:sp>
      <p:sp>
        <p:nvSpPr>
          <p:cNvPr id="4" name="Content Placeholder 3"/>
          <p:cNvSpPr txBox="1"/>
          <p:nvPr/>
        </p:nvSpPr>
        <p:spPr>
          <a:xfrm>
            <a:off x="609598" y="2141554"/>
            <a:ext cx="5248656" cy="2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/>
              <a:t>The answer already exists somewhere authoritative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/>
              <a:t>The model just needs to fetch it correctly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/>
              <a:t>More than one consumer will want the same data</a:t>
            </a:r>
          </a:p>
        </p:txBody>
      </p:sp>
      <p:sp>
        <p:nvSpPr>
          <p:cNvPr id="5" name="Text Placeholder 4"/>
          <p:cNvSpPr txBox="1"/>
          <p:nvPr/>
        </p:nvSpPr>
        <p:spPr>
          <a:xfrm>
            <a:off x="6334125" y="1743647"/>
            <a:ext cx="524865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3CB2FF"/>
                </a:solidFill>
              </a:rPr>
              <a:t>Don’t use</a:t>
            </a:r>
            <a:endParaRPr dirty="0"/>
          </a:p>
        </p:txBody>
      </p:sp>
      <p:sp>
        <p:nvSpPr>
          <p:cNvPr id="6" name="Content Placeholder 5"/>
          <p:cNvSpPr txBox="1"/>
          <p:nvPr/>
        </p:nvSpPr>
        <p:spPr>
          <a:xfrm>
            <a:off x="6334125" y="2141554"/>
            <a:ext cx="5248656" cy="2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/>
              <a:t>As a substitute for a calculation engine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/>
              <a:t>When the consumer is one fixed pipeline – just call the API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2400" dirty="0"/>
              <a:t>To deal with a data-quality problem upstream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SummerFox</a:t>
            </a:r>
            <a:r>
              <a:rPr lang="en-US" sz="3200" dirty="0"/>
              <a:t>: the market report, written by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37360"/>
            <a:ext cx="4308390" cy="4206240"/>
          </a:xfrm>
        </p:spPr>
        <p:txBody>
          <a:bodyPr wrap="square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Ask about a stock or a portfolio, get a structured report in seconds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number &amp; data point comes from </a:t>
            </a:r>
            <a:r>
              <a:rPr lang="en-US" sz="2000" dirty="0" err="1"/>
              <a:t>dxFeed</a:t>
            </a:r>
            <a:r>
              <a:rPr lang="en-US" sz="2000" dirty="0"/>
              <a:t>: candles, news, fundamentals, instrument profiles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One report, any language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Per-symbol &amp; portfolio views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Now with licence-free financial news on Google's GDELT GKG (</a:t>
            </a:r>
            <a:r>
              <a:rPr lang="en-US" sz="2000" dirty="0" err="1"/>
              <a:t>BigQuery</a:t>
            </a:r>
            <a:r>
              <a:rPr lang="en-US" sz="2000" dirty="0"/>
              <a:t> public dataset)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C82596-0BC0-D10F-6685-F4446EBE0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284" y="1737360"/>
            <a:ext cx="6229362" cy="4367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0CE6398-158C-67F3-E02F-FBC2377CB659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lang="en-US" sz="2800" dirty="0" err="1"/>
              <a:t>dxFeed</a:t>
            </a:r>
            <a:r>
              <a:rPr lang="en-US" sz="2800" dirty="0"/>
              <a:t> </a:t>
            </a:r>
            <a:r>
              <a:rPr lang="en-US" sz="2800" dirty="0" err="1"/>
              <a:t>SummerFox</a:t>
            </a:r>
            <a:r>
              <a:rPr lang="en-US" sz="2800" dirty="0"/>
              <a:t> in Action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E15B1C-5474-AE6C-45A3-CA58FDCE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8400"/>
            <a:ext cx="12192741" cy="552960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4BD810A8-1EE6-2B84-9BE1-B54B2632E601}"/>
              </a:ext>
            </a:extLst>
          </p:cNvPr>
          <p:cNvGrpSpPr/>
          <p:nvPr/>
        </p:nvGrpSpPr>
        <p:grpSpPr>
          <a:xfrm>
            <a:off x="1414448" y="828532"/>
            <a:ext cx="5612885" cy="2139035"/>
            <a:chOff x="1414448" y="828532"/>
            <a:chExt cx="5612885" cy="213903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A8A307-45C7-B818-6B72-8C4CF4C502BA}"/>
                </a:ext>
              </a:extLst>
            </p:cNvPr>
            <p:cNvSpPr txBox="1"/>
            <p:nvPr/>
          </p:nvSpPr>
          <p:spPr>
            <a:xfrm>
              <a:off x="1414448" y="828532"/>
              <a:ext cx="377962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500" b="0" i="0" u="none" strike="noStrike" dirty="0">
                  <a:solidFill>
                    <a:srgbClr val="FFEE24"/>
                  </a:solidFill>
                  <a:effectLst/>
                </a:rPr>
                <a:t>What is the high-level outlook?</a:t>
              </a:r>
              <a:endParaRPr lang="en-US" sz="1500" dirty="0">
                <a:solidFill>
                  <a:srgbClr val="FFEE24"/>
                </a:solidFill>
                <a:effectLst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E695EF-DA7D-FD1D-1F6E-92C4ADA28B84}"/>
                </a:ext>
              </a:extLst>
            </p:cNvPr>
            <p:cNvSpPr/>
            <p:nvPr/>
          </p:nvSpPr>
          <p:spPr>
            <a:xfrm>
              <a:off x="2391833" y="2184401"/>
              <a:ext cx="4635500" cy="783166"/>
            </a:xfrm>
            <a:prstGeom prst="rect">
              <a:avLst/>
            </a:prstGeom>
            <a:noFill/>
            <a:ln w="38100">
              <a:solidFill>
                <a:srgbClr val="FFEE24"/>
              </a:solidFill>
            </a:ln>
          </p:spPr>
          <p:style>
            <a:lnRef idx="2">
              <a:srgbClr val="3CB2FF"/>
            </a:lnRef>
            <a:fillRef idx="1">
              <a:srgbClr val="3CB2FF"/>
            </a:fillRef>
            <a:effectRef idx="0">
              <a:srgbClr val="3CB2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26CFF99-C8C3-1139-C7E3-778FD7733CC4}"/>
                </a:ext>
              </a:extLst>
            </p:cNvPr>
            <p:cNvCxnSpPr>
              <a:cxnSpLocks/>
              <a:stCxn id="5" idx="2"/>
              <a:endCxn id="15" idx="0"/>
            </p:cNvCxnSpPr>
            <p:nvPr/>
          </p:nvCxnSpPr>
          <p:spPr>
            <a:xfrm>
              <a:off x="3304260" y="1228642"/>
              <a:ext cx="1405323" cy="955759"/>
            </a:xfrm>
            <a:prstGeom prst="line">
              <a:avLst/>
            </a:prstGeom>
            <a:ln w="38100"/>
          </p:spPr>
          <p:style>
            <a:lnRef idx="3">
              <a:srgbClr val="FFEE24"/>
            </a:lnRef>
            <a:fillRef idx="0">
              <a:srgbClr val="FFEE24"/>
            </a:fillRef>
            <a:effectRef idx="2">
              <a:srgbClr val="FFEE24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C2CB5A-214E-6DBF-A677-32B2B5E110A5}"/>
              </a:ext>
            </a:extLst>
          </p:cNvPr>
          <p:cNvGrpSpPr/>
          <p:nvPr/>
        </p:nvGrpSpPr>
        <p:grpSpPr>
          <a:xfrm>
            <a:off x="6599395" y="828532"/>
            <a:ext cx="5380938" cy="3138101"/>
            <a:chOff x="6599395" y="828532"/>
            <a:chExt cx="5380938" cy="313810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D2152A-48BC-4244-5C6F-180751E2EF82}"/>
                </a:ext>
              </a:extLst>
            </p:cNvPr>
            <p:cNvSpPr txBox="1"/>
            <p:nvPr/>
          </p:nvSpPr>
          <p:spPr>
            <a:xfrm>
              <a:off x="6599395" y="828532"/>
              <a:ext cx="45087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500" b="0" i="0" u="none" strike="noStrike" dirty="0">
                  <a:solidFill>
                    <a:srgbClr val="FFEE24"/>
                  </a:solidFill>
                  <a:effectLst/>
                </a:rPr>
                <a:t>What data-driven insights are there? </a:t>
              </a:r>
              <a:endParaRPr lang="en-US" sz="1500" dirty="0">
                <a:solidFill>
                  <a:srgbClr val="FFEE24"/>
                </a:solidFill>
                <a:effectLst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39D952-F15C-280F-B952-BA9A18398B75}"/>
                </a:ext>
              </a:extLst>
            </p:cNvPr>
            <p:cNvSpPr/>
            <p:nvPr/>
          </p:nvSpPr>
          <p:spPr>
            <a:xfrm>
              <a:off x="7344833" y="3310034"/>
              <a:ext cx="4635500" cy="656599"/>
            </a:xfrm>
            <a:prstGeom prst="rect">
              <a:avLst/>
            </a:prstGeom>
            <a:noFill/>
            <a:ln w="38100">
              <a:solidFill>
                <a:srgbClr val="FFEE24"/>
              </a:solidFill>
            </a:ln>
          </p:spPr>
          <p:style>
            <a:lnRef idx="2">
              <a:srgbClr val="3CB2FF"/>
            </a:lnRef>
            <a:fillRef idx="1">
              <a:srgbClr val="3CB2FF"/>
            </a:fillRef>
            <a:effectRef idx="0">
              <a:srgbClr val="3CB2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B7DE6D8-381D-BC83-035D-F5551BD6D133}"/>
                </a:ext>
              </a:extLst>
            </p:cNvPr>
            <p:cNvCxnSpPr>
              <a:cxnSpLocks/>
              <a:stCxn id="3" idx="2"/>
              <a:endCxn id="25" idx="0"/>
            </p:cNvCxnSpPr>
            <p:nvPr/>
          </p:nvCxnSpPr>
          <p:spPr>
            <a:xfrm>
              <a:off x="8853774" y="1228642"/>
              <a:ext cx="808809" cy="2081392"/>
            </a:xfrm>
            <a:prstGeom prst="line">
              <a:avLst/>
            </a:prstGeom>
            <a:ln w="38100"/>
          </p:spPr>
          <p:style>
            <a:lnRef idx="3">
              <a:srgbClr val="FFEE24"/>
            </a:lnRef>
            <a:fillRef idx="0">
              <a:srgbClr val="FFEE24"/>
            </a:fillRef>
            <a:effectRef idx="2">
              <a:srgbClr val="FFEE24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204DCE3-49D7-38C3-7C6A-331013C31323}"/>
              </a:ext>
            </a:extLst>
          </p:cNvPr>
          <p:cNvGrpSpPr/>
          <p:nvPr/>
        </p:nvGrpSpPr>
        <p:grpSpPr>
          <a:xfrm>
            <a:off x="403139" y="4389534"/>
            <a:ext cx="11577194" cy="2261643"/>
            <a:chOff x="403139" y="4389534"/>
            <a:chExt cx="11577194" cy="22616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723966-A228-CC38-013E-D080A8950CDD}"/>
                </a:ext>
              </a:extLst>
            </p:cNvPr>
            <p:cNvSpPr txBox="1"/>
            <p:nvPr/>
          </p:nvSpPr>
          <p:spPr>
            <a:xfrm>
              <a:off x="403139" y="6251067"/>
              <a:ext cx="45663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500" b="0" i="0" u="none" strike="noStrike" dirty="0">
                  <a:solidFill>
                    <a:srgbClr val="FFEE24"/>
                  </a:solidFill>
                  <a:effectLst/>
                </a:rPr>
                <a:t>How do recent news affect the stock?</a:t>
              </a:r>
              <a:endParaRPr lang="en-US" sz="1500" dirty="0">
                <a:solidFill>
                  <a:srgbClr val="FFEE24"/>
                </a:solidFill>
                <a:effectLst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F9ABCF7-36AB-FFD6-925D-767D34889686}"/>
                </a:ext>
              </a:extLst>
            </p:cNvPr>
            <p:cNvSpPr/>
            <p:nvPr/>
          </p:nvSpPr>
          <p:spPr>
            <a:xfrm>
              <a:off x="7344833" y="4389534"/>
              <a:ext cx="4635500" cy="656599"/>
            </a:xfrm>
            <a:prstGeom prst="rect">
              <a:avLst/>
            </a:prstGeom>
            <a:noFill/>
            <a:ln w="38100">
              <a:solidFill>
                <a:srgbClr val="FFEE24"/>
              </a:solidFill>
            </a:ln>
          </p:spPr>
          <p:style>
            <a:lnRef idx="2">
              <a:srgbClr val="3CB2FF"/>
            </a:lnRef>
            <a:fillRef idx="1">
              <a:srgbClr val="3CB2FF"/>
            </a:fillRef>
            <a:effectRef idx="0">
              <a:srgbClr val="3CB2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CD79E9-104B-F06A-96C9-16A9F7F68E5D}"/>
                </a:ext>
              </a:extLst>
            </p:cNvPr>
            <p:cNvCxnSpPr>
              <a:cxnSpLocks/>
              <a:stCxn id="8" idx="0"/>
              <a:endCxn id="31" idx="1"/>
            </p:cNvCxnSpPr>
            <p:nvPr/>
          </p:nvCxnSpPr>
          <p:spPr>
            <a:xfrm flipV="1">
              <a:off x="2686309" y="4717834"/>
              <a:ext cx="4658524" cy="1533233"/>
            </a:xfrm>
            <a:prstGeom prst="line">
              <a:avLst/>
            </a:prstGeom>
            <a:ln w="38100"/>
          </p:spPr>
          <p:style>
            <a:lnRef idx="3">
              <a:srgbClr val="FFEE24"/>
            </a:lnRef>
            <a:fillRef idx="0">
              <a:srgbClr val="FFEE24"/>
            </a:fillRef>
            <a:effectRef idx="2">
              <a:srgbClr val="FFEE24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E549FE-1BDA-3AD2-3856-54D15C88B78B}"/>
              </a:ext>
            </a:extLst>
          </p:cNvPr>
          <p:cNvGrpSpPr/>
          <p:nvPr/>
        </p:nvGrpSpPr>
        <p:grpSpPr>
          <a:xfrm>
            <a:off x="7222522" y="5517712"/>
            <a:ext cx="4812959" cy="1228278"/>
            <a:chOff x="7222522" y="5517712"/>
            <a:chExt cx="4812959" cy="12282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E09CA8-02F7-65A1-A3F2-72229267ECB5}"/>
                </a:ext>
              </a:extLst>
            </p:cNvPr>
            <p:cNvSpPr txBox="1"/>
            <p:nvPr/>
          </p:nvSpPr>
          <p:spPr>
            <a:xfrm>
              <a:off x="7222522" y="6345880"/>
              <a:ext cx="48129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500" b="0" i="0" u="none" strike="noStrike" dirty="0">
                  <a:solidFill>
                    <a:srgbClr val="FFEE24"/>
                  </a:solidFill>
                  <a:effectLst/>
                </a:rPr>
                <a:t>What is the current market consensus?</a:t>
              </a:r>
              <a:endParaRPr lang="en-US" sz="1500" dirty="0">
                <a:solidFill>
                  <a:srgbClr val="FFEE24"/>
                </a:solidFill>
                <a:effectLst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2ECDBEE-DFC3-14C5-BFD6-D01A0B549A7F}"/>
                </a:ext>
              </a:extLst>
            </p:cNvPr>
            <p:cNvSpPr/>
            <p:nvPr/>
          </p:nvSpPr>
          <p:spPr>
            <a:xfrm>
              <a:off x="7344833" y="5517712"/>
              <a:ext cx="4635500" cy="656599"/>
            </a:xfrm>
            <a:prstGeom prst="rect">
              <a:avLst/>
            </a:prstGeom>
            <a:noFill/>
            <a:ln w="38100">
              <a:solidFill>
                <a:srgbClr val="FFEE24"/>
              </a:solidFill>
            </a:ln>
          </p:spPr>
          <p:style>
            <a:lnRef idx="2">
              <a:srgbClr val="3CB2FF"/>
            </a:lnRef>
            <a:fillRef idx="1">
              <a:srgbClr val="3CB2FF"/>
            </a:fillRef>
            <a:effectRef idx="0">
              <a:srgbClr val="3CB2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360861E-7A9B-DEA6-E11C-05EB6F76555F}"/>
                </a:ext>
              </a:extLst>
            </p:cNvPr>
            <p:cNvCxnSpPr>
              <a:cxnSpLocks/>
              <a:stCxn id="10" idx="0"/>
              <a:endCxn id="36" idx="2"/>
            </p:cNvCxnSpPr>
            <p:nvPr/>
          </p:nvCxnSpPr>
          <p:spPr>
            <a:xfrm flipV="1">
              <a:off x="9629002" y="6174311"/>
              <a:ext cx="33581" cy="171569"/>
            </a:xfrm>
            <a:prstGeom prst="line">
              <a:avLst/>
            </a:prstGeom>
            <a:ln w="38100"/>
          </p:spPr>
          <p:style>
            <a:lnRef idx="3">
              <a:srgbClr val="FFEE24"/>
            </a:lnRef>
            <a:fillRef idx="0">
              <a:srgbClr val="FFEE24"/>
            </a:fillRef>
            <a:effectRef idx="2">
              <a:srgbClr val="FFEE24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 headline is not a ticker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89243"/>
              </p:ext>
            </p:extLst>
          </p:nvPr>
        </p:nvGraphicFramePr>
        <p:xfrm>
          <a:off x="609599" y="1737360"/>
          <a:ext cx="106218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9228">
                  <a:extLst>
                    <a:ext uri="{9D8B030D-6E8A-4147-A177-3AD203B41FA5}">
                      <a16:colId xmlns:a16="http://schemas.microsoft.com/office/drawing/2014/main" val="412440951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500" b="1" dirty="0"/>
                        <a:t>What the text 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 dirty="0"/>
                        <a:t>The 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 dirty="0"/>
                        <a:t>What gets stored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dirty="0"/>
                        <a:t>"Marvell to join S&amp;P 500"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/>
                        <a:t>The louder name is not the 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 err="1"/>
                        <a:t>stock:MRVL</a:t>
                      </a:r>
                      <a:r>
                        <a:rPr sz="1500" dirty="0"/>
                        <a:t> primary</a:t>
                      </a:r>
                      <a:endParaRPr lang="en-US" sz="1500" dirty="0"/>
                    </a:p>
                    <a:p>
                      <a:r>
                        <a:rPr sz="1500" dirty="0" err="1"/>
                        <a:t>index:SPX</a:t>
                      </a:r>
                      <a:r>
                        <a:rPr sz="1500" dirty="0"/>
                        <a:t> secondary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dirty="0"/>
                        <a:t>"</a:t>
                      </a:r>
                      <a:r>
                        <a:rPr lang="en-US" sz="1500" dirty="0"/>
                        <a:t>[…] </a:t>
                      </a:r>
                      <a:r>
                        <a:rPr sz="1500" dirty="0"/>
                        <a:t>Source: Nasdaq"</a:t>
                      </a:r>
                      <a:r>
                        <a:rPr lang="en-US" sz="1500" dirty="0"/>
                        <a:t>,</a:t>
                      </a:r>
                    </a:p>
                    <a:p>
                      <a:r>
                        <a:rPr lang="en-US" sz="1500" dirty="0"/>
                        <a:t>"A quiet day on Nasdaq"</a:t>
                      </a:r>
                      <a:endParaRPr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/>
                        <a:t>The org name </a:t>
                      </a:r>
                      <a:r>
                        <a:rPr lang="en-US" sz="1500" dirty="0"/>
                        <a:t>produces </a:t>
                      </a:r>
                      <a:r>
                        <a:rPr sz="1500" dirty="0"/>
                        <a:t>bogus NDAQ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/>
                        <a:t>nothing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dirty="0"/>
                        <a:t>"COMP</a:t>
                      </a:r>
                      <a:r>
                        <a:rPr lang="en-US" sz="1500" dirty="0"/>
                        <a:t> rises 2%</a:t>
                      </a:r>
                      <a:r>
                        <a:rPr sz="1500" dirty="0"/>
                        <a:t>" with no class 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/>
                        <a:t>Compass Inc. or the Nasdaq Composite</a:t>
                      </a:r>
                      <a:r>
                        <a:rPr lang="en-US" sz="1500" dirty="0"/>
                        <a:t>?</a:t>
                      </a:r>
                      <a:r>
                        <a:rPr sz="1500" dirty="0"/>
                        <a:t> </a:t>
                      </a:r>
                      <a:r>
                        <a:rPr lang="en-US" sz="1500" dirty="0"/>
                        <a:t>T</a:t>
                      </a:r>
                      <a:r>
                        <a:rPr sz="1500" dirty="0"/>
                        <a:t>he string cannot tell 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nothing</a:t>
                      </a:r>
                      <a:r>
                        <a:rPr sz="1500" dirty="0"/>
                        <a:t>, not guessed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4"/>
          <p:cNvSpPr txBox="1"/>
          <p:nvPr/>
        </p:nvSpPr>
        <p:spPr>
          <a:xfrm>
            <a:off x="609600" y="481985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r>
              <a:rPr lang="en-US" sz="1600" b="1" i="1" dirty="0"/>
              <a:t>Extracting symbol is a judgement – exactly where an LLM is both necessary and dangerous.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Still no silver bullet</a:t>
            </a:r>
            <a:endParaRPr dirty="0"/>
          </a:p>
        </p:txBody>
      </p:sp>
      <p:sp>
        <p:nvSpPr>
          <p:cNvPr id="3" name="Shape 3"/>
          <p:cNvSpPr txBox="1"/>
          <p:nvPr/>
        </p:nvSpPr>
        <p:spPr>
          <a:xfrm>
            <a:off x="60960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Article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1816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 dirty="0"/>
              <a:t>raw text</a:t>
            </a:r>
          </a:p>
        </p:txBody>
      </p:sp>
      <p:sp>
        <p:nvSpPr>
          <p:cNvPr id="5" name="Arrow 5"/>
          <p:cNvSpPr/>
          <p:nvPr/>
        </p:nvSpPr>
        <p:spPr>
          <a:xfrm>
            <a:off x="225552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2484120" y="2286000"/>
            <a:ext cx="7223760" cy="914400"/>
          </a:xfrm>
          <a:prstGeom prst="roundRect">
            <a:avLst/>
          </a:prstGeom>
          <a:solidFill>
            <a:srgbClr val="F3511E"/>
          </a:solidFill>
          <a:ln w="19050">
            <a:solidFill>
              <a:srgbClr val="F351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</a:rPr>
              <a:t>LLM-for-everything</a:t>
            </a:r>
          </a:p>
        </p:txBody>
      </p:sp>
      <p:sp>
        <p:nvSpPr>
          <p:cNvPr id="17" name="Arrow 17"/>
          <p:cNvSpPr/>
          <p:nvPr/>
        </p:nvSpPr>
        <p:spPr>
          <a:xfrm>
            <a:off x="975360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998220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Store (DB)</a:t>
            </a: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692E45B8-6444-288F-7DC2-81DD0AF7BC23}"/>
              </a:ext>
            </a:extLst>
          </p:cNvPr>
          <p:cNvSpPr txBox="1"/>
          <p:nvPr/>
        </p:nvSpPr>
        <p:spPr>
          <a:xfrm>
            <a:off x="2484120" y="3291840"/>
            <a:ext cx="7223760" cy="27432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 dirty="0"/>
              <a:t>Traps: LLM inference costs, Runtime, Precision</a:t>
            </a:r>
          </a:p>
          <a:p>
            <a:pPr algn="ctr"/>
            <a:endParaRPr lang="en-US" sz="1200" i="1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BA10BC8-D45E-1CB4-ADAF-E0A5BD940DDD}"/>
              </a:ext>
            </a:extLst>
          </p:cNvPr>
          <p:cNvSpPr txBox="1"/>
          <p:nvPr/>
        </p:nvSpPr>
        <p:spPr>
          <a:xfrm>
            <a:off x="9936480" y="3247323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 dirty="0"/>
              <a:t>data used in downstream tasks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9E5F574D-42FE-62D0-2BB4-933F047E4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561077"/>
              </p:ext>
            </p:extLst>
          </p:nvPr>
        </p:nvGraphicFramePr>
        <p:xfrm>
          <a:off x="829719" y="4148263"/>
          <a:ext cx="10391886" cy="1275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359">
                  <a:extLst>
                    <a:ext uri="{9D8B030D-6E8A-4147-A177-3AD203B41FA5}">
                      <a16:colId xmlns:a16="http://schemas.microsoft.com/office/drawing/2014/main" val="1331446990"/>
                    </a:ext>
                  </a:extLst>
                </a:gridCol>
                <a:gridCol w="2501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665">
                  <a:extLst>
                    <a:ext uri="{9D8B030D-6E8A-4147-A177-3AD203B41FA5}">
                      <a16:colId xmlns:a16="http://schemas.microsoft.com/office/drawing/2014/main" val="4124409514"/>
                    </a:ext>
                  </a:extLst>
                </a:gridCol>
              </a:tblGrid>
              <a:tr h="637807">
                <a:tc>
                  <a:txBody>
                    <a:bodyPr/>
                    <a:lstStyle/>
                    <a:p>
                      <a:r>
                        <a:rPr lang="en-US" sz="1400" b="1" dirty="0"/>
                        <a:t>Text volume: ~330 tokens / article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LLM cost: $0.4 – $8 per </a:t>
                      </a:r>
                      <a:r>
                        <a:rPr lang="en-US" sz="1400" b="1" dirty="0" err="1"/>
                        <a:t>Mtok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Runtime: 6 s/call </a:t>
                      </a:r>
                    </a:p>
                    <a:p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Precision (article -&gt; ticker)</a:t>
                      </a:r>
                      <a:endParaRPr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807">
                <a:tc>
                  <a:txBody>
                    <a:bodyPr/>
                    <a:lstStyle/>
                    <a:p>
                      <a:r>
                        <a:rPr lang="en-US" sz="1400" dirty="0"/>
                        <a:t>All articles: </a:t>
                      </a:r>
                      <a:r>
                        <a:rPr lang="en-US" sz="1400" b="1" dirty="0"/>
                        <a:t>~49 K/day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$6.5 – $130/day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~8 </a:t>
                      </a:r>
                      <a:r>
                        <a:rPr lang="en-US" sz="1400" b="1" dirty="0" err="1"/>
                        <a:t>hrs</a:t>
                      </a:r>
                      <a:r>
                        <a:rPr lang="en-US" sz="1400" b="1" dirty="0"/>
                        <a:t>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27%</a:t>
                      </a:r>
                      <a:endParaRPr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3392-EB49-E3B2-53BE-5703CA29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F195-B194-D4D8-B355-8386D967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Four layers, each with one job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6DE2326-7B27-4420-1453-29A43D7DD0E8}"/>
              </a:ext>
            </a:extLst>
          </p:cNvPr>
          <p:cNvSpPr txBox="1"/>
          <p:nvPr/>
        </p:nvSpPr>
        <p:spPr>
          <a:xfrm>
            <a:off x="60960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Article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F52BFF4-EE2A-DD34-8BD6-65139CE360AE}"/>
              </a:ext>
            </a:extLst>
          </p:cNvPr>
          <p:cNvSpPr txBox="1"/>
          <p:nvPr/>
        </p:nvSpPr>
        <p:spPr>
          <a:xfrm>
            <a:off x="51816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/>
              <a:t>raw text</a:t>
            </a:r>
          </a:p>
        </p:txBody>
      </p:sp>
      <p:sp>
        <p:nvSpPr>
          <p:cNvPr id="5" name="Arrow 5">
            <a:extLst>
              <a:ext uri="{FF2B5EF4-FFF2-40B4-BE49-F238E27FC236}">
                <a16:creationId xmlns:a16="http://schemas.microsoft.com/office/drawing/2014/main" id="{B5C01659-FC6E-6A78-29AF-D0A236BA9F17}"/>
              </a:ext>
            </a:extLst>
          </p:cNvPr>
          <p:cNvSpPr/>
          <p:nvPr/>
        </p:nvSpPr>
        <p:spPr>
          <a:xfrm>
            <a:off x="225552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53718ED-F87B-65D3-5689-8297E869429C}"/>
              </a:ext>
            </a:extLst>
          </p:cNvPr>
          <p:cNvSpPr txBox="1"/>
          <p:nvPr/>
        </p:nvSpPr>
        <p:spPr>
          <a:xfrm>
            <a:off x="248412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Rule matchers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D48E718-B078-69A8-6805-287643C093B0}"/>
              </a:ext>
            </a:extLst>
          </p:cNvPr>
          <p:cNvSpPr txBox="1"/>
          <p:nvPr/>
        </p:nvSpPr>
        <p:spPr>
          <a:xfrm>
            <a:off x="239268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/>
              <a:t>deterministic candidates</a:t>
            </a:r>
          </a:p>
        </p:txBody>
      </p:sp>
      <p:sp>
        <p:nvSpPr>
          <p:cNvPr id="8" name="Arrow 8">
            <a:extLst>
              <a:ext uri="{FF2B5EF4-FFF2-40B4-BE49-F238E27FC236}">
                <a16:creationId xmlns:a16="http://schemas.microsoft.com/office/drawing/2014/main" id="{B5052977-4F1D-76AD-C038-A097C8505B1A}"/>
              </a:ext>
            </a:extLst>
          </p:cNvPr>
          <p:cNvSpPr/>
          <p:nvPr/>
        </p:nvSpPr>
        <p:spPr>
          <a:xfrm>
            <a:off x="413004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0D3B6A6-4B54-0E4E-949C-C7EF429DB9BC}"/>
              </a:ext>
            </a:extLst>
          </p:cNvPr>
          <p:cNvSpPr txBox="1"/>
          <p:nvPr/>
        </p:nvSpPr>
        <p:spPr>
          <a:xfrm>
            <a:off x="435864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Enrichment gate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539B172-293B-75B9-DA55-07751F7132BC}"/>
              </a:ext>
            </a:extLst>
          </p:cNvPr>
          <p:cNvSpPr txBox="1"/>
          <p:nvPr/>
        </p:nvSpPr>
        <p:spPr>
          <a:xfrm>
            <a:off x="426720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/>
              <a:t>who is worth LLM money</a:t>
            </a:r>
          </a:p>
        </p:txBody>
      </p:sp>
      <p:sp>
        <p:nvSpPr>
          <p:cNvPr id="11" name="Arrow 11">
            <a:extLst>
              <a:ext uri="{FF2B5EF4-FFF2-40B4-BE49-F238E27FC236}">
                <a16:creationId xmlns:a16="http://schemas.microsoft.com/office/drawing/2014/main" id="{20F58C1E-271E-32CD-F8A2-13A0AF7EBB57}"/>
              </a:ext>
            </a:extLst>
          </p:cNvPr>
          <p:cNvSpPr/>
          <p:nvPr/>
        </p:nvSpPr>
        <p:spPr>
          <a:xfrm>
            <a:off x="600456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1FD51A9-A69D-B75C-6B8F-8E7FBE1CA87C}"/>
              </a:ext>
            </a:extLst>
          </p:cNvPr>
          <p:cNvSpPr txBox="1"/>
          <p:nvPr/>
        </p:nvSpPr>
        <p:spPr>
          <a:xfrm>
            <a:off x="6233160" y="2286000"/>
            <a:ext cx="1600200" cy="914400"/>
          </a:xfrm>
          <a:prstGeom prst="roundRect">
            <a:avLst/>
          </a:prstGeom>
          <a:solidFill>
            <a:srgbClr val="F3511E"/>
          </a:solidFill>
          <a:ln w="19050">
            <a:solidFill>
              <a:srgbClr val="F351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LLM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42C8368-47E6-0F6A-099C-93A3CE7A17F6}"/>
              </a:ext>
            </a:extLst>
          </p:cNvPr>
          <p:cNvSpPr txBox="1"/>
          <p:nvPr/>
        </p:nvSpPr>
        <p:spPr>
          <a:xfrm>
            <a:off x="614172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 dirty="0"/>
              <a:t>final say on symbols</a:t>
            </a:r>
          </a:p>
          <a:p>
            <a:pPr algn="ctr"/>
            <a:r>
              <a:rPr lang="en-US" sz="1200" i="1" dirty="0"/>
              <a:t>3% of the volume</a:t>
            </a:r>
          </a:p>
        </p:txBody>
      </p:sp>
      <p:sp>
        <p:nvSpPr>
          <p:cNvPr id="14" name="Arrow 14">
            <a:extLst>
              <a:ext uri="{FF2B5EF4-FFF2-40B4-BE49-F238E27FC236}">
                <a16:creationId xmlns:a16="http://schemas.microsoft.com/office/drawing/2014/main" id="{6B59135F-5D34-8C71-4252-C9D1962EE0E3}"/>
              </a:ext>
            </a:extLst>
          </p:cNvPr>
          <p:cNvSpPr/>
          <p:nvPr/>
        </p:nvSpPr>
        <p:spPr>
          <a:xfrm>
            <a:off x="787908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6CFD6A2-BA90-8974-8D37-DC179EC82162}"/>
              </a:ext>
            </a:extLst>
          </p:cNvPr>
          <p:cNvSpPr txBox="1"/>
          <p:nvPr/>
        </p:nvSpPr>
        <p:spPr>
          <a:xfrm>
            <a:off x="810768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Universe validation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3B49B73-ACF7-5FC6-A5A8-7E820465C7CE}"/>
              </a:ext>
            </a:extLst>
          </p:cNvPr>
          <p:cNvSpPr txBox="1"/>
          <p:nvPr/>
        </p:nvSpPr>
        <p:spPr>
          <a:xfrm>
            <a:off x="801624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/>
              <a:t>dxFeed IPF / universe files</a:t>
            </a:r>
          </a:p>
        </p:txBody>
      </p:sp>
      <p:sp>
        <p:nvSpPr>
          <p:cNvPr id="17" name="Arrow 17">
            <a:extLst>
              <a:ext uri="{FF2B5EF4-FFF2-40B4-BE49-F238E27FC236}">
                <a16:creationId xmlns:a16="http://schemas.microsoft.com/office/drawing/2014/main" id="{AF2259D6-9109-9026-2EAE-3C18966E7EC8}"/>
              </a:ext>
            </a:extLst>
          </p:cNvPr>
          <p:cNvSpPr/>
          <p:nvPr/>
        </p:nvSpPr>
        <p:spPr>
          <a:xfrm>
            <a:off x="9753600" y="26060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B58AA41-4982-150B-503A-C4C6C778A6DB}"/>
              </a:ext>
            </a:extLst>
          </p:cNvPr>
          <p:cNvSpPr txBox="1"/>
          <p:nvPr/>
        </p:nvSpPr>
        <p:spPr>
          <a:xfrm>
            <a:off x="9982200" y="2286000"/>
            <a:ext cx="160020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Store (DB)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C832186-D1DB-25B2-B06D-82E853AF7F1D}"/>
              </a:ext>
            </a:extLst>
          </p:cNvPr>
          <p:cNvSpPr txBox="1"/>
          <p:nvPr/>
        </p:nvSpPr>
        <p:spPr>
          <a:xfrm>
            <a:off x="9890760" y="32918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sz="1200" i="1"/>
              <a:t>never decided by the model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E2525EA2-D559-8DD2-BE90-EA3B4EACC12B}"/>
              </a:ext>
            </a:extLst>
          </p:cNvPr>
          <p:cNvSpPr txBox="1"/>
          <p:nvPr/>
        </p:nvSpPr>
        <p:spPr>
          <a:xfrm>
            <a:off x="6004560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normAutofit fontScale="85000" lnSpcReduction="10000"/>
          </a:bodyPr>
          <a:lstStyle/>
          <a:p>
            <a:pPr algn="ctr"/>
            <a:r>
              <a:rPr lang="en-US" sz="1200" i="1" dirty="0">
                <a:solidFill>
                  <a:srgbClr val="F3511E"/>
                </a:solidFill>
              </a:rPr>
              <a:t>the only probabilistic stage!</a:t>
            </a:r>
          </a:p>
        </p:txBody>
      </p:sp>
      <p:graphicFrame>
        <p:nvGraphicFramePr>
          <p:cNvPr id="26" name="Table 3">
            <a:extLst>
              <a:ext uri="{FF2B5EF4-FFF2-40B4-BE49-F238E27FC236}">
                <a16:creationId xmlns:a16="http://schemas.microsoft.com/office/drawing/2014/main" id="{F4B64E60-3D41-77DA-97FB-469D314A3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62281"/>
              </p:ext>
            </p:extLst>
          </p:nvPr>
        </p:nvGraphicFramePr>
        <p:xfrm>
          <a:off x="825499" y="4144871"/>
          <a:ext cx="10346268" cy="156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3691">
                  <a:extLst>
                    <a:ext uri="{9D8B030D-6E8A-4147-A177-3AD203B41FA5}">
                      <a16:colId xmlns:a16="http://schemas.microsoft.com/office/drawing/2014/main" val="1331446990"/>
                    </a:ext>
                  </a:extLst>
                </a:gridCol>
                <a:gridCol w="2490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7858">
                  <a:extLst>
                    <a:ext uri="{9D8B030D-6E8A-4147-A177-3AD203B41FA5}">
                      <a16:colId xmlns:a16="http://schemas.microsoft.com/office/drawing/2014/main" val="4124409514"/>
                    </a:ext>
                  </a:extLst>
                </a:gridCol>
              </a:tblGrid>
              <a:tr h="522080">
                <a:tc>
                  <a:txBody>
                    <a:bodyPr/>
                    <a:lstStyle/>
                    <a:p>
                      <a:r>
                        <a:rPr lang="en-US" sz="1400" b="1" dirty="0"/>
                        <a:t>Text volume: ~330 tokens / article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LLM cost: $0.4 – $8 per </a:t>
                      </a:r>
                      <a:r>
                        <a:rPr lang="en-US" sz="1400" b="1" dirty="0" err="1"/>
                        <a:t>Mtok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Runtime: 6 s/call </a:t>
                      </a:r>
                    </a:p>
                    <a:p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Precision (article -&gt; ticker)</a:t>
                      </a:r>
                      <a:endParaRPr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080">
                <a:tc>
                  <a:txBody>
                    <a:bodyPr/>
                    <a:lstStyle/>
                    <a:p>
                      <a:r>
                        <a:rPr lang="en-US" sz="1400" dirty="0"/>
                        <a:t>All articles: </a:t>
                      </a:r>
                      <a:r>
                        <a:rPr lang="en-US" sz="1400" b="1" dirty="0"/>
                        <a:t>~49 K/day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$6.5 – $130/day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~8 </a:t>
                      </a:r>
                      <a:r>
                        <a:rPr lang="en-US" sz="1400" b="1" dirty="0" err="1"/>
                        <a:t>hrs</a:t>
                      </a:r>
                      <a:r>
                        <a:rPr lang="en-US" sz="1400" b="1" dirty="0"/>
                        <a:t>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27%</a:t>
                      </a:r>
                      <a:endParaRPr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80">
                <a:tc>
                  <a:txBody>
                    <a:bodyPr/>
                    <a:lstStyle/>
                    <a:p>
                      <a:r>
                        <a:rPr lang="en-US" sz="1400" dirty="0"/>
                        <a:t>Gated: </a:t>
                      </a:r>
                      <a:r>
                        <a:rPr lang="en-US" sz="1400" b="1" dirty="0"/>
                        <a:t>1350/day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&lt;$4/day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14 min/day</a:t>
                      </a:r>
                      <a:endParaRPr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68%</a:t>
                      </a:r>
                      <a:endParaRPr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30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7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Decision rule #2: where the model belongs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37360"/>
            <a:ext cx="10972800" cy="2720745"/>
          </a:xfrm>
        </p:spPr>
        <p:txBody>
          <a:bodyPr wrap="square"/>
          <a:lstStyle/>
          <a:p>
            <a:pPr marL="514350" indent="-514350">
              <a:buFont typeface="+mj-lt"/>
              <a:buAutoNum type="arabicPeriod"/>
            </a:pPr>
            <a:r>
              <a:rPr dirty="0"/>
              <a:t>Put the model where </a:t>
            </a:r>
            <a:r>
              <a:rPr b="1" u="sng" dirty="0"/>
              <a:t>judgement is genuinely required</a:t>
            </a:r>
            <a:r>
              <a:rPr lang="en-US" b="1" u="sng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Put </a:t>
            </a:r>
            <a:r>
              <a:rPr b="1" u="sng" dirty="0"/>
              <a:t>deterministic code</a:t>
            </a:r>
            <a:r>
              <a:rPr b="1" dirty="0"/>
              <a:t> </a:t>
            </a:r>
            <a:r>
              <a:rPr dirty="0"/>
              <a:t>on both sides of it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Make something </a:t>
            </a:r>
            <a:r>
              <a:rPr b="1" u="sng" dirty="0"/>
              <a:t>other than the model</a:t>
            </a:r>
            <a:r>
              <a:rPr b="1" dirty="0"/>
              <a:t> </a:t>
            </a:r>
            <a:r>
              <a:rPr dirty="0"/>
              <a:t>decide what gets stored</a:t>
            </a:r>
            <a:r>
              <a:rPr lang="en-US" dirty="0"/>
              <a:t>.</a:t>
            </a:r>
          </a:p>
          <a:p>
            <a:r>
              <a:rPr lang="en-US" dirty="0"/>
              <a:t>This results in predictable costs, runtime, and precision.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DD31924C-0B48-7BC7-5C7D-F84DF0051784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374887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sz="2800"/>
              <a:t>Sometimes the harness contains no model at 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2DE8C-1EA7-BF73-F577-8B6A84D4785F}"/>
              </a:ext>
            </a:extLst>
          </p:cNvPr>
          <p:cNvSpPr txBox="1">
            <a:spLocks/>
          </p:cNvSpPr>
          <p:nvPr/>
        </p:nvSpPr>
        <p:spPr>
          <a:xfrm>
            <a:off x="563476" y="4450320"/>
            <a:ext cx="10515600" cy="1791728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pPr marL="0" indent="0" fontAlgn="base">
              <a:buNone/>
            </a:pPr>
            <a:r>
              <a:rPr lang="en-US" sz="2400" dirty="0"/>
              <a:t>The needle in the haystack problem: rare &amp; fuzzily defined events</a:t>
            </a:r>
          </a:p>
          <a:p>
            <a:pPr marL="0" indent="0" fontAlgn="base">
              <a:buNone/>
            </a:pPr>
            <a:r>
              <a:rPr lang="en-US" sz="2400" dirty="0"/>
              <a:t>Rule-based or feature engineered conditions:</a:t>
            </a:r>
          </a:p>
          <a:p>
            <a:pPr lvl="1" fontAlgn="base"/>
            <a:r>
              <a:rPr lang="en-US" sz="2000" dirty="0"/>
              <a:t>must be manually constructed or selected</a:t>
            </a:r>
          </a:p>
          <a:p>
            <a:pPr lvl="1" fontAlgn="base"/>
            <a:r>
              <a:rPr lang="en-US" sz="2000" dirty="0"/>
              <a:t>must be calibrated and recalibrated, may get outdated quickly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5A5BE8-1DD3-9E7E-3E1E-106A8F678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76" y="1821474"/>
            <a:ext cx="3468774" cy="227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1E6FBB1-3893-114E-B105-0BA1F76A8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001" y="1821473"/>
            <a:ext cx="3468775" cy="227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AAF8B5-F0DE-DA9D-2C7E-21720E534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527" y="1821474"/>
            <a:ext cx="3468775" cy="2274463"/>
          </a:xfrm>
          <a:prstGeom prst="rect">
            <a:avLst/>
          </a:prstGeom>
        </p:spPr>
      </p:pic>
      <p:sp>
        <p:nvSpPr>
          <p:cNvPr id="90" name="Subtitle"/>
          <p:cNvSpPr txBox="1"/>
          <p:nvPr/>
        </p:nvSpPr>
        <p:spPr>
          <a:xfrm>
            <a:off x="301752" y="950000"/>
            <a:ext cx="11374887" cy="59093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lang="en-US" sz="1600" i="1" dirty="0"/>
              <a:t>Grenadier: a 0-100 anomaly score for the order book of every US-listed stock, once a second, from one in-house model. </a:t>
            </a:r>
            <a:br>
              <a:rPr lang="en-US" sz="1600" i="1" dirty="0"/>
            </a:br>
            <a:r>
              <a:rPr lang="en-US" sz="1600" i="1" dirty="0"/>
              <a:t>No LLM anywhere in it!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DD2CB4AF-7BCC-EC29-66C2-D009E23D4991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29651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sz="2800"/>
              <a:t>The bet: one universal model, or a zoo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4BC6F-5137-F4D9-4120-B27C2DE0888F}"/>
              </a:ext>
            </a:extLst>
          </p:cNvPr>
          <p:cNvSpPr txBox="1">
            <a:spLocks/>
          </p:cNvSpPr>
          <p:nvPr/>
        </p:nvSpPr>
        <p:spPr>
          <a:xfrm>
            <a:off x="6811874" y="1656736"/>
            <a:ext cx="4854747" cy="4492799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pPr marL="0" indent="0">
              <a:buNone/>
            </a:pPr>
            <a:r>
              <a:rPr lang="en-US" sz="2000" dirty="0"/>
              <a:t>The key risk:</a:t>
            </a:r>
          </a:p>
          <a:p>
            <a:pPr marL="0" indent="0">
              <a:buNone/>
            </a:pPr>
            <a:r>
              <a:rPr lang="en-US" sz="1800" i="1" dirty="0"/>
              <a:t>"Transfer learning fails: a universal model that covers a wide instrument universe is unfeasible."</a:t>
            </a:r>
          </a:p>
          <a:p>
            <a:pPr marL="0" indent="0">
              <a:buNone/>
            </a:pPr>
            <a:r>
              <a:rPr lang="en-US" sz="1800" dirty="0"/>
              <a:t>Fallback plan: a per-symbol model zoo.</a:t>
            </a:r>
          </a:p>
          <a:p>
            <a:pPr marL="0" indent="0">
              <a:buNone/>
            </a:pPr>
            <a:endParaRPr lang="en-US" sz="1200" dirty="0"/>
          </a:p>
          <a:p>
            <a:pPr fontAlgn="base"/>
            <a:r>
              <a:rPr lang="en-US" sz="1800" dirty="0"/>
              <a:t>One unsupervised autoencoder, 20 GB of proprietary L2 order-book data</a:t>
            </a:r>
          </a:p>
          <a:p>
            <a:pPr fontAlgn="base"/>
            <a:r>
              <a:rPr lang="en-US" sz="1800" dirty="0" err="1"/>
              <a:t>Generalises</a:t>
            </a:r>
            <a:r>
              <a:rPr lang="en-US" sz="1800" dirty="0"/>
              <a:t> to new instruments without retraining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7B4397-C18B-A9EC-344C-F66A59AD63A2}"/>
              </a:ext>
            </a:extLst>
          </p:cNvPr>
          <p:cNvGrpSpPr/>
          <p:nvPr/>
        </p:nvGrpSpPr>
        <p:grpSpPr>
          <a:xfrm>
            <a:off x="525378" y="2231913"/>
            <a:ext cx="1254646" cy="2967442"/>
            <a:chOff x="525376" y="2591421"/>
            <a:chExt cx="1254646" cy="296744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8D66C54-E895-948C-2B77-13E503C80A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377" y="2591421"/>
              <a:ext cx="1254645" cy="822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E1CD0B85-28EA-50DC-C7F6-651B888125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376" y="3665824"/>
              <a:ext cx="1254645" cy="822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C5D96B-5461-FD45-1B84-58430359F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376" y="4736197"/>
              <a:ext cx="1254645" cy="822666"/>
            </a:xfrm>
            <a:prstGeom prst="rect">
              <a:avLst/>
            </a:prstGeom>
          </p:spPr>
        </p:pic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CEF4873E-950A-A7F3-EBD3-AF22BEC1D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956" y="1278792"/>
            <a:ext cx="4162506" cy="508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Target vs delivered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670167"/>
              </p:ext>
            </p:extLst>
          </p:nvPr>
        </p:nvGraphicFramePr>
        <p:xfrm>
          <a:off x="1186249" y="1920240"/>
          <a:ext cx="9866869" cy="2749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0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Delivered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/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2,600+ US stocks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Full US equity universe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/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2,600 RPS (1/symbol/sec)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4,000 RPS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/>
                        <a:t>Latency (same region)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Sub-second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p50 51 </a:t>
                      </a:r>
                      <a:r>
                        <a:rPr sz="1600" dirty="0" err="1"/>
                        <a:t>ms</a:t>
                      </a:r>
                      <a:endParaRPr lang="en-US" sz="1600" dirty="0"/>
                    </a:p>
                    <a:p>
                      <a:r>
                        <a:rPr sz="1600" dirty="0"/>
                        <a:t>p99 223 </a:t>
                      </a:r>
                      <a:r>
                        <a:rPr sz="1600" dirty="0" err="1"/>
                        <a:t>ms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 dirty="0"/>
                        <a:t>Running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Fixed budget per</a:t>
                      </a:r>
                      <a:r>
                        <a:rPr sz="1600" dirty="0"/>
                        <a:t>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~1/5 of the budget</a:t>
                      </a:r>
                    </a:p>
                    <a:p>
                      <a:r>
                        <a:rPr lang="en-US" sz="1600" dirty="0"/>
                        <a:t>~1/20 for a representative subset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360FEE9-E22C-28CA-8A1B-9A57B8AD32A6}"/>
              </a:ext>
            </a:extLst>
          </p:cNvPr>
          <p:cNvGrpSpPr/>
          <p:nvPr/>
        </p:nvGrpSpPr>
        <p:grpSpPr>
          <a:xfrm>
            <a:off x="0" y="1257300"/>
            <a:ext cx="12188546" cy="5600700"/>
            <a:chOff x="0" y="1257300"/>
            <a:chExt cx="12188546" cy="5600700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281F69E-7255-70AA-44A6-07AFACC9E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257300"/>
              <a:ext cx="12188546" cy="560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E4DB39-E5D4-7D89-5E99-6C51DFC56CAA}"/>
                </a:ext>
              </a:extLst>
            </p:cNvPr>
            <p:cNvSpPr/>
            <p:nvPr/>
          </p:nvSpPr>
          <p:spPr>
            <a:xfrm>
              <a:off x="99060" y="1285906"/>
              <a:ext cx="2309360" cy="371504"/>
            </a:xfrm>
            <a:prstGeom prst="rect">
              <a:avLst/>
            </a:prstGeom>
            <a:solidFill>
              <a:srgbClr val="0E1117"/>
            </a:solidFill>
            <a:ln>
              <a:solidFill>
                <a:srgbClr val="0E1117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39590381-D50E-A687-4E2C-416145C01493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lang="en-US" sz="2800" dirty="0" err="1"/>
              <a:t>dxFeed</a:t>
            </a:r>
            <a:r>
              <a:rPr lang="en-US" sz="2800" dirty="0"/>
              <a:t> Grenadier in Action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3EE830-6554-C35A-8847-860F9E5CDADC}"/>
              </a:ext>
            </a:extLst>
          </p:cNvPr>
          <p:cNvGrpSpPr/>
          <p:nvPr/>
        </p:nvGrpSpPr>
        <p:grpSpPr>
          <a:xfrm>
            <a:off x="2408420" y="857190"/>
            <a:ext cx="8815436" cy="3394770"/>
            <a:chOff x="2408420" y="857190"/>
            <a:chExt cx="8815436" cy="339477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D79918D-5F3E-7B32-D00B-4D77C35E265F}"/>
                </a:ext>
              </a:extLst>
            </p:cNvPr>
            <p:cNvSpPr txBox="1"/>
            <p:nvPr/>
          </p:nvSpPr>
          <p:spPr>
            <a:xfrm>
              <a:off x="2408420" y="857190"/>
              <a:ext cx="60802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500" b="0" i="0" u="none" strike="noStrike" dirty="0">
                  <a:solidFill>
                    <a:srgbClr val="FFEE24"/>
                  </a:solidFill>
                  <a:effectLst/>
                </a:rPr>
                <a:t>Large volume concentration far from the spread  </a:t>
              </a:r>
              <a:endParaRPr lang="en-US" sz="1500" dirty="0">
                <a:solidFill>
                  <a:srgbClr val="FFEE24"/>
                </a:solidFill>
                <a:effectLst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9D6DBE-2CB1-4C3B-7120-18A0436F6499}"/>
                </a:ext>
              </a:extLst>
            </p:cNvPr>
            <p:cNvSpPr/>
            <p:nvPr/>
          </p:nvSpPr>
          <p:spPr>
            <a:xfrm>
              <a:off x="9357360" y="2179320"/>
              <a:ext cx="1866496" cy="2072640"/>
            </a:xfrm>
            <a:prstGeom prst="rect">
              <a:avLst/>
            </a:prstGeom>
            <a:noFill/>
            <a:ln w="38100">
              <a:solidFill>
                <a:srgbClr val="FFEE24"/>
              </a:solidFill>
            </a:ln>
          </p:spPr>
          <p:style>
            <a:lnRef idx="2">
              <a:srgbClr val="3CB2FF"/>
            </a:lnRef>
            <a:fillRef idx="1">
              <a:srgbClr val="3CB2FF"/>
            </a:fillRef>
            <a:effectRef idx="0">
              <a:srgbClr val="3CB2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47BCE3C-90D9-A369-A713-E15968BE69E9}"/>
                </a:ext>
              </a:extLst>
            </p:cNvPr>
            <p:cNvCxnSpPr>
              <a:cxnSpLocks/>
              <a:stCxn id="2" idx="2"/>
              <a:endCxn id="5" idx="1"/>
            </p:cNvCxnSpPr>
            <p:nvPr/>
          </p:nvCxnSpPr>
          <p:spPr>
            <a:xfrm>
              <a:off x="5448550" y="1257300"/>
              <a:ext cx="3908810" cy="1958340"/>
            </a:xfrm>
            <a:prstGeom prst="line">
              <a:avLst/>
            </a:prstGeom>
            <a:ln w="38100"/>
          </p:spPr>
          <p:style>
            <a:lnRef idx="3">
              <a:srgbClr val="FFEE24"/>
            </a:lnRef>
            <a:fillRef idx="0">
              <a:srgbClr val="FFEE24"/>
            </a:fillRef>
            <a:effectRef idx="2">
              <a:srgbClr val="FFEE24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C1E30F-0183-F351-50E6-DB98EEFF0C62}"/>
              </a:ext>
            </a:extLst>
          </p:cNvPr>
          <p:cNvGrpSpPr/>
          <p:nvPr/>
        </p:nvGrpSpPr>
        <p:grpSpPr>
          <a:xfrm>
            <a:off x="312516" y="4124295"/>
            <a:ext cx="11376564" cy="2444144"/>
            <a:chOff x="312516" y="4124295"/>
            <a:chExt cx="11376564" cy="244414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CAFB63-276E-EF72-4929-1C597A6B1909}"/>
                </a:ext>
              </a:extLst>
            </p:cNvPr>
            <p:cNvSpPr txBox="1"/>
            <p:nvPr/>
          </p:nvSpPr>
          <p:spPr>
            <a:xfrm>
              <a:off x="312516" y="4124295"/>
              <a:ext cx="45414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500" b="0" i="0" u="none" strike="noStrike" dirty="0">
                  <a:solidFill>
                    <a:srgbClr val="FFEE24"/>
                  </a:solidFill>
                  <a:effectLst/>
                </a:rPr>
                <a:t>Anomaly-free state of the order book</a:t>
              </a:r>
              <a:endParaRPr lang="en-US" sz="1500" dirty="0">
                <a:solidFill>
                  <a:srgbClr val="FFEE24"/>
                </a:solidFill>
                <a:effectLst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2BEC6B7-CDF0-DD29-E0A1-94A993EB24F5}"/>
                </a:ext>
              </a:extLst>
            </p:cNvPr>
            <p:cNvSpPr/>
            <p:nvPr/>
          </p:nvSpPr>
          <p:spPr>
            <a:xfrm>
              <a:off x="373380" y="4495799"/>
              <a:ext cx="11315700" cy="2072640"/>
            </a:xfrm>
            <a:prstGeom prst="rect">
              <a:avLst/>
            </a:prstGeom>
            <a:noFill/>
            <a:ln w="38100">
              <a:solidFill>
                <a:srgbClr val="FFEE24"/>
              </a:solidFill>
            </a:ln>
          </p:spPr>
          <p:style>
            <a:lnRef idx="2">
              <a:srgbClr val="3CB2FF"/>
            </a:lnRef>
            <a:fillRef idx="1">
              <a:srgbClr val="3CB2FF"/>
            </a:fillRef>
            <a:effectRef idx="0">
              <a:srgbClr val="3CB2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Decision rule #3: when to train your own</a:t>
            </a:r>
            <a:r>
              <a:rPr lang="en-US" sz="3200" dirty="0"/>
              <a:t> model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E4C072-2AE4-5E75-4597-7F6DD2830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392231"/>
              </p:ext>
            </p:extLst>
          </p:nvPr>
        </p:nvGraphicFramePr>
        <p:xfrm>
          <a:off x="960446" y="2059072"/>
          <a:ext cx="9718005" cy="3828002"/>
        </p:xfrm>
        <a:graphic>
          <a:graphicData uri="http://schemas.openxmlformats.org/drawingml/2006/table">
            <a:tbl>
              <a:tblPr/>
              <a:tblGrid>
                <a:gridCol w="2029890">
                  <a:extLst>
                    <a:ext uri="{9D8B030D-6E8A-4147-A177-3AD203B41FA5}">
                      <a16:colId xmlns:a16="http://schemas.microsoft.com/office/drawing/2014/main" val="4063981940"/>
                    </a:ext>
                  </a:extLst>
                </a:gridCol>
                <a:gridCol w="3676134">
                  <a:extLst>
                    <a:ext uri="{9D8B030D-6E8A-4147-A177-3AD203B41FA5}">
                      <a16:colId xmlns:a16="http://schemas.microsoft.com/office/drawing/2014/main" val="1130441371"/>
                    </a:ext>
                  </a:extLst>
                </a:gridCol>
                <a:gridCol w="4011981">
                  <a:extLst>
                    <a:ext uri="{9D8B030D-6E8A-4147-A177-3AD203B41FA5}">
                      <a16:colId xmlns:a16="http://schemas.microsoft.com/office/drawing/2014/main" val="2423457569"/>
                    </a:ext>
                  </a:extLst>
                </a:gridCol>
              </a:tblGrid>
              <a:tr h="4333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b="1" dirty="0">
                          <a:solidFill>
                            <a:srgbClr val="3CB2FF"/>
                          </a:solidFill>
                        </a:rPr>
                        <a:t>Use an LLM when…</a:t>
                      </a:r>
                      <a:endParaRPr lang="en-US" sz="1800" b="1" dirty="0">
                        <a:solidFill>
                          <a:srgbClr val="3CB2FF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3CB2FF"/>
                          </a:solidFill>
                        </a:rPr>
                        <a:t>(</a:t>
                      </a:r>
                      <a:r>
                        <a:rPr lang="en-DE" sz="1800" dirty="0" err="1">
                          <a:solidFill>
                            <a:srgbClr val="3CB2FF"/>
                          </a:solidFill>
                        </a:rPr>
                        <a:t>SummerFox</a:t>
                      </a:r>
                      <a:r>
                        <a:rPr lang="en-US" sz="1800" dirty="0">
                          <a:solidFill>
                            <a:srgbClr val="3CB2FF"/>
                          </a:solidFill>
                        </a:rPr>
                        <a:t>)</a:t>
                      </a:r>
                      <a:endParaRPr lang="en-DE" sz="1800" dirty="0">
                        <a:solidFill>
                          <a:srgbClr val="3CB2FF"/>
                        </a:solidFill>
                      </a:endParaRP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b="1" dirty="0">
                          <a:solidFill>
                            <a:srgbClr val="3CB2FF"/>
                          </a:solidFill>
                        </a:rPr>
                        <a:t>Train your own when…</a:t>
                      </a:r>
                      <a:r>
                        <a:rPr lang="en-DE" sz="1800" dirty="0">
                          <a:solidFill>
                            <a:srgbClr val="3CB2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3CB2FF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3CB2FF"/>
                          </a:solidFill>
                        </a:rPr>
                        <a:t>(</a:t>
                      </a:r>
                      <a:r>
                        <a:rPr lang="en-DE" sz="1800" dirty="0">
                          <a:solidFill>
                            <a:srgbClr val="3CB2FF"/>
                          </a:solidFill>
                        </a:rPr>
                        <a:t>Grenadier</a:t>
                      </a:r>
                      <a:r>
                        <a:rPr lang="en-US" sz="1800" dirty="0">
                          <a:solidFill>
                            <a:srgbClr val="3CB2FF"/>
                          </a:solidFill>
                        </a:rPr>
                        <a:t>)</a:t>
                      </a:r>
                      <a:endParaRPr lang="en-DE" sz="1800" dirty="0">
                        <a:solidFill>
                          <a:srgbClr val="3CB2FF"/>
                        </a:solidFill>
                      </a:endParaRP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075636"/>
                  </a:ext>
                </a:extLst>
              </a:tr>
              <a:tr h="619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dirty="0"/>
                        <a:t>The input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is language: headlines, filings, a question a human typed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is a numeric signal: 20 GB of order-book snapshots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81342"/>
                  </a:ext>
                </a:extLst>
              </a:tr>
              <a:tr h="433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dirty="0"/>
                        <a:t>"Correct" means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a judgement a human expert would agree with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a statistic: reconstruction error against what normal looks like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757750"/>
                  </a:ext>
                </a:extLst>
              </a:tr>
              <a:tr h="58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dirty="0"/>
                        <a:t>The knowledge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lives in the world</a:t>
                      </a:r>
                      <a:r>
                        <a:rPr lang="en-US" sz="1800" dirty="0"/>
                        <a:t>:</a:t>
                      </a:r>
                      <a:r>
                        <a:rPr lang="en-DE" sz="1800" dirty="0"/>
                        <a:t> companies, events, context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lives only in your data</a:t>
                      </a:r>
                      <a:r>
                        <a:rPr lang="en-US" sz="1800" dirty="0"/>
                        <a:t>:</a:t>
                      </a:r>
                      <a:r>
                        <a:rPr lang="ru-RU" sz="1800" dirty="0"/>
                        <a:t> </a:t>
                      </a:r>
                      <a:r>
                        <a:rPr lang="en-DE" sz="1800" dirty="0"/>
                        <a:t>there's no LLM that ever saw it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94810"/>
                  </a:ext>
                </a:extLst>
              </a:tr>
              <a:tr h="619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dirty="0"/>
                        <a:t>Volume &amp; latency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/>
                        <a:t>thousands of calls a day, seconds are fine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thousands of </a:t>
                      </a:r>
                      <a:r>
                        <a:rPr lang="en-DE" sz="1800" dirty="0"/>
                        <a:t>inferences a second, forever, </a:t>
                      </a:r>
                      <a:r>
                        <a:rPr lang="en-US" sz="1800" dirty="0"/>
                        <a:t>with sub-second latency</a:t>
                      </a:r>
                      <a:r>
                        <a:rPr lang="en-DE" sz="1800" dirty="0"/>
                        <a:t>  </a:t>
                      </a:r>
                      <a:r>
                        <a:rPr lang="en-US" sz="1800" dirty="0"/>
                        <a:t>(</a:t>
                      </a:r>
                      <a:r>
                        <a:rPr lang="en-DE" sz="1800" dirty="0"/>
                        <a:t>no LLM does that at any price</a:t>
                      </a:r>
                      <a:r>
                        <a:rPr lang="en-US" sz="1800" dirty="0"/>
                        <a:t>!)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32444"/>
                  </a:ext>
                </a:extLst>
              </a:tr>
              <a:tr h="619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b="1" dirty="0"/>
                        <a:t>Economics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pay per call because each call is worth it</a:t>
                      </a:r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dirty="0"/>
                        <a:t>pay </a:t>
                      </a:r>
                      <a:r>
                        <a:rPr lang="en-US" sz="1800" dirty="0"/>
                        <a:t>per day/month because load is tested and predictable</a:t>
                      </a:r>
                      <a:endParaRPr lang="en-DE" sz="1800" dirty="0"/>
                    </a:p>
                  </a:txBody>
                  <a:tcPr marL="27532" marR="27532" marT="13766" marB="1376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59085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</a:t>
            </a:r>
            <a:r>
              <a:rPr sz="3200" dirty="0"/>
              <a:t>ix evals, three buckets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391162"/>
              </p:ext>
            </p:extLst>
          </p:nvPr>
        </p:nvGraphicFramePr>
        <p:xfrm>
          <a:off x="640080" y="18288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r>
                        <a:rPr sz="1400" b="1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Our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What it catches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400"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Data</a:t>
                      </a:r>
                      <a:r>
                        <a:rPr lang="en-US" sz="1400" b="0" dirty="0"/>
                        <a:t>:</a:t>
                      </a:r>
                      <a:r>
                        <a:rPr sz="1400" b="0" dirty="0"/>
                        <a:t> assertions vs source of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Wrong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400"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Tool</a:t>
                      </a:r>
                      <a:r>
                        <a:rPr lang="en-US" sz="1400" b="0" dirty="0"/>
                        <a:t>:</a:t>
                      </a:r>
                      <a:r>
                        <a:rPr sz="1400" b="0" dirty="0"/>
                        <a:t> trace replay against golden traces</a:t>
                      </a:r>
                      <a:r>
                        <a:rPr lang="en-US" sz="1400" b="0" dirty="0"/>
                        <a:t> (</a:t>
                      </a:r>
                      <a:r>
                        <a:rPr lang="en-US" sz="1400" b="0" dirty="0" err="1"/>
                        <a:t>SummerFox</a:t>
                      </a:r>
                      <a:r>
                        <a:rPr lang="en-US" sz="1400" b="0" dirty="0"/>
                        <a:t>)</a:t>
                      </a:r>
                      <a:endParaRPr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Right answer, wrong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400"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Config</a:t>
                      </a:r>
                      <a:r>
                        <a:rPr lang="en-US" sz="1400" b="0" dirty="0"/>
                        <a:t>:</a:t>
                      </a:r>
                      <a:r>
                        <a:rPr sz="1400" b="0" dirty="0"/>
                        <a:t> label menus test-pinned to the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Config drift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400"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Model</a:t>
                      </a:r>
                      <a:r>
                        <a:rPr lang="en-US" sz="1400" b="0" dirty="0"/>
                        <a:t>:</a:t>
                      </a:r>
                      <a:r>
                        <a:rPr sz="1400" b="0" dirty="0"/>
                        <a:t> precision/recall on a held-out labelled set (Grenadier)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Detection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400" b="1"/>
                        <a:t>Model-graded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Agent</a:t>
                      </a:r>
                      <a:r>
                        <a:rPr lang="en-US" sz="1400" b="0" dirty="0"/>
                        <a:t>:</a:t>
                      </a:r>
                      <a:r>
                        <a:rPr sz="1400" b="0" dirty="0"/>
                        <a:t> faithfulness, no fabrication (Inspect, </a:t>
                      </a:r>
                      <a:r>
                        <a:rPr sz="1400" b="0" dirty="0" err="1"/>
                        <a:t>Deepeval</a:t>
                      </a:r>
                      <a:r>
                        <a:rPr sz="1400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Plausible fiction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r>
                        <a:rPr sz="1400" b="1"/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Sampled review of production traces, back into the golden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Everything we didn't think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Bonus: quality control and AI economics</a:t>
            </a:r>
            <a:endParaRPr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4005C7-F14F-6753-0CED-95FAC15714C6}"/>
              </a:ext>
            </a:extLst>
          </p:cNvPr>
          <p:cNvSpPr/>
          <p:nvPr/>
        </p:nvSpPr>
        <p:spPr>
          <a:xfrm>
            <a:off x="1619058" y="2081506"/>
            <a:ext cx="3997406" cy="1127923"/>
          </a:xfrm>
          <a:prstGeom prst="roundRect">
            <a:avLst>
              <a:gd name="adj" fmla="val 5840"/>
            </a:avLst>
          </a:prstGeom>
          <a:noFill/>
          <a:ln w="19050">
            <a:gradFill>
              <a:gsLst>
                <a:gs pos="0">
                  <a:srgbClr val="3CB2FF"/>
                </a:gs>
                <a:gs pos="100000">
                  <a:srgbClr val="AD5CFF"/>
                </a:gs>
              </a:gsLst>
              <a:lin ang="2700000" scaled="0"/>
            </a:gradFill>
          </a:ln>
        </p:spPr>
        <p:style>
          <a:lnRef idx="2">
            <a:srgbClr val="3CB2FF"/>
          </a:lnRef>
          <a:fillRef idx="1">
            <a:srgbClr val="3CB2FF"/>
          </a:fillRef>
          <a:effectRef idx="0">
            <a:srgbClr val="3CB2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2000" dirty="0"/>
              <a:t>Noise floor: ~</a:t>
            </a:r>
            <a:r>
              <a:rPr lang="en-DE" sz="2000" dirty="0"/>
              <a:t>40% of articles come back different on identical input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77E538-1B4D-3675-7B18-D24B56EDDFF8}"/>
              </a:ext>
            </a:extLst>
          </p:cNvPr>
          <p:cNvSpPr/>
          <p:nvPr/>
        </p:nvSpPr>
        <p:spPr>
          <a:xfrm>
            <a:off x="6575537" y="2069453"/>
            <a:ext cx="3997405" cy="1127921"/>
          </a:xfrm>
          <a:prstGeom prst="roundRect">
            <a:avLst>
              <a:gd name="adj" fmla="val 2958"/>
            </a:avLst>
          </a:prstGeom>
          <a:noFill/>
          <a:ln w="19050">
            <a:gradFill>
              <a:gsLst>
                <a:gs pos="0">
                  <a:srgbClr val="FE6277"/>
                </a:gs>
                <a:gs pos="100000">
                  <a:srgbClr val="FE35C3"/>
                </a:gs>
              </a:gsLst>
              <a:lin ang="5400000" scaled="1"/>
            </a:gradFill>
          </a:ln>
        </p:spPr>
        <p:style>
          <a:lnRef idx="2">
            <a:srgbClr val="3CB2FF"/>
          </a:lnRef>
          <a:fillRef idx="1">
            <a:srgbClr val="3CB2FF"/>
          </a:fillRef>
          <a:effectRef idx="0">
            <a:srgbClr val="3CB2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No reproducibility: measure </a:t>
            </a:r>
            <a:r>
              <a:rPr lang="en-DE" sz="2000" dirty="0"/>
              <a:t>old-vs-old before you measure old-vs-new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5CCD81-6C91-F026-2FCA-32CD75B41B7E}"/>
              </a:ext>
            </a:extLst>
          </p:cNvPr>
          <p:cNvSpPr/>
          <p:nvPr/>
        </p:nvSpPr>
        <p:spPr>
          <a:xfrm>
            <a:off x="1619058" y="3424613"/>
            <a:ext cx="3997406" cy="1127923"/>
          </a:xfrm>
          <a:prstGeom prst="roundRect">
            <a:avLst>
              <a:gd name="adj" fmla="val 5840"/>
            </a:avLst>
          </a:prstGeom>
          <a:noFill/>
          <a:ln w="19050">
            <a:gradFill>
              <a:gsLst>
                <a:gs pos="0">
                  <a:srgbClr val="3CB2FF"/>
                </a:gs>
                <a:gs pos="100000">
                  <a:srgbClr val="AD5CFF"/>
                </a:gs>
              </a:gsLst>
              <a:lin ang="2700000" scaled="0"/>
            </a:gradFill>
          </a:ln>
        </p:spPr>
        <p:style>
          <a:lnRef idx="2">
            <a:srgbClr val="3CB2FF"/>
          </a:lnRef>
          <a:fillRef idx="1">
            <a:srgbClr val="3CB2FF"/>
          </a:fillRef>
          <a:effectRef idx="0">
            <a:srgbClr val="3CB2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2000" dirty="0"/>
              <a:t>Each prompt edit, no matter how trivial, is a new deployment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F1CA25-FE79-248D-4D93-DE8E5C926775}"/>
              </a:ext>
            </a:extLst>
          </p:cNvPr>
          <p:cNvSpPr/>
          <p:nvPr/>
        </p:nvSpPr>
        <p:spPr>
          <a:xfrm>
            <a:off x="1619058" y="4767720"/>
            <a:ext cx="3997406" cy="1127923"/>
          </a:xfrm>
          <a:prstGeom prst="roundRect">
            <a:avLst>
              <a:gd name="adj" fmla="val 5840"/>
            </a:avLst>
          </a:prstGeom>
          <a:noFill/>
          <a:ln w="19050">
            <a:gradFill>
              <a:gsLst>
                <a:gs pos="0">
                  <a:srgbClr val="3CB2FF"/>
                </a:gs>
                <a:gs pos="100000">
                  <a:srgbClr val="AD5CFF"/>
                </a:gs>
              </a:gsLst>
              <a:lin ang="2700000" scaled="0"/>
            </a:gradFill>
          </a:ln>
        </p:spPr>
        <p:style>
          <a:lnRef idx="2">
            <a:srgbClr val="3CB2FF"/>
          </a:lnRef>
          <a:fillRef idx="1">
            <a:srgbClr val="3CB2FF"/>
          </a:fillRef>
          <a:effectRef idx="0">
            <a:srgbClr val="3CB2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2000" dirty="0"/>
              <a:t>Multi-vendor fallback helps deal with outages and model degradations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1B9858-9221-A6F3-FF08-E5EA15ACAA96}"/>
              </a:ext>
            </a:extLst>
          </p:cNvPr>
          <p:cNvSpPr/>
          <p:nvPr/>
        </p:nvSpPr>
        <p:spPr>
          <a:xfrm>
            <a:off x="6575536" y="3412558"/>
            <a:ext cx="3997405" cy="1127921"/>
          </a:xfrm>
          <a:prstGeom prst="roundRect">
            <a:avLst>
              <a:gd name="adj" fmla="val 2958"/>
            </a:avLst>
          </a:prstGeom>
          <a:noFill/>
          <a:ln w="19050">
            <a:gradFill>
              <a:gsLst>
                <a:gs pos="0">
                  <a:srgbClr val="FE6277"/>
                </a:gs>
                <a:gs pos="100000">
                  <a:srgbClr val="FE35C3"/>
                </a:gs>
              </a:gsLst>
              <a:lin ang="5400000" scaled="1"/>
            </a:gradFill>
          </a:ln>
        </p:spPr>
        <p:style>
          <a:lnRef idx="2">
            <a:srgbClr val="3CB2FF"/>
          </a:lnRef>
          <a:fillRef idx="1">
            <a:srgbClr val="3CB2FF"/>
          </a:fillRef>
          <a:effectRef idx="0">
            <a:srgbClr val="3CB2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2000" dirty="0"/>
              <a:t>Approach your AI-related costs on a per-call, not per-month, basis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8CC02B-B96D-5379-CA5C-AF3749426C9D}"/>
              </a:ext>
            </a:extLst>
          </p:cNvPr>
          <p:cNvSpPr/>
          <p:nvPr/>
        </p:nvSpPr>
        <p:spPr>
          <a:xfrm>
            <a:off x="6575536" y="4755667"/>
            <a:ext cx="3997405" cy="1127921"/>
          </a:xfrm>
          <a:prstGeom prst="roundRect">
            <a:avLst>
              <a:gd name="adj" fmla="val 2958"/>
            </a:avLst>
          </a:prstGeom>
          <a:noFill/>
          <a:ln w="19050">
            <a:gradFill>
              <a:gsLst>
                <a:gs pos="0">
                  <a:srgbClr val="FE6277"/>
                </a:gs>
                <a:gs pos="100000">
                  <a:srgbClr val="FE35C3"/>
                </a:gs>
              </a:gsLst>
              <a:lin ang="5400000" scaled="1"/>
            </a:gradFill>
          </a:ln>
        </p:spPr>
        <p:style>
          <a:lnRef idx="2">
            <a:srgbClr val="3CB2FF"/>
          </a:lnRef>
          <a:fillRef idx="1">
            <a:srgbClr val="3CB2FF"/>
          </a:fillRef>
          <a:effectRef idx="0">
            <a:srgbClr val="3CB2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2000" dirty="0"/>
              <a:t>Token accounting must be built into the audit trail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The blueprint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09600" y="1645920"/>
            <a:ext cx="5303520" cy="73152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/>
              <a:t>Does the answer already exist somewhere authoritative?</a:t>
            </a:r>
          </a:p>
        </p:txBody>
      </p:sp>
      <p:sp>
        <p:nvSpPr>
          <p:cNvPr id="4" name="Arrow 4"/>
          <p:cNvSpPr/>
          <p:nvPr/>
        </p:nvSpPr>
        <p:spPr>
          <a:xfrm>
            <a:off x="6111240" y="1872048"/>
            <a:ext cx="5486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6858000" y="1645920"/>
            <a:ext cx="4724400" cy="731520"/>
          </a:xfrm>
          <a:prstGeom prst="roundRect">
            <a:avLst/>
          </a:prstGeom>
          <a:solidFill>
            <a:srgbClr val="F3511E"/>
          </a:solidFill>
          <a:ln w="19050">
            <a:solidFill>
              <a:srgbClr val="F351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>
                <a:solidFill>
                  <a:srgbClr val="000000"/>
                </a:solidFill>
              </a:rPr>
              <a:t>MCP</a:t>
            </a:r>
            <a:r>
              <a:rPr lang="en-US" sz="1200" i="1">
                <a:solidFill>
                  <a:srgbClr val="000000"/>
                </a:solidFill>
              </a:rPr>
              <a:t>  fetch it correctly; never compute it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09600" y="2651760"/>
            <a:ext cx="5303520" cy="73152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/>
              <a:t>Is judgement genuinely required?</a:t>
            </a:r>
          </a:p>
        </p:txBody>
      </p:sp>
      <p:sp>
        <p:nvSpPr>
          <p:cNvPr id="7" name="Arrow 7"/>
          <p:cNvSpPr/>
          <p:nvPr/>
        </p:nvSpPr>
        <p:spPr>
          <a:xfrm>
            <a:off x="6111240" y="2886538"/>
            <a:ext cx="5486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6858000" y="2651760"/>
            <a:ext cx="4724400" cy="731520"/>
          </a:xfrm>
          <a:prstGeom prst="roundRect">
            <a:avLst/>
          </a:prstGeom>
          <a:solidFill>
            <a:srgbClr val="F3511E"/>
          </a:solidFill>
          <a:ln w="19050">
            <a:solidFill>
              <a:srgbClr val="F351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</a:rPr>
              <a:t>A model – gated approach</a:t>
            </a:r>
            <a:r>
              <a:rPr lang="en-US" sz="1200" i="1" dirty="0">
                <a:solidFill>
                  <a:srgbClr val="000000"/>
                </a:solidFill>
              </a:rPr>
              <a:t>  deterministic code on both sides, something else decides what is stored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09600" y="3657600"/>
            <a:ext cx="5303520" cy="73152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8C9BB5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/>
              <a:t>Narrow task, high volume, your own data?</a:t>
            </a:r>
          </a:p>
        </p:txBody>
      </p:sp>
      <p:sp>
        <p:nvSpPr>
          <p:cNvPr id="10" name="Arrow 10"/>
          <p:cNvSpPr/>
          <p:nvPr/>
        </p:nvSpPr>
        <p:spPr>
          <a:xfrm>
            <a:off x="6111240" y="3886200"/>
            <a:ext cx="5486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6858000" y="3657600"/>
            <a:ext cx="4724400" cy="731520"/>
          </a:xfrm>
          <a:prstGeom prst="roundRect">
            <a:avLst/>
          </a:prstGeom>
          <a:solidFill>
            <a:srgbClr val="F3511E"/>
          </a:solidFill>
          <a:ln w="19050">
            <a:solidFill>
              <a:srgbClr val="F351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000000"/>
                </a:solidFill>
              </a:rPr>
              <a:t>Train your own model</a:t>
            </a:r>
            <a:r>
              <a:rPr lang="en-US" sz="1200" i="1" dirty="0">
                <a:solidFill>
                  <a:srgbClr val="000000"/>
                </a:solidFill>
              </a:rPr>
              <a:t>  no LLM does 2,600 inferences a second at any price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299078" y="4754879"/>
            <a:ext cx="9598047" cy="1367894"/>
          </a:xfrm>
          <a:prstGeom prst="roundRect">
            <a:avLst/>
          </a:prstGeom>
          <a:noFill/>
          <a:ln w="19050">
            <a:solidFill>
              <a:srgbClr val="F351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/>
              <a:t>Key call: establish key metrics and estimate design decisions </a:t>
            </a:r>
            <a:r>
              <a:rPr lang="en-US" sz="2400" b="1" u="sng" dirty="0"/>
              <a:t>before you start scaling.</a:t>
            </a:r>
            <a:endParaRPr 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6FC8D4DB-07EE-F32C-32FF-0BA0BE821827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0972800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lang="en-US" sz="2800" dirty="0"/>
              <a:t>Key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4859C-4EA1-A547-4BE4-F4769528D481}"/>
              </a:ext>
            </a:extLst>
          </p:cNvPr>
          <p:cNvSpPr txBox="1">
            <a:spLocks/>
          </p:cNvSpPr>
          <p:nvPr/>
        </p:nvSpPr>
        <p:spPr>
          <a:xfrm>
            <a:off x="584837" y="1613008"/>
            <a:ext cx="10515600" cy="4169954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pPr fontAlgn="base"/>
            <a:r>
              <a:rPr lang="en-US" dirty="0"/>
              <a:t>The model is a component. </a:t>
            </a:r>
            <a:r>
              <a:rPr lang="en-US" u="sng" dirty="0"/>
              <a:t>The harness is the product.</a:t>
            </a:r>
          </a:p>
          <a:p>
            <a:pPr fontAlgn="base"/>
            <a:r>
              <a:rPr lang="en-US" dirty="0"/>
              <a:t>Provide facts as </a:t>
            </a:r>
            <a:r>
              <a:rPr lang="en-US" u="sng" dirty="0"/>
              <a:t>tools via MCP.</a:t>
            </a:r>
          </a:p>
          <a:p>
            <a:pPr fontAlgn="base"/>
            <a:r>
              <a:rPr lang="en-US" dirty="0"/>
              <a:t>Rely on LLM judgement in a </a:t>
            </a:r>
            <a:r>
              <a:rPr lang="en-US" u="sng" dirty="0"/>
              <a:t>gated model.</a:t>
            </a:r>
          </a:p>
          <a:p>
            <a:pPr fontAlgn="base"/>
            <a:r>
              <a:rPr lang="en-US" dirty="0"/>
              <a:t>Form numeric, high-volume, high-throughput signals in </a:t>
            </a:r>
            <a:r>
              <a:rPr lang="en-US" u="sng" dirty="0"/>
              <a:t>your own </a:t>
            </a:r>
            <a:r>
              <a:rPr lang="en-US" u="sng" dirty="0" err="1"/>
              <a:t>specialised</a:t>
            </a:r>
            <a:r>
              <a:rPr lang="en-US" u="sng" dirty="0"/>
              <a:t> model.</a:t>
            </a:r>
          </a:p>
          <a:p>
            <a:pPr fontAlgn="base"/>
            <a:r>
              <a:rPr lang="en-US" u="sng" dirty="0"/>
              <a:t>Price and measure every call before you pay for it,</a:t>
            </a:r>
            <a:r>
              <a:rPr lang="en-US" dirty="0"/>
              <a:t> or the pilot never becomes a product.</a:t>
            </a:r>
          </a:p>
          <a:p>
            <a:pPr fontAlgn="base"/>
            <a:r>
              <a:rPr lang="en-US" dirty="0"/>
              <a:t>Sometimes the right harness contains </a:t>
            </a:r>
            <a:r>
              <a:rPr lang="en-US" u="sng" dirty="0"/>
              <a:t>no LLM at all.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44;p33">
            <a:extLst>
              <a:ext uri="{FF2B5EF4-FFF2-40B4-BE49-F238E27FC236}">
                <a16:creationId xmlns:a16="http://schemas.microsoft.com/office/drawing/2014/main" id="{5BC6093E-B8DF-2BEA-63C6-9B8F32508B6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113" y="1379900"/>
            <a:ext cx="6265332" cy="36747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9F917B-7ED3-A599-EEC4-40D03741EE5B}"/>
              </a:ext>
            </a:extLst>
          </p:cNvPr>
          <p:cNvSpPr txBox="1">
            <a:spLocks/>
          </p:cNvSpPr>
          <p:nvPr/>
        </p:nvSpPr>
        <p:spPr>
          <a:xfrm>
            <a:off x="1160287" y="5392572"/>
            <a:ext cx="10307781" cy="590931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hlinkClick r:id="rId3"/>
              </a:rPr>
              <a:t>https://dxfeed.com/solutions/summerfox-market-intelligence-plus-ai/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73E6D2-4F89-20F0-DAE6-EF0F32F2D4F2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361824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lang="en-US" sz="2800" dirty="0" err="1"/>
              <a:t>dxFeed</a:t>
            </a:r>
            <a:r>
              <a:rPr lang="en-US" sz="2800" dirty="0"/>
              <a:t> </a:t>
            </a:r>
            <a:r>
              <a:rPr lang="en-US" sz="2800" dirty="0" err="1"/>
              <a:t>SummerFox</a:t>
            </a:r>
            <a:r>
              <a:rPr lang="en-US" sz="2800" dirty="0"/>
              <a:t>: AI-driven market reporting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27C5A8-7C19-D6B9-4071-0B8E0E8DD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1221" y="1379900"/>
            <a:ext cx="3657159" cy="3657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2E4F92D-CF6C-6008-843D-308885A9E8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3579" y="1385029"/>
            <a:ext cx="3657159" cy="3657159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33896B7-3983-F57B-9AED-75756F758719}"/>
              </a:ext>
            </a:extLst>
          </p:cNvPr>
          <p:cNvSpPr txBox="1">
            <a:spLocks/>
          </p:cNvSpPr>
          <p:nvPr/>
        </p:nvSpPr>
        <p:spPr>
          <a:xfrm>
            <a:off x="1228250" y="5267194"/>
            <a:ext cx="10307781" cy="1000000"/>
          </a:xfrm>
          <a:prstGeom prst="rect">
            <a:avLst/>
          </a:prstGeom>
        </p:spPr>
        <p:txBody>
          <a:bodyPr rtlCol="0"/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b="0" i="0" kern="1200" baseline="0">
                <a:solidFill>
                  <a:schemeClr val="tx1"/>
                </a:solidFill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67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hlinkClick r:id="rId3"/>
              </a:rPr>
              <a:t>https://dxfeed.com/solutions/dxfeed-grenadier/</a:t>
            </a:r>
            <a:endParaRPr lang="en-US" sz="2400" dirty="0"/>
          </a:p>
          <a:p>
            <a:pPr marL="0" indent="0" algn="ctr">
              <a:buNone/>
            </a:pPr>
            <a:r>
              <a:rPr lang="en-US" sz="1400" dirty="0">
                <a:hlinkClick r:id="rId4"/>
              </a:rPr>
              <a:t>Press release: https://dxfeed.com/dxfeed-grenadier-recognized-as-best-ai-based-solution/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EE4DF3-C5A4-ECCD-1F4A-FA517339069C}"/>
              </a:ext>
            </a:extLst>
          </p:cNvPr>
          <p:cNvSpPr txBox="1">
            <a:spLocks/>
          </p:cNvSpPr>
          <p:nvPr/>
        </p:nvSpPr>
        <p:spPr>
          <a:xfrm>
            <a:off x="301752" y="301752"/>
            <a:ext cx="11401013" cy="590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</a:defRPr>
            </a:lvl1pPr>
          </a:lstStyle>
          <a:p>
            <a:r>
              <a:rPr lang="en-US" sz="2800" dirty="0" err="1"/>
              <a:t>dxFeed</a:t>
            </a:r>
            <a:r>
              <a:rPr lang="en-US" sz="2800" dirty="0"/>
              <a:t> Grenadier: L2-based anomaly detection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2C508E-BEA9-7720-EEBB-52719A23F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94" y="1622800"/>
            <a:ext cx="6388763" cy="31943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F088-5C7E-B06A-86B0-1619E20F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504AC6-5F1B-9FE7-3A5A-0E7A6D069E81}"/>
              </a:ext>
            </a:extLst>
          </p:cNvPr>
          <p:cNvSpPr txBox="1"/>
          <p:nvPr/>
        </p:nvSpPr>
        <p:spPr bwMode="white">
          <a:xfrm>
            <a:off x="425017" y="2232467"/>
            <a:ext cx="8413750" cy="1079500"/>
          </a:xfrm>
          <a:prstGeom prst="rect">
            <a:avLst/>
          </a:prstGeom>
          <a:noFill/>
        </p:spPr>
        <p:txBody>
          <a:bodyPr lIns="182880" tIns="91440" rIns="146304" bIns="91440"/>
          <a:lstStyle>
            <a:lvl1pPr defTabSz="1097278">
              <a:lnSpc>
                <a:spcPct val="90000"/>
              </a:lnSpc>
              <a:spcBef>
                <a:spcPct val="0"/>
              </a:spcBef>
              <a:buNone/>
              <a:defRPr lang="en-US" sz="6600" b="0" cap="none" spc="-118" baseline="0" dirty="0" smtClean="0">
                <a:ln w="3175"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sz="6600" b="1" spc="-300" dirty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E4C56C7-1201-05EB-20A9-9C71CA8D1C6C}"/>
              </a:ext>
            </a:extLst>
          </p:cNvPr>
          <p:cNvSpPr txBox="1">
            <a:spLocks/>
          </p:cNvSpPr>
          <p:nvPr/>
        </p:nvSpPr>
        <p:spPr>
          <a:xfrm>
            <a:off x="514225" y="4894456"/>
            <a:ext cx="4002170" cy="837271"/>
          </a:xfrm>
          <a:prstGeom prst="rect">
            <a:avLst/>
          </a:prstGeom>
        </p:spPr>
        <p:txBody>
          <a:bodyPr tIns="9144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B93C608-0576-93E0-595F-58BF08A79EA5}"/>
              </a:ext>
            </a:extLst>
          </p:cNvPr>
          <p:cNvSpPr txBox="1">
            <a:spLocks/>
          </p:cNvSpPr>
          <p:nvPr/>
        </p:nvSpPr>
        <p:spPr>
          <a:xfrm>
            <a:off x="514225" y="4411856"/>
            <a:ext cx="3429000" cy="482600"/>
          </a:xfrm>
          <a:prstGeom prst="rect">
            <a:avLst/>
          </a:prstGeom>
        </p:spPr>
        <p:txBody>
          <a:bodyPr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de-DE" sz="2400" dirty="0"/>
              <a:t>Anton Antonov</a:t>
            </a:r>
            <a:endParaRPr lang="en-US" sz="2400" dirty="0"/>
          </a:p>
        </p:txBody>
      </p:sp>
      <p:pic>
        <p:nvPicPr>
          <p:cNvPr id="6" name="Graphic 5" descr="Envelope">
            <a:extLst>
              <a:ext uri="{FF2B5EF4-FFF2-40B4-BE49-F238E27FC236}">
                <a16:creationId xmlns:a16="http://schemas.microsoft.com/office/drawing/2014/main" id="{EA4E3F3A-81BD-EB14-E119-271CDAE57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172" y="4958684"/>
            <a:ext cx="318257" cy="318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3CD8D4-75CD-E02D-5CBA-3E4C8A7A0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4" y="5276941"/>
            <a:ext cx="243980" cy="243980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9DB6501-E983-3572-B0E9-09EDD43A7581}"/>
              </a:ext>
            </a:extLst>
          </p:cNvPr>
          <p:cNvSpPr txBox="1">
            <a:spLocks/>
          </p:cNvSpPr>
          <p:nvPr/>
        </p:nvSpPr>
        <p:spPr>
          <a:xfrm>
            <a:off x="995912" y="4894456"/>
            <a:ext cx="5000000" cy="1778000"/>
          </a:xfrm>
          <a:prstGeom prst="rect">
            <a:avLst/>
          </a:prstGeom>
        </p:spPr>
        <p:txBody>
          <a:bodyPr vert="horz" lIns="0" tIns="9144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Verdana" panose="020B0603020204020204" pitchFamily="34" charset="0"/>
              <a:buNone/>
              <a:defRPr sz="1800" kern="1200">
                <a:solidFill>
                  <a:schemeClr val="tx1"/>
                </a:solidFill>
              </a:defRPr>
            </a:lvl1pPr>
            <a:lvl2pPr marL="3657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</a:defRPr>
            </a:lvl2pPr>
            <a:lvl3pPr marL="77724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Verdana" panose="020B0603020204020204" pitchFamily="34" charset="0"/>
              <a:buNone/>
              <a:defRPr sz="2000" kern="1200">
                <a:solidFill>
                  <a:schemeClr val="tx1"/>
                </a:solidFill>
              </a:defRPr>
            </a:lvl3pPr>
            <a:lvl4pPr marL="10515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Verdana" panose="020B0603020204020204" pitchFamily="34" charset="0"/>
              <a:buNone/>
              <a:defRPr sz="1800" kern="1200">
                <a:solidFill>
                  <a:schemeClr val="tx1"/>
                </a:solidFill>
              </a:defRPr>
            </a:lvl4pPr>
            <a:lvl5pPr marL="105156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Verdana" panose="020B0603020204020204" pitchFamily="34" charset="0"/>
              <a:buNone/>
              <a:defRPr sz="1800" kern="1200">
                <a:solidFill>
                  <a:schemeClr val="tx1"/>
                </a:solidFill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Verdana" panose="020B0603020204020204" pitchFamily="34" charset="0"/>
              <a:buChar char="•"/>
              <a:defRPr sz="1800" kern="1200">
                <a:solidFill>
                  <a:schemeClr val="tx1"/>
                </a:solidFill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Verdana" panose="020B0603020204020204" pitchFamily="34" charset="0"/>
              <a:buChar char="•"/>
              <a:defRPr sz="1800" kern="1200">
                <a:solidFill>
                  <a:schemeClr val="tx1"/>
                </a:solidFill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Verdana" panose="020B0603020204020204" pitchFamily="34" charset="0"/>
              <a:buChar char="•"/>
              <a:defRPr sz="1800" kern="1200">
                <a:solidFill>
                  <a:schemeClr val="tx1"/>
                </a:solidFill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Verdana" panose="020B0603020204020204" pitchFamily="34" charset="0"/>
              <a:buChar char="•"/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dirty="0">
                <a:hlinkClick r:id="rId4"/>
              </a:rPr>
              <a:t>antonov@dxfeed.com</a:t>
            </a:r>
          </a:p>
          <a:p>
            <a:r>
              <a:rPr lang="en-US" b="0" i="0" dirty="0">
                <a:effectLst/>
                <a:hlinkClick r:id="rId5"/>
              </a:rPr>
              <a:t>linkedin.com/in/</a:t>
            </a:r>
            <a:r>
              <a:rPr lang="en-US" b="0" i="0" dirty="0" err="1">
                <a:effectLst/>
                <a:hlinkClick r:id="rId5"/>
              </a:rPr>
              <a:t>tonytonov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7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xEB Theme Dark">
  <a:themeElements>
    <a:clrScheme name="dxEB Dark">
      <a:dk1>
        <a:srgbClr val="000000"/>
      </a:dk1>
      <a:lt1>
        <a:srgbClr val="FFFFFF"/>
      </a:lt1>
      <a:dk2>
        <a:srgbClr val="002641"/>
      </a:dk2>
      <a:lt2>
        <a:srgbClr val="ECECE9"/>
      </a:lt2>
      <a:accent1>
        <a:srgbClr val="F3511E"/>
      </a:accent1>
      <a:accent2>
        <a:srgbClr val="FFEE24"/>
      </a:accent2>
      <a:accent3>
        <a:srgbClr val="3CB2FF"/>
      </a:accent3>
      <a:accent4>
        <a:srgbClr val="BDBDB2"/>
      </a:accent4>
      <a:accent5>
        <a:srgbClr val="F99D81"/>
      </a:accent5>
      <a:accent6>
        <a:srgbClr val="0061A3"/>
      </a:accent6>
      <a:hlink>
        <a:srgbClr val="F3511E"/>
      </a:hlink>
      <a:folHlink>
        <a:srgbClr val="7B7B7B"/>
      </a:folHlink>
    </a:clrScheme>
    <a:fontScheme name="Consolas-Verdana">
      <a:majorFont>
        <a:latin typeface="Verdana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xFeed Presentation Template 2024" id="{4E1B6D21-D8AE-E944-8FA1-41B185F14B87}" vid="{5ADACEDB-F025-0241-A0A5-0DB0934B77E7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D80A91D9EC14E92C17E69EF3A2BFE" ma:contentTypeVersion="9" ma:contentTypeDescription="Create a new document." ma:contentTypeScope="" ma:versionID="1558017cf29c5a8d309e5e170555e707">
  <xsd:schema xmlns:xsd="http://www.w3.org/2001/XMLSchema" xmlns:xs="http://www.w3.org/2001/XMLSchema" xmlns:p="http://schemas.microsoft.com/office/2006/metadata/properties" xmlns:ns3="f32db497-3570-4542-bbc8-186541c6fd73" targetNamespace="http://schemas.microsoft.com/office/2006/metadata/properties" ma:root="true" ma:fieldsID="3d800a3d70ee97799fd0397161a8cf79" ns3:_="">
    <xsd:import namespace="f32db497-3570-4542-bbc8-186541c6fd7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db497-3570-4542-bbc8-186541c6fd7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32db497-3570-4542-bbc8-186541c6fd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D1DBDA-4831-495C-A64A-7E0E891A5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2db497-3570-4542-bbc8-186541c6fd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F42B0A-A8AC-4A76-B95F-6579CE1F074D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f32db497-3570-4542-bbc8-186541c6fd7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665F800-8F1E-4165-A19C-C5C76F33DD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100427</TotalTime>
  <Words>1585</Words>
  <Application>Microsoft Office PowerPoint</Application>
  <PresentationFormat>Widescreen</PresentationFormat>
  <Paragraphs>255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Verdana</vt:lpstr>
      <vt:lpstr>Wingdings</vt:lpstr>
      <vt:lpstr>Consolas</vt:lpstr>
      <vt:lpstr>Arial</vt:lpstr>
      <vt:lpstr>dxEB Theme Dark</vt:lpstr>
      <vt:lpstr>From Demo to Production A Year of Agentic AI in Financial Markets</vt:lpstr>
      <vt:lpstr>About dxFeed</vt:lpstr>
      <vt:lpstr>What we shipped this year</vt:lpstr>
      <vt:lpstr>The model stopped being the interesting part</vt:lpstr>
      <vt:lpstr>dxMCP: what's on the surface</vt:lpstr>
      <vt:lpstr>PowerPoint Presentation</vt:lpstr>
      <vt:lpstr>PowerPoint Presentation</vt:lpstr>
      <vt:lpstr>PowerPoint Presentation</vt:lpstr>
      <vt:lpstr>Decision rule #1: when MCP is the right answer</vt:lpstr>
      <vt:lpstr>SummerFox: the market report, written by agents</vt:lpstr>
      <vt:lpstr>PowerPoint Presentation</vt:lpstr>
      <vt:lpstr>A headline is not a ticker</vt:lpstr>
      <vt:lpstr>Still no silver bullet</vt:lpstr>
      <vt:lpstr>Four layers, each with one job</vt:lpstr>
      <vt:lpstr>Decision rule #2: where the model belongs</vt:lpstr>
      <vt:lpstr>PowerPoint Presentation</vt:lpstr>
      <vt:lpstr>PowerPoint Presentation</vt:lpstr>
      <vt:lpstr>Target vs delivered</vt:lpstr>
      <vt:lpstr>PowerPoint Presentation</vt:lpstr>
      <vt:lpstr>Decision rule #3: when to train your own model</vt:lpstr>
      <vt:lpstr>Six evals, three buckets</vt:lpstr>
      <vt:lpstr>Bonus: quality control and AI economics</vt:lpstr>
      <vt:lpstr>The blueprint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Anton Antonov</cp:lastModifiedBy>
  <cp:revision>174</cp:revision>
  <dcterms:created xsi:type="dcterms:W3CDTF">2022-07-18T16:28:56Z</dcterms:created>
  <dcterms:modified xsi:type="dcterms:W3CDTF">2026-10-08T09:51:19Z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2025-06-10T16:50:23Z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f2e41863-918f-47a1-96bc-57a4c0e85597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  <property fmtid="{D5CDD505-2E9C-101B-9397-08002B2CF9AE}" pid="10" name="ContentTypeId">
    <vt:lpwstr>0x0101000DCD80A91D9EC14E92C17E69EF3A2BFE</vt:lpwstr>
  </property>
</Properties>
</file>