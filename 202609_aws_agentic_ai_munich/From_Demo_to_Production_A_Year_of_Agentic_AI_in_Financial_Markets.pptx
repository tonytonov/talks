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732" r:id="rId4"/>
  </p:sldMasterIdLst>
  <p:notesMasterIdLst>
    <p:notesMasterId r:id="rId44"/>
  </p:notesMasterIdLst>
  <p:handoutMasterIdLst>
    <p:handoutMasterId r:id="rId45"/>
  </p:handoutMasterIdLst>
  <p:sldIdLst>
    <p:sldId id="256" r:id="rId5"/>
    <p:sldId id="2147483435" r:id="rId6"/>
    <p:sldId id="2147483442" r:id="rId7"/>
    <p:sldId id="2147483443" r:id="rId8"/>
    <p:sldId id="2147483446" r:id="rId9"/>
    <p:sldId id="2147483445" r:id="rId10"/>
    <p:sldId id="2147483438" r:id="rId11"/>
    <p:sldId id="2147483448" r:id="rId12"/>
    <p:sldId id="2147483447" r:id="rId13"/>
    <p:sldId id="2147483449" r:id="rId14"/>
    <p:sldId id="2147483450" r:id="rId15"/>
    <p:sldId id="2147483456" r:id="rId16"/>
    <p:sldId id="2147483458" r:id="rId17"/>
    <p:sldId id="455" r:id="rId18"/>
    <p:sldId id="2147483460" r:id="rId19"/>
    <p:sldId id="492" r:id="rId20"/>
    <p:sldId id="458" r:id="rId21"/>
    <p:sldId id="460" r:id="rId22"/>
    <p:sldId id="463" r:id="rId23"/>
    <p:sldId id="464" r:id="rId24"/>
    <p:sldId id="466" r:id="rId25"/>
    <p:sldId id="493" r:id="rId26"/>
    <p:sldId id="472" r:id="rId27"/>
    <p:sldId id="468" r:id="rId28"/>
    <p:sldId id="469" r:id="rId29"/>
    <p:sldId id="494" r:id="rId30"/>
    <p:sldId id="473" r:id="rId31"/>
    <p:sldId id="474" r:id="rId32"/>
    <p:sldId id="475" r:id="rId33"/>
    <p:sldId id="476" r:id="rId34"/>
    <p:sldId id="478" r:id="rId35"/>
    <p:sldId id="479" r:id="rId36"/>
    <p:sldId id="482" r:id="rId37"/>
    <p:sldId id="481" r:id="rId38"/>
    <p:sldId id="486" r:id="rId39"/>
    <p:sldId id="487" r:id="rId40"/>
    <p:sldId id="488" r:id="rId41"/>
    <p:sldId id="489" r:id="rId42"/>
    <p:sldId id="415" r:id="rId43"/>
  </p:sldIdLst>
  <p:sldSz cx="12192000" cy="6858000"/>
  <p:notesSz cx="6858000" cy="9144000"/>
  <p:embeddedFontLst>
    <p:embeddedFont>
      <p:font typeface="Amazon Ember" panose="020B0604020202020204" charset="0"/>
      <p:regular r:id="rId46"/>
      <p:bold r:id="rId47"/>
      <p:italic r:id="rId48"/>
      <p:boldItalic r:id="rId49"/>
    </p:embeddedFont>
    <p:embeddedFont>
      <p:font typeface="Amazon Ember Display" panose="020B0604020202020204" charset="0"/>
      <p:regular r:id="rId50"/>
      <p:bold r:id="rId51"/>
      <p:italic r:id="rId52"/>
      <p:boldItalic r:id="rId53"/>
    </p:embeddedFont>
    <p:embeddedFont>
      <p:font typeface="Amazon Ember Mono" panose="020B0604020202020204" charset="0"/>
      <p:regular r:id="rId54"/>
      <p:bold r:id="rId55"/>
      <p:italic r:id="rId56"/>
      <p:boldItalic r:id="rId5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directions" id="{9E4ACA30-D387-48B9-B60B-FCAB7867C6F7}">
          <p14:sldIdLst>
            <p14:sldId id="256"/>
            <p14:sldId id="2147483435"/>
            <p14:sldId id="2147483442"/>
            <p14:sldId id="2147483443"/>
            <p14:sldId id="2147483446"/>
            <p14:sldId id="2147483445"/>
            <p14:sldId id="2147483438"/>
            <p14:sldId id="2147483448"/>
            <p14:sldId id="2147483447"/>
            <p14:sldId id="2147483449"/>
            <p14:sldId id="2147483450"/>
            <p14:sldId id="2147483456"/>
            <p14:sldId id="2147483458"/>
            <p14:sldId id="455"/>
            <p14:sldId id="2147483460"/>
            <p14:sldId id="492"/>
            <p14:sldId id="458"/>
            <p14:sldId id="460"/>
            <p14:sldId id="463"/>
            <p14:sldId id="464"/>
            <p14:sldId id="466"/>
            <p14:sldId id="493"/>
            <p14:sldId id="472"/>
            <p14:sldId id="468"/>
            <p14:sldId id="469"/>
            <p14:sldId id="494"/>
            <p14:sldId id="473"/>
            <p14:sldId id="474"/>
            <p14:sldId id="475"/>
            <p14:sldId id="476"/>
            <p14:sldId id="478"/>
            <p14:sldId id="479"/>
            <p14:sldId id="482"/>
            <p14:sldId id="481"/>
            <p14:sldId id="486"/>
            <p14:sldId id="487"/>
            <p14:sldId id="488"/>
            <p14:sldId id="489"/>
            <p14:sldId id="415"/>
          </p14:sldIdLst>
        </p14:section>
      </p14:sectionLst>
    </p:ext>
    <p:ext uri="{EFAFB233-063F-42B5-8137-9DF3F51BA10A}">
      <p15:sldGuideLst xmlns:p15="http://schemas.microsoft.com/office/powerpoint/2012/main">
        <p15:guide id="1" orient="horz" pos="1296"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232F3E"/>
    <a:srgbClr val="000000"/>
    <a:srgbClr val="00D6C7"/>
    <a:srgbClr val="7F1EE7"/>
    <a:srgbClr val="41B3FF"/>
    <a:srgbClr val="FCFCFD"/>
    <a:srgbClr val="997ADA"/>
    <a:srgbClr val="8A6900"/>
    <a:srgbClr val="755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753F06-3282-4F2A-94CE-29ACA0D215FF}" v="5" dt="2025-10-14T11:41:31.754"/>
  </p1510:revLst>
</p1510:revInfo>
</file>

<file path=ppt/tableStyles.xml><?xml version="1.0" encoding="utf-8"?>
<a:tblStyleLst xmlns:a="http://schemas.openxmlformats.org/drawingml/2006/main" def="{912C8C85-51F0-491E-9774-3900AFEF0F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52" autoAdjust="0"/>
    <p:restoredTop sz="97382" autoAdjust="0"/>
  </p:normalViewPr>
  <p:slideViewPr>
    <p:cSldViewPr snapToGrid="0">
      <p:cViewPr varScale="1">
        <p:scale>
          <a:sx n="152" d="100"/>
          <a:sy n="152" d="100"/>
        </p:scale>
        <p:origin x="156" y="204"/>
      </p:cViewPr>
      <p:guideLst>
        <p:guide orient="horz" pos="1296"/>
        <p:guide pos="3840"/>
      </p:guideLst>
    </p:cSldViewPr>
  </p:slid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110" d="100"/>
          <a:sy n="110" d="100"/>
        </p:scale>
        <p:origin x="3336"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handoutMaster" Target="handoutMasters/handoutMaster1.xml"/><Relationship Id="rId53" Type="http://schemas.openxmlformats.org/officeDocument/2006/relationships/font" Target="fonts/font8.fntdata"/><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font" Target="fonts/font3.fntdata"/><Relationship Id="rId56" Type="http://schemas.openxmlformats.org/officeDocument/2006/relationships/font" Target="fonts/font11.fntdata"/><Relationship Id="rId8" Type="http://schemas.openxmlformats.org/officeDocument/2006/relationships/slide" Target="slides/slide4.xml"/><Relationship Id="rId51" Type="http://schemas.openxmlformats.org/officeDocument/2006/relationships/font" Target="fonts/font6.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1.fntdata"/><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9.fntdata"/><Relationship Id="rId62"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notesMaster" Target="notesMasters/notesMaster1.xml"/><Relationship Id="rId52" Type="http://schemas.openxmlformats.org/officeDocument/2006/relationships/font" Target="fonts/font7.fntdata"/><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stus, Arseni" userId="ee235184-4e4b-4d91-b524-e131035bd3bb" providerId="ADAL" clId="{62753F06-3282-4F2A-94CE-29ACA0D215FF}"/>
    <pc:docChg chg="custSel modSld">
      <pc:chgData name="Yustus, Arseni" userId="ee235184-4e4b-4d91-b524-e131035bd3bb" providerId="ADAL" clId="{62753F06-3282-4F2A-94CE-29ACA0D215FF}" dt="2025-10-15T10:10:31.253" v="170" actId="6549"/>
      <pc:docMkLst>
        <pc:docMk/>
      </pc:docMkLst>
      <pc:sldChg chg="modNotesTx">
        <pc:chgData name="Yustus, Arseni" userId="ee235184-4e4b-4d91-b524-e131035bd3bb" providerId="ADAL" clId="{62753F06-3282-4F2A-94CE-29ACA0D215FF}" dt="2025-10-15T09:54:07.191" v="144" actId="33524"/>
        <pc:sldMkLst>
          <pc:docMk/>
          <pc:sldMk cId="1697114955" sldId="256"/>
        </pc:sldMkLst>
      </pc:sldChg>
      <pc:sldChg chg="modNotesTx">
        <pc:chgData name="Yustus, Arseni" userId="ee235184-4e4b-4d91-b524-e131035bd3bb" providerId="ADAL" clId="{62753F06-3282-4F2A-94CE-29ACA0D215FF}" dt="2025-10-15T09:53:43.364" v="143" actId="20577"/>
        <pc:sldMkLst>
          <pc:docMk/>
          <pc:sldMk cId="3515977525" sldId="421"/>
        </pc:sldMkLst>
      </pc:sldChg>
      <pc:sldChg chg="modAnim modNotesTx">
        <pc:chgData name="Yustus, Arseni" userId="ee235184-4e4b-4d91-b524-e131035bd3bb" providerId="ADAL" clId="{62753F06-3282-4F2A-94CE-29ACA0D215FF}" dt="2025-10-15T09:52:41.339" v="104" actId="20577"/>
        <pc:sldMkLst>
          <pc:docMk/>
          <pc:sldMk cId="2745193714" sldId="422"/>
        </pc:sldMkLst>
      </pc:sldChg>
      <pc:sldChg chg="modNotesTx">
        <pc:chgData name="Yustus, Arseni" userId="ee235184-4e4b-4d91-b524-e131035bd3bb" providerId="ADAL" clId="{62753F06-3282-4F2A-94CE-29ACA0D215FF}" dt="2025-10-15T10:10:31.253" v="170" actId="6549"/>
        <pc:sldMkLst>
          <pc:docMk/>
          <pc:sldMk cId="1596423990" sldId="426"/>
        </pc:sldMkLst>
      </pc:sldChg>
      <pc:sldChg chg="modNotesTx">
        <pc:chgData name="Yustus, Arseni" userId="ee235184-4e4b-4d91-b524-e131035bd3bb" providerId="ADAL" clId="{62753F06-3282-4F2A-94CE-29ACA0D215FF}" dt="2025-10-14T11:41:00.725" v="55" actId="20577"/>
        <pc:sldMkLst>
          <pc:docMk/>
          <pc:sldMk cId="2905342999" sldId="428"/>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D30B3F9-42E9-426B-B3D2-D6012D7491A2}"/>
              </a:ext>
            </a:extLst>
          </p:cNvPr>
          <p:cNvSpPr>
            <a:spLocks noGrp="1"/>
          </p:cNvSpPr>
          <p:nvPr>
            <p:ph type="sldNum" sz="quarter" idx="3"/>
          </p:nvPr>
        </p:nvSpPr>
        <p:spPr>
          <a:xfrm>
            <a:off x="1943100" y="8685213"/>
            <a:ext cx="2971800" cy="458787"/>
          </a:xfrm>
          <a:prstGeom prst="rect">
            <a:avLst/>
          </a:prstGeom>
        </p:spPr>
        <p:txBody>
          <a:bodyPr vert="horz" lIns="91440" tIns="45720" rIns="91440" bIns="45720" rtlCol="0" anchor="b"/>
          <a:lstStyle>
            <a:lvl1pPr algn="r">
              <a:defRPr sz="1200"/>
            </a:lvl1pPr>
          </a:lstStyle>
          <a:p>
            <a:pPr algn="ctr"/>
            <a:fld id="{C71F7584-9745-40DA-BD49-9A41A97B2D2E}" type="slidenum">
              <a:rPr lang="en-US" sz="1000" smtClean="0">
                <a:latin typeface="Amazon Ember Display" panose="020F0603020204020204" pitchFamily="34" charset="0"/>
              </a:rPr>
              <a:pPr algn="ctr"/>
              <a:t>‹#›</a:t>
            </a:fld>
            <a:endParaRPr lang="en-US" sz="1000" dirty="0">
              <a:latin typeface="Amazon Ember Display" panose="020F0603020204020204" pitchFamily="34" charset="0"/>
            </a:endParaRPr>
          </a:p>
        </p:txBody>
      </p:sp>
    </p:spTree>
    <p:extLst>
      <p:ext uri="{BB962C8B-B14F-4D97-AF65-F5344CB8AC3E}">
        <p14:creationId xmlns:p14="http://schemas.microsoft.com/office/powerpoint/2010/main" val="129253005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38150" y="457200"/>
            <a:ext cx="5981700" cy="3364706"/>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419100" y="4197679"/>
            <a:ext cx="6000750" cy="4328803"/>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5"/>
          </p:nvPr>
        </p:nvSpPr>
        <p:spPr>
          <a:xfrm>
            <a:off x="1943100" y="8685213"/>
            <a:ext cx="2971800" cy="458787"/>
          </a:xfrm>
          <a:prstGeom prst="rect">
            <a:avLst/>
          </a:prstGeom>
        </p:spPr>
        <p:txBody>
          <a:bodyPr vert="horz" lIns="91440" tIns="45720" rIns="91440" bIns="45720" rtlCol="0" anchor="b"/>
          <a:lstStyle>
            <a:lvl1pPr algn="ctr">
              <a:defRPr sz="1000" b="0" i="0">
                <a:latin typeface="Amazon Ember Display" panose="020F0603020204020204" pitchFamily="34" charset="0"/>
              </a:defRPr>
            </a:lvl1pPr>
          </a:lstStyle>
          <a:p>
            <a:fld id="{A3D89E5F-BEEF-42A1-A57B-E5A736D51194}" type="slidenum">
              <a:rPr lang="en-US" smtClean="0"/>
              <a:pPr/>
              <a:t>‹#›</a:t>
            </a:fld>
            <a:endParaRPr lang="en-US" dirty="0"/>
          </a:p>
        </p:txBody>
      </p:sp>
    </p:spTree>
    <p:extLst>
      <p:ext uri="{BB962C8B-B14F-4D97-AF65-F5344CB8AC3E}">
        <p14:creationId xmlns:p14="http://schemas.microsoft.com/office/powerpoint/2010/main" val="2644871954"/>
      </p:ext>
    </p:extLst>
  </p:cSld>
  <p:clrMap bg1="lt1" tx1="dk1" bg2="lt2" tx2="dk2" accent1="accent1" accent2="accent2" accent3="accent3" accent4="accent4" accent5="accent5" accent6="accent6" hlink="hlink" folHlink="folHlink"/>
  <p:notesStyle>
    <a:lvl1pPr marL="0" algn="l" defTabSz="914400" rtl="0" eaLnBrk="1" latinLnBrk="0" hangingPunct="1">
      <a:spcAft>
        <a:spcPts val="300"/>
      </a:spcAft>
      <a:defRPr sz="1200" b="0" i="0" kern="1200">
        <a:solidFill>
          <a:schemeClr val="tx1"/>
        </a:solidFill>
        <a:latin typeface="Amazon Ember Display" panose="020F0603020204020204" pitchFamily="34" charset="0"/>
        <a:ea typeface="+mn-ea"/>
        <a:cs typeface="+mn-cs"/>
      </a:defRPr>
    </a:lvl1pPr>
    <a:lvl2pPr marL="225425" indent="-1063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2pPr>
    <a:lvl3pPr marL="463550" indent="-1190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3pPr>
    <a:lvl4pPr marL="747713" indent="-1190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4pPr>
    <a:lvl5pPr marL="973138" indent="-117475"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pos="2160" userDrawn="1">
          <p15:clr>
            <a:srgbClr val="F26B43"/>
          </p15:clr>
        </p15:guide>
        <p15:guide id="2" orient="horz" pos="2880" userDrawn="1">
          <p15:clr>
            <a:srgbClr val="F26B43"/>
          </p15:clr>
        </p15:guide>
        <p15:guide id="3" pos="264" userDrawn="1">
          <p15:clr>
            <a:srgbClr val="F26B43"/>
          </p15:clr>
        </p15:guide>
        <p15:guide id="4" pos="4056" userDrawn="1">
          <p15:clr>
            <a:srgbClr val="F26B43"/>
          </p15:clr>
        </p15:guide>
        <p15:guide id="5" orient="horz" pos="288" userDrawn="1">
          <p15:clr>
            <a:srgbClr val="F26B43"/>
          </p15:clr>
        </p15:guide>
        <p15:guide id="6" orient="horz" pos="264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AA1041-9B3C-439E-B0CD-6B58F9A3AC8B}" type="slidenum">
              <a:rPr lang="en-US" smtClean="0"/>
              <a:pPr/>
              <a:t>1</a:t>
            </a:fld>
            <a:endParaRPr lang="en-US" dirty="0"/>
          </a:p>
        </p:txBody>
      </p:sp>
    </p:spTree>
    <p:extLst>
      <p:ext uri="{BB962C8B-B14F-4D97-AF65-F5344CB8AC3E}">
        <p14:creationId xmlns:p14="http://schemas.microsoft.com/office/powerpoint/2010/main" val="2487107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21CC1-245F-2E87-84F8-F329240C9F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62958E-0ABE-A459-82BF-EE414A82A631}"/>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656F003D-4FB2-F216-796B-A44AA8F231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lang="en-US" sz="1200" b="1" dirty="0">
                <a:solidFill>
                  <a:srgbClr val="FFFFFF"/>
                </a:solidFill>
                <a:latin typeface="Amazon Ember" pitchFamily="34" charset="0"/>
                <a:ea typeface="Arial" pitchFamily="34" charset="-122"/>
                <a:cs typeface="Arial" pitchFamily="34" charset="-120"/>
              </a:rPr>
              <a:t>Evals as Acceptance Criteria - </a:t>
            </a:r>
            <a:r>
              <a:rPr lang="en-US" sz="1200" dirty="0">
                <a:solidFill>
                  <a:srgbClr val="C6C6CD"/>
                </a:solidFill>
                <a:latin typeface="Amazon Ember" pitchFamily="34" charset="0"/>
                <a:ea typeface="Arial" pitchFamily="34" charset="-122"/>
                <a:cs typeface="Arial" pitchFamily="34" charset="-120"/>
              </a:rPr>
              <a:t>Build the quality gate before you write code.</a:t>
            </a:r>
          </a:p>
          <a:p>
            <a:pPr marL="0" marR="0" lvl="0" indent="0" algn="l" defTabSz="914400" rtl="0" eaLnBrk="1" fontAlgn="auto" latinLnBrk="0" hangingPunct="1">
              <a:lnSpc>
                <a:spcPct val="100000"/>
              </a:lnSpc>
              <a:spcBef>
                <a:spcPts val="0"/>
              </a:spcBef>
              <a:spcAft>
                <a:spcPts val="300"/>
              </a:spcAft>
              <a:buClrTx/>
              <a:buSzTx/>
              <a:buFontTx/>
              <a:buNone/>
              <a:tabLst/>
              <a:defRPr/>
            </a:pPr>
            <a:r>
              <a:rPr lang="en-US" sz="1200" b="1" dirty="0">
                <a:solidFill>
                  <a:srgbClr val="FFFFFF"/>
                </a:solidFill>
                <a:latin typeface="Amazon Ember" pitchFamily="34" charset="0"/>
                <a:ea typeface="Arial" pitchFamily="34" charset="-122"/>
                <a:cs typeface="Arial" pitchFamily="34" charset="-120"/>
              </a:rPr>
              <a:t>The POC-to-Production Gap</a:t>
            </a:r>
            <a:r>
              <a:rPr lang="en-US" sz="1200" b="1" dirty="0">
                <a:solidFill>
                  <a:schemeClr val="tx1"/>
                </a:solidFill>
                <a:latin typeface="Amazon Ember Display" panose="020F0603020204020204" pitchFamily="34" charset="0"/>
                <a:ea typeface="+mn-ea"/>
                <a:cs typeface="+mn-cs"/>
              </a:rPr>
              <a:t> - </a:t>
            </a:r>
            <a:r>
              <a:rPr lang="en-US" sz="1200" dirty="0">
                <a:solidFill>
                  <a:srgbClr val="C6C6CD"/>
                </a:solidFill>
                <a:latin typeface="Amazon Ember" pitchFamily="34" charset="0"/>
                <a:ea typeface="Arial" pitchFamily="34" charset="-122"/>
                <a:cs typeface="Arial" pitchFamily="34" charset="-120"/>
              </a:rPr>
              <a:t>Cost, latency, reliability, failure modes.</a:t>
            </a:r>
            <a:endParaRPr lang="en-US" sz="1200" dirty="0"/>
          </a:p>
          <a:p>
            <a:pPr marL="0" marR="0" lvl="0" indent="0" algn="l" defTabSz="914400" rtl="0" eaLnBrk="1" fontAlgn="auto" latinLnBrk="0" hangingPunct="1">
              <a:lnSpc>
                <a:spcPct val="100000"/>
              </a:lnSpc>
              <a:spcBef>
                <a:spcPts val="0"/>
              </a:spcBef>
              <a:spcAft>
                <a:spcPts val="300"/>
              </a:spcAft>
              <a:buClrTx/>
              <a:buSzTx/>
              <a:buFontTx/>
              <a:buNone/>
              <a:tabLst/>
              <a:defRPr/>
            </a:pPr>
            <a:r>
              <a:rPr lang="en-US" sz="1200" b="1" dirty="0">
                <a:solidFill>
                  <a:srgbClr val="FFFFFF"/>
                </a:solidFill>
                <a:latin typeface="Amazon Ember" pitchFamily="34" charset="0"/>
                <a:ea typeface="Arial" pitchFamily="34" charset="-122"/>
                <a:cs typeface="Arial" pitchFamily="34" charset="-120"/>
              </a:rPr>
              <a:t>Use-Case Sizing &amp; Feasibility</a:t>
            </a:r>
            <a:r>
              <a:rPr lang="en-US" sz="1200" b="1" dirty="0">
                <a:solidFill>
                  <a:schemeClr val="tx1"/>
                </a:solidFill>
                <a:latin typeface="Amazon Ember Display" panose="020F0603020204020204" pitchFamily="34" charset="0"/>
                <a:ea typeface="+mn-ea"/>
                <a:cs typeface="+mn-cs"/>
              </a:rPr>
              <a:t> - </a:t>
            </a:r>
            <a:r>
              <a:rPr lang="en-US" sz="1200" dirty="0">
                <a:solidFill>
                  <a:srgbClr val="C6C6CD"/>
                </a:solidFill>
                <a:latin typeface="Amazon Ember" pitchFamily="34" charset="0"/>
                <a:ea typeface="Arial" pitchFamily="34" charset="-122"/>
                <a:cs typeface="Arial" pitchFamily="34" charset="-120"/>
              </a:rPr>
              <a:t>Model the cost before committing</a:t>
            </a:r>
          </a:p>
          <a:p>
            <a:pPr marL="0" marR="0" lvl="0" indent="0" algn="l" defTabSz="914400" rtl="0" eaLnBrk="1" fontAlgn="auto" latinLnBrk="0" hangingPunct="1">
              <a:lnSpc>
                <a:spcPct val="100000"/>
              </a:lnSpc>
              <a:spcBef>
                <a:spcPts val="0"/>
              </a:spcBef>
              <a:spcAft>
                <a:spcPts val="300"/>
              </a:spcAft>
              <a:buClrTx/>
              <a:buSzTx/>
              <a:buFontTx/>
              <a:buNone/>
              <a:tabLst/>
              <a:defRPr/>
            </a:pPr>
            <a:r>
              <a:rPr lang="en-US" sz="1200" b="1" dirty="0">
                <a:solidFill>
                  <a:srgbClr val="FFFFFF"/>
                </a:solidFill>
                <a:latin typeface="Amazon Ember" pitchFamily="34" charset="0"/>
                <a:ea typeface="Arial" pitchFamily="34" charset="-122"/>
                <a:cs typeface="Arial" pitchFamily="34" charset="-120"/>
              </a:rPr>
              <a:t>Enterprise Integration - </a:t>
            </a:r>
            <a:r>
              <a:rPr lang="en-US" sz="1200" dirty="0">
                <a:solidFill>
                  <a:srgbClr val="C6C6CD"/>
                </a:solidFill>
                <a:latin typeface="Amazon Ember" pitchFamily="34" charset="0"/>
                <a:ea typeface="Arial" pitchFamily="34" charset="-122"/>
                <a:cs typeface="Arial" pitchFamily="34" charset="-120"/>
              </a:rPr>
              <a:t>Five layers, entry points, architect decisions.</a:t>
            </a:r>
            <a:endParaRPr lang="en-US" sz="1200" dirty="0"/>
          </a:p>
          <a:p>
            <a:pPr marL="0" marR="0" lvl="0" indent="0" algn="l" defTabSz="914400" rtl="0" eaLnBrk="1" fontAlgn="auto" latinLnBrk="0" hangingPunct="1">
              <a:lnSpc>
                <a:spcPct val="100000"/>
              </a:lnSpc>
              <a:spcBef>
                <a:spcPts val="0"/>
              </a:spcBef>
              <a:spcAft>
                <a:spcPts val="300"/>
              </a:spcAft>
              <a:buClrTx/>
              <a:buSzTx/>
              <a:buFontTx/>
              <a:buNone/>
              <a:tabLst/>
              <a:defRPr/>
            </a:pPr>
            <a:r>
              <a:rPr lang="en-US" sz="1200" b="1" dirty="0">
                <a:solidFill>
                  <a:srgbClr val="FFFFFF"/>
                </a:solidFill>
                <a:latin typeface="Amazon Ember" pitchFamily="34" charset="0"/>
                <a:ea typeface="Arial" pitchFamily="34" charset="-122"/>
                <a:cs typeface="Arial" pitchFamily="34" charset="-120"/>
              </a:rPr>
              <a:t>Security &amp; Compliance - </a:t>
            </a:r>
            <a:r>
              <a:rPr lang="en-US" sz="1200" dirty="0">
                <a:solidFill>
                  <a:srgbClr val="C6C6CD"/>
                </a:solidFill>
                <a:latin typeface="Amazon Ember" pitchFamily="34" charset="0"/>
                <a:ea typeface="Arial" pitchFamily="34" charset="-122"/>
                <a:cs typeface="Arial" pitchFamily="34" charset="-120"/>
              </a:rPr>
              <a:t>Constraints shape the design first.</a:t>
            </a:r>
          </a:p>
          <a:p>
            <a:pPr marL="0" marR="0" lvl="0" indent="0" algn="l" defTabSz="914400" rtl="0" eaLnBrk="1" fontAlgn="auto" latinLnBrk="0" hangingPunct="1">
              <a:lnSpc>
                <a:spcPct val="100000"/>
              </a:lnSpc>
              <a:spcBef>
                <a:spcPts val="0"/>
              </a:spcBef>
              <a:spcAft>
                <a:spcPts val="300"/>
              </a:spcAft>
              <a:buClrTx/>
              <a:buSzTx/>
              <a:buFontTx/>
              <a:buNone/>
              <a:tabLst/>
              <a:defRPr/>
            </a:pPr>
            <a:endParaRPr lang="en-US" sz="1200" dirty="0"/>
          </a:p>
          <a:p>
            <a:r>
              <a:rPr lang="en-US" dirty="0"/>
              <a:t>Here's the whole arc on one slide. A project usually begins with excitement and potential, and the goal is meaningful business value — but between the POC and production sit five obstacles. Acceptance Criteria: build the quality gate — your eval suite — before you write code. The POC-to-production gap: cost, latency, reliability, and failure modes, all invisible in a demo. Use-Case Sizing &amp; Feasibility: model the cost before you commit. Enterprise Integration: five layers, five architect decisions. And Security &amp; Compliance: constraints that shape the design first. Each of these mirrors a section of the Architect module, and each is a decision made up front. Keep this map in mind — every slide that follows is one of these obstacles. First, why a demo lies to you.</a:t>
            </a:r>
          </a:p>
          <a:p>
            <a:pPr marL="0" marR="0" lvl="0" indent="0" algn="l" defTabSz="914400" rtl="0" eaLnBrk="1" fontAlgn="auto" latinLnBrk="0" hangingPunct="1">
              <a:lnSpc>
                <a:spcPct val="100000"/>
              </a:lnSpc>
              <a:spcBef>
                <a:spcPts val="0"/>
              </a:spcBef>
              <a:spcAft>
                <a:spcPts val="30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300"/>
              </a:spcAft>
              <a:buClrTx/>
              <a:buSzTx/>
              <a:buFontTx/>
              <a:buNone/>
              <a:tabLst/>
              <a:defRPr/>
            </a:pPr>
            <a:endParaRPr lang="en-US" sz="1200" dirty="0">
              <a:solidFill>
                <a:srgbClr val="C6C6CD"/>
              </a:solidFill>
              <a:latin typeface="Amazon Ember" pitchFamily="34" charset="0"/>
              <a:ea typeface="Arial" pitchFamily="34" charset="-122"/>
              <a:cs typeface="Arial" pitchFamily="34" charset="-120"/>
            </a:endParaRPr>
          </a:p>
          <a:p>
            <a:pPr marL="0" marR="0" lvl="0" indent="0" algn="l" defTabSz="914400" rtl="0" eaLnBrk="1" fontAlgn="auto" latinLnBrk="0" hangingPunct="1">
              <a:lnSpc>
                <a:spcPct val="100000"/>
              </a:lnSpc>
              <a:spcBef>
                <a:spcPts val="0"/>
              </a:spcBef>
              <a:spcAft>
                <a:spcPts val="300"/>
              </a:spcAft>
              <a:buClrTx/>
              <a:buSzTx/>
              <a:buFontTx/>
              <a:buNone/>
              <a:tabLst/>
              <a:defRPr/>
            </a:pPr>
            <a:endParaRPr lang="en-US" sz="1200" dirty="0"/>
          </a:p>
          <a:p>
            <a:pPr marL="0" indent="0">
              <a:buNone/>
            </a:pPr>
            <a:endParaRPr lang="en-US" sz="1200" dirty="0"/>
          </a:p>
        </p:txBody>
      </p:sp>
      <p:sp>
        <p:nvSpPr>
          <p:cNvPr id="4" name="Slide Number Placeholder 3">
            <a:extLst>
              <a:ext uri="{FF2B5EF4-FFF2-40B4-BE49-F238E27FC236}">
                <a16:creationId xmlns:a16="http://schemas.microsoft.com/office/drawing/2014/main" id="{6CDA7A41-BA96-CFC8-A0D7-07C47FB38A14}"/>
              </a:ext>
            </a:extLst>
          </p:cNvPr>
          <p:cNvSpPr>
            <a:spLocks noGrp="1"/>
          </p:cNvSpPr>
          <p:nvPr>
            <p:ph type="sldNum" sz="quarter" idx="5"/>
          </p:nvPr>
        </p:nvSpPr>
        <p:spPr/>
        <p:txBody>
          <a:bodyPr/>
          <a:lstStyle/>
          <a:p>
            <a:fld id="{A3D89E5F-BEEF-42A1-A57B-E5A736D51194}" type="slidenum">
              <a:rPr lang="en-US" smtClean="0"/>
              <a:pPr/>
              <a:t>2</a:t>
            </a:fld>
            <a:endParaRPr lang="en-US" dirty="0"/>
          </a:p>
        </p:txBody>
      </p:sp>
    </p:spTree>
    <p:extLst>
      <p:ext uri="{BB962C8B-B14F-4D97-AF65-F5344CB8AC3E}">
        <p14:creationId xmlns:p14="http://schemas.microsoft.com/office/powerpoint/2010/main" val="4735342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EE291-A699-A134-FE35-4575EEDF6F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A2D6EC-F43A-C0BD-BBAD-525B5ECE0931}"/>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CEEE9B44-22EA-2831-5BF1-322DFE7840DE}"/>
              </a:ext>
            </a:extLst>
          </p:cNvPr>
          <p:cNvSpPr>
            <a:spLocks noGrp="1"/>
          </p:cNvSpPr>
          <p:nvPr>
            <p:ph type="body" idx="1"/>
          </p:nvPr>
        </p:nvSpPr>
        <p:spPr/>
        <p:txBody>
          <a:bodyPr/>
          <a:lstStyle/>
          <a:p>
            <a:r>
              <a:rPr lang="en-US" dirty="0"/>
              <a:t>This is the core trap. A demo is built to demonstrate capability: low volume, clean inputs, and a patient tester — usually you. The bill is negligible and it looks fast. Production is the opposite: real business volume, messy inputs, and impatient users with zero tolerance for slow or wrong answers. The Architect module names four dimensions that are invisible in a demo and bite you after launch — cost, latency, reliability, and failure modes. Everything in this deck exists to surface those four before they surface on you. And the first tool for doing that is the eval suite — our acceptance criteria.</a:t>
            </a:r>
          </a:p>
        </p:txBody>
      </p:sp>
      <p:sp>
        <p:nvSpPr>
          <p:cNvPr id="4" name="Slide Number Placeholder 3">
            <a:extLst>
              <a:ext uri="{FF2B5EF4-FFF2-40B4-BE49-F238E27FC236}">
                <a16:creationId xmlns:a16="http://schemas.microsoft.com/office/drawing/2014/main" id="{D900E1F9-CC6C-84B6-E43D-ECA3C6E3BAB5}"/>
              </a:ext>
            </a:extLst>
          </p:cNvPr>
          <p:cNvSpPr>
            <a:spLocks noGrp="1"/>
          </p:cNvSpPr>
          <p:nvPr>
            <p:ph type="sldNum" sz="quarter" idx="5"/>
          </p:nvPr>
        </p:nvSpPr>
        <p:spPr/>
        <p:txBody>
          <a:bodyPr/>
          <a:lstStyle/>
          <a:p>
            <a:fld id="{A3D89E5F-BEEF-42A1-A57B-E5A736D51194}" type="slidenum">
              <a:rPr lang="en-US" smtClean="0"/>
              <a:pPr/>
              <a:t>3</a:t>
            </a:fld>
            <a:endParaRPr lang="en-US" dirty="0"/>
          </a:p>
        </p:txBody>
      </p:sp>
    </p:spTree>
    <p:extLst>
      <p:ext uri="{BB962C8B-B14F-4D97-AF65-F5344CB8AC3E}">
        <p14:creationId xmlns:p14="http://schemas.microsoft.com/office/powerpoint/2010/main" val="3922769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4390B-8EF3-9CF5-AD6B-E0E49C002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651E3-1DEE-F403-B1CB-99D4B2E46792}"/>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61899E72-C03A-3D9D-1AE3-D8D03D10E8E1}"/>
              </a:ext>
            </a:extLst>
          </p:cNvPr>
          <p:cNvSpPr>
            <a:spLocks noGrp="1"/>
          </p:cNvSpPr>
          <p:nvPr>
            <p:ph type="body" idx="1"/>
          </p:nvPr>
        </p:nvSpPr>
        <p:spPr/>
        <p:txBody>
          <a:bodyPr/>
          <a:lstStyle/>
          <a:p>
            <a:r>
              <a:rPr lang="en-US" dirty="0"/>
              <a:t>An eval — short for evaluation — is a structured test that checks whether your system returns the expected, accurate output. Writing the eval suite BEFORE production code forces three things: it makes you state what success means in measurable terms; it exposes design assumptions early, while changing them is still cheap; and it gives you a change-gate — a way to prove whether a model swap, a prompt change, or a new retrieval strategy actually improved the system. So the eval suite belongs at the beginning of the build. But 'accurate' isn't a number — next, how we turn a vague requirement into a threshold.</a:t>
            </a:r>
          </a:p>
        </p:txBody>
      </p:sp>
      <p:sp>
        <p:nvSpPr>
          <p:cNvPr id="4" name="Slide Number Placeholder 3">
            <a:extLst>
              <a:ext uri="{FF2B5EF4-FFF2-40B4-BE49-F238E27FC236}">
                <a16:creationId xmlns:a16="http://schemas.microsoft.com/office/drawing/2014/main" id="{36FB6A18-2A1B-A44F-D640-904A72407A4D}"/>
              </a:ext>
            </a:extLst>
          </p:cNvPr>
          <p:cNvSpPr>
            <a:spLocks noGrp="1"/>
          </p:cNvSpPr>
          <p:nvPr>
            <p:ph type="sldNum" sz="quarter" idx="5"/>
          </p:nvPr>
        </p:nvSpPr>
        <p:spPr/>
        <p:txBody>
          <a:bodyPr/>
          <a:lstStyle/>
          <a:p>
            <a:fld id="{A3D89E5F-BEEF-42A1-A57B-E5A736D51194}" type="slidenum">
              <a:rPr lang="en-US" smtClean="0"/>
              <a:pPr/>
              <a:t>4</a:t>
            </a:fld>
            <a:endParaRPr lang="en-US" dirty="0"/>
          </a:p>
        </p:txBody>
      </p:sp>
    </p:spTree>
    <p:extLst>
      <p:ext uri="{BB962C8B-B14F-4D97-AF65-F5344CB8AC3E}">
        <p14:creationId xmlns:p14="http://schemas.microsoft.com/office/powerpoint/2010/main" val="17130401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8150" y="457200"/>
            <a:ext cx="5981700" cy="3363913"/>
          </a:xfrm>
        </p:spPr>
      </p:sp>
      <p:sp>
        <p:nvSpPr>
          <p:cNvPr id="3" name="Notes Placeholder 2"/>
          <p:cNvSpPr>
            <a:spLocks noGrp="1"/>
          </p:cNvSpPr>
          <p:nvPr>
            <p:ph type="body" idx="1"/>
          </p:nvPr>
        </p:nvSpPr>
        <p:spPr/>
        <p:txBody>
          <a:bodyPr/>
          <a:lstStyle/>
          <a:p>
            <a:r>
              <a:rPr lang="en-US" dirty="0"/>
              <a:t>Take a requirement like 'summarize claims accurately.' It sounds clear, but it tells you nothing about what to measure. The module gives us four steps to turn it into a measurable threshold. One: identify the behavior specifically — 'extract the filer's name, claim number, incident date, and claimed amount.' Two: set the threshold from the business requirement, not the prototype — 100% on structured fields, under 2% hallucination, 99.5% schema-valid. Three: identify failure modes — a fake claim number, a missing date, a value from the wrong claim — and make each one a category in your dataset. Four: include adversarial inputs — missing fields, handwriting, unusual formats — because a clean-only golden set won't predict production. Once you know what to measure, the question becomes what you're measuring against — models, knowledge bases, or agents.</a:t>
            </a:r>
          </a:p>
        </p:txBody>
      </p:sp>
      <p:sp>
        <p:nvSpPr>
          <p:cNvPr id="4" name="Slide Number Placeholder 3"/>
          <p:cNvSpPr>
            <a:spLocks noGrp="1"/>
          </p:cNvSpPr>
          <p:nvPr>
            <p:ph type="sldNum" sz="quarter" idx="5"/>
          </p:nvPr>
        </p:nvSpPr>
        <p:spPr/>
        <p:txBody>
          <a:bodyPr/>
          <a:lstStyle/>
          <a:p>
            <a:fld id="{A3D89E5F-BEEF-42A1-A57B-E5A736D51194}" type="slidenum">
              <a:rPr lang="en-US" smtClean="0"/>
              <a:pPr/>
              <a:t>5</a:t>
            </a:fld>
            <a:endParaRPr lang="en-US" dirty="0"/>
          </a:p>
        </p:txBody>
      </p:sp>
    </p:spTree>
    <p:extLst>
      <p:ext uri="{BB962C8B-B14F-4D97-AF65-F5344CB8AC3E}">
        <p14:creationId xmlns:p14="http://schemas.microsoft.com/office/powerpoint/2010/main" val="1481542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8150" y="457200"/>
            <a:ext cx="5981700" cy="3363913"/>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lang="en-US" dirty="0"/>
              <a:t>Evals aren't one-size-fits-all — what you measure depends on what you're evaluating. </a:t>
            </a:r>
          </a:p>
        </p:txBody>
      </p:sp>
      <p:sp>
        <p:nvSpPr>
          <p:cNvPr id="4" name="Slide Number Placeholder 3"/>
          <p:cNvSpPr>
            <a:spLocks noGrp="1"/>
          </p:cNvSpPr>
          <p:nvPr>
            <p:ph type="sldNum" sz="quarter" idx="5"/>
          </p:nvPr>
        </p:nvSpPr>
        <p:spPr/>
        <p:txBody>
          <a:bodyPr/>
          <a:lstStyle/>
          <a:p>
            <a:fld id="{A3D89E5F-BEEF-42A1-A57B-E5A736D51194}" type="slidenum">
              <a:rPr lang="en-US" smtClean="0"/>
              <a:pPr/>
              <a:t>6</a:t>
            </a:fld>
            <a:endParaRPr lang="en-US" dirty="0"/>
          </a:p>
        </p:txBody>
      </p:sp>
    </p:spTree>
    <p:extLst>
      <p:ext uri="{BB962C8B-B14F-4D97-AF65-F5344CB8AC3E}">
        <p14:creationId xmlns:p14="http://schemas.microsoft.com/office/powerpoint/2010/main" val="34083867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8150" y="457200"/>
            <a:ext cx="5981700" cy="3363913"/>
          </a:xfrm>
        </p:spPr>
      </p:sp>
      <p:sp>
        <p:nvSpPr>
          <p:cNvPr id="3" name="Notes Placeholder 2"/>
          <p:cNvSpPr>
            <a:spLocks noGrp="1"/>
          </p:cNvSpPr>
          <p:nvPr>
            <p:ph type="body" idx="1"/>
          </p:nvPr>
        </p:nvSpPr>
        <p:spPr/>
        <p:txBody>
          <a:bodyPr/>
          <a:lstStyle/>
          <a:p>
            <a:r>
              <a:rPr lang="en-US" dirty="0"/>
              <a:t>Every eval is one of three types, and each trades speed and cost against flexibility. Code-based: deterministic checks that run in milliseconds and cost almost nothing — schema validation, exact-match, regex. Model-based: a judge model assesses outputs that need interpretation, at roughly the cost of one model call. Human-review: human judgment for high-stakes or novel behavior that neither code nor a model can be trusted on. The module's rule of thumb: code to model to human runs slower and pricier at each step, so use the cheapest type that can reliably judge the behavior — push checks as far left as they'll reliably go. Evals tell you whether the system behaves correctly. They say nothing about whether you can AFFORD to behave correctly at volume. That's the POC-to-production gap.</a:t>
            </a:r>
          </a:p>
        </p:txBody>
      </p:sp>
      <p:sp>
        <p:nvSpPr>
          <p:cNvPr id="4" name="Slide Number Placeholder 3"/>
          <p:cNvSpPr>
            <a:spLocks noGrp="1"/>
          </p:cNvSpPr>
          <p:nvPr>
            <p:ph type="sldNum" sz="quarter" idx="5"/>
          </p:nvPr>
        </p:nvSpPr>
        <p:spPr/>
        <p:txBody>
          <a:bodyPr/>
          <a:lstStyle/>
          <a:p>
            <a:fld id="{A3D89E5F-BEEF-42A1-A57B-E5A736D51194}" type="slidenum">
              <a:rPr lang="en-US" smtClean="0"/>
              <a:pPr/>
              <a:t>7</a:t>
            </a:fld>
            <a:endParaRPr lang="en-US" dirty="0"/>
          </a:p>
        </p:txBody>
      </p:sp>
    </p:spTree>
    <p:extLst>
      <p:ext uri="{BB962C8B-B14F-4D97-AF65-F5344CB8AC3E}">
        <p14:creationId xmlns:p14="http://schemas.microsoft.com/office/powerpoint/2010/main" val="597776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C2CBD-DEA2-1DC3-EC90-3EE69A598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31C65A-468B-96C5-0AC6-6ACCAA7D5E13}"/>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FE1B8B73-E366-BC52-4331-D33BCB2BED1F}"/>
              </a:ext>
            </a:extLst>
          </p:cNvPr>
          <p:cNvSpPr>
            <a:spLocks noGrp="1"/>
          </p:cNvSpPr>
          <p:nvPr>
            <p:ph type="body" idx="1"/>
          </p:nvPr>
        </p:nvSpPr>
        <p:spPr/>
        <p:txBody>
          <a:bodyPr/>
          <a:lstStyle/>
          <a:p>
            <a:r>
              <a:rPr lang="en-US" dirty="0"/>
              <a:t>This is the POC-to-production gap in detail — the four dimensions from earlier, now with what each looks like when it fails. Cost: negligible at 10 to 50 requests a day, but at production volume the bill can blow past the budget signed off at approval. Latency: fine for one patient tester, too slow under real, concurrent load. Reliability: production demands retries, fallbacks, and circuit breakers. Failure modes: name each one for your chosen architecture and articulate an explicit mitigation. And a crucial point from the module — capture the first business-metric signal on your POC sample. A system that fits the budget but doesn't move the metric that matters is still a failed deployment. Cost is the dimension most people underestimate, so let's make it concrete: sizing the use case.</a:t>
            </a:r>
          </a:p>
        </p:txBody>
      </p:sp>
      <p:sp>
        <p:nvSpPr>
          <p:cNvPr id="4" name="Slide Number Placeholder 3">
            <a:extLst>
              <a:ext uri="{FF2B5EF4-FFF2-40B4-BE49-F238E27FC236}">
                <a16:creationId xmlns:a16="http://schemas.microsoft.com/office/drawing/2014/main" id="{0F614AD6-D500-3E86-3F74-E75A91E5A0DF}"/>
              </a:ext>
            </a:extLst>
          </p:cNvPr>
          <p:cNvSpPr>
            <a:spLocks noGrp="1"/>
          </p:cNvSpPr>
          <p:nvPr>
            <p:ph type="sldNum" sz="quarter" idx="5"/>
          </p:nvPr>
        </p:nvSpPr>
        <p:spPr/>
        <p:txBody>
          <a:bodyPr/>
          <a:lstStyle/>
          <a:p>
            <a:fld id="{A3D89E5F-BEEF-42A1-A57B-E5A736D51194}" type="slidenum">
              <a:rPr lang="en-US" smtClean="0"/>
              <a:pPr/>
              <a:t>8</a:t>
            </a:fld>
            <a:endParaRPr lang="en-US" dirty="0"/>
          </a:p>
        </p:txBody>
      </p:sp>
    </p:spTree>
    <p:extLst>
      <p:ext uri="{BB962C8B-B14F-4D97-AF65-F5344CB8AC3E}">
        <p14:creationId xmlns:p14="http://schemas.microsoft.com/office/powerpoint/2010/main" val="2576223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8150" y="457200"/>
            <a:ext cx="5981700" cy="3363913"/>
          </a:xfrm>
        </p:spPr>
      </p:sp>
      <p:sp>
        <p:nvSpPr>
          <p:cNvPr id="3" name="Notes Placeholder 2"/>
          <p:cNvSpPr>
            <a:spLocks noGrp="1"/>
          </p:cNvSpPr>
          <p:nvPr>
            <p:ph type="body" idx="1"/>
          </p:nvPr>
        </p:nvSpPr>
        <p:spPr/>
        <p:txBody>
          <a:bodyPr/>
          <a:lstStyle/>
          <a:p>
            <a:r>
              <a:rPr lang="en-US" dirty="0"/>
              <a:t>Sizing means producing a cost model before any code is written — not precise, but accurate enough to validate the architecture against the budget and surface token assumptions before they're formalized. Four inputs drive it. Call volume: requests per day or month — and critically, this number comes from the business owner, not developer intuition. Token budget: tokens per request, input plus output. Model tier: which model the use case actually requires. And sensitivity: the parameters that swing the estimate most. Sizing also settles feasibility — feasible as scoped, feasible with constraints, or not feasible. Once cost is understood, the other half of readiness is reliability — and that's an architecture problem, not a model problem.</a:t>
            </a:r>
          </a:p>
        </p:txBody>
      </p:sp>
      <p:sp>
        <p:nvSpPr>
          <p:cNvPr id="4" name="Slide Number Placeholder 3"/>
          <p:cNvSpPr>
            <a:spLocks noGrp="1"/>
          </p:cNvSpPr>
          <p:nvPr>
            <p:ph type="sldNum" sz="quarter" idx="5"/>
          </p:nvPr>
        </p:nvSpPr>
        <p:spPr/>
        <p:txBody>
          <a:bodyPr/>
          <a:lstStyle/>
          <a:p>
            <a:fld id="{A3D89E5F-BEEF-42A1-A57B-E5A736D51194}" type="slidenum">
              <a:rPr lang="en-US" smtClean="0"/>
              <a:pPr/>
              <a:t>9</a:t>
            </a:fld>
            <a:endParaRPr lang="en-US" dirty="0"/>
          </a:p>
        </p:txBody>
      </p:sp>
    </p:spTree>
    <p:extLst>
      <p:ext uri="{BB962C8B-B14F-4D97-AF65-F5344CB8AC3E}">
        <p14:creationId xmlns:p14="http://schemas.microsoft.com/office/powerpoint/2010/main" val="42272497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3B228-C1B0-3203-EFB7-565BC3E7B6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0C53D-CA09-8460-5EC9-A22DBCFCD5A3}"/>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CC8A0CC6-3AF0-E366-9390-74EC247635D2}"/>
              </a:ext>
            </a:extLst>
          </p:cNvPr>
          <p:cNvSpPr>
            <a:spLocks noGrp="1"/>
          </p:cNvSpPr>
          <p:nvPr>
            <p:ph type="body" idx="1"/>
          </p:nvPr>
        </p:nvSpPr>
        <p:spPr/>
        <p:txBody>
          <a:bodyPr/>
          <a:lstStyle/>
          <a:p>
            <a:r>
              <a:rPr lang="en-US" dirty="0"/>
              <a:t>System reliability is validated through architecture controls — the patterns that keep a system standing under real load. Retries: re-attempt transient failures with backoff, so you don't amplify an outage. Fallbacks: degrade gracefully to a simpler model, a cached result, or a safe default. Circuit breakers: stop calling a failing dependency, fail fast, and give it room to recover. Agents need these controls most — systems that use tools and reason across multiple turns have more steps, and therefore more places to fail. Reliability lives in how the system connects to everything around it — which is enterprise integration, and its five layers.</a:t>
            </a:r>
          </a:p>
        </p:txBody>
      </p:sp>
      <p:sp>
        <p:nvSpPr>
          <p:cNvPr id="4" name="Slide Number Placeholder 3">
            <a:extLst>
              <a:ext uri="{FF2B5EF4-FFF2-40B4-BE49-F238E27FC236}">
                <a16:creationId xmlns:a16="http://schemas.microsoft.com/office/drawing/2014/main" id="{E2ACD4CC-D2D2-8921-0116-7D8E3DC3ABB1}"/>
              </a:ext>
            </a:extLst>
          </p:cNvPr>
          <p:cNvSpPr>
            <a:spLocks noGrp="1"/>
          </p:cNvSpPr>
          <p:nvPr>
            <p:ph type="sldNum" sz="quarter" idx="5"/>
          </p:nvPr>
        </p:nvSpPr>
        <p:spPr/>
        <p:txBody>
          <a:bodyPr/>
          <a:lstStyle/>
          <a:p>
            <a:fld id="{A3D89E5F-BEEF-42A1-A57B-E5A736D51194}" type="slidenum">
              <a:rPr lang="en-US" smtClean="0"/>
              <a:pPr/>
              <a:t>10</a:t>
            </a:fld>
            <a:endParaRPr lang="en-US" dirty="0"/>
          </a:p>
        </p:txBody>
      </p:sp>
    </p:spTree>
    <p:extLst>
      <p:ext uri="{BB962C8B-B14F-4D97-AF65-F5344CB8AC3E}">
        <p14:creationId xmlns:p14="http://schemas.microsoft.com/office/powerpoint/2010/main" val="11067921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06EA9-2B36-1B4C-23B6-41DC5AE9DE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595419-2ABD-422C-179B-C91F3435168F}"/>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85F7BCD6-A7E4-A1AD-BBB3-DAEDC7C23DD5}"/>
              </a:ext>
            </a:extLst>
          </p:cNvPr>
          <p:cNvSpPr>
            <a:spLocks noGrp="1"/>
          </p:cNvSpPr>
          <p:nvPr>
            <p:ph type="body" idx="1"/>
          </p:nvPr>
        </p:nvSpPr>
        <p:spPr/>
        <p:txBody>
          <a:bodyPr/>
          <a:lstStyle/>
          <a:p>
            <a:r>
              <a:rPr lang="en-US" dirty="0"/>
              <a:t>Connecting a system to the enterprise has five layers, and the module is explicit that each layer is an Architect decision — not an implementation-team detail. One: the entry point — decided first, because it's the foundation everything else sits on. Two: the integration pattern — how the system connects and exchanges data. Three: identity — SSO or OAuth, authenticating who is calling. Four: authorization — what an authenticated caller is allowed to do. Five: data handling and residency — where data is processed and stored. The order matters, and here's the key insight: compliance eliminates options at that very first layer, before any other architectural decision is made. So let's look at how constraints shape the design first.</a:t>
            </a:r>
          </a:p>
        </p:txBody>
      </p:sp>
      <p:sp>
        <p:nvSpPr>
          <p:cNvPr id="4" name="Slide Number Placeholder 3">
            <a:extLst>
              <a:ext uri="{FF2B5EF4-FFF2-40B4-BE49-F238E27FC236}">
                <a16:creationId xmlns:a16="http://schemas.microsoft.com/office/drawing/2014/main" id="{87459AAE-40F4-9174-7AF1-2086B8A162D9}"/>
              </a:ext>
            </a:extLst>
          </p:cNvPr>
          <p:cNvSpPr>
            <a:spLocks noGrp="1"/>
          </p:cNvSpPr>
          <p:nvPr>
            <p:ph type="sldNum" sz="quarter" idx="5"/>
          </p:nvPr>
        </p:nvSpPr>
        <p:spPr/>
        <p:txBody>
          <a:bodyPr/>
          <a:lstStyle/>
          <a:p>
            <a:fld id="{A3D89E5F-BEEF-42A1-A57B-E5A736D51194}" type="slidenum">
              <a:rPr lang="en-US" smtClean="0"/>
              <a:pPr/>
              <a:t>11</a:t>
            </a:fld>
            <a:endParaRPr lang="en-US" dirty="0"/>
          </a:p>
        </p:txBody>
      </p:sp>
    </p:spTree>
    <p:extLst>
      <p:ext uri="{BB962C8B-B14F-4D97-AF65-F5344CB8AC3E}">
        <p14:creationId xmlns:p14="http://schemas.microsoft.com/office/powerpoint/2010/main" val="3512083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EDF93-6792-35D6-5BEB-F72BF89497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5D52-3802-3ED7-9AE4-9F0FE9F01838}"/>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AB9F8C93-BB0F-B6E9-3417-DFBD7C8098E6}"/>
              </a:ext>
            </a:extLst>
          </p:cNvPr>
          <p:cNvSpPr>
            <a:spLocks noGrp="1"/>
          </p:cNvSpPr>
          <p:nvPr>
            <p:ph type="body" idx="1"/>
          </p:nvPr>
        </p:nvSpPr>
        <p:spPr/>
        <p:txBody>
          <a:bodyPr/>
          <a:lstStyle/>
          <a:p>
            <a:r>
              <a:rPr lang="en-US" dirty="0"/>
              <a:t>This is that same logic, one level deeper. Regulatory and policy constraints eliminate entry-point options before anything else — then you match the integration pattern to the constraint. Data privacy: HIPAA and GDPR — BAA coverage and controls on personal and health data. Data residency: where data is processed and stored, plus FedRAMP and jurisdiction limits. Identity: SSO and OAuth — who may invoke the system. Authorization: privilege preserved through contractual terms, retention settings, and internal policy. One honest caveat straight from the module: this is not legal guidance — work with your own legal and compliance team to implement controls that meet your organization's needs. That completes the five obstacles. So what does 'ready' actually mean? It means clearing two bars at once.</a:t>
            </a:r>
          </a:p>
        </p:txBody>
      </p:sp>
      <p:sp>
        <p:nvSpPr>
          <p:cNvPr id="4" name="Slide Number Placeholder 3">
            <a:extLst>
              <a:ext uri="{FF2B5EF4-FFF2-40B4-BE49-F238E27FC236}">
                <a16:creationId xmlns:a16="http://schemas.microsoft.com/office/drawing/2014/main" id="{0D3C5828-1B95-75DA-4060-47A3DC0F9EEF}"/>
              </a:ext>
            </a:extLst>
          </p:cNvPr>
          <p:cNvSpPr>
            <a:spLocks noGrp="1"/>
          </p:cNvSpPr>
          <p:nvPr>
            <p:ph type="sldNum" sz="quarter" idx="5"/>
          </p:nvPr>
        </p:nvSpPr>
        <p:spPr/>
        <p:txBody>
          <a:bodyPr/>
          <a:lstStyle/>
          <a:p>
            <a:fld id="{A3D89E5F-BEEF-42A1-A57B-E5A736D51194}" type="slidenum">
              <a:rPr lang="en-US" smtClean="0"/>
              <a:pPr/>
              <a:t>12</a:t>
            </a:fld>
            <a:endParaRPr lang="en-US" dirty="0"/>
          </a:p>
        </p:txBody>
      </p:sp>
    </p:spTree>
    <p:extLst>
      <p:ext uri="{BB962C8B-B14F-4D97-AF65-F5344CB8AC3E}">
        <p14:creationId xmlns:p14="http://schemas.microsoft.com/office/powerpoint/2010/main" val="160758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D001D-E00D-2848-C156-381FB9A417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E46271-CA16-B966-489B-00FB3C37D51C}"/>
              </a:ext>
            </a:extLst>
          </p:cNvPr>
          <p:cNvSpPr>
            <a:spLocks noGrp="1" noRot="1" noChangeAspect="1"/>
          </p:cNvSpPr>
          <p:nvPr>
            <p:ph type="sldImg"/>
          </p:nvPr>
        </p:nvSpPr>
        <p:spPr>
          <a:xfrm>
            <a:off x="438150" y="457200"/>
            <a:ext cx="5981700" cy="3363913"/>
          </a:xfrm>
        </p:spPr>
      </p:sp>
      <p:sp>
        <p:nvSpPr>
          <p:cNvPr id="3" name="Notes Placeholder 2">
            <a:extLst>
              <a:ext uri="{FF2B5EF4-FFF2-40B4-BE49-F238E27FC236}">
                <a16:creationId xmlns:a16="http://schemas.microsoft.com/office/drawing/2014/main" id="{C275056C-6209-3E5C-AC8F-F6AA31E908EE}"/>
              </a:ext>
            </a:extLst>
          </p:cNvPr>
          <p:cNvSpPr>
            <a:spLocks noGrp="1"/>
          </p:cNvSpPr>
          <p:nvPr>
            <p:ph type="body" idx="1"/>
          </p:nvPr>
        </p:nvSpPr>
        <p:spPr/>
        <p:txBody>
          <a:bodyPr/>
          <a:lstStyle/>
          <a:p>
            <a:r>
              <a:rPr lang="en-US" dirty="0"/>
              <a:t>To close the technical arc: production readiness is clearing two bars simultaneously. Output quality, validated through evals. And system reliability — retries, fallbacks, circuit breakers — validated through architecture controls. Meeting both is what production readiness means. And the path from demo to production is the sequence we walked today: define success and build the eval suite first; model cost and reliability before you deploy; verify feasibility before you commit; and design an integration that survives security review. Every one of these is a decision you make before writing code. That discipline is exactly what turned our agentic AI from a demo into something we trust in financial markets. That's the story — let's open it up.</a:t>
            </a:r>
          </a:p>
        </p:txBody>
      </p:sp>
      <p:sp>
        <p:nvSpPr>
          <p:cNvPr id="4" name="Slide Number Placeholder 3">
            <a:extLst>
              <a:ext uri="{FF2B5EF4-FFF2-40B4-BE49-F238E27FC236}">
                <a16:creationId xmlns:a16="http://schemas.microsoft.com/office/drawing/2014/main" id="{ECE748B4-0810-541D-8E2A-593B6FC246FE}"/>
              </a:ext>
            </a:extLst>
          </p:cNvPr>
          <p:cNvSpPr>
            <a:spLocks noGrp="1"/>
          </p:cNvSpPr>
          <p:nvPr>
            <p:ph type="sldNum" sz="quarter" idx="5"/>
          </p:nvPr>
        </p:nvSpPr>
        <p:spPr/>
        <p:txBody>
          <a:bodyPr/>
          <a:lstStyle/>
          <a:p>
            <a:fld id="{A3D89E5F-BEEF-42A1-A57B-E5A736D51194}" type="slidenum">
              <a:rPr lang="en-US" smtClean="0"/>
              <a:pPr/>
              <a:t>13</a:t>
            </a:fld>
            <a:endParaRPr lang="en-US" dirty="0"/>
          </a:p>
        </p:txBody>
      </p:sp>
    </p:spTree>
    <p:extLst>
      <p:ext uri="{BB962C8B-B14F-4D97-AF65-F5344CB8AC3E}">
        <p14:creationId xmlns:p14="http://schemas.microsoft.com/office/powerpoint/2010/main" val="2991837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8150" y="457200"/>
            <a:ext cx="5981700" cy="3363913"/>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A3D89E5F-BEEF-42A1-A57B-E5A736D51194}" type="slidenum">
              <a:rPr lang="en-US" smtClean="0"/>
              <a:pPr/>
              <a:t>22</a:t>
            </a:fld>
            <a:endParaRPr lang="en-US" dirty="0"/>
          </a:p>
        </p:txBody>
      </p:sp>
    </p:spTree>
    <p:extLst>
      <p:ext uri="{BB962C8B-B14F-4D97-AF65-F5344CB8AC3E}">
        <p14:creationId xmlns:p14="http://schemas.microsoft.com/office/powerpoint/2010/main" val="102081353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png"/><Relationship Id="rId1" Type="http://schemas.openxmlformats.org/officeDocument/2006/relationships/slideMaster" Target="../slideMasters/slideMaster1.xml"/><Relationship Id="rId4"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Master" Target="../slideMasters/slideMaster1.xml"/><Relationship Id="rId4"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Walk-I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8FFB9C5-144F-4FA0-A453-1E92E80C827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27"/>
            <a:ext cx="12192000" cy="6857745"/>
          </a:xfrm>
          <a:prstGeom prst="rect">
            <a:avLst/>
          </a:prstGeom>
        </p:spPr>
      </p:pic>
      <p:sp>
        <p:nvSpPr>
          <p:cNvPr id="10" name="Title 1">
            <a:extLst>
              <a:ext uri="{FF2B5EF4-FFF2-40B4-BE49-F238E27FC236}">
                <a16:creationId xmlns:a16="http://schemas.microsoft.com/office/drawing/2014/main" id="{CB47AAD2-C3ED-D018-40AD-3D2B73D9E395}"/>
              </a:ext>
            </a:extLst>
          </p:cNvPr>
          <p:cNvSpPr>
            <a:spLocks noGrp="1"/>
          </p:cNvSpPr>
          <p:nvPr>
            <p:ph type="ctrTitle" hasCustomPrompt="1"/>
          </p:nvPr>
        </p:nvSpPr>
        <p:spPr>
          <a:xfrm>
            <a:off x="573239" y="2850246"/>
            <a:ext cx="9144000" cy="1865508"/>
          </a:xfrm>
        </p:spPr>
        <p:txBody>
          <a:bodyPr rIns="0" anchor="t"/>
          <a:lstStyle>
            <a:lvl1pPr algn="l">
              <a:defRPr sz="4400" baseline="0"/>
            </a:lvl1pPr>
          </a:lstStyle>
          <a:p>
            <a:r>
              <a:rPr lang="en-US" dirty="0"/>
              <a:t>Enter session title</a:t>
            </a:r>
          </a:p>
        </p:txBody>
      </p:sp>
      <p:sp>
        <p:nvSpPr>
          <p:cNvPr id="12" name="Text Placeholder 8">
            <a:extLst>
              <a:ext uri="{FF2B5EF4-FFF2-40B4-BE49-F238E27FC236}">
                <a16:creationId xmlns:a16="http://schemas.microsoft.com/office/drawing/2014/main" id="{169D91DA-5D38-A9F2-29CE-1DC3B9AA49FD}"/>
              </a:ext>
            </a:extLst>
          </p:cNvPr>
          <p:cNvSpPr>
            <a:spLocks noGrp="1"/>
          </p:cNvSpPr>
          <p:nvPr>
            <p:ph type="body" sz="quarter" idx="10" hasCustomPrompt="1"/>
          </p:nvPr>
        </p:nvSpPr>
        <p:spPr>
          <a:xfrm>
            <a:off x="698499" y="5142791"/>
            <a:ext cx="9144000" cy="336356"/>
          </a:xfrm>
        </p:spPr>
        <p:txBody>
          <a:bodyPr/>
          <a:lstStyle>
            <a:lvl1pPr marL="0" indent="0">
              <a:buNone/>
              <a:defRPr sz="2000" b="0" cap="none" spc="0" baseline="0">
                <a:solidFill>
                  <a:schemeClr val="tx1"/>
                </a:solidFill>
              </a:defRPr>
            </a:lvl1pPr>
          </a:lstStyle>
          <a:p>
            <a:pPr lvl="0"/>
            <a:r>
              <a:rPr lang="en-US" dirty="0"/>
              <a:t>Speaker name (and pronouns)</a:t>
            </a:r>
          </a:p>
        </p:txBody>
      </p:sp>
      <p:sp>
        <p:nvSpPr>
          <p:cNvPr id="13" name="Text Placeholder 8">
            <a:extLst>
              <a:ext uri="{FF2B5EF4-FFF2-40B4-BE49-F238E27FC236}">
                <a16:creationId xmlns:a16="http://schemas.microsoft.com/office/drawing/2014/main" id="{5025E1E7-9849-A089-58B5-52D7FA3EC368}"/>
              </a:ext>
            </a:extLst>
          </p:cNvPr>
          <p:cNvSpPr>
            <a:spLocks noGrp="1"/>
          </p:cNvSpPr>
          <p:nvPr>
            <p:ph type="body" sz="quarter" idx="11" hasCustomPrompt="1"/>
          </p:nvPr>
        </p:nvSpPr>
        <p:spPr>
          <a:xfrm>
            <a:off x="698499" y="1904739"/>
            <a:ext cx="9144000" cy="258532"/>
          </a:xfrm>
        </p:spPr>
        <p:txBody>
          <a:bodyPr/>
          <a:lstStyle>
            <a:lvl1pPr marL="0" indent="0">
              <a:buNone/>
              <a:defRPr sz="1200" b="1" cap="all" spc="300" baseline="0">
                <a:solidFill>
                  <a:srgbClr val="BEA7ED"/>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Enter Session ID</a:t>
            </a:r>
          </a:p>
        </p:txBody>
      </p:sp>
      <p:sp>
        <p:nvSpPr>
          <p:cNvPr id="14" name="Text Placeholder 14">
            <a:extLst>
              <a:ext uri="{FF2B5EF4-FFF2-40B4-BE49-F238E27FC236}">
                <a16:creationId xmlns:a16="http://schemas.microsoft.com/office/drawing/2014/main" id="{DA78DAB3-FA55-B982-F3CC-CA1CAE48D77A}"/>
              </a:ext>
            </a:extLst>
          </p:cNvPr>
          <p:cNvSpPr>
            <a:spLocks noGrp="1"/>
          </p:cNvSpPr>
          <p:nvPr>
            <p:ph type="body" sz="quarter" idx="12" hasCustomPrompt="1"/>
          </p:nvPr>
        </p:nvSpPr>
        <p:spPr>
          <a:xfrm>
            <a:off x="698499" y="5479146"/>
            <a:ext cx="9144000" cy="801688"/>
          </a:xfrm>
        </p:spPr>
        <p:txBody>
          <a:bodyPr/>
          <a:lstStyle>
            <a:lvl1pPr marL="0" indent="0">
              <a:spcAft>
                <a:spcPts val="300"/>
              </a:spcAft>
              <a:buNone/>
              <a:defRPr sz="1600"/>
            </a:lvl1pPr>
            <a:lvl2pPr marL="365760" indent="0">
              <a:buNone/>
              <a:defRPr sz="2400"/>
            </a:lvl2pPr>
            <a:lvl3pPr marL="777240" indent="0">
              <a:buNone/>
              <a:defRPr sz="2400"/>
            </a:lvl3pPr>
            <a:lvl4pPr marL="1051560" indent="0">
              <a:buNone/>
              <a:defRPr sz="2400"/>
            </a:lvl4pPr>
            <a:lvl5pPr marL="1051560" indent="0">
              <a:buNone/>
              <a:defRPr sz="2400"/>
            </a:lvl5pPr>
          </a:lstStyle>
          <a:p>
            <a:pPr lvl="0"/>
            <a:r>
              <a:rPr lang="en-US" dirty="0"/>
              <a:t>Job title</a:t>
            </a:r>
            <a:br>
              <a:rPr lang="en-US" dirty="0"/>
            </a:br>
            <a:r>
              <a:rPr lang="en-US" dirty="0"/>
              <a:t>Company</a:t>
            </a:r>
          </a:p>
        </p:txBody>
      </p:sp>
    </p:spTree>
    <p:extLst>
      <p:ext uri="{BB962C8B-B14F-4D97-AF65-F5344CB8AC3E}">
        <p14:creationId xmlns:p14="http://schemas.microsoft.com/office/powerpoint/2010/main" val="752427217"/>
      </p:ext>
    </p:extLst>
  </p:cSld>
  <p:clrMapOvr>
    <a:masterClrMapping/>
  </p:clrMapOvr>
  <p:extLst>
    <p:ext uri="{DCECCB84-F9BA-43D5-87BE-67443E8EF086}">
      <p15:sldGuideLst xmlns:p15="http://schemas.microsoft.com/office/powerpoint/2012/main">
        <p15:guide id="1" orient="horz" pos="237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BD01DB4-DB1E-09A3-F84D-F1D852815D0C}"/>
              </a:ext>
            </a:extLst>
          </p:cNvPr>
          <p:cNvSpPr>
            <a:spLocks noGrp="1"/>
          </p:cNvSpPr>
          <p:nvPr>
            <p:ph type="dt" sz="half" idx="10"/>
          </p:nvPr>
        </p:nvSpPr>
        <p:spPr/>
        <p:txBody>
          <a:bodyPr/>
          <a:lstStyle/>
          <a:p>
            <a:fld id="{3B1EF3D5-2436-9240-B6D0-2048A71FFF33}" type="datetime1">
              <a:rPr lang="en-US" smtClean="0"/>
              <a:pPr/>
              <a:t>9/21/2026</a:t>
            </a:fld>
            <a:endParaRPr lang="en-US" dirty="0"/>
          </a:p>
        </p:txBody>
      </p:sp>
      <p:sp>
        <p:nvSpPr>
          <p:cNvPr id="4" name="Footer Placeholder 3">
            <a:extLst>
              <a:ext uri="{FF2B5EF4-FFF2-40B4-BE49-F238E27FC236}">
                <a16:creationId xmlns:a16="http://schemas.microsoft.com/office/drawing/2014/main" id="{ABD6D240-DCA4-CD8A-AD0E-1FF62E3A9EC4}"/>
              </a:ext>
            </a:extLst>
          </p:cNvPr>
          <p:cNvSpPr>
            <a:spLocks noGrp="1"/>
          </p:cNvSpPr>
          <p:nvPr>
            <p:ph type="ftr" sz="quarter" idx="11"/>
          </p:nvPr>
        </p:nvSpPr>
        <p:spPr/>
        <p:txBody>
          <a:bodyPr/>
          <a:lstStyle/>
          <a:p>
            <a:endParaRPr lang="en-US" dirty="0"/>
          </a:p>
        </p:txBody>
      </p:sp>
      <p:pic>
        <p:nvPicPr>
          <p:cNvPr id="7" name="Picture 6">
            <a:extLst>
              <a:ext uri="{FF2B5EF4-FFF2-40B4-BE49-F238E27FC236}">
                <a16:creationId xmlns:a16="http://schemas.microsoft.com/office/drawing/2014/main" id="{426966F6-07AE-918A-6D74-845DA70FE73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3" y="0"/>
            <a:ext cx="12185234" cy="6858000"/>
          </a:xfrm>
          <a:prstGeom prst="rect">
            <a:avLst/>
          </a:prstGeom>
        </p:spPr>
      </p:pic>
      <p:pic>
        <p:nvPicPr>
          <p:cNvPr id="8" name="Picture 7">
            <a:extLst>
              <a:ext uri="{FF2B5EF4-FFF2-40B4-BE49-F238E27FC236}">
                <a16:creationId xmlns:a16="http://schemas.microsoft.com/office/drawing/2014/main" id="{5B431FDD-CEB9-4A8E-9B96-BA5CD83F2A13}"/>
              </a:ext>
            </a:extLst>
          </p:cNvPr>
          <p:cNvPicPr>
            <a:picLocks noChangeAspect="1"/>
          </p:cNvPicPr>
          <p:nvPr userDrawn="1"/>
        </p:nvPicPr>
        <p:blipFill>
          <a:blip r:embed="rId3"/>
          <a:srcRect/>
          <a:stretch/>
        </p:blipFill>
        <p:spPr>
          <a:xfrm>
            <a:off x="292501" y="6428661"/>
            <a:ext cx="388818" cy="219592"/>
          </a:xfrm>
          <a:prstGeom prst="rect">
            <a:avLst/>
          </a:prstGeom>
        </p:spPr>
      </p:pic>
      <p:sp>
        <p:nvSpPr>
          <p:cNvPr id="5" name="TextBox 4">
            <a:extLst>
              <a:ext uri="{FF2B5EF4-FFF2-40B4-BE49-F238E27FC236}">
                <a16:creationId xmlns:a16="http://schemas.microsoft.com/office/drawing/2014/main" id="{44A08494-4FFF-9190-33A5-AD35C22EBDBD}"/>
              </a:ext>
            </a:extLst>
          </p:cNvPr>
          <p:cNvSpPr txBox="1"/>
          <p:nvPr userDrawn="1"/>
        </p:nvSpPr>
        <p:spPr>
          <a:xfrm>
            <a:off x="681319" y="6428661"/>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245120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ide 1A">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87593843-4CBC-A712-CB2B-B4F878BE3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9" name="Picture 8">
            <a:extLst>
              <a:ext uri="{FF2B5EF4-FFF2-40B4-BE49-F238E27FC236}">
                <a16:creationId xmlns:a16="http://schemas.microsoft.com/office/drawing/2014/main" id="{41B6776E-568F-A5A4-981B-E30628F8727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11" name="TextBox 10">
            <a:extLst>
              <a:ext uri="{FF2B5EF4-FFF2-40B4-BE49-F238E27FC236}">
                <a16:creationId xmlns:a16="http://schemas.microsoft.com/office/drawing/2014/main" id="{F9CE4815-926B-43B6-82AB-971B1A89CEF6}"/>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11644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1C">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273828A-79F8-15CD-9D21-FB44B77FDBB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53CAD519-9A88-CC6D-C64F-32781DE12863}"/>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ECD1BDB-3933-70D1-D0B1-585F679690F4}"/>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49BD2DDE-9CEA-E55B-45AC-E81DC0520AEE}"/>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6F4339BC-5512-257D-D251-96C726B3928B}"/>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2A8E9AEE-EE0A-4511-286D-B7E92DB33387}"/>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 name="Title 1">
            <a:extLst>
              <a:ext uri="{FF2B5EF4-FFF2-40B4-BE49-F238E27FC236}">
                <a16:creationId xmlns:a16="http://schemas.microsoft.com/office/drawing/2014/main" id="{4C69315F-6BED-09F1-C555-D62EBCC2C2CC}"/>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1" name="Picture 10">
            <a:extLst>
              <a:ext uri="{FF2B5EF4-FFF2-40B4-BE49-F238E27FC236}">
                <a16:creationId xmlns:a16="http://schemas.microsoft.com/office/drawing/2014/main" id="{FA0E7CF6-AEC8-B8B6-2040-09A06124894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Tree>
    <p:extLst>
      <p:ext uri="{BB962C8B-B14F-4D97-AF65-F5344CB8AC3E}">
        <p14:creationId xmlns:p14="http://schemas.microsoft.com/office/powerpoint/2010/main" val="10085237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1B">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30B1A274-34CE-9318-18E9-83796CAE51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A8CD09BF-BE98-954E-8C83-FD00798ACA28}"/>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AF119F6-59CF-C06E-9DEE-68747AC5B537}"/>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19378773-656B-3414-4689-741C92BE3E06}"/>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3C5437D4-D83E-F7AB-7C05-4D16F6D780CF}"/>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 name="Title 1">
            <a:extLst>
              <a:ext uri="{FF2B5EF4-FFF2-40B4-BE49-F238E27FC236}">
                <a16:creationId xmlns:a16="http://schemas.microsoft.com/office/drawing/2014/main" id="{062C415C-2EF2-186A-04FA-1B6BE61C4101}"/>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1" name="Picture 10">
            <a:extLst>
              <a:ext uri="{FF2B5EF4-FFF2-40B4-BE49-F238E27FC236}">
                <a16:creationId xmlns:a16="http://schemas.microsoft.com/office/drawing/2014/main" id="{47D75C48-1113-B98D-B01C-9CF253E8BBE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Tree>
    <p:extLst>
      <p:ext uri="{BB962C8B-B14F-4D97-AF65-F5344CB8AC3E}">
        <p14:creationId xmlns:p14="http://schemas.microsoft.com/office/powerpoint/2010/main" val="298635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2A">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1C5CAEF-E4CF-4B92-233A-7553242F643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6858001"/>
          </a:xfrm>
          <a:prstGeom prst="rect">
            <a:avLst/>
          </a:prstGeom>
        </p:spPr>
      </p:pic>
      <p:sp>
        <p:nvSpPr>
          <p:cNvPr id="3" name="Subtitle 2">
            <a:extLst>
              <a:ext uri="{FF2B5EF4-FFF2-40B4-BE49-F238E27FC236}">
                <a16:creationId xmlns:a16="http://schemas.microsoft.com/office/drawing/2014/main" id="{60F04AFD-CEAF-D96A-9FBC-950044545866}"/>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0187CBED-F3F8-A0AE-DBEA-EEEA1D2E7660}"/>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21" name="Rounded Rectangle 20">
            <a:extLst>
              <a:ext uri="{FF2B5EF4-FFF2-40B4-BE49-F238E27FC236}">
                <a16:creationId xmlns:a16="http://schemas.microsoft.com/office/drawing/2014/main" id="{55857500-2C8E-9211-5B61-DC83BC3450CB}"/>
              </a:ext>
            </a:extLst>
          </p:cNvPr>
          <p:cNvSpPr/>
          <p:nvPr userDrawn="1"/>
        </p:nvSpPr>
        <p:spPr>
          <a:xfrm>
            <a:off x="609598" y="304800"/>
            <a:ext cx="2993681" cy="288951"/>
          </a:xfrm>
          <a:prstGeom prst="round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6" name="Text Placeholder 7">
            <a:extLst>
              <a:ext uri="{FF2B5EF4-FFF2-40B4-BE49-F238E27FC236}">
                <a16:creationId xmlns:a16="http://schemas.microsoft.com/office/drawing/2014/main" id="{17F887A3-28C2-6DE9-5807-21C410AB73B1}"/>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BBFEBE6D-8293-FD48-7C86-4989B458ECE3}"/>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0F412FE6-3787-9446-924A-F202645A1CFC}"/>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2" name="TextBox 21">
            <a:extLst>
              <a:ext uri="{FF2B5EF4-FFF2-40B4-BE49-F238E27FC236}">
                <a16:creationId xmlns:a16="http://schemas.microsoft.com/office/drawing/2014/main" id="{19ABE821-C29F-8323-0B26-4C07043DC762}"/>
              </a:ext>
            </a:extLst>
          </p:cNvPr>
          <p:cNvSpPr txBox="1"/>
          <p:nvPr userDrawn="1"/>
        </p:nvSpPr>
        <p:spPr>
          <a:xfrm>
            <a:off x="-135802" y="2471596"/>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23" name="Title 1">
            <a:extLst>
              <a:ext uri="{FF2B5EF4-FFF2-40B4-BE49-F238E27FC236}">
                <a16:creationId xmlns:a16="http://schemas.microsoft.com/office/drawing/2014/main" id="{10165371-E8F4-C898-9295-C3E433A3EF22}"/>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0" name="Picture 9">
            <a:extLst>
              <a:ext uri="{FF2B5EF4-FFF2-40B4-BE49-F238E27FC236}">
                <a16:creationId xmlns:a16="http://schemas.microsoft.com/office/drawing/2014/main" id="{1D45EB7E-B60E-0A55-8AB4-0421DDF33C1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05455" y="5759695"/>
            <a:ext cx="740228" cy="442870"/>
          </a:xfrm>
          <a:prstGeom prst="rect">
            <a:avLst/>
          </a:prstGeom>
        </p:spPr>
      </p:pic>
    </p:spTree>
    <p:extLst>
      <p:ext uri="{BB962C8B-B14F-4D97-AF65-F5344CB8AC3E}">
        <p14:creationId xmlns:p14="http://schemas.microsoft.com/office/powerpoint/2010/main" val="206820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B">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846A2E1-DADB-E7FA-8523-F125A4AEE48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ECF72D21-07F0-8A31-A886-8180F34B788F}"/>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2" name="Title 1">
            <a:extLst>
              <a:ext uri="{FF2B5EF4-FFF2-40B4-BE49-F238E27FC236}">
                <a16:creationId xmlns:a16="http://schemas.microsoft.com/office/drawing/2014/main" id="{26F28616-0D97-9CAF-203B-33E2A2B5C1D1}"/>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9" name="Picture 8">
            <a:extLst>
              <a:ext uri="{FF2B5EF4-FFF2-40B4-BE49-F238E27FC236}">
                <a16:creationId xmlns:a16="http://schemas.microsoft.com/office/drawing/2014/main" id="{B6139FD2-9628-8192-7052-B005333F7B8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05455" y="5759695"/>
            <a:ext cx="740228" cy="442870"/>
          </a:xfrm>
          <a:prstGeom prst="rect">
            <a:avLst/>
          </a:prstGeom>
        </p:spPr>
      </p:pic>
    </p:spTree>
    <p:extLst>
      <p:ext uri="{BB962C8B-B14F-4D97-AF65-F5344CB8AC3E}">
        <p14:creationId xmlns:p14="http://schemas.microsoft.com/office/powerpoint/2010/main" val="281899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2B">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F178C6C-A11A-B7DA-DE97-C5EF3DA242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709020204020204" pitchFamily="49" charset="0"/>
                <a:cs typeface="Amazon Ember Mono" panose="020B0709020204020204" pitchFamily="49" charset="0"/>
              </a:defRPr>
            </a:lvl1pPr>
          </a:lstStyle>
          <a:p>
            <a:pPr lvl="0"/>
            <a:r>
              <a:rPr lang="en-US" dirty="0"/>
              <a:t>Enter session ID if required</a:t>
            </a:r>
          </a:p>
        </p:txBody>
      </p:sp>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ECF72D21-07F0-8A31-A886-8180F34B788F}"/>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3" name="Text Placeholder 7">
            <a:extLst>
              <a:ext uri="{FF2B5EF4-FFF2-40B4-BE49-F238E27FC236}">
                <a16:creationId xmlns:a16="http://schemas.microsoft.com/office/drawing/2014/main" id="{111574D8-2193-6E96-F970-CA48F920463D}"/>
              </a:ext>
            </a:extLst>
          </p:cNvPr>
          <p:cNvSpPr>
            <a:spLocks noGrp="1"/>
          </p:cNvSpPr>
          <p:nvPr>
            <p:ph type="body" sz="quarter" idx="13"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4" name="Title 1">
            <a:extLst>
              <a:ext uri="{FF2B5EF4-FFF2-40B4-BE49-F238E27FC236}">
                <a16:creationId xmlns:a16="http://schemas.microsoft.com/office/drawing/2014/main" id="{CF67C28C-2194-7DE3-C4ED-8EF747692F60}"/>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3" name="Picture 12">
            <a:extLst>
              <a:ext uri="{FF2B5EF4-FFF2-40B4-BE49-F238E27FC236}">
                <a16:creationId xmlns:a16="http://schemas.microsoft.com/office/drawing/2014/main" id="{EFD3426E-C2E7-51F1-EBF9-5831816B57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05455" y="5759695"/>
            <a:ext cx="740228" cy="442870"/>
          </a:xfrm>
          <a:prstGeom prst="rect">
            <a:avLst/>
          </a:prstGeom>
        </p:spPr>
      </p:pic>
    </p:spTree>
    <p:extLst>
      <p:ext uri="{BB962C8B-B14F-4D97-AF65-F5344CB8AC3E}">
        <p14:creationId xmlns:p14="http://schemas.microsoft.com/office/powerpoint/2010/main" val="2109463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8361C3B-4A14-5F26-5768-6B75326001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9/21/2026</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293583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2">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E4742-39F0-4C44-00E8-B91F451C1F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9/21/2026</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198130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932EFD-B8A1-B84B-48C9-1BE2EB4AF0A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9/21/2026</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ADD7451C-3F29-6F6D-F332-22252720A08E}"/>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3317383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a:t>
            </a:r>
          </a:p>
        </p:txBody>
      </p:sp>
      <p:sp>
        <p:nvSpPr>
          <p:cNvPr id="3" name="Date Placeholder 2">
            <a:extLst>
              <a:ext uri="{FF2B5EF4-FFF2-40B4-BE49-F238E27FC236}">
                <a16:creationId xmlns:a16="http://schemas.microsoft.com/office/drawing/2014/main" id="{08A22A18-A983-4477-9CE2-E889A78034A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00D62F-E191-C046-B6EA-E79BE99AA24A}" type="datetime1">
              <a:rPr lang="en-US" smtClean="0"/>
              <a:pPr/>
              <a:t>9/21/2026</a:t>
            </a:fld>
            <a:endParaRPr lang="en-US" dirty="0"/>
          </a:p>
        </p:txBody>
      </p:sp>
      <p:sp>
        <p:nvSpPr>
          <p:cNvPr id="4" name="Footer Placeholder 3">
            <a:extLst>
              <a:ext uri="{FF2B5EF4-FFF2-40B4-BE49-F238E27FC236}">
                <a16:creationId xmlns:a16="http://schemas.microsoft.com/office/drawing/2014/main" id="{416B6389-19E6-4677-81FB-25CCEB0E3D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021467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Gradient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8A1DB3-21D8-7727-05ED-700D044617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9/21/2026</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756"/>
          </a:xfrm>
          <a:prstGeom prst="rect">
            <a:avLst/>
          </a:prstGeom>
        </p:spPr>
      </p:pic>
      <p:sp>
        <p:nvSpPr>
          <p:cNvPr id="5" name="TextBox 4">
            <a:extLst>
              <a:ext uri="{FF2B5EF4-FFF2-40B4-BE49-F238E27FC236}">
                <a16:creationId xmlns:a16="http://schemas.microsoft.com/office/drawing/2014/main" id="{DDDBE47E-DAA2-53AD-A19F-7E10713DCC3B}"/>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465233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Gradient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B5C98E-29D0-7549-A4E6-151AFAD547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9/21/2026</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756"/>
          </a:xfrm>
          <a:prstGeom prst="rect">
            <a:avLst/>
          </a:prstGeom>
        </p:spPr>
      </p:pic>
      <p:sp>
        <p:nvSpPr>
          <p:cNvPr id="5" name="TextBox 4">
            <a:extLst>
              <a:ext uri="{FF2B5EF4-FFF2-40B4-BE49-F238E27FC236}">
                <a16:creationId xmlns:a16="http://schemas.microsoft.com/office/drawing/2014/main" id="{12237F78-6104-4004-2FA4-4DC0815B72C9}"/>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582845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Gradient 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C242795-04B8-8DCD-975B-E72373E3A3C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9/21/2026</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756"/>
          </a:xfrm>
          <a:prstGeom prst="rect">
            <a:avLst/>
          </a:prstGeom>
        </p:spPr>
      </p:pic>
      <p:sp>
        <p:nvSpPr>
          <p:cNvPr id="5" name="TextBox 4">
            <a:extLst>
              <a:ext uri="{FF2B5EF4-FFF2-40B4-BE49-F238E27FC236}">
                <a16:creationId xmlns:a16="http://schemas.microsoft.com/office/drawing/2014/main" id="{B9D7D0A3-F064-9569-A6C6-9EFB587B0B1C}"/>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4165905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609600" y="1455968"/>
            <a:ext cx="10972800" cy="341632"/>
          </a:xfrm>
        </p:spPr>
        <p:txBody>
          <a:bodyPr/>
          <a:lstStyle>
            <a:lvl1pPr marL="0" indent="0">
              <a:buNone/>
              <a:defRPr sz="1800" b="0" i="0" cap="none" spc="0" baseline="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Enter subtitle</a:t>
            </a:r>
          </a:p>
        </p:txBody>
      </p:sp>
      <p:sp>
        <p:nvSpPr>
          <p:cNvPr id="3" name="Date Placeholder 2">
            <a:extLst>
              <a:ext uri="{FF2B5EF4-FFF2-40B4-BE49-F238E27FC236}">
                <a16:creationId xmlns:a16="http://schemas.microsoft.com/office/drawing/2014/main" id="{A312CB8C-58A4-4758-8C91-E8641A9F6DCF}"/>
              </a:ext>
            </a:extLst>
          </p:cNvPr>
          <p:cNvSpPr>
            <a:spLocks noGrp="1"/>
          </p:cNvSpPr>
          <p:nvPr>
            <p:ph type="dt" sz="half" idx="11"/>
          </p:nvPr>
        </p:nvSpPr>
        <p:spPr/>
        <p:txBody>
          <a:bodyPr/>
          <a:lstStyle>
            <a:lvl1pPr>
              <a:defRPr b="0" i="0">
                <a:latin typeface="Amazon Ember Display" panose="020F0603020204020204" pitchFamily="34" charset="0"/>
              </a:defRPr>
            </a:lvl1pPr>
          </a:lstStyle>
          <a:p>
            <a:fld id="{31D3B374-854B-EF47-9B56-0018B9F83111}" type="datetime1">
              <a:rPr lang="en-US" smtClean="0"/>
              <a:pPr/>
              <a:t>9/21/2026</a:t>
            </a:fld>
            <a:endParaRPr lang="en-US" dirty="0"/>
          </a:p>
        </p:txBody>
      </p:sp>
      <p:sp>
        <p:nvSpPr>
          <p:cNvPr id="5" name="Footer Placeholder 4">
            <a:extLst>
              <a:ext uri="{FF2B5EF4-FFF2-40B4-BE49-F238E27FC236}">
                <a16:creationId xmlns:a16="http://schemas.microsoft.com/office/drawing/2014/main" id="{50444248-408B-4052-8B56-17F469F98EA1}"/>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922509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86B726-34C0-4C1C-A252-97930DC77EE4}"/>
              </a:ext>
            </a:extLst>
          </p:cNvPr>
          <p:cNvSpPr>
            <a:spLocks noGrp="1"/>
          </p:cNvSpPr>
          <p:nvPr>
            <p:ph type="dt" sz="half" idx="10"/>
          </p:nvPr>
        </p:nvSpPr>
        <p:spPr/>
        <p:txBody>
          <a:bodyPr/>
          <a:lstStyle>
            <a:lvl1pPr>
              <a:defRPr b="0" i="0">
                <a:latin typeface="Amazon Ember Display" panose="020F0603020204020204" pitchFamily="34" charset="0"/>
              </a:defRPr>
            </a:lvl1pPr>
          </a:lstStyle>
          <a:p>
            <a:fld id="{238B2222-37A4-5449-B1D9-9B13ADA59E84}" type="datetime1">
              <a:rPr lang="en-US" smtClean="0"/>
              <a:pPr/>
              <a:t>9/21/2026</a:t>
            </a:fld>
            <a:endParaRPr lang="en-US" dirty="0"/>
          </a:p>
        </p:txBody>
      </p:sp>
      <p:sp>
        <p:nvSpPr>
          <p:cNvPr id="3" name="Footer Placeholder 2">
            <a:extLst>
              <a:ext uri="{FF2B5EF4-FFF2-40B4-BE49-F238E27FC236}">
                <a16:creationId xmlns:a16="http://schemas.microsoft.com/office/drawing/2014/main" id="{883103B0-BAC9-4248-BF05-F8F64F81D313}"/>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322984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2767937"/>
          </a:xfrm>
        </p:spPr>
        <p:txBody>
          <a:bodyPr/>
          <a:lstStyle>
            <a:lvl1pPr marL="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lvl1pPr>
              <a:defRPr b="0" i="0">
                <a:latin typeface="Amazon Ember Display" panose="020F0603020204020204" pitchFamily="34" charset="0"/>
              </a:defRPr>
            </a:lvl1pPr>
          </a:lstStyle>
          <a:p>
            <a:fld id="{B9026E32-37D5-A446-8A01-9B6BBEB5E690}" type="datetime1">
              <a:rPr lang="en-US" smtClean="0"/>
              <a:pPr/>
              <a:t>9/21/2026</a:t>
            </a:fld>
            <a:endParaRPr lang="en-US" dirty="0"/>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10861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1844608"/>
          </a:xfrm>
        </p:spPr>
        <p:txBody>
          <a:bodyPr/>
          <a:lstStyle>
            <a:lvl1pPr marL="457200" indent="-4572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 </a:t>
            </a:r>
          </a:p>
        </p:txBody>
      </p:sp>
      <p:sp>
        <p:nvSpPr>
          <p:cNvPr id="4" name="Date Placeholder 3">
            <a:extLst>
              <a:ext uri="{FF2B5EF4-FFF2-40B4-BE49-F238E27FC236}">
                <a16:creationId xmlns:a16="http://schemas.microsoft.com/office/drawing/2014/main" id="{5428ABEB-87DF-4979-B8D5-38D09C158222}"/>
              </a:ext>
            </a:extLst>
          </p:cNvPr>
          <p:cNvSpPr>
            <a:spLocks noGrp="1"/>
          </p:cNvSpPr>
          <p:nvPr>
            <p:ph type="dt" sz="half" idx="10"/>
          </p:nvPr>
        </p:nvSpPr>
        <p:spPr/>
        <p:txBody>
          <a:bodyPr/>
          <a:lstStyle>
            <a:lvl1pPr>
              <a:defRPr b="0" i="0">
                <a:latin typeface="Amazon Ember Display" panose="020F0603020204020204" pitchFamily="34" charset="0"/>
              </a:defRPr>
            </a:lvl1pPr>
          </a:lstStyle>
          <a:p>
            <a:fld id="{F68F78D1-9721-044C-B65C-A6FC97994CEC}" type="datetime1">
              <a:rPr lang="en-US" smtClean="0"/>
              <a:pPr/>
              <a:t>9/21/2026</a:t>
            </a:fld>
            <a:endParaRPr lang="en-US" dirty="0"/>
          </a:p>
        </p:txBody>
      </p:sp>
      <p:sp>
        <p:nvSpPr>
          <p:cNvPr id="5" name="Footer Placeholder 4">
            <a:extLst>
              <a:ext uri="{FF2B5EF4-FFF2-40B4-BE49-F238E27FC236}">
                <a16:creationId xmlns:a16="http://schemas.microsoft.com/office/drawing/2014/main" id="{B67DE3A9-1F3C-45F4-9F53-543C4B62D7F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78817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33600"/>
            <a:ext cx="10972800" cy="2767937"/>
          </a:xfrm>
        </p:spPr>
        <p:txBody>
          <a:bodyPr/>
          <a:lstStyle>
            <a:lvl1pPr marL="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609600"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4" name="Date Placeholder 3">
            <a:extLst>
              <a:ext uri="{FF2B5EF4-FFF2-40B4-BE49-F238E27FC236}">
                <a16:creationId xmlns:a16="http://schemas.microsoft.com/office/drawing/2014/main" id="{876D2500-AAFD-4464-92DE-45442731C6FD}"/>
              </a:ext>
            </a:extLst>
          </p:cNvPr>
          <p:cNvSpPr>
            <a:spLocks noGrp="1"/>
          </p:cNvSpPr>
          <p:nvPr>
            <p:ph type="dt" sz="half" idx="11"/>
          </p:nvPr>
        </p:nvSpPr>
        <p:spPr/>
        <p:txBody>
          <a:bodyPr/>
          <a:lstStyle>
            <a:lvl1pPr>
              <a:defRPr b="0" i="0">
                <a:latin typeface="Amazon Ember Display" panose="020F0603020204020204" pitchFamily="34" charset="0"/>
              </a:defRPr>
            </a:lvl1pPr>
          </a:lstStyle>
          <a:p>
            <a:fld id="{C4422CFE-CB70-E144-AF43-F0FCE393742F}" type="datetime1">
              <a:rPr lang="en-US" smtClean="0"/>
              <a:pPr/>
              <a:t>9/21/2026</a:t>
            </a:fld>
            <a:endParaRPr lang="en-US" dirty="0"/>
          </a:p>
        </p:txBody>
      </p:sp>
      <p:sp>
        <p:nvSpPr>
          <p:cNvPr id="6" name="Footer Placeholder 5">
            <a:extLst>
              <a:ext uri="{FF2B5EF4-FFF2-40B4-BE49-F238E27FC236}">
                <a16:creationId xmlns:a16="http://schemas.microsoft.com/office/drawing/2014/main" id="{77A7C935-E20D-482F-89A5-4255E88216F0}"/>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981057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34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981200"/>
            <a:ext cx="10972800" cy="1844608"/>
          </a:xfrm>
        </p:spPr>
        <p:txBody>
          <a:bodyPr/>
          <a:lstStyle>
            <a:lvl1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609600" y="1457034"/>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5" name="Date Placeholder 4">
            <a:extLst>
              <a:ext uri="{FF2B5EF4-FFF2-40B4-BE49-F238E27FC236}">
                <a16:creationId xmlns:a16="http://schemas.microsoft.com/office/drawing/2014/main" id="{91E9B8C3-36CA-4A97-B3FF-2FCDD97E1A02}"/>
              </a:ext>
            </a:extLst>
          </p:cNvPr>
          <p:cNvSpPr>
            <a:spLocks noGrp="1"/>
          </p:cNvSpPr>
          <p:nvPr>
            <p:ph type="dt" sz="half" idx="11"/>
          </p:nvPr>
        </p:nvSpPr>
        <p:spPr/>
        <p:txBody>
          <a:bodyPr/>
          <a:lstStyle>
            <a:lvl1pPr>
              <a:defRPr b="0" i="0">
                <a:latin typeface="Amazon Ember Display" panose="020F0603020204020204" pitchFamily="34" charset="0"/>
              </a:defRPr>
            </a:lvl1pPr>
          </a:lstStyle>
          <a:p>
            <a:fld id="{F4FC2D43-256D-6645-BCF9-A844B8D70195}" type="datetime1">
              <a:rPr lang="en-US" smtClean="0"/>
              <a:pPr/>
              <a:t>9/21/2026</a:t>
            </a:fld>
            <a:endParaRPr lang="en-US" dirty="0"/>
          </a:p>
        </p:txBody>
      </p:sp>
      <p:sp>
        <p:nvSpPr>
          <p:cNvPr id="6" name="Footer Placeholder 5">
            <a:extLst>
              <a:ext uri="{FF2B5EF4-FFF2-40B4-BE49-F238E27FC236}">
                <a16:creationId xmlns:a16="http://schemas.microsoft.com/office/drawing/2014/main" id="{9AEEE534-0361-47D3-8F92-2D7522A226D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1701795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24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C03484E-63E1-C65B-B9E9-64BEBDE8D89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540935"/>
          </a:xfrm>
        </p:spPr>
        <p:txBody>
          <a:bodyPr/>
          <a:lstStyle>
            <a:lvl1pPr marL="0" indent="0">
              <a:spcAft>
                <a:spcPts val="1800"/>
              </a:spcAft>
              <a:buNone/>
              <a:defRPr sz="2400" b="0" i="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9/21/2026</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TextBox 8">
            <a:extLst>
              <a:ext uri="{FF2B5EF4-FFF2-40B4-BE49-F238E27FC236}">
                <a16:creationId xmlns:a16="http://schemas.microsoft.com/office/drawing/2014/main" id="{72F72762-FFD8-44A0-D0C3-72BB36D53F86}"/>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bg1"/>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59282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Content, and Image">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76996DA-5BE5-07A1-3E6B-5009A6B7A22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540935"/>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9/21/2026</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6E4A259B-C4CE-849A-F79A-9E5DAF81688F}"/>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8" name="Picture 7">
            <a:extLst>
              <a:ext uri="{FF2B5EF4-FFF2-40B4-BE49-F238E27FC236}">
                <a16:creationId xmlns:a16="http://schemas.microsoft.com/office/drawing/2014/main" id="{01BD7AE4-AC04-819B-6BE0-5525488F82E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spTree>
    <p:extLst>
      <p:ext uri="{BB962C8B-B14F-4D97-AF65-F5344CB8AC3E}">
        <p14:creationId xmlns:p14="http://schemas.microsoft.com/office/powerpoint/2010/main" val="55933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1A0033"/>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3A03B37-6F96-EEE5-6D3D-8FE6A854A474}"/>
              </a:ext>
            </a:extLst>
          </p:cNvPr>
          <p:cNvPicPr>
            <a:picLocks noChangeAspect="1"/>
          </p:cNvPicPr>
          <p:nvPr userDrawn="1"/>
        </p:nvPicPr>
        <p:blipFill>
          <a:blip r:embed="rId2">
            <a:extLst>
              <a:ext uri="{28A0092B-C50C-407E-A947-70E740481C1C}">
                <a14:useLocalDpi xmlns:a14="http://schemas.microsoft.com/office/drawing/2010/main" val="0"/>
              </a:ext>
            </a:extLst>
          </a:blip>
          <a:srcRect b="5055"/>
          <a:stretch/>
        </p:blipFill>
        <p:spPr>
          <a:xfrm>
            <a:off x="0" y="0"/>
            <a:ext cx="12192000" cy="6858000"/>
          </a:xfrm>
          <a:prstGeom prst="rect">
            <a:avLst/>
          </a:prstGeom>
        </p:spPr>
      </p:pic>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9/21/2026</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977037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9/21/2026</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082470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9/21/2026</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21641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9/21/2026</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834244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and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FFCFB8E8-C9F0-4143-9378-EA7F6C76665B}"/>
              </a:ext>
            </a:extLst>
          </p:cNvPr>
          <p:cNvSpPr>
            <a:spLocks noGrp="1"/>
          </p:cNvSpPr>
          <p:nvPr>
            <p:ph type="dt" sz="half" idx="12"/>
          </p:nvPr>
        </p:nvSpPr>
        <p:spPr/>
        <p:txBody>
          <a:bodyPr/>
          <a:lstStyle>
            <a:lvl1pPr>
              <a:defRPr b="0" i="0">
                <a:latin typeface="Amazon Ember Display" panose="020F0603020204020204" pitchFamily="34" charset="0"/>
              </a:defRPr>
            </a:lvl1pPr>
          </a:lstStyle>
          <a:p>
            <a:fld id="{F96E8718-D810-5D42-BBA7-DBDBA7B074E9}" type="datetime1">
              <a:rPr lang="en-US" smtClean="0"/>
              <a:pPr/>
              <a:t>9/21/2026</a:t>
            </a:fld>
            <a:endParaRPr lang="en-US" dirty="0"/>
          </a:p>
        </p:txBody>
      </p:sp>
      <p:sp>
        <p:nvSpPr>
          <p:cNvPr id="10" name="Footer Placeholder 9">
            <a:extLst>
              <a:ext uri="{FF2B5EF4-FFF2-40B4-BE49-F238E27FC236}">
                <a16:creationId xmlns:a16="http://schemas.microsoft.com/office/drawing/2014/main" id="{D7D1B458-DF75-45ED-B8CC-69A72676AB03}"/>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500631"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5245099"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8989568"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Tree>
    <p:extLst>
      <p:ext uri="{BB962C8B-B14F-4D97-AF65-F5344CB8AC3E}">
        <p14:creationId xmlns:p14="http://schemas.microsoft.com/office/powerpoint/2010/main" val="306045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40"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9/21/2026</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34433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2" y="917577"/>
            <a:ext cx="10972800"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6210300" y="1714501"/>
            <a:ext cx="5372100" cy="4495798"/>
          </a:xfrm>
        </p:spPr>
        <p:txBody>
          <a:bodyPr>
            <a:noAutofit/>
          </a:bodyPr>
          <a:lstStyle>
            <a:lvl1pPr marL="0" indent="0">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37210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9/21/2026</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78474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12192000" cy="6857998"/>
          </a:xfrm>
          <a:solidFill>
            <a:schemeClr val="bg2"/>
          </a:solidFill>
        </p:spPr>
        <p:txBody>
          <a:bodyPr anchor="ctr">
            <a:noAutofit/>
          </a:bodyPr>
          <a:lstStyle>
            <a:lvl1pPr marL="0" indent="0" algn="ctr">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picture</a:t>
            </a:r>
          </a:p>
        </p:txBody>
      </p:sp>
    </p:spTree>
    <p:extLst>
      <p:ext uri="{BB962C8B-B14F-4D97-AF65-F5344CB8AC3E}">
        <p14:creationId xmlns:p14="http://schemas.microsoft.com/office/powerpoint/2010/main" val="1256977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Customer logo wall layout</a:t>
            </a:r>
          </a:p>
        </p:txBody>
      </p:sp>
      <p:sp>
        <p:nvSpPr>
          <p:cNvPr id="3" name="Date Placeholder 2">
            <a:extLst>
              <a:ext uri="{FF2B5EF4-FFF2-40B4-BE49-F238E27FC236}">
                <a16:creationId xmlns:a16="http://schemas.microsoft.com/office/drawing/2014/main" id="{D4046C62-58BE-4875-9CF1-988E9FBC80B5}"/>
              </a:ext>
            </a:extLst>
          </p:cNvPr>
          <p:cNvSpPr>
            <a:spLocks noGrp="1"/>
          </p:cNvSpPr>
          <p:nvPr>
            <p:ph type="dt" sz="half" idx="10"/>
          </p:nvPr>
        </p:nvSpPr>
        <p:spPr/>
        <p:txBody>
          <a:bodyPr/>
          <a:lstStyle>
            <a:lvl1pPr>
              <a:defRPr b="0" i="0">
                <a:latin typeface="Amazon Ember Display" panose="020F0603020204020204" pitchFamily="34" charset="0"/>
              </a:defRPr>
            </a:lvl1pPr>
          </a:lstStyle>
          <a:p>
            <a:fld id="{C3A8789C-A0D1-A74F-A15D-501FE221905E}" type="datetime1">
              <a:rPr lang="en-US" smtClean="0"/>
              <a:pPr/>
              <a:t>9/21/2026</a:t>
            </a:fld>
            <a:endParaRPr lang="en-US" dirty="0"/>
          </a:p>
        </p:txBody>
      </p:sp>
      <p:sp>
        <p:nvSpPr>
          <p:cNvPr id="4" name="Footer Placeholder 3">
            <a:extLst>
              <a:ext uri="{FF2B5EF4-FFF2-40B4-BE49-F238E27FC236}">
                <a16:creationId xmlns:a16="http://schemas.microsoft.com/office/drawing/2014/main" id="{C09F8648-DA5C-4249-B315-5FCC6764F2E8}"/>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790841"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9572359"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3718014"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6645187"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790841"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9572359"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3718014"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6645187"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Tree>
    <p:extLst>
      <p:ext uri="{BB962C8B-B14F-4D97-AF65-F5344CB8AC3E}">
        <p14:creationId xmlns:p14="http://schemas.microsoft.com/office/powerpoint/2010/main" val="3884084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2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3285F99-D5A6-480F-A674-A76B9194560B}"/>
              </a:ext>
            </a:extLst>
          </p:cNvPr>
          <p:cNvSpPr>
            <a:spLocks noGrp="1"/>
          </p:cNvSpPr>
          <p:nvPr>
            <p:ph type="dt" sz="half" idx="10"/>
          </p:nvPr>
        </p:nvSpPr>
        <p:spPr/>
        <p:txBody>
          <a:bodyPr/>
          <a:lstStyle>
            <a:lvl1pPr>
              <a:defRPr b="0" i="0">
                <a:latin typeface="Amazon Ember Display" panose="020F0603020204020204" pitchFamily="34" charset="0"/>
              </a:defRPr>
            </a:lvl1pPr>
          </a:lstStyle>
          <a:p>
            <a:fld id="{9C031CC3-E800-D94E-ACE2-59E99B1146F6}" type="datetime1">
              <a:rPr lang="en-US" smtClean="0"/>
              <a:pPr/>
              <a:t>9/21/2026</a:t>
            </a:fld>
            <a:endParaRPr lang="en-US" dirty="0"/>
          </a:p>
        </p:txBody>
      </p:sp>
      <p:sp>
        <p:nvSpPr>
          <p:cNvPr id="6" name="Footer Placeholder 5">
            <a:extLst>
              <a:ext uri="{FF2B5EF4-FFF2-40B4-BE49-F238E27FC236}">
                <a16:creationId xmlns:a16="http://schemas.microsoft.com/office/drawing/2014/main" id="{A46AC62E-3DD2-43DB-9AAA-009DDB88F8DD}"/>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460603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subtitle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598"/>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B7882DCB-3FBB-4107-96D9-358054987DA9}"/>
              </a:ext>
            </a:extLst>
          </p:cNvPr>
          <p:cNvSpPr>
            <a:spLocks noGrp="1"/>
          </p:cNvSpPr>
          <p:nvPr>
            <p:ph type="dt" sz="half" idx="11"/>
          </p:nvPr>
        </p:nvSpPr>
        <p:spPr/>
        <p:txBody>
          <a:bodyPr/>
          <a:lstStyle>
            <a:lvl1pPr>
              <a:defRPr b="0" i="0">
                <a:latin typeface="Amazon Ember Display" panose="020F0603020204020204" pitchFamily="34" charset="0"/>
              </a:defRPr>
            </a:lvl1pPr>
          </a:lstStyle>
          <a:p>
            <a:fld id="{344B5C68-7AAF-714C-BA5C-79EE2A2BF521}" type="datetime1">
              <a:rPr lang="en-US" smtClean="0"/>
              <a:pPr/>
              <a:t>9/21/2026</a:t>
            </a:fld>
            <a:endParaRPr lang="en-US" dirty="0"/>
          </a:p>
        </p:txBody>
      </p:sp>
      <p:sp>
        <p:nvSpPr>
          <p:cNvPr id="7" name="Footer Placeholder 6">
            <a:extLst>
              <a:ext uri="{FF2B5EF4-FFF2-40B4-BE49-F238E27FC236}">
                <a16:creationId xmlns:a16="http://schemas.microsoft.com/office/drawing/2014/main" id="{DE50B923-C7E4-4160-8DCE-6199F6C430EF}"/>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149554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1"/>
            <a:ext cx="5248274"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600"/>
            <a:ext cx="5248276"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9/21/2026</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449691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81763FF7-5605-71F8-6697-EB254219C7B0}"/>
              </a:ext>
            </a:extLst>
          </p:cNvPr>
          <p:cNvSpPr/>
          <p:nvPr userDrawn="1"/>
        </p:nvSpPr>
        <p:spPr>
          <a:xfrm>
            <a:off x="512957" y="501806"/>
            <a:ext cx="11240428" cy="5708494"/>
          </a:xfrm>
          <a:prstGeom prst="roundRect">
            <a:avLst>
              <a:gd name="adj" fmla="val 1532"/>
            </a:avLst>
          </a:prstGeom>
          <a:solidFill>
            <a:srgbClr val="1D262F"/>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9/21/2026</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15" name="Picture 14">
            <a:extLst>
              <a:ext uri="{FF2B5EF4-FFF2-40B4-BE49-F238E27FC236}">
                <a16:creationId xmlns:a16="http://schemas.microsoft.com/office/drawing/2014/main" id="{39B32C00-084F-28C0-BB8F-C28174CF1C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065928" y="1942480"/>
            <a:ext cx="398998" cy="338709"/>
          </a:xfrm>
          <a:prstGeom prst="rect">
            <a:avLst/>
          </a:prstGeom>
        </p:spPr>
      </p:pic>
      <p:sp>
        <p:nvSpPr>
          <p:cNvPr id="16" name="Title 1">
            <a:extLst>
              <a:ext uri="{FF2B5EF4-FFF2-40B4-BE49-F238E27FC236}">
                <a16:creationId xmlns:a16="http://schemas.microsoft.com/office/drawing/2014/main" id="{B57A2FB6-579C-8BDA-C03C-733FDD502CE2}"/>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Tree>
    <p:extLst>
      <p:ext uri="{BB962C8B-B14F-4D97-AF65-F5344CB8AC3E}">
        <p14:creationId xmlns:p14="http://schemas.microsoft.com/office/powerpoint/2010/main" val="1003821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64" userDrawn="1">
          <p15:clr>
            <a:srgbClr val="FBAE40"/>
          </p15:clr>
        </p15:guide>
        <p15:guide id="2" orient="horz" pos="25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Quote Gradient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E5C7669-14A6-5D54-857D-1FADC64750D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9/21/2026</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A9F35CF-0293-AD03-12BE-0AD2771A7530}"/>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4" name="Picture 13">
            <a:extLst>
              <a:ext uri="{FF2B5EF4-FFF2-40B4-BE49-F238E27FC236}">
                <a16:creationId xmlns:a16="http://schemas.microsoft.com/office/drawing/2014/main" id="{520B9D2A-5256-0C86-DBF9-819E149FDD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pic>
        <p:nvPicPr>
          <p:cNvPr id="13" name="Picture 12">
            <a:extLst>
              <a:ext uri="{FF2B5EF4-FFF2-40B4-BE49-F238E27FC236}">
                <a16:creationId xmlns:a16="http://schemas.microsoft.com/office/drawing/2014/main" id="{7F237FD4-93CF-BE6F-8A01-F39EF1E259EE}"/>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5928" y="1942480"/>
            <a:ext cx="398997" cy="338709"/>
          </a:xfrm>
          <a:prstGeom prst="rect">
            <a:avLst/>
          </a:prstGeom>
        </p:spPr>
      </p:pic>
      <p:sp>
        <p:nvSpPr>
          <p:cNvPr id="17" name="Title 1">
            <a:extLst>
              <a:ext uri="{FF2B5EF4-FFF2-40B4-BE49-F238E27FC236}">
                <a16:creationId xmlns:a16="http://schemas.microsoft.com/office/drawing/2014/main" id="{74CEA261-0749-39A4-C724-57029DDE91BD}"/>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Tree>
    <p:extLst>
      <p:ext uri="{BB962C8B-B14F-4D97-AF65-F5344CB8AC3E}">
        <p14:creationId xmlns:p14="http://schemas.microsoft.com/office/powerpoint/2010/main" val="71720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Quote Gradient 2">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8D0445-6250-D8A7-DA99-8E3E6B1939E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9/21/2026</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59FA2AE2-2071-6FBA-C0DF-DC91D9C45E81}"/>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4" name="Picture 13">
            <a:extLst>
              <a:ext uri="{FF2B5EF4-FFF2-40B4-BE49-F238E27FC236}">
                <a16:creationId xmlns:a16="http://schemas.microsoft.com/office/drawing/2014/main" id="{3216E5BB-D7F1-57B7-F47C-38FAC1D8C9F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pic>
        <p:nvPicPr>
          <p:cNvPr id="6" name="Picture 5">
            <a:extLst>
              <a:ext uri="{FF2B5EF4-FFF2-40B4-BE49-F238E27FC236}">
                <a16:creationId xmlns:a16="http://schemas.microsoft.com/office/drawing/2014/main" id="{4ABE8694-CEBE-FC6B-2826-A3C160A81068}"/>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5928" y="1942480"/>
            <a:ext cx="398997" cy="338709"/>
          </a:xfrm>
          <a:prstGeom prst="rect">
            <a:avLst/>
          </a:prstGeom>
        </p:spPr>
      </p:pic>
    </p:spTree>
    <p:extLst>
      <p:ext uri="{BB962C8B-B14F-4D97-AF65-F5344CB8AC3E}">
        <p14:creationId xmlns:p14="http://schemas.microsoft.com/office/powerpoint/2010/main" val="2884478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 Gradient 3">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5B3E4E87-E0BD-16D9-98F9-BB7B231C4B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9/21/2026</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2F74E9CC-3075-EE68-DD01-BF810D0A2E59}"/>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6" name="Picture 15">
            <a:extLst>
              <a:ext uri="{FF2B5EF4-FFF2-40B4-BE49-F238E27FC236}">
                <a16:creationId xmlns:a16="http://schemas.microsoft.com/office/drawing/2014/main" id="{AC7AAD79-AAE6-EC0F-FBB1-3EC2FA0CE8B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pic>
        <p:nvPicPr>
          <p:cNvPr id="10" name="Picture 9">
            <a:extLst>
              <a:ext uri="{FF2B5EF4-FFF2-40B4-BE49-F238E27FC236}">
                <a16:creationId xmlns:a16="http://schemas.microsoft.com/office/drawing/2014/main" id="{A52BD0C7-FA87-6543-491D-C8D901F52BAB}"/>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5928" y="1942480"/>
            <a:ext cx="398998" cy="338709"/>
          </a:xfrm>
          <a:prstGeom prst="rect">
            <a:avLst/>
          </a:prstGeom>
        </p:spPr>
      </p:pic>
      <p:sp>
        <p:nvSpPr>
          <p:cNvPr id="13" name="Title 1">
            <a:extLst>
              <a:ext uri="{FF2B5EF4-FFF2-40B4-BE49-F238E27FC236}">
                <a16:creationId xmlns:a16="http://schemas.microsoft.com/office/drawing/2014/main" id="{41DB773A-50B4-2838-9D40-23B240064E7C}"/>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Tree>
    <p:extLst>
      <p:ext uri="{BB962C8B-B14F-4D97-AF65-F5344CB8AC3E}">
        <p14:creationId xmlns:p14="http://schemas.microsoft.com/office/powerpoint/2010/main" val="1592245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Option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54A48E-55BF-C7C1-29F2-A6FC948011C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9/21/2026</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1BD8B1BE-F62C-9842-9FF0-A53695D03916}"/>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3" name="Picture 2">
            <a:extLst>
              <a:ext uri="{FF2B5EF4-FFF2-40B4-BE49-F238E27FC236}">
                <a16:creationId xmlns:a16="http://schemas.microsoft.com/office/drawing/2014/main" id="{37116990-AF13-5F3A-8ED1-EFBA6434906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spTree>
    <p:extLst>
      <p:ext uri="{BB962C8B-B14F-4D97-AF65-F5344CB8AC3E}">
        <p14:creationId xmlns:p14="http://schemas.microsoft.com/office/powerpoint/2010/main" val="107184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Option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046E6-CE12-7F6E-8811-7DF794DE7DB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9/21/2026</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8CECC62-1D56-92A3-418D-0EC34FDA9B78}"/>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4" name="Picture 3">
            <a:extLst>
              <a:ext uri="{FF2B5EF4-FFF2-40B4-BE49-F238E27FC236}">
                <a16:creationId xmlns:a16="http://schemas.microsoft.com/office/drawing/2014/main" id="{A79B369C-4812-6B2A-CCF0-6346B4600A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spTree>
    <p:extLst>
      <p:ext uri="{BB962C8B-B14F-4D97-AF65-F5344CB8AC3E}">
        <p14:creationId xmlns:p14="http://schemas.microsoft.com/office/powerpoint/2010/main" val="3490127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Option 3">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4D5A327-DE22-15C5-BDAA-59E2DD0AB5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9/21/2026</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6F6FE5FF-6177-0943-300C-32D19148D86C}"/>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3" name="Picture 2">
            <a:extLst>
              <a:ext uri="{FF2B5EF4-FFF2-40B4-BE49-F238E27FC236}">
                <a16:creationId xmlns:a16="http://schemas.microsoft.com/office/drawing/2014/main" id="{8D45EC76-5973-D100-2A27-71BAEC1CC4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spTree>
    <p:extLst>
      <p:ext uri="{BB962C8B-B14F-4D97-AF65-F5344CB8AC3E}">
        <p14:creationId xmlns:p14="http://schemas.microsoft.com/office/powerpoint/2010/main" val="2655085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type="obj"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Type or paste plain-text code here; or click icon to add image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A09EAB3-8007-4FDC-BADB-BADCE0CE1871}"/>
              </a:ext>
            </a:extLst>
          </p:cNvPr>
          <p:cNvSpPr>
            <a:spLocks noGrp="1"/>
          </p:cNvSpPr>
          <p:nvPr>
            <p:ph type="dt" sz="half" idx="10"/>
          </p:nvPr>
        </p:nvSpPr>
        <p:spPr/>
        <p:txBody>
          <a:bodyPr/>
          <a:lstStyle>
            <a:lvl1pPr>
              <a:defRPr b="0" i="0">
                <a:latin typeface="Amazon Ember Display" panose="020F0603020204020204" pitchFamily="34" charset="0"/>
              </a:defRPr>
            </a:lvl1pPr>
          </a:lstStyle>
          <a:p>
            <a:fld id="{14000039-AC38-8C4D-BBF6-A4179217D919}" type="datetime1">
              <a:rPr lang="en-US" smtClean="0"/>
              <a:pPr/>
              <a:t>9/21/2026</a:t>
            </a:fld>
            <a:endParaRPr lang="en-US" dirty="0"/>
          </a:p>
        </p:txBody>
      </p:sp>
      <p:sp>
        <p:nvSpPr>
          <p:cNvPr id="5" name="Footer Placeholder 4">
            <a:extLst>
              <a:ext uri="{FF2B5EF4-FFF2-40B4-BE49-F238E27FC236}">
                <a16:creationId xmlns:a16="http://schemas.microsoft.com/office/drawing/2014/main" id="{A5375AEC-53B6-4043-9677-30AD83B02F4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74574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D810155-AFE0-49FD-8E9F-C55D662327A4}"/>
              </a:ext>
            </a:extLst>
          </p:cNvPr>
          <p:cNvSpPr>
            <a:spLocks noGrp="1"/>
          </p:cNvSpPr>
          <p:nvPr>
            <p:ph type="dt" sz="half" idx="10"/>
          </p:nvPr>
        </p:nvSpPr>
        <p:spPr/>
        <p:txBody>
          <a:bodyPr/>
          <a:lstStyle>
            <a:lvl1pPr>
              <a:defRPr b="0" i="0">
                <a:latin typeface="Amazon Ember Display" panose="020F0603020204020204" pitchFamily="34" charset="0"/>
              </a:defRPr>
            </a:lvl1pPr>
          </a:lstStyle>
          <a:p>
            <a:fld id="{BA838F1F-E927-864D-8933-A87A9B46D340}" type="datetime1">
              <a:rPr lang="en-US" smtClean="0"/>
              <a:pPr/>
              <a:t>9/21/2026</a:t>
            </a:fld>
            <a:endParaRPr lang="en-US" dirty="0"/>
          </a:p>
        </p:txBody>
      </p:sp>
      <p:sp>
        <p:nvSpPr>
          <p:cNvPr id="6" name="Footer Placeholder 5">
            <a:extLst>
              <a:ext uri="{FF2B5EF4-FFF2-40B4-BE49-F238E27FC236}">
                <a16:creationId xmlns:a16="http://schemas.microsoft.com/office/drawing/2014/main" id="{C99A757A-A572-48F6-B0E7-EBDAFBA598C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496192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653256" y="3226552"/>
            <a:ext cx="6823869" cy="750238"/>
          </a:xfrm>
          <a:prstGeom prst="rect">
            <a:avLst/>
          </a:prstGeom>
        </p:spPr>
        <p:txBody>
          <a:bodyPr/>
          <a:lstStyle>
            <a:lvl1pPr>
              <a:defRPr sz="2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subtitle</a:t>
            </a:r>
          </a:p>
        </p:txBody>
      </p:sp>
      <p:sp>
        <p:nvSpPr>
          <p:cNvPr id="3" name="Date Placeholder 2">
            <a:extLst>
              <a:ext uri="{FF2B5EF4-FFF2-40B4-BE49-F238E27FC236}">
                <a16:creationId xmlns:a16="http://schemas.microsoft.com/office/drawing/2014/main" id="{35841FE7-5B7D-4299-B262-F8E574B50BA0}"/>
              </a:ext>
            </a:extLst>
          </p:cNvPr>
          <p:cNvSpPr>
            <a:spLocks noGrp="1"/>
          </p:cNvSpPr>
          <p:nvPr>
            <p:ph type="dt" sz="half" idx="10"/>
          </p:nvPr>
        </p:nvSpPr>
        <p:spPr/>
        <p:txBody>
          <a:bodyPr/>
          <a:lstStyle>
            <a:lvl1pPr>
              <a:defRPr b="0" i="0">
                <a:latin typeface="Amazon Ember Display" panose="020F0603020204020204" pitchFamily="34" charset="0"/>
              </a:defRPr>
            </a:lvl1pPr>
          </a:lstStyle>
          <a:p>
            <a:fld id="{F5CD9E88-8D52-D44B-9301-05276D5B5248}" type="datetime1">
              <a:rPr lang="en-US" smtClean="0"/>
              <a:pPr/>
              <a:t>9/21/2026</a:t>
            </a:fld>
            <a:endParaRPr lang="en-US" dirty="0"/>
          </a:p>
        </p:txBody>
      </p:sp>
      <p:sp>
        <p:nvSpPr>
          <p:cNvPr id="4" name="Footer Placeholder 3">
            <a:extLst>
              <a:ext uri="{FF2B5EF4-FFF2-40B4-BE49-F238E27FC236}">
                <a16:creationId xmlns:a16="http://schemas.microsoft.com/office/drawing/2014/main" id="{728617C0-A817-49E3-9857-07752AB40137}"/>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6" name="TextBox 5">
            <a:extLst>
              <a:ext uri="{FF2B5EF4-FFF2-40B4-BE49-F238E27FC236}">
                <a16:creationId xmlns:a16="http://schemas.microsoft.com/office/drawing/2014/main" id="{90F7951E-E6AB-4553-9142-A91D5BC58C21}"/>
              </a:ext>
            </a:extLst>
          </p:cNvPr>
          <p:cNvSpPr txBox="1"/>
          <p:nvPr userDrawn="1"/>
        </p:nvSpPr>
        <p:spPr>
          <a:xfrm>
            <a:off x="609599" y="2428875"/>
            <a:ext cx="6867525" cy="955666"/>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Q&amp;A</a:t>
            </a:r>
          </a:p>
        </p:txBody>
      </p:sp>
    </p:spTree>
    <p:extLst>
      <p:ext uri="{BB962C8B-B14F-4D97-AF65-F5344CB8AC3E}">
        <p14:creationId xmlns:p14="http://schemas.microsoft.com/office/powerpoint/2010/main" val="1105406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73436"/>
            <a:ext cx="7823200" cy="1311128"/>
          </a:xfrm>
          <a:prstGeom prst="rect">
            <a:avLst/>
          </a:prstGeom>
        </p:spPr>
        <p:txBody>
          <a:bodyPr anchor="ctr"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Video or demo divider: Enter “Video” or “Demo” here</a:t>
            </a:r>
          </a:p>
        </p:txBody>
      </p:sp>
    </p:spTree>
    <p:extLst>
      <p:ext uri="{BB962C8B-B14F-4D97-AF65-F5344CB8AC3E}">
        <p14:creationId xmlns:p14="http://schemas.microsoft.com/office/powerpoint/2010/main" val="2706605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userDrawn="1"/>
        </p:nvPicPr>
        <p:blipFill>
          <a:blip r:embed="rId2"/>
          <a:stretch>
            <a:fillRect/>
          </a:stretch>
        </p:blipFill>
        <p:spPr>
          <a:xfrm>
            <a:off x="4994672" y="2327672"/>
            <a:ext cx="2202656" cy="2202656"/>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12192000" cy="6858000"/>
          </a:xfrm>
          <a:solidFill>
            <a:schemeClr val="bg2"/>
          </a:solidFill>
        </p:spPr>
        <p:txBody>
          <a:bodyPr lIns="548640" anchor="ctr">
            <a:noAutofit/>
          </a:bodyPr>
          <a:lstStyle>
            <a:lvl1pPr marL="0" indent="0" algn="ctr">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media</a:t>
            </a:r>
          </a:p>
        </p:txBody>
      </p:sp>
    </p:spTree>
    <p:extLst>
      <p:ext uri="{BB962C8B-B14F-4D97-AF65-F5344CB8AC3E}">
        <p14:creationId xmlns:p14="http://schemas.microsoft.com/office/powerpoint/2010/main" val="100911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539262" y="914401"/>
            <a:ext cx="10972800" cy="646331"/>
          </a:xfrm>
          <a:prstGeom prst="rect">
            <a:avLst/>
          </a:prstGeom>
        </p:spPr>
        <p:txBody>
          <a:bodyPr anchor="t" anchorCtr="0">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Content with caption layout</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6210300" y="1714501"/>
            <a:ext cx="5372100" cy="2232406"/>
          </a:xfrm>
        </p:spPr>
        <p:txBody>
          <a:bodyPr/>
          <a:lstStyle>
            <a:lvl1pPr marL="457200" indent="-457200">
              <a:buFont typeface="Arial" panose="020B0604020202020204" pitchFamily="34" charset="0"/>
              <a:buChar char="•"/>
              <a:defRPr sz="2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vl6pPr>
              <a:defRPr sz="2000"/>
            </a:lvl6pPr>
            <a:lvl7pPr>
              <a:defRPr sz="2000"/>
            </a:lvl7pPr>
            <a:lvl8pPr>
              <a:defRPr sz="2000"/>
            </a:lvl8pPr>
            <a:lvl9pPr>
              <a:defRPr sz="2000"/>
            </a:lvl9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609598" y="1725611"/>
            <a:ext cx="537210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Tree>
    <p:extLst>
      <p:ext uri="{BB962C8B-B14F-4D97-AF65-F5344CB8AC3E}">
        <p14:creationId xmlns:p14="http://schemas.microsoft.com/office/powerpoint/2010/main" val="12791509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ank You Option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FB9EFE0-8E44-C90C-B937-EC90601AF0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pic>
        <p:nvPicPr>
          <p:cNvPr id="4" name="Picture 3">
            <a:extLst>
              <a:ext uri="{FF2B5EF4-FFF2-40B4-BE49-F238E27FC236}">
                <a16:creationId xmlns:a16="http://schemas.microsoft.com/office/drawing/2014/main" id="{DF991574-CEFD-26D9-588F-1C0FFBCDA2F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
        <p:nvSpPr>
          <p:cNvPr id="2" name="TextBox 1">
            <a:extLst>
              <a:ext uri="{FF2B5EF4-FFF2-40B4-BE49-F238E27FC236}">
                <a16:creationId xmlns:a16="http://schemas.microsoft.com/office/drawing/2014/main" id="{EA8C7E34-CF30-2AED-4C9C-32CE310B5A51}"/>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58040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ank You Option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92306B6-0447-DE92-96EA-90340D62C6C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 Placeholder 7">
            <a:extLst>
              <a:ext uri="{FF2B5EF4-FFF2-40B4-BE49-F238E27FC236}">
                <a16:creationId xmlns:a16="http://schemas.microsoft.com/office/drawing/2014/main" id="{F4CEAE59-88AB-067D-8305-5D60E5C0CC94}"/>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7ED4E7E8-6939-47DD-F50C-1BE8D7C7AB1B}"/>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B0E08B7E-513C-0B0B-9DC0-33A10068E811}"/>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1EF1BFC-F8EA-31FF-2ECB-6FE640057D1C}"/>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BCF5D785-7779-B4A7-1593-D9E4005D4186}"/>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6C67EAE0-22D8-7774-6075-2E7C8D357946}"/>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8B073B14-3FCE-9EBE-8EF4-076D31F5D3A9}"/>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2B64E461-542C-9DF0-B91E-B36341643F32}"/>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pic>
        <p:nvPicPr>
          <p:cNvPr id="8" name="Picture 7">
            <a:extLst>
              <a:ext uri="{FF2B5EF4-FFF2-40B4-BE49-F238E27FC236}">
                <a16:creationId xmlns:a16="http://schemas.microsoft.com/office/drawing/2014/main" id="{113BB739-DBCB-A674-9F3C-97310C1F9F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
        <p:nvSpPr>
          <p:cNvPr id="10" name="TextBox 9">
            <a:extLst>
              <a:ext uri="{FF2B5EF4-FFF2-40B4-BE49-F238E27FC236}">
                <a16:creationId xmlns:a16="http://schemas.microsoft.com/office/drawing/2014/main" id="{5A7816D4-9E22-E961-B267-8DCA00D5E0AD}"/>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398598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hank You Option 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B132DE-7B4D-84B4-29EF-A28CEB1958F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Picture 7">
            <a:extLst>
              <a:ext uri="{FF2B5EF4-FFF2-40B4-BE49-F238E27FC236}">
                <a16:creationId xmlns:a16="http://schemas.microsoft.com/office/drawing/2014/main" id="{06618CA2-623A-29DB-A6D4-EB10D6D59A2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02686" y="5616413"/>
            <a:ext cx="979714" cy="586152"/>
          </a:xfrm>
          <a:prstGeom prst="rect">
            <a:avLst/>
          </a:prstGeom>
        </p:spPr>
      </p:pic>
      <p:sp>
        <p:nvSpPr>
          <p:cNvPr id="3" name="Text Placeholder 7">
            <a:extLst>
              <a:ext uri="{FF2B5EF4-FFF2-40B4-BE49-F238E27FC236}">
                <a16:creationId xmlns:a16="http://schemas.microsoft.com/office/drawing/2014/main" id="{C3E01366-E822-32FE-65C0-B3B4125945BA}"/>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1E78FCF9-F25E-3767-EB4A-8D919FAD0C7D}"/>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4A1C9D7C-4935-7A74-21C6-B88B45377B89}"/>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0D6E1ED-92EF-4477-D94E-EDA210EF8854}"/>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3F1AB78F-B9B6-3B94-6F03-015F0598F319}"/>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7B0FD9D2-77A6-9253-CB15-84E1C403FB55}"/>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DAE79A02-C451-B664-9107-9D196F3382D7}"/>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1416FB4C-1D1E-4119-B730-03DD2E265086}"/>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10" name="TextBox 9">
            <a:extLst>
              <a:ext uri="{FF2B5EF4-FFF2-40B4-BE49-F238E27FC236}">
                <a16:creationId xmlns:a16="http://schemas.microsoft.com/office/drawing/2014/main" id="{573418EE-3F95-4F71-83CC-C11186EB4B28}"/>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099431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a:xfrm>
            <a:off x="609600"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9435402" y="1718982"/>
            <a:ext cx="2146998" cy="4491317"/>
          </a:xfrm>
        </p:spPr>
        <p:txBody>
          <a:bodyPr vert="eaVert"/>
          <a:lstStyle>
            <a:lvl1pPr marL="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9144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3716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8288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7BCF1F-274F-4C05-8696-189CDAE0C33B}"/>
              </a:ext>
            </a:extLst>
          </p:cNvPr>
          <p:cNvSpPr>
            <a:spLocks noGrp="1"/>
          </p:cNvSpPr>
          <p:nvPr>
            <p:ph type="dt" sz="half" idx="10"/>
          </p:nvPr>
        </p:nvSpPr>
        <p:spPr/>
        <p:txBody>
          <a:bodyPr/>
          <a:lstStyle>
            <a:lvl1pPr>
              <a:defRPr b="0" i="0">
                <a:latin typeface="Amazon Ember Display" panose="020F0603020204020204" pitchFamily="34" charset="0"/>
              </a:defRPr>
            </a:lvl1pPr>
          </a:lstStyle>
          <a:p>
            <a:fld id="{8DF6AC9B-6FB6-E64C-9786-C40DFE89F624}" type="datetime1">
              <a:rPr lang="en-US" smtClean="0"/>
              <a:pPr/>
              <a:t>9/21/2026</a:t>
            </a:fld>
            <a:endParaRPr lang="en-US" dirty="0"/>
          </a:p>
        </p:txBody>
      </p:sp>
      <p:sp>
        <p:nvSpPr>
          <p:cNvPr id="5" name="Footer Placeholder 4">
            <a:extLst>
              <a:ext uri="{FF2B5EF4-FFF2-40B4-BE49-F238E27FC236}">
                <a16:creationId xmlns:a16="http://schemas.microsoft.com/office/drawing/2014/main" id="{34FBB62C-DD5C-4CC6-98BC-330285579B79}"/>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44570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724900" y="914399"/>
            <a:ext cx="2857500" cy="5295901"/>
          </a:xfrm>
          <a:prstGeom prst="rect">
            <a:avLst/>
          </a:prstGeom>
        </p:spPr>
        <p:txBody>
          <a:bodyPr vert="eaVert">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6425502" y="914399"/>
            <a:ext cx="2146998" cy="5295901"/>
          </a:xfrm>
        </p:spPr>
        <p:txBody>
          <a:bodyPr vert="eaVert"/>
          <a:lstStyle>
            <a:lvl1pPr marL="457200" indent="-4572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D98874D-2362-4107-9CFB-6624C519CF0C}"/>
              </a:ext>
            </a:extLst>
          </p:cNvPr>
          <p:cNvSpPr>
            <a:spLocks noGrp="1"/>
          </p:cNvSpPr>
          <p:nvPr>
            <p:ph type="dt" sz="half" idx="10"/>
          </p:nvPr>
        </p:nvSpPr>
        <p:spPr/>
        <p:txBody>
          <a:bodyPr/>
          <a:lstStyle>
            <a:lvl1pPr>
              <a:defRPr b="0" i="0">
                <a:latin typeface="Amazon Ember Display" panose="020F0603020204020204" pitchFamily="34" charset="0"/>
              </a:defRPr>
            </a:lvl1pPr>
          </a:lstStyle>
          <a:p>
            <a:fld id="{21DD148F-2774-EA45-8C22-2C39149188FB}" type="datetime1">
              <a:rPr lang="en-US" smtClean="0"/>
              <a:pPr/>
              <a:t>9/21/2026</a:t>
            </a:fld>
            <a:endParaRPr lang="en-US" dirty="0"/>
          </a:p>
        </p:txBody>
      </p:sp>
      <p:sp>
        <p:nvSpPr>
          <p:cNvPr id="5" name="Footer Placeholder 4">
            <a:extLst>
              <a:ext uri="{FF2B5EF4-FFF2-40B4-BE49-F238E27FC236}">
                <a16:creationId xmlns:a16="http://schemas.microsoft.com/office/drawing/2014/main" id="{0C81FEF1-5834-4539-A37C-ED5E275C6D2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3600132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Titelfoli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BA0735A-F6CF-4B98-8532-D70ECE04B1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flipV="1">
            <a:off x="0" y="127"/>
            <a:ext cx="12192000" cy="6857745"/>
          </a:xfrm>
          <a:prstGeom prst="rect">
            <a:avLst/>
          </a:prstGeom>
        </p:spPr>
      </p:pic>
      <p:pic>
        <p:nvPicPr>
          <p:cNvPr id="13" name="Picture 12">
            <a:extLst>
              <a:ext uri="{FF2B5EF4-FFF2-40B4-BE49-F238E27FC236}">
                <a16:creationId xmlns:a16="http://schemas.microsoft.com/office/drawing/2014/main" id="{A3BF3270-8A43-4991-B514-44716452328F}"/>
              </a:ext>
            </a:extLst>
          </p:cNvPr>
          <p:cNvPicPr>
            <a:picLocks noChangeAspect="1"/>
          </p:cNvPicPr>
          <p:nvPr userDrawn="1"/>
        </p:nvPicPr>
        <p:blipFill>
          <a:blip r:embed="rId3"/>
          <a:srcRect/>
          <a:stretch/>
        </p:blipFill>
        <p:spPr>
          <a:xfrm>
            <a:off x="292501" y="6428661"/>
            <a:ext cx="388818" cy="219592"/>
          </a:xfrm>
          <a:prstGeom prst="rect">
            <a:avLst/>
          </a:prstGeom>
        </p:spPr>
      </p:pic>
      <p:sp>
        <p:nvSpPr>
          <p:cNvPr id="4" name="Text Placeholder 6">
            <a:extLst>
              <a:ext uri="{FF2B5EF4-FFF2-40B4-BE49-F238E27FC236}">
                <a16:creationId xmlns:a16="http://schemas.microsoft.com/office/drawing/2014/main" id="{C31EE5F0-84FB-189B-E214-184BE8EEA791}"/>
              </a:ext>
            </a:extLst>
          </p:cNvPr>
          <p:cNvSpPr>
            <a:spLocks noGrp="1"/>
          </p:cNvSpPr>
          <p:nvPr>
            <p:ph type="body" sz="quarter" idx="10" hasCustomPrompt="1"/>
          </p:nvPr>
        </p:nvSpPr>
        <p:spPr>
          <a:xfrm>
            <a:off x="609600" y="1714499"/>
            <a:ext cx="10888576" cy="4229099"/>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Content</a:t>
            </a:r>
          </a:p>
        </p:txBody>
      </p:sp>
      <p:sp>
        <p:nvSpPr>
          <p:cNvPr id="5" name="Title 1">
            <a:extLst>
              <a:ext uri="{FF2B5EF4-FFF2-40B4-BE49-F238E27FC236}">
                <a16:creationId xmlns:a16="http://schemas.microsoft.com/office/drawing/2014/main" id="{ADB08D3C-954A-5AEC-F502-E30BF237D4BE}"/>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a:t>
            </a:r>
          </a:p>
        </p:txBody>
      </p:sp>
    </p:spTree>
    <p:extLst>
      <p:ext uri="{BB962C8B-B14F-4D97-AF65-F5344CB8AC3E}">
        <p14:creationId xmlns:p14="http://schemas.microsoft.com/office/powerpoint/2010/main" val="213817773"/>
      </p:ext>
    </p:extLst>
  </p:cSld>
  <p:clrMapOvr>
    <a:masterClrMapping/>
  </p:clrMapOvr>
  <p:extLst>
    <p:ext uri="{DCECCB84-F9BA-43D5-87BE-67443E8EF086}">
      <p15:sldGuideLst xmlns:p15="http://schemas.microsoft.com/office/powerpoint/2012/main">
        <p15:guide id="1" orient="horz" pos="1632">
          <p15:clr>
            <a:srgbClr val="FBAE40"/>
          </p15:clr>
        </p15:guide>
        <p15:guide id="2" orient="horz" pos="912">
          <p15:clr>
            <a:srgbClr val="FBAE40"/>
          </p15:clr>
        </p15:guide>
        <p15:guide id="3" orient="horz" pos="1248">
          <p15:clr>
            <a:srgbClr val="FBAE40"/>
          </p15:clr>
        </p15:guide>
        <p15:guide id="4" orient="horz" pos="2952">
          <p15:clr>
            <a:srgbClr val="FBAE40"/>
          </p15:clr>
        </p15:guide>
        <p15:guide id="5" orient="horz" pos="316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gradient)">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2767937"/>
          </a:xfrm>
        </p:spPr>
        <p:txBody>
          <a:bodyPr/>
          <a:lstStyle>
            <a:lvl1pPr marL="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lvl1pPr>
              <a:defRPr b="0" i="0">
                <a:latin typeface="Amazon Ember Display" panose="020F0603020204020204" pitchFamily="34" charset="0"/>
              </a:defRPr>
            </a:lvl1pPr>
          </a:lstStyle>
          <a:p>
            <a:fld id="{B9026E32-37D5-A446-8A01-9B6BBEB5E690}" type="datetime1">
              <a:rPr lang="en-US" smtClean="0"/>
              <a:pPr/>
              <a:t>9/21/2026</a:t>
            </a:fld>
            <a:endParaRPr lang="en-US" dirty="0"/>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10861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twoTxTwoObj" preserve="1">
  <p:cSld name="Comparison (gradient)">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9/21/2026</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21641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userDrawn="1">
  <p:cSld name="Title Slide - Three Speakers">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A4FF4FF4-E05F-4CB2-B3ED-A92CB8845B6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flipV="1">
            <a:off x="0" y="127"/>
            <a:ext cx="12192000" cy="6857745"/>
          </a:xfrm>
          <a:prstGeom prst="rect">
            <a:avLst/>
          </a:prstGeom>
        </p:spPr>
      </p:pic>
      <p:sp>
        <p:nvSpPr>
          <p:cNvPr id="2" name="Title 1">
            <a:extLst>
              <a:ext uri="{FF2B5EF4-FFF2-40B4-BE49-F238E27FC236}">
                <a16:creationId xmlns:a16="http://schemas.microsoft.com/office/drawing/2014/main" id="{C2145E96-6390-4B32-98EC-4FC0B3DE521E}"/>
              </a:ext>
            </a:extLst>
          </p:cNvPr>
          <p:cNvSpPr>
            <a:spLocks noGrp="1"/>
          </p:cNvSpPr>
          <p:nvPr>
            <p:ph type="ctrTitle" hasCustomPrompt="1"/>
          </p:nvPr>
        </p:nvSpPr>
        <p:spPr>
          <a:xfrm>
            <a:off x="322916" y="2400300"/>
            <a:ext cx="9144000" cy="1865508"/>
          </a:xfrm>
        </p:spPr>
        <p:txBody>
          <a:bodyPr rIns="0" anchor="t"/>
          <a:lstStyle>
            <a:lvl1pPr algn="l">
              <a:defRPr sz="4400" baseline="0"/>
            </a:lvl1pPr>
          </a:lstStyle>
          <a:p>
            <a:r>
              <a:rPr lang="en-US" dirty="0"/>
              <a:t>Enter session title</a:t>
            </a:r>
          </a:p>
        </p:txBody>
      </p:sp>
      <p:sp>
        <p:nvSpPr>
          <p:cNvPr id="15" name="Text Placeholder 14">
            <a:extLst>
              <a:ext uri="{FF2B5EF4-FFF2-40B4-BE49-F238E27FC236}">
                <a16:creationId xmlns:a16="http://schemas.microsoft.com/office/drawing/2014/main" id="{A895110F-1301-4F35-88E1-CA30832C9BEC}"/>
              </a:ext>
            </a:extLst>
          </p:cNvPr>
          <p:cNvSpPr>
            <a:spLocks noGrp="1"/>
          </p:cNvSpPr>
          <p:nvPr>
            <p:ph type="body" sz="quarter" idx="12" hasCustomPrompt="1"/>
          </p:nvPr>
        </p:nvSpPr>
        <p:spPr>
          <a:xfrm>
            <a:off x="322916" y="5029200"/>
            <a:ext cx="3403601" cy="801688"/>
          </a:xfrm>
        </p:spPr>
        <p:txBody>
          <a:bodyPr/>
          <a:lstStyle>
            <a:lvl1pPr marL="0" indent="0">
              <a:spcAft>
                <a:spcPts val="300"/>
              </a:spcAft>
              <a:buNone/>
              <a:defRPr sz="1600"/>
            </a:lvl1pPr>
            <a:lvl2pPr marL="365760" indent="0">
              <a:buNone/>
              <a:defRPr sz="2400"/>
            </a:lvl2pPr>
            <a:lvl3pPr marL="777240" indent="0">
              <a:buNone/>
              <a:defRPr sz="2400"/>
            </a:lvl3pPr>
            <a:lvl4pPr marL="1051560" indent="0">
              <a:buNone/>
              <a:defRPr sz="2400"/>
            </a:lvl4pPr>
            <a:lvl5pPr marL="1051560" indent="0">
              <a:buNone/>
              <a:defRPr sz="2400"/>
            </a:lvl5pPr>
          </a:lstStyle>
          <a:p>
            <a:pPr lvl="0"/>
            <a:r>
              <a:rPr lang="en-US" dirty="0"/>
              <a:t>Job title</a:t>
            </a:r>
            <a:br>
              <a:rPr lang="en-US" dirty="0"/>
            </a:br>
            <a:r>
              <a:rPr lang="en-US" dirty="0"/>
              <a:t>Company</a:t>
            </a:r>
          </a:p>
        </p:txBody>
      </p:sp>
      <p:sp>
        <p:nvSpPr>
          <p:cNvPr id="5" name="Text Placeholder 4">
            <a:extLst>
              <a:ext uri="{FF2B5EF4-FFF2-40B4-BE49-F238E27FC236}">
                <a16:creationId xmlns:a16="http://schemas.microsoft.com/office/drawing/2014/main" id="{41028208-8E6A-4F48-AB75-B1723B3DEE61}"/>
              </a:ext>
            </a:extLst>
          </p:cNvPr>
          <p:cNvSpPr>
            <a:spLocks noGrp="1"/>
          </p:cNvSpPr>
          <p:nvPr>
            <p:ph type="body" sz="quarter" idx="13" hasCustomPrompt="1"/>
          </p:nvPr>
        </p:nvSpPr>
        <p:spPr>
          <a:xfrm>
            <a:off x="4074541" y="4686300"/>
            <a:ext cx="3401568" cy="342900"/>
          </a:xfrm>
        </p:spPr>
        <p:txBody>
          <a:bodyPr/>
          <a:lstStyle>
            <a:lvl1pPr marL="0" indent="0">
              <a:buNone/>
              <a:defRPr sz="2000"/>
            </a:lvl1pPr>
            <a:lvl2pPr marL="365760" indent="0">
              <a:buNone/>
              <a:defRPr sz="2000"/>
            </a:lvl2pPr>
            <a:lvl3pPr marL="777240" indent="0">
              <a:buNone/>
              <a:defRPr sz="2000"/>
            </a:lvl3pPr>
            <a:lvl4pPr marL="1051560" indent="0">
              <a:buNone/>
              <a:defRPr sz="2000"/>
            </a:lvl4pPr>
            <a:lvl5pPr marL="1051560" indent="0">
              <a:buNone/>
              <a:defRPr sz="2000"/>
            </a:lvl5pPr>
          </a:lstStyle>
          <a:p>
            <a:pPr lvl="0"/>
            <a:r>
              <a:rPr lang="en-US" dirty="0"/>
              <a:t>Speaker name (pronouns)</a:t>
            </a:r>
          </a:p>
        </p:txBody>
      </p:sp>
      <p:sp>
        <p:nvSpPr>
          <p:cNvPr id="8" name="Text Placeholder 7">
            <a:extLst>
              <a:ext uri="{FF2B5EF4-FFF2-40B4-BE49-F238E27FC236}">
                <a16:creationId xmlns:a16="http://schemas.microsoft.com/office/drawing/2014/main" id="{338A6CC6-CFD6-4AE0-BFB3-DB4EE355B28D}"/>
              </a:ext>
            </a:extLst>
          </p:cNvPr>
          <p:cNvSpPr>
            <a:spLocks noGrp="1"/>
          </p:cNvSpPr>
          <p:nvPr>
            <p:ph type="body" sz="quarter" idx="14" hasCustomPrompt="1"/>
          </p:nvPr>
        </p:nvSpPr>
        <p:spPr>
          <a:xfrm>
            <a:off x="4074541" y="5029200"/>
            <a:ext cx="3401568" cy="801688"/>
          </a:xfrm>
        </p:spPr>
        <p:txBody>
          <a:bodyPr/>
          <a:lstStyle>
            <a:lvl1pPr marL="0" indent="0">
              <a:spcAft>
                <a:spcPts val="300"/>
              </a:spcAft>
              <a:buNone/>
              <a:defRPr sz="1600"/>
            </a:lvl1pPr>
            <a:lvl2pPr marL="365760" indent="0">
              <a:buNone/>
              <a:defRPr sz="2000"/>
            </a:lvl2pPr>
            <a:lvl3pPr marL="777240" indent="0">
              <a:buNone/>
              <a:defRPr sz="2000"/>
            </a:lvl3pPr>
            <a:lvl4pPr marL="1051560" indent="0">
              <a:buNone/>
              <a:defRPr sz="2000"/>
            </a:lvl4pPr>
            <a:lvl5pPr marL="1051560" indent="0">
              <a:buNone/>
              <a:defRPr sz="2000"/>
            </a:lvl5pPr>
          </a:lstStyle>
          <a:p>
            <a:pPr lvl="0"/>
            <a:r>
              <a:rPr lang="en-US" dirty="0"/>
              <a:t>Job title </a:t>
            </a:r>
            <a:br>
              <a:rPr lang="en-US" dirty="0"/>
            </a:br>
            <a:r>
              <a:rPr lang="en-US" dirty="0"/>
              <a:t>Company</a:t>
            </a:r>
          </a:p>
        </p:txBody>
      </p:sp>
      <p:sp>
        <p:nvSpPr>
          <p:cNvPr id="6" name="Text Placeholder 5">
            <a:extLst>
              <a:ext uri="{FF2B5EF4-FFF2-40B4-BE49-F238E27FC236}">
                <a16:creationId xmlns:a16="http://schemas.microsoft.com/office/drawing/2014/main" id="{5FC22D29-44FB-4743-8127-50AC5248D55F}"/>
              </a:ext>
            </a:extLst>
          </p:cNvPr>
          <p:cNvSpPr>
            <a:spLocks noGrp="1"/>
          </p:cNvSpPr>
          <p:nvPr>
            <p:ph type="body" sz="quarter" idx="15" hasCustomPrompt="1"/>
          </p:nvPr>
        </p:nvSpPr>
        <p:spPr>
          <a:xfrm>
            <a:off x="7832725" y="4686300"/>
            <a:ext cx="3401568" cy="342900"/>
          </a:xfrm>
        </p:spPr>
        <p:txBody>
          <a:bodyPr/>
          <a:lstStyle>
            <a:lvl1pPr marL="0" indent="0">
              <a:buNone/>
              <a:defRPr sz="2000"/>
            </a:lvl1pPr>
            <a:lvl2pPr>
              <a:defRPr sz="2000"/>
            </a:lvl2pPr>
            <a:lvl3pPr>
              <a:defRPr sz="2000"/>
            </a:lvl3pPr>
            <a:lvl4pPr>
              <a:defRPr sz="2000"/>
            </a:lvl4pPr>
            <a:lvl5pPr>
              <a:defRPr sz="2000"/>
            </a:lvl5pPr>
          </a:lstStyle>
          <a:p>
            <a:pPr lvl="0"/>
            <a:r>
              <a:rPr lang="en-US" dirty="0"/>
              <a:t>Speaker name (pronouns)</a:t>
            </a:r>
          </a:p>
        </p:txBody>
      </p:sp>
      <p:sp>
        <p:nvSpPr>
          <p:cNvPr id="14" name="Text Placeholder 13">
            <a:extLst>
              <a:ext uri="{FF2B5EF4-FFF2-40B4-BE49-F238E27FC236}">
                <a16:creationId xmlns:a16="http://schemas.microsoft.com/office/drawing/2014/main" id="{FEEED678-F023-4A95-BDA9-3891765008C5}"/>
              </a:ext>
            </a:extLst>
          </p:cNvPr>
          <p:cNvSpPr>
            <a:spLocks noGrp="1"/>
          </p:cNvSpPr>
          <p:nvPr>
            <p:ph type="body" sz="quarter" idx="16" hasCustomPrompt="1"/>
          </p:nvPr>
        </p:nvSpPr>
        <p:spPr>
          <a:xfrm>
            <a:off x="7832725" y="5029200"/>
            <a:ext cx="3402013" cy="801688"/>
          </a:xfrm>
        </p:spPr>
        <p:txBody>
          <a:bodyPr/>
          <a:lstStyle>
            <a:lvl1pPr marL="0" indent="0">
              <a:spcAft>
                <a:spcPts val="300"/>
              </a:spcAft>
              <a:buNone/>
              <a:defRPr sz="1600"/>
            </a:lvl1pPr>
            <a:lvl2pPr marL="365760" indent="0">
              <a:buNone/>
              <a:defRPr sz="2000"/>
            </a:lvl2pPr>
            <a:lvl3pPr marL="777240" indent="0">
              <a:buNone/>
              <a:defRPr sz="2000"/>
            </a:lvl3pPr>
            <a:lvl4pPr marL="1051560" indent="0">
              <a:buNone/>
              <a:defRPr sz="2000"/>
            </a:lvl4pPr>
            <a:lvl5pPr marL="1051560" indent="0">
              <a:buNone/>
              <a:defRPr sz="2000"/>
            </a:lvl5pPr>
          </a:lstStyle>
          <a:p>
            <a:pPr lvl="0"/>
            <a:r>
              <a:rPr lang="en-US" dirty="0"/>
              <a:t>Job title </a:t>
            </a:r>
            <a:br>
              <a:rPr lang="en-US" dirty="0"/>
            </a:br>
            <a:r>
              <a:rPr lang="en-US" dirty="0"/>
              <a:t>Company</a:t>
            </a:r>
          </a:p>
        </p:txBody>
      </p:sp>
      <p:sp>
        <p:nvSpPr>
          <p:cNvPr id="18" name="Subtitle 2">
            <a:extLst>
              <a:ext uri="{FF2B5EF4-FFF2-40B4-BE49-F238E27FC236}">
                <a16:creationId xmlns:a16="http://schemas.microsoft.com/office/drawing/2014/main" id="{C698135A-0031-43C8-B455-E454B8F0A099}"/>
              </a:ext>
            </a:extLst>
          </p:cNvPr>
          <p:cNvSpPr>
            <a:spLocks noGrp="1"/>
          </p:cNvSpPr>
          <p:nvPr>
            <p:ph type="subTitle" idx="1" hasCustomPrompt="1"/>
          </p:nvPr>
        </p:nvSpPr>
        <p:spPr>
          <a:xfrm>
            <a:off x="322916" y="1990726"/>
            <a:ext cx="9144000" cy="255587"/>
          </a:xfrm>
        </p:spPr>
        <p:txBody>
          <a:bodyPr/>
          <a:lstStyle>
            <a:lvl1pPr marL="0" indent="0" algn="l">
              <a:buNone/>
              <a:defRPr sz="1200" b="1" cap="all" spc="300" baseline="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Legal text placeholder (for copyeditor use only)</a:t>
            </a:r>
          </a:p>
        </p:txBody>
      </p:sp>
      <p:sp>
        <p:nvSpPr>
          <p:cNvPr id="16" name="Text Placeholder 8">
            <a:extLst>
              <a:ext uri="{FF2B5EF4-FFF2-40B4-BE49-F238E27FC236}">
                <a16:creationId xmlns:a16="http://schemas.microsoft.com/office/drawing/2014/main" id="{B7BC778F-01A3-4459-9342-87E578B9086F}"/>
              </a:ext>
            </a:extLst>
          </p:cNvPr>
          <p:cNvSpPr>
            <a:spLocks noGrp="1"/>
          </p:cNvSpPr>
          <p:nvPr>
            <p:ph type="body" sz="quarter" idx="10" hasCustomPrompt="1"/>
          </p:nvPr>
        </p:nvSpPr>
        <p:spPr>
          <a:xfrm>
            <a:off x="322916" y="4686300"/>
            <a:ext cx="3397250" cy="337545"/>
          </a:xfrm>
        </p:spPr>
        <p:txBody>
          <a:bodyPr/>
          <a:lstStyle>
            <a:lvl1pPr marL="0" indent="0">
              <a:buNone/>
              <a:defRPr sz="2000" b="0" cap="none" spc="0" baseline="0">
                <a:solidFill>
                  <a:schemeClr val="tx1"/>
                </a:solidFill>
              </a:defRPr>
            </a:lvl1pPr>
          </a:lstStyle>
          <a:p>
            <a:pPr lvl="0"/>
            <a:r>
              <a:rPr lang="en-US" dirty="0"/>
              <a:t>Speaker name (pronouns)</a:t>
            </a:r>
          </a:p>
        </p:txBody>
      </p:sp>
      <p:sp>
        <p:nvSpPr>
          <p:cNvPr id="20" name="Text Placeholder 8">
            <a:extLst>
              <a:ext uri="{FF2B5EF4-FFF2-40B4-BE49-F238E27FC236}">
                <a16:creationId xmlns:a16="http://schemas.microsoft.com/office/drawing/2014/main" id="{B1E36FF5-D98C-474D-A020-5A51BCCDBFB9}"/>
              </a:ext>
            </a:extLst>
          </p:cNvPr>
          <p:cNvSpPr>
            <a:spLocks noGrp="1"/>
          </p:cNvSpPr>
          <p:nvPr>
            <p:ph type="body" sz="quarter" idx="11" hasCustomPrompt="1"/>
          </p:nvPr>
        </p:nvSpPr>
        <p:spPr>
          <a:xfrm>
            <a:off x="322916" y="1454793"/>
            <a:ext cx="9144000" cy="254717"/>
          </a:xfrm>
        </p:spPr>
        <p:txBody>
          <a:bodyPr/>
          <a:lstStyle>
            <a:lvl1pPr marL="0" indent="0">
              <a:buNone/>
              <a:defRPr sz="1200" b="1" cap="all" spc="300" baseline="0">
                <a:solidFill>
                  <a:schemeClr val="accent6"/>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Enter Session ID</a:t>
            </a:r>
          </a:p>
        </p:txBody>
      </p:sp>
      <p:pic>
        <p:nvPicPr>
          <p:cNvPr id="21" name="Picture 20">
            <a:extLst>
              <a:ext uri="{FF2B5EF4-FFF2-40B4-BE49-F238E27FC236}">
                <a16:creationId xmlns:a16="http://schemas.microsoft.com/office/drawing/2014/main" id="{3D20E113-EE5C-4878-8C0A-F14736AE770E}"/>
              </a:ext>
            </a:extLst>
          </p:cNvPr>
          <p:cNvPicPr>
            <a:picLocks noChangeAspect="1"/>
          </p:cNvPicPr>
          <p:nvPr userDrawn="1"/>
        </p:nvPicPr>
        <p:blipFill>
          <a:blip r:embed="rId3"/>
          <a:srcRect/>
          <a:stretch/>
        </p:blipFill>
        <p:spPr>
          <a:xfrm>
            <a:off x="292501" y="6428661"/>
            <a:ext cx="388818" cy="219592"/>
          </a:xfrm>
          <a:prstGeom prst="rect">
            <a:avLst/>
          </a:prstGeom>
        </p:spPr>
      </p:pic>
      <p:sp>
        <p:nvSpPr>
          <p:cNvPr id="22" name="TextBox 3">
            <a:extLst>
              <a:ext uri="{FF2B5EF4-FFF2-40B4-BE49-F238E27FC236}">
                <a16:creationId xmlns:a16="http://schemas.microsoft.com/office/drawing/2014/main" id="{BF1E45EF-1000-40FF-BD51-0CC3B06884EF}"/>
              </a:ext>
            </a:extLst>
          </p:cNvPr>
          <p:cNvSpPr txBox="1">
            <a:spLocks noChangeArrowheads="1"/>
          </p:cNvSpPr>
          <p:nvPr userDrawn="1"/>
        </p:nvSpPr>
        <p:spPr bwMode="white">
          <a:xfrm>
            <a:off x="1101540" y="6476853"/>
            <a:ext cx="3962400" cy="107722"/>
          </a:xfrm>
          <a:prstGeom prst="rect">
            <a:avLst/>
          </a:prstGeom>
          <a:noFill/>
          <a:ln>
            <a:noFill/>
          </a:ln>
        </p:spPr>
        <p:txBody>
          <a:bodyPr lIns="0" tIns="0" rIns="0" bIns="0">
            <a:spAutoFit/>
          </a:bodyPr>
          <a:lstStyle>
            <a:lvl1pPr>
              <a:defRPr>
                <a:solidFill>
                  <a:schemeClr val="tx1"/>
                </a:solidFill>
                <a:latin typeface="Amazon Ember" panose="020B0603020204020204" pitchFamily="34" charset="0"/>
              </a:defRPr>
            </a:lvl1pPr>
            <a:lvl2pPr marL="742950" indent="-285750">
              <a:defRPr>
                <a:solidFill>
                  <a:schemeClr val="tx1"/>
                </a:solidFill>
                <a:latin typeface="Amazon Ember" panose="020B0603020204020204" pitchFamily="34" charset="0"/>
              </a:defRPr>
            </a:lvl2pPr>
            <a:lvl3pPr marL="1143000" indent="-228600">
              <a:defRPr>
                <a:solidFill>
                  <a:schemeClr val="tx1"/>
                </a:solidFill>
                <a:latin typeface="Amazon Ember" panose="020B0603020204020204" pitchFamily="34" charset="0"/>
              </a:defRPr>
            </a:lvl3pPr>
            <a:lvl4pPr marL="1600200" indent="-228600">
              <a:defRPr>
                <a:solidFill>
                  <a:schemeClr val="tx1"/>
                </a:solidFill>
                <a:latin typeface="Amazon Ember" panose="020B0603020204020204" pitchFamily="34" charset="0"/>
              </a:defRPr>
            </a:lvl4pPr>
            <a:lvl5pPr marL="2057400" indent="-228600">
              <a:defRPr>
                <a:solidFill>
                  <a:schemeClr val="tx1"/>
                </a:solidFill>
                <a:latin typeface="Amazon Ember" panose="020B0603020204020204" pitchFamily="34" charset="0"/>
              </a:defRPr>
            </a:lvl5pPr>
            <a:lvl6pPr marL="2514600" indent="-228600" defTabSz="457200" fontAlgn="base">
              <a:spcBef>
                <a:spcPct val="0"/>
              </a:spcBef>
              <a:spcAft>
                <a:spcPct val="0"/>
              </a:spcAft>
              <a:defRPr>
                <a:solidFill>
                  <a:schemeClr val="tx1"/>
                </a:solidFill>
                <a:latin typeface="Amazon Ember" panose="020B0603020204020204" pitchFamily="34" charset="0"/>
              </a:defRPr>
            </a:lvl6pPr>
            <a:lvl7pPr marL="2971800" indent="-228600" defTabSz="457200" fontAlgn="base">
              <a:spcBef>
                <a:spcPct val="0"/>
              </a:spcBef>
              <a:spcAft>
                <a:spcPct val="0"/>
              </a:spcAft>
              <a:defRPr>
                <a:solidFill>
                  <a:schemeClr val="tx1"/>
                </a:solidFill>
                <a:latin typeface="Amazon Ember" panose="020B0603020204020204" pitchFamily="34" charset="0"/>
              </a:defRPr>
            </a:lvl7pPr>
            <a:lvl8pPr marL="3429000" indent="-228600" defTabSz="457200" fontAlgn="base">
              <a:spcBef>
                <a:spcPct val="0"/>
              </a:spcBef>
              <a:spcAft>
                <a:spcPct val="0"/>
              </a:spcAft>
              <a:defRPr>
                <a:solidFill>
                  <a:schemeClr val="tx1"/>
                </a:solidFill>
                <a:latin typeface="Amazon Ember" panose="020B0603020204020204" pitchFamily="34" charset="0"/>
              </a:defRPr>
            </a:lvl8pPr>
            <a:lvl9pPr marL="3886200" indent="-228600" defTabSz="457200" fontAlgn="base">
              <a:spcBef>
                <a:spcPct val="0"/>
              </a:spcBef>
              <a:spcAft>
                <a:spcPct val="0"/>
              </a:spcAft>
              <a:defRPr>
                <a:solidFill>
                  <a:schemeClr val="tx1"/>
                </a:solidFill>
                <a:latin typeface="Amazon Ember" panose="020B0603020204020204" pitchFamily="34" charset="0"/>
              </a:defRPr>
            </a:lvl9pPr>
          </a:lstStyle>
          <a:p>
            <a:pPr algn="l" defTabSz="1097212" eaLnBrk="1" fontAlgn="auto" hangingPunct="1">
              <a:spcBef>
                <a:spcPts val="0"/>
              </a:spcBef>
              <a:spcAft>
                <a:spcPts val="0"/>
              </a:spcAft>
              <a:defRPr/>
            </a:pPr>
            <a:r>
              <a:rPr lang="en-US" altLang="x-none" sz="7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126878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p15="http://schemas.microsoft.com/office/powerpoint/2012/main" xmlns:a16="http://schemas.microsoft.com/office/drawing/2014/main" xmlns:a14="http://schemas.microsoft.com/office/drawing/2010/main">
      <p:transition spd="med">
        <p:fade/>
      </p:transition>
    </mc:Fallback>
  </mc:AlternateContent>
  <p:extLst>
    <p:ext uri="{DCECCB84-F9BA-43D5-87BE-67443E8EF086}">
      <p15:sldGuideLst xmlns:p15="http://schemas.microsoft.com/office/powerpoint/2012/main">
        <p15:guide id="1" orient="horz" pos="1632">
          <p15:clr>
            <a:srgbClr val="FBAE40"/>
          </p15:clr>
        </p15:guide>
        <p15:guide id="2" orient="horz" pos="912">
          <p15:clr>
            <a:srgbClr val="FBAE40"/>
          </p15:clr>
        </p15:guide>
        <p15:guide id="3" orient="horz" pos="1248">
          <p15:clr>
            <a:srgbClr val="FBAE40"/>
          </p15:clr>
        </p15:guide>
        <p15:guide id="4" orient="horz" pos="2952">
          <p15:clr>
            <a:srgbClr val="FBAE40"/>
          </p15:clr>
        </p15:guide>
        <p15:guide id="5" orient="horz" pos="3168">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image" Target="../media/image1.pn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A174A381-7875-51BF-E8F6-ADD8CD0BFC47}"/>
              </a:ext>
            </a:extLst>
          </p:cNvPr>
          <p:cNvPicPr>
            <a:picLocks noChangeAspect="1"/>
          </p:cNvPicPr>
          <p:nvPr userDrawn="1"/>
        </p:nvPicPr>
        <p:blipFill>
          <a:blip r:embed="rId59">
            <a:extLst>
              <a:ext uri="{28A0092B-C50C-407E-A947-70E740481C1C}">
                <a14:useLocalDpi xmlns:a14="http://schemas.microsoft.com/office/drawing/2010/main" val="0"/>
              </a:ext>
            </a:extLst>
          </a:blip>
          <a:stretch>
            <a:fillRect/>
          </a:stretch>
        </p:blipFill>
        <p:spPr>
          <a:xfrm>
            <a:off x="595295" y="6338002"/>
            <a:ext cx="365760" cy="218830"/>
          </a:xfrm>
          <a:prstGeom prst="rect">
            <a:avLst/>
          </a:prstGeom>
        </p:spPr>
      </p:pic>
      <p:sp>
        <p:nvSpPr>
          <p:cNvPr id="7" name="Text Placeholder 2">
            <a:extLst>
              <a:ext uri="{FF2B5EF4-FFF2-40B4-BE49-F238E27FC236}">
                <a16:creationId xmlns:a16="http://schemas.microsoft.com/office/drawing/2014/main" id="{1B6ADCB0-6DD7-43B0-7350-0FCDAB6812CE}"/>
              </a:ext>
            </a:extLst>
          </p:cNvPr>
          <p:cNvSpPr>
            <a:spLocks noGrp="1"/>
          </p:cNvSpPr>
          <p:nvPr>
            <p:ph type="body" idx="1"/>
          </p:nvPr>
        </p:nvSpPr>
        <p:spPr>
          <a:xfrm>
            <a:off x="609600" y="1718983"/>
            <a:ext cx="10972800" cy="1844608"/>
          </a:xfrm>
          <a:prstGeom prst="rect">
            <a:avLst/>
          </a:prstGeom>
        </p:spPr>
        <p:txBody>
          <a:bodyPr vert="horz" wrap="square" lIns="0" tIns="45720" rIns="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3">
            <a:extLst>
              <a:ext uri="{FF2B5EF4-FFF2-40B4-BE49-F238E27FC236}">
                <a16:creationId xmlns:a16="http://schemas.microsoft.com/office/drawing/2014/main" id="{A6D05899-77E5-196B-EA14-086F9A5A5E55}"/>
              </a:ext>
            </a:extLst>
          </p:cNvPr>
          <p:cNvSpPr>
            <a:spLocks noGrp="1"/>
          </p:cNvSpPr>
          <p:nvPr>
            <p:ph type="dt" sz="half" idx="2"/>
          </p:nvPr>
        </p:nvSpPr>
        <p:spPr>
          <a:xfrm>
            <a:off x="838200" y="6953250"/>
            <a:ext cx="2743200" cy="365125"/>
          </a:xfrm>
          <a:prstGeom prst="rect">
            <a:avLst/>
          </a:prstGeom>
        </p:spPr>
        <p:txBody>
          <a:bodyPr vert="horz" lIns="91440" tIns="45720" rIns="91440" bIns="45720" rtlCol="0" anchor="ctr"/>
          <a:lstStyle>
            <a:lvl1pPr algn="l">
              <a:defRPr sz="900" b="0" i="0">
                <a:solidFill>
                  <a:schemeClr val="tx1">
                    <a:tint val="75000"/>
                  </a:schemeClr>
                </a:solidFill>
                <a:latin typeface="Amazon Ember Display" panose="020F0603020204020204" pitchFamily="34" charset="0"/>
              </a:defRPr>
            </a:lvl1pPr>
          </a:lstStyle>
          <a:p>
            <a:fld id="{3B1EF3D5-2436-9240-B6D0-2048A71FFF33}" type="datetime1">
              <a:rPr lang="en-US" smtClean="0"/>
              <a:pPr/>
              <a:t>9/21/2026</a:t>
            </a:fld>
            <a:endParaRPr lang="en-US" dirty="0"/>
          </a:p>
        </p:txBody>
      </p:sp>
      <p:sp>
        <p:nvSpPr>
          <p:cNvPr id="9" name="Footer Placeholder 4">
            <a:extLst>
              <a:ext uri="{FF2B5EF4-FFF2-40B4-BE49-F238E27FC236}">
                <a16:creationId xmlns:a16="http://schemas.microsoft.com/office/drawing/2014/main" id="{D22683EA-DD71-1EA1-728E-AE69D57D6485}"/>
              </a:ext>
            </a:extLst>
          </p:cNvPr>
          <p:cNvSpPr>
            <a:spLocks noGrp="1"/>
          </p:cNvSpPr>
          <p:nvPr>
            <p:ph type="ftr" sz="quarter" idx="3"/>
          </p:nvPr>
        </p:nvSpPr>
        <p:spPr>
          <a:xfrm>
            <a:off x="4038600" y="6953250"/>
            <a:ext cx="4114800" cy="365125"/>
          </a:xfrm>
          <a:prstGeom prst="rect">
            <a:avLst/>
          </a:prstGeom>
        </p:spPr>
        <p:txBody>
          <a:bodyPr vert="horz" lIns="91440" tIns="45720" rIns="91440" bIns="45720" rtlCol="0" anchor="ctr"/>
          <a:lstStyle>
            <a:lvl1pPr algn="ctr">
              <a:defRPr sz="900" b="0" i="0">
                <a:solidFill>
                  <a:schemeClr val="tx1">
                    <a:tint val="75000"/>
                  </a:schemeClr>
                </a:solidFill>
                <a:latin typeface="Amazon Ember Display" panose="020F0603020204020204" pitchFamily="34" charset="0"/>
              </a:defRPr>
            </a:lvl1pPr>
          </a:lstStyle>
          <a:p>
            <a:endParaRPr lang="en-US" dirty="0"/>
          </a:p>
        </p:txBody>
      </p:sp>
      <p:sp>
        <p:nvSpPr>
          <p:cNvPr id="10" name="Slide Number Placeholder 5">
            <a:extLst>
              <a:ext uri="{FF2B5EF4-FFF2-40B4-BE49-F238E27FC236}">
                <a16:creationId xmlns:a16="http://schemas.microsoft.com/office/drawing/2014/main" id="{E9EBCBEF-599C-1ADB-12ED-CECFECA745CE}"/>
              </a:ext>
            </a:extLst>
          </p:cNvPr>
          <p:cNvSpPr>
            <a:spLocks noGrp="1"/>
          </p:cNvSpPr>
          <p:nvPr>
            <p:ph type="sldNum" sz="quarter" idx="4"/>
          </p:nvPr>
        </p:nvSpPr>
        <p:spPr>
          <a:xfrm>
            <a:off x="8929200" y="6289500"/>
            <a:ext cx="2743200" cy="365125"/>
          </a:xfrm>
          <a:prstGeom prst="rect">
            <a:avLst/>
          </a:prstGeom>
        </p:spPr>
        <p:txBody>
          <a:bodyPr vert="horz" lIns="91440" tIns="45720" rIns="91440" bIns="45720" rtlCol="0" anchor="ctr"/>
          <a:lstStyle>
            <a:lvl1pPr algn="r">
              <a:defRPr sz="900"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TextBox 10">
            <a:extLst>
              <a:ext uri="{FF2B5EF4-FFF2-40B4-BE49-F238E27FC236}">
                <a16:creationId xmlns:a16="http://schemas.microsoft.com/office/drawing/2014/main" id="{B433C312-F607-20F9-BC64-57A8B6A590DF}"/>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13" name="Title Placeholder 19">
            <a:extLst>
              <a:ext uri="{FF2B5EF4-FFF2-40B4-BE49-F238E27FC236}">
                <a16:creationId xmlns:a16="http://schemas.microsoft.com/office/drawing/2014/main" id="{6BA9B5C3-6371-84F6-B7DD-E715A774767A}"/>
              </a:ext>
            </a:extLst>
          </p:cNvPr>
          <p:cNvSpPr>
            <a:spLocks noGrp="1"/>
          </p:cNvSpPr>
          <p:nvPr>
            <p:ph type="title"/>
          </p:nvPr>
        </p:nvSpPr>
        <p:spPr>
          <a:xfrm>
            <a:off x="609600" y="304800"/>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14" name="Slide Number Placeholder 5">
            <a:extLst>
              <a:ext uri="{FF2B5EF4-FFF2-40B4-BE49-F238E27FC236}">
                <a16:creationId xmlns:a16="http://schemas.microsoft.com/office/drawing/2014/main" id="{3F537074-EC04-07B4-5B9A-060DF4EDD805}"/>
              </a:ext>
            </a:extLst>
          </p:cNvPr>
          <p:cNvSpPr txBox="1">
            <a:spLocks/>
          </p:cNvSpPr>
          <p:nvPr userDrawn="1"/>
        </p:nvSpPr>
        <p:spPr>
          <a:xfrm>
            <a:off x="8929200" y="628949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B4B8DE2-A4E8-46E4-8BBF-D75455EFF32C}" type="slidenum">
              <a:rPr lang="en-US" b="0" i="0" smtClean="0">
                <a:latin typeface="Amazon Ember Display" panose="020F0603020204020204" pitchFamily="34" charset="0"/>
              </a:rPr>
              <a:pPr/>
              <a:t>‹#›</a:t>
            </a:fld>
            <a:endParaRPr lang="en-US" b="0" i="0" dirty="0">
              <a:latin typeface="Amazon Ember Display" panose="020F0603020204020204" pitchFamily="34" charset="0"/>
            </a:endParaRPr>
          </a:p>
        </p:txBody>
      </p:sp>
    </p:spTree>
    <p:extLst>
      <p:ext uri="{BB962C8B-B14F-4D97-AF65-F5344CB8AC3E}">
        <p14:creationId xmlns:p14="http://schemas.microsoft.com/office/powerpoint/2010/main" val="364748558"/>
      </p:ext>
    </p:extLst>
  </p:cSld>
  <p:clrMap bg1="dk1" tx1="lt1" bg2="dk2" tx2="lt2" accent1="accent1" accent2="accent2" accent3="accent3" accent4="accent4" accent5="accent5" accent6="accent6" hlink="hlink" folHlink="folHlink"/>
  <p:sldLayoutIdLst>
    <p:sldLayoutId id="2147483791" r:id="rId1"/>
    <p:sldLayoutId id="2147483792" r:id="rId2"/>
    <p:sldLayoutId id="2147483733" r:id="rId3"/>
    <p:sldLayoutId id="2147483735" r:id="rId4"/>
    <p:sldLayoutId id="2147483734"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4" r:id="rId33"/>
    <p:sldLayoutId id="2147483765" r:id="rId34"/>
    <p:sldLayoutId id="2147483766" r:id="rId35"/>
    <p:sldLayoutId id="2147483767" r:id="rId36"/>
    <p:sldLayoutId id="2147483768" r:id="rId37"/>
    <p:sldLayoutId id="2147483769" r:id="rId38"/>
    <p:sldLayoutId id="2147483770" r:id="rId39"/>
    <p:sldLayoutId id="2147483771" r:id="rId40"/>
    <p:sldLayoutId id="2147483772" r:id="rId41"/>
    <p:sldLayoutId id="2147483773" r:id="rId42"/>
    <p:sldLayoutId id="2147483774" r:id="rId43"/>
    <p:sldLayoutId id="2147483775" r:id="rId44"/>
    <p:sldLayoutId id="2147483776" r:id="rId45"/>
    <p:sldLayoutId id="2147483777" r:id="rId46"/>
    <p:sldLayoutId id="2147483778" r:id="rId47"/>
    <p:sldLayoutId id="2147483779" r:id="rId48"/>
    <p:sldLayoutId id="2147483780" r:id="rId49"/>
    <p:sldLayoutId id="2147483781" r:id="rId50"/>
    <p:sldLayoutId id="2147483782" r:id="rId51"/>
    <p:sldLayoutId id="2147483783" r:id="rId52"/>
    <p:sldLayoutId id="2147483784" r:id="rId53"/>
    <p:sldLayoutId id="2147483794" r:id="rId54"/>
    <p:sldLayoutId id="2147483795" r:id="rId55"/>
    <p:sldLayoutId id="2147483796" r:id="rId56"/>
    <p:sldLayoutId id="2147483797" r:id="rId57"/>
  </p:sldLayoutIdLst>
  <p:txStyles>
    <p:title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p:titleStyle>
    <p:bodyStyle>
      <a:lvl1pPr marL="457200" indent="-4572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2.svg"/></Relationships>
</file>

<file path=ppt/slides/_rels/slide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8.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3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9.xml.rels><?xml version="1.0" encoding="UTF-8" standalone="yes"?>
<Relationships xmlns="http://schemas.openxmlformats.org/package/2006/relationships"><Relationship Id="rId3" Type="http://schemas.openxmlformats.org/officeDocument/2006/relationships/image" Target="../media/image41.svg"/><Relationship Id="rId7" Type="http://schemas.openxmlformats.org/officeDocument/2006/relationships/image" Target="../media/image45.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43.svg"/><Relationship Id="rId4" Type="http://schemas.openxmlformats.org/officeDocument/2006/relationships/image" Target="../media/image42.svg"/></Relationships>
</file>

<file path=ppt/slides/_rels/slide10.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8.svg"/><Relationship Id="rId4" Type="http://schemas.openxmlformats.org/officeDocument/2006/relationships/image" Target="../media/image47.svg"/></Relationships>
</file>

<file path=ppt/slides/_rels/slide11.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3.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png"/><Relationship Id="rId4" Type="http://schemas.openxmlformats.org/officeDocument/2006/relationships/image" Target="../media/image50.png"/></Relationships>
</file>

<file path=ppt/slides/_rels/slide1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devexperts.com/" TargetMode="External"/><Relationship Id="rId1" Type="http://schemas.openxmlformats.org/officeDocument/2006/relationships/slideLayout" Target="../slideLayouts/slideLayout55.xml"/></Relationships>
</file>

<file path=ppt/slides/_rels/slide1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55.xml"/></Relationships>
</file>

<file path=ppt/slides/_rels/slide1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5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1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5.sv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2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4.xml"/><Relationship Id="rId1" Type="http://schemas.openxmlformats.org/officeDocument/2006/relationships/slideLayout" Target="../slideLayouts/slideLayout55.xml"/></Relationships>
</file>

<file path=ppt/slides/_rels/slide2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2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2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3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dxfeed.com/solutions/summerfox-market-intelligence-plus-ai/" TargetMode="External"/><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73.svg"/></Relationships>
</file>

<file path=ppt/slides/_rels/slide38.xml.rels><?xml version="1.0" encoding="UTF-8" standalone="yes"?>
<Relationships xmlns="http://schemas.openxmlformats.org/package/2006/relationships"><Relationship Id="rId3" Type="http://schemas.openxmlformats.org/officeDocument/2006/relationships/hyperlink" Target="https://dxfeed.com/solutions/dxfeed-grenadier/" TargetMode="External"/><Relationship Id="rId2" Type="http://schemas.openxmlformats.org/officeDocument/2006/relationships/image" Target="../media/image74.sv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hyperlink" Target="https://dxfeed.com/dxfeed-elevates-real-time-market-intelligence/"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hyperlink" Target="https://www.linkedin.com/in/arseni-yustus/" TargetMode="External"/><Relationship Id="rId2" Type="http://schemas.openxmlformats.org/officeDocument/2006/relationships/image" Target="../media/image75.svg"/><Relationship Id="rId1" Type="http://schemas.openxmlformats.org/officeDocument/2006/relationships/slideLayout" Target="../slideLayouts/slideLayout54.xml"/><Relationship Id="rId6" Type="http://schemas.openxmlformats.org/officeDocument/2006/relationships/hyperlink" Target="mailto:ayustus@amazon.com" TargetMode="External"/><Relationship Id="rId5" Type="http://schemas.openxmlformats.org/officeDocument/2006/relationships/hyperlink" Target="https://www.linkedin.com/in/tonytonov/" TargetMode="External"/><Relationship Id="rId4" Type="http://schemas.openxmlformats.org/officeDocument/2006/relationships/hyperlink" Target="mailto:antonov@dxfeed.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A062F0BB-4B56-4AC7-9635-A2E5D9F3656E}"/>
              </a:ext>
            </a:extLst>
          </p:cNvPr>
          <p:cNvSpPr>
            <a:spLocks noGrp="1"/>
          </p:cNvSpPr>
          <p:nvPr>
            <p:ph type="ctrTitle"/>
          </p:nvPr>
        </p:nvSpPr>
        <p:spPr>
          <a:xfrm>
            <a:off x="322915" y="2400300"/>
            <a:ext cx="10725559" cy="1865508"/>
          </a:xfrm>
        </p:spPr>
        <p:txBody>
          <a:bodyPr>
            <a:normAutofit/>
          </a:bodyPr>
          <a:lstStyle/>
          <a:p>
            <a:r>
              <a:rPr lang="en-US" dirty="0"/>
              <a:t>From Demo to Production:</a:t>
            </a:r>
            <a:br>
              <a:rPr lang="en-US" dirty="0"/>
            </a:br>
            <a:r>
              <a:rPr lang="en-US" dirty="0"/>
              <a:t>A Year of Agentic AI in Financial Markets</a:t>
            </a:r>
          </a:p>
        </p:txBody>
      </p:sp>
      <p:sp>
        <p:nvSpPr>
          <p:cNvPr id="17" name="Text Placeholder 16">
            <a:extLst>
              <a:ext uri="{FF2B5EF4-FFF2-40B4-BE49-F238E27FC236}">
                <a16:creationId xmlns:a16="http://schemas.microsoft.com/office/drawing/2014/main" id="{B04ABDDF-4DC1-4490-AAD9-573C2DB25B07}"/>
              </a:ext>
            </a:extLst>
          </p:cNvPr>
          <p:cNvSpPr>
            <a:spLocks noGrp="1"/>
          </p:cNvSpPr>
          <p:nvPr>
            <p:ph type="body" sz="quarter" idx="12"/>
          </p:nvPr>
        </p:nvSpPr>
        <p:spPr>
          <a:xfrm>
            <a:off x="322916" y="5029200"/>
            <a:ext cx="3572809" cy="1312154"/>
          </a:xfrm>
        </p:spPr>
        <p:txBody>
          <a:bodyPr/>
          <a:lstStyle/>
          <a:p>
            <a:r>
              <a:rPr lang="en-US" dirty="0"/>
              <a:t>Head of AI and Quantitative Research</a:t>
            </a:r>
          </a:p>
          <a:p>
            <a:r>
              <a:rPr lang="en-US" dirty="0" err="1"/>
              <a:t>dxFeed</a:t>
            </a:r>
            <a:endParaRPr lang="en-US" dirty="0"/>
          </a:p>
          <a:p>
            <a:endParaRPr lang="en-US" dirty="0"/>
          </a:p>
        </p:txBody>
      </p:sp>
      <p:sp>
        <p:nvSpPr>
          <p:cNvPr id="18" name="Text Placeholder 17">
            <a:extLst>
              <a:ext uri="{FF2B5EF4-FFF2-40B4-BE49-F238E27FC236}">
                <a16:creationId xmlns:a16="http://schemas.microsoft.com/office/drawing/2014/main" id="{1F0F781E-CD25-4C69-A32E-E39C0E7C9613}"/>
              </a:ext>
            </a:extLst>
          </p:cNvPr>
          <p:cNvSpPr>
            <a:spLocks noGrp="1"/>
          </p:cNvSpPr>
          <p:nvPr>
            <p:ph type="body" sz="quarter" idx="13"/>
          </p:nvPr>
        </p:nvSpPr>
        <p:spPr>
          <a:xfrm>
            <a:off x="4074541" y="4686300"/>
            <a:ext cx="3401568" cy="774571"/>
          </a:xfrm>
        </p:spPr>
        <p:txBody>
          <a:bodyPr/>
          <a:lstStyle/>
          <a:p>
            <a:r>
              <a:rPr lang="en-US" dirty="0"/>
              <a:t>Arseni Yustus (he/him)</a:t>
            </a:r>
          </a:p>
          <a:p>
            <a:endParaRPr lang="en-US" dirty="0"/>
          </a:p>
        </p:txBody>
      </p:sp>
      <p:sp>
        <p:nvSpPr>
          <p:cNvPr id="19" name="Text Placeholder 18">
            <a:extLst>
              <a:ext uri="{FF2B5EF4-FFF2-40B4-BE49-F238E27FC236}">
                <a16:creationId xmlns:a16="http://schemas.microsoft.com/office/drawing/2014/main" id="{5A0B9EA3-5175-43A2-BE46-0197963D8844}"/>
              </a:ext>
            </a:extLst>
          </p:cNvPr>
          <p:cNvSpPr>
            <a:spLocks noGrp="1"/>
          </p:cNvSpPr>
          <p:nvPr>
            <p:ph type="body" sz="quarter" idx="14"/>
          </p:nvPr>
        </p:nvSpPr>
        <p:spPr>
          <a:xfrm>
            <a:off x="4074540" y="5029200"/>
            <a:ext cx="3751833" cy="702244"/>
          </a:xfrm>
        </p:spPr>
        <p:txBody>
          <a:bodyPr/>
          <a:lstStyle/>
          <a:p>
            <a:r>
              <a:rPr lang="en-US" dirty="0"/>
              <a:t>Solutions Architect</a:t>
            </a:r>
          </a:p>
          <a:p>
            <a:r>
              <a:rPr lang="en-US" dirty="0"/>
              <a:t>Amazon Web Services</a:t>
            </a:r>
          </a:p>
        </p:txBody>
      </p:sp>
      <p:sp>
        <p:nvSpPr>
          <p:cNvPr id="15" name="Text Placeholder 14">
            <a:extLst>
              <a:ext uri="{FF2B5EF4-FFF2-40B4-BE49-F238E27FC236}">
                <a16:creationId xmlns:a16="http://schemas.microsoft.com/office/drawing/2014/main" id="{4592D560-31EA-4043-A499-19F6B5C0D643}"/>
              </a:ext>
            </a:extLst>
          </p:cNvPr>
          <p:cNvSpPr>
            <a:spLocks noGrp="1"/>
          </p:cNvSpPr>
          <p:nvPr>
            <p:ph type="body" sz="quarter" idx="10"/>
          </p:nvPr>
        </p:nvSpPr>
        <p:spPr>
          <a:xfrm>
            <a:off x="322916" y="4686300"/>
            <a:ext cx="3397250" cy="369332"/>
          </a:xfrm>
        </p:spPr>
        <p:txBody>
          <a:bodyPr/>
          <a:lstStyle/>
          <a:p>
            <a:r>
              <a:rPr lang="en-US" dirty="0"/>
              <a:t>Anton Antonov (he/him)</a:t>
            </a:r>
          </a:p>
        </p:txBody>
      </p:sp>
      <p:pic>
        <p:nvPicPr>
          <p:cNvPr id="4" name="Picture 3">
            <a:extLst>
              <a:ext uri="{FF2B5EF4-FFF2-40B4-BE49-F238E27FC236}">
                <a16:creationId xmlns:a16="http://schemas.microsoft.com/office/drawing/2014/main" id="{3F07B8E4-8E2F-E66C-F6BB-DFF7736248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8499" y="577166"/>
            <a:ext cx="691890" cy="415134"/>
          </a:xfrm>
          <a:prstGeom prst="rect">
            <a:avLst/>
          </a:prstGeom>
        </p:spPr>
      </p:pic>
    </p:spTree>
    <p:extLst>
      <p:ext uri="{BB962C8B-B14F-4D97-AF65-F5344CB8AC3E}">
        <p14:creationId xmlns:p14="http://schemas.microsoft.com/office/powerpoint/2010/main" val="16971149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a16="http://schemas.microsoft.com/office/drawing/2014/main">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E4C29-CFFD-B0A1-D8BB-18E4ED7DE48E}"/>
            </a:ext>
          </a:extLst>
        </p:cNvPr>
        <p:cNvGrpSpPr/>
        <p:nvPr/>
      </p:nvGrpSpPr>
      <p:grpSpPr>
        <a:xfrm>
          <a:off x="0" y="0"/>
          <a:ext cx="0" cy="0"/>
          <a:chOff x="0" y="0"/>
          <a:chExt cx="0" cy="0"/>
        </a:xfrm>
      </p:grpSpPr>
      <p:sp>
        <p:nvSpPr>
          <p:cNvPr id="5" name="Title 2">
            <a:extLst>
              <a:ext uri="{FF2B5EF4-FFF2-40B4-BE49-F238E27FC236}">
                <a16:creationId xmlns:a16="http://schemas.microsoft.com/office/drawing/2014/main" id="{29099933-B9DF-E263-C58E-9D5B1EE02DB9}"/>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Obstacles on the path to production</a:t>
            </a:r>
          </a:p>
        </p:txBody>
      </p:sp>
      <p:sp>
        <p:nvSpPr>
          <p:cNvPr id="7" name="TextBox 6">
            <a:extLst>
              <a:ext uri="{FF2B5EF4-FFF2-40B4-BE49-F238E27FC236}">
                <a16:creationId xmlns:a16="http://schemas.microsoft.com/office/drawing/2014/main" id="{19C813B7-C2AB-337E-22FB-7BFD9F548A31}"/>
              </a:ext>
            </a:extLst>
          </p:cNvPr>
          <p:cNvSpPr txBox="1"/>
          <p:nvPr/>
        </p:nvSpPr>
        <p:spPr>
          <a:xfrm>
            <a:off x="-124122" y="2363485"/>
            <a:ext cx="2177372" cy="707886"/>
          </a:xfrm>
          <a:prstGeom prst="rect">
            <a:avLst/>
          </a:prstGeom>
          <a:noFill/>
        </p:spPr>
        <p:txBody>
          <a:bodyPr wrap="square" lIns="0" r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rPr>
              <a:t>Excitement and potential</a:t>
            </a:r>
          </a:p>
        </p:txBody>
      </p:sp>
      <p:sp>
        <p:nvSpPr>
          <p:cNvPr id="9" name="TextBox 8">
            <a:extLst>
              <a:ext uri="{FF2B5EF4-FFF2-40B4-BE49-F238E27FC236}">
                <a16:creationId xmlns:a16="http://schemas.microsoft.com/office/drawing/2014/main" id="{0DB4E5D4-21D5-6B33-9379-BD2608B818E4}"/>
              </a:ext>
            </a:extLst>
          </p:cNvPr>
          <p:cNvSpPr txBox="1"/>
          <p:nvPr/>
        </p:nvSpPr>
        <p:spPr>
          <a:xfrm>
            <a:off x="9636037" y="2391423"/>
            <a:ext cx="2077211" cy="707886"/>
          </a:xfrm>
          <a:prstGeom prst="rect">
            <a:avLst/>
          </a:prstGeom>
          <a:noFill/>
        </p:spPr>
        <p:txBody>
          <a:bodyPr wrap="square" lIns="0" r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rPr>
              <a:t>Meaningful business value</a:t>
            </a:r>
          </a:p>
        </p:txBody>
      </p:sp>
      <p:sp>
        <p:nvSpPr>
          <p:cNvPr id="11" name="Rounded Rectangle 10">
            <a:extLst>
              <a:ext uri="{FF2B5EF4-FFF2-40B4-BE49-F238E27FC236}">
                <a16:creationId xmlns:a16="http://schemas.microsoft.com/office/drawing/2014/main" id="{55A2D430-AC0C-D751-C19A-957CA603461F}"/>
              </a:ext>
            </a:extLst>
          </p:cNvPr>
          <p:cNvSpPr/>
          <p:nvPr/>
        </p:nvSpPr>
        <p:spPr>
          <a:xfrm>
            <a:off x="1644394" y="2793295"/>
            <a:ext cx="8202001" cy="1902812"/>
          </a:xfrm>
          <a:prstGeom prst="roundRect">
            <a:avLst>
              <a:gd name="adj" fmla="val 50000"/>
            </a:avLst>
          </a:prstGeom>
          <a:noFill/>
          <a:ln w="25400" cap="flat" cmpd="sng" algn="ctr">
            <a:gradFill flip="none" rotWithShape="1">
              <a:gsLst>
                <a:gs pos="0">
                  <a:schemeClr val="accent3"/>
                </a:gs>
                <a:gs pos="50000">
                  <a:schemeClr val="accent1"/>
                </a:gs>
                <a:gs pos="100000">
                  <a:schemeClr val="accent2"/>
                </a:gs>
              </a:gsLst>
              <a:path path="circle">
                <a:fillToRect l="100000" t="100000"/>
              </a:path>
              <a:tileRect r="-100000" b="-100000"/>
            </a:gradFill>
            <a:prstDash val="solid"/>
            <a:miter lim="800000"/>
          </a:ln>
          <a:effectLst/>
        </p:spPr>
        <p:txBody>
          <a:bodyPr lIns="45720" tIns="45720" rIns="4572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12" name="Rectangle 11">
            <a:extLst>
              <a:ext uri="{FF2B5EF4-FFF2-40B4-BE49-F238E27FC236}">
                <a16:creationId xmlns:a16="http://schemas.microsoft.com/office/drawing/2014/main" id="{156C10F1-76A0-6868-C378-22F65CCF7FD4}"/>
              </a:ext>
            </a:extLst>
          </p:cNvPr>
          <p:cNvSpPr/>
          <p:nvPr/>
        </p:nvSpPr>
        <p:spPr>
          <a:xfrm>
            <a:off x="3033208" y="2381009"/>
            <a:ext cx="5407249" cy="461665"/>
          </a:xfrm>
          <a:prstGeom prst="rect">
            <a:avLst/>
          </a:prstGeom>
          <a:noFill/>
          <a:ln w="12700" cap="flat" cmpd="sng" algn="ctr">
            <a:noFill/>
            <a:prstDash val="solid"/>
            <a:miter lim="800000"/>
          </a:ln>
          <a:effectLst/>
        </p:spPr>
        <p:txBody>
          <a:bodyPr wrap="none" lIns="91440" tIns="45720" rIns="91440" rtlCol="0" anchor="ctr">
            <a:spAutoFit/>
          </a:bodyPr>
          <a:lstStyle/>
          <a:p>
            <a:pPr lvl="0" algn="ctr">
              <a:defRPr/>
            </a:pPr>
            <a:r>
              <a:rPr lang="en-US" sz="2400" kern="0" dirty="0">
                <a:solidFill>
                  <a:srgbClr val="FFFFFF"/>
                </a:solidFill>
                <a:latin typeface="Amazon Ember Display"/>
                <a:ea typeface="Amazon Ember Light" panose="020B0403020204020204" pitchFamily="34" charset="0"/>
                <a:cs typeface="Amazon Ember Light" panose="020B0403020204020204" pitchFamily="34" charset="0"/>
              </a:rPr>
              <a:t>Challenges on the path to production</a:t>
            </a:r>
          </a:p>
        </p:txBody>
      </p:sp>
      <p:grpSp>
        <p:nvGrpSpPr>
          <p:cNvPr id="16" name="Group 15">
            <a:extLst>
              <a:ext uri="{FF2B5EF4-FFF2-40B4-BE49-F238E27FC236}">
                <a16:creationId xmlns:a16="http://schemas.microsoft.com/office/drawing/2014/main" id="{2D5E09C8-70F2-C34D-D37D-C1B9E9ED3FCE}"/>
              </a:ext>
            </a:extLst>
          </p:cNvPr>
          <p:cNvGrpSpPr/>
          <p:nvPr/>
        </p:nvGrpSpPr>
        <p:grpSpPr>
          <a:xfrm>
            <a:off x="2202613" y="3241914"/>
            <a:ext cx="887457" cy="493636"/>
            <a:chOff x="4295307" y="2355137"/>
            <a:chExt cx="887457" cy="493636"/>
          </a:xfrm>
        </p:grpSpPr>
        <p:sp>
          <p:nvSpPr>
            <p:cNvPr id="17" name="Freeform 16">
              <a:extLst>
                <a:ext uri="{FF2B5EF4-FFF2-40B4-BE49-F238E27FC236}">
                  <a16:creationId xmlns:a16="http://schemas.microsoft.com/office/drawing/2014/main" id="{52ABBD48-D915-D39C-2BFF-E15888F5EE24}"/>
                </a:ext>
              </a:extLst>
            </p:cNvPr>
            <p:cNvSpPr/>
            <p:nvPr/>
          </p:nvSpPr>
          <p:spPr>
            <a:xfrm>
              <a:off x="4607642" y="2409397"/>
              <a:ext cx="435671" cy="439376"/>
            </a:xfrm>
            <a:custGeom>
              <a:avLst/>
              <a:gdLst>
                <a:gd name="connsiteX0" fmla="*/ 158513 w 381680"/>
                <a:gd name="connsiteY0" fmla="*/ 305691 h 384926"/>
                <a:gd name="connsiteX1" fmla="*/ 79257 w 381680"/>
                <a:gd name="connsiteY1" fmla="*/ 384927 h 384926"/>
                <a:gd name="connsiteX2" fmla="*/ 0 w 381680"/>
                <a:gd name="connsiteY2" fmla="*/ 305691 h 384926"/>
                <a:gd name="connsiteX3" fmla="*/ 79257 w 381680"/>
                <a:gd name="connsiteY3" fmla="*/ 226455 h 384926"/>
                <a:gd name="connsiteX4" fmla="*/ 158513 w 381680"/>
                <a:gd name="connsiteY4" fmla="*/ 305691 h 384926"/>
                <a:gd name="connsiteX5" fmla="*/ 76548 w 381680"/>
                <a:gd name="connsiteY5" fmla="*/ 356561 h 384926"/>
                <a:gd name="connsiteX6" fmla="*/ 124097 w 381680"/>
                <a:gd name="connsiteY6" fmla="*/ 309024 h 384926"/>
                <a:gd name="connsiteX7" fmla="*/ 76548 w 381680"/>
                <a:gd name="connsiteY7" fmla="*/ 261488 h 384926"/>
                <a:gd name="connsiteX8" fmla="*/ 28999 w 381680"/>
                <a:gd name="connsiteY8" fmla="*/ 309024 h 384926"/>
                <a:gd name="connsiteX9" fmla="*/ 149967 w 381680"/>
                <a:gd name="connsiteY9" fmla="*/ 269879 h 384926"/>
                <a:gd name="connsiteX10" fmla="*/ 381681 w 381680"/>
                <a:gd name="connsiteY10" fmla="*/ 11201 h 384926"/>
                <a:gd name="connsiteX11" fmla="*/ 370477 w 381680"/>
                <a:gd name="connsiteY11" fmla="*/ 0 h 384926"/>
                <a:gd name="connsiteX12" fmla="*/ 110428 w 381680"/>
                <a:gd name="connsiteY12" fmla="*/ 232828 h 384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680" h="384926">
                  <a:moveTo>
                    <a:pt x="158513" y="305691"/>
                  </a:moveTo>
                  <a:cubicBezTo>
                    <a:pt x="158513" y="349447"/>
                    <a:pt x="123024" y="384927"/>
                    <a:pt x="79257" y="384927"/>
                  </a:cubicBezTo>
                  <a:cubicBezTo>
                    <a:pt x="35489" y="384927"/>
                    <a:pt x="0" y="349447"/>
                    <a:pt x="0" y="305691"/>
                  </a:cubicBezTo>
                  <a:cubicBezTo>
                    <a:pt x="0" y="261935"/>
                    <a:pt x="35489" y="226455"/>
                    <a:pt x="79257" y="226455"/>
                  </a:cubicBezTo>
                  <a:cubicBezTo>
                    <a:pt x="123024" y="226455"/>
                    <a:pt x="158513" y="261935"/>
                    <a:pt x="158513" y="305691"/>
                  </a:cubicBezTo>
                  <a:close/>
                  <a:moveTo>
                    <a:pt x="76548" y="356561"/>
                  </a:moveTo>
                  <a:cubicBezTo>
                    <a:pt x="102775" y="356561"/>
                    <a:pt x="124097" y="335232"/>
                    <a:pt x="124097" y="309024"/>
                  </a:cubicBezTo>
                  <a:cubicBezTo>
                    <a:pt x="124097" y="282817"/>
                    <a:pt x="102763" y="261488"/>
                    <a:pt x="76548" y="261488"/>
                  </a:cubicBezTo>
                  <a:cubicBezTo>
                    <a:pt x="50334" y="261488"/>
                    <a:pt x="28999" y="282817"/>
                    <a:pt x="28999" y="309024"/>
                  </a:cubicBezTo>
                  <a:moveTo>
                    <a:pt x="149967" y="269879"/>
                  </a:moveTo>
                  <a:lnTo>
                    <a:pt x="381681" y="11201"/>
                  </a:lnTo>
                  <a:lnTo>
                    <a:pt x="370477" y="0"/>
                  </a:lnTo>
                  <a:lnTo>
                    <a:pt x="110428" y="232828"/>
                  </a:ln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grpSp>
          <p:nvGrpSpPr>
            <p:cNvPr id="18" name="Graphic 32">
              <a:extLst>
                <a:ext uri="{FF2B5EF4-FFF2-40B4-BE49-F238E27FC236}">
                  <a16:creationId xmlns:a16="http://schemas.microsoft.com/office/drawing/2014/main" id="{D4474327-1939-0EE9-BE97-196524407351}"/>
                </a:ext>
              </a:extLst>
            </p:cNvPr>
            <p:cNvGrpSpPr/>
            <p:nvPr/>
          </p:nvGrpSpPr>
          <p:grpSpPr>
            <a:xfrm>
              <a:off x="4295307" y="2355137"/>
              <a:ext cx="887457" cy="460486"/>
              <a:chOff x="8362085" y="1655878"/>
              <a:chExt cx="777478" cy="403420"/>
            </a:xfrm>
            <a:noFill/>
          </p:grpSpPr>
          <p:sp>
            <p:nvSpPr>
              <p:cNvPr id="19" name="Freeform 18">
                <a:extLst>
                  <a:ext uri="{FF2B5EF4-FFF2-40B4-BE49-F238E27FC236}">
                    <a16:creationId xmlns:a16="http://schemas.microsoft.com/office/drawing/2014/main" id="{4CE1A266-3D9F-1EEE-AB84-02A8C58CF918}"/>
                  </a:ext>
                </a:extLst>
              </p:cNvPr>
              <p:cNvSpPr/>
              <p:nvPr/>
            </p:nvSpPr>
            <p:spPr>
              <a:xfrm>
                <a:off x="8777236" y="2059298"/>
                <a:ext cx="362326" cy="1277"/>
              </a:xfrm>
              <a:custGeom>
                <a:avLst/>
                <a:gdLst>
                  <a:gd name="connsiteX0" fmla="*/ 0 w 362326"/>
                  <a:gd name="connsiteY0" fmla="*/ 0 h 1277"/>
                  <a:gd name="connsiteX1" fmla="*/ 362327 w 362326"/>
                  <a:gd name="connsiteY1" fmla="*/ 0 h 1277"/>
                </a:gdLst>
                <a:ahLst/>
                <a:cxnLst>
                  <a:cxn ang="0">
                    <a:pos x="connsiteX0" y="connsiteY0"/>
                  </a:cxn>
                  <a:cxn ang="0">
                    <a:pos x="connsiteX1" y="connsiteY1"/>
                  </a:cxn>
                </a:cxnLst>
                <a:rect l="l" t="t" r="r" b="b"/>
                <a:pathLst>
                  <a:path w="362326" h="1277">
                    <a:moveTo>
                      <a:pt x="0" y="0"/>
                    </a:moveTo>
                    <a:lnTo>
                      <a:pt x="362327" y="0"/>
                    </a:ln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20" name="Freeform 19">
                <a:extLst>
                  <a:ext uri="{FF2B5EF4-FFF2-40B4-BE49-F238E27FC236}">
                    <a16:creationId xmlns:a16="http://schemas.microsoft.com/office/drawing/2014/main" id="{925C10B4-45E6-968A-0AA7-F6C929D2942D}"/>
                  </a:ext>
                </a:extLst>
              </p:cNvPr>
              <p:cNvSpPr/>
              <p:nvPr/>
            </p:nvSpPr>
            <p:spPr>
              <a:xfrm>
                <a:off x="8362085" y="2059298"/>
                <a:ext cx="294388" cy="1277"/>
              </a:xfrm>
              <a:custGeom>
                <a:avLst/>
                <a:gdLst>
                  <a:gd name="connsiteX0" fmla="*/ 0 w 294388"/>
                  <a:gd name="connsiteY0" fmla="*/ 0 h 1277"/>
                  <a:gd name="connsiteX1" fmla="*/ 294389 w 294388"/>
                  <a:gd name="connsiteY1" fmla="*/ 0 h 1277"/>
                </a:gdLst>
                <a:ahLst/>
                <a:cxnLst>
                  <a:cxn ang="0">
                    <a:pos x="connsiteX0" y="connsiteY0"/>
                  </a:cxn>
                  <a:cxn ang="0">
                    <a:pos x="connsiteX1" y="connsiteY1"/>
                  </a:cxn>
                </a:cxnLst>
                <a:rect l="l" t="t" r="r" b="b"/>
                <a:pathLst>
                  <a:path w="294388" h="1277">
                    <a:moveTo>
                      <a:pt x="0" y="0"/>
                    </a:moveTo>
                    <a:lnTo>
                      <a:pt x="294389" y="0"/>
                    </a:ln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21" name="Freeform 20">
                <a:extLst>
                  <a:ext uri="{FF2B5EF4-FFF2-40B4-BE49-F238E27FC236}">
                    <a16:creationId xmlns:a16="http://schemas.microsoft.com/office/drawing/2014/main" id="{A76AE57C-A65D-BA44-993A-3EC2713A0BC6}"/>
                  </a:ext>
                </a:extLst>
              </p:cNvPr>
              <p:cNvSpPr/>
              <p:nvPr/>
            </p:nvSpPr>
            <p:spPr>
              <a:xfrm>
                <a:off x="8858882" y="1673541"/>
                <a:ext cx="71336" cy="32516"/>
              </a:xfrm>
              <a:custGeom>
                <a:avLst/>
                <a:gdLst>
                  <a:gd name="connsiteX0" fmla="*/ 0 w 71336"/>
                  <a:gd name="connsiteY0" fmla="*/ 0 h 32516"/>
                  <a:gd name="connsiteX1" fmla="*/ 71336 w 71336"/>
                  <a:gd name="connsiteY1" fmla="*/ 32517 h 32516"/>
                </a:gdLst>
                <a:ahLst/>
                <a:cxnLst>
                  <a:cxn ang="0">
                    <a:pos x="connsiteX0" y="connsiteY0"/>
                  </a:cxn>
                  <a:cxn ang="0">
                    <a:pos x="connsiteX1" y="connsiteY1"/>
                  </a:cxn>
                </a:cxnLst>
                <a:rect l="l" t="t" r="r" b="b"/>
                <a:pathLst>
                  <a:path w="71336" h="32516">
                    <a:moveTo>
                      <a:pt x="0" y="0"/>
                    </a:moveTo>
                    <a:cubicBezTo>
                      <a:pt x="25116" y="8238"/>
                      <a:pt x="49005" y="19196"/>
                      <a:pt x="71336" y="32517"/>
                    </a:cubicBez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25" name="Freeform 24">
                <a:extLst>
                  <a:ext uri="{FF2B5EF4-FFF2-40B4-BE49-F238E27FC236}">
                    <a16:creationId xmlns:a16="http://schemas.microsoft.com/office/drawing/2014/main" id="{008C638D-94FF-5547-836C-6018E1541687}"/>
                  </a:ext>
                </a:extLst>
              </p:cNvPr>
              <p:cNvSpPr/>
              <p:nvPr/>
            </p:nvSpPr>
            <p:spPr>
              <a:xfrm>
                <a:off x="8432539" y="1655878"/>
                <a:ext cx="394634" cy="190158"/>
              </a:xfrm>
              <a:custGeom>
                <a:avLst/>
                <a:gdLst>
                  <a:gd name="connsiteX0" fmla="*/ 0 w 394634"/>
                  <a:gd name="connsiteY0" fmla="*/ 190158 h 190158"/>
                  <a:gd name="connsiteX1" fmla="*/ 315378 w 394634"/>
                  <a:gd name="connsiteY1" fmla="*/ 0 h 190158"/>
                  <a:gd name="connsiteX2" fmla="*/ 394635 w 394634"/>
                  <a:gd name="connsiteY2" fmla="*/ 8876 h 190158"/>
                </a:gdLst>
                <a:ahLst/>
                <a:cxnLst>
                  <a:cxn ang="0">
                    <a:pos x="connsiteX0" y="connsiteY0"/>
                  </a:cxn>
                  <a:cxn ang="0">
                    <a:pos x="connsiteX1" y="connsiteY1"/>
                  </a:cxn>
                  <a:cxn ang="0">
                    <a:pos x="connsiteX2" y="connsiteY2"/>
                  </a:cxn>
                </a:cxnLst>
                <a:rect l="l" t="t" r="r" b="b"/>
                <a:pathLst>
                  <a:path w="394634" h="190158">
                    <a:moveTo>
                      <a:pt x="0" y="190158"/>
                    </a:moveTo>
                    <a:cubicBezTo>
                      <a:pt x="59890" y="77154"/>
                      <a:pt x="178800" y="0"/>
                      <a:pt x="315378" y="0"/>
                    </a:cubicBezTo>
                    <a:cubicBezTo>
                      <a:pt x="342615" y="0"/>
                      <a:pt x="369136" y="3065"/>
                      <a:pt x="394635" y="8876"/>
                    </a:cubicBez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26" name="Freeform 25">
                <a:extLst>
                  <a:ext uri="{FF2B5EF4-FFF2-40B4-BE49-F238E27FC236}">
                    <a16:creationId xmlns:a16="http://schemas.microsoft.com/office/drawing/2014/main" id="{A4C08A58-8DBC-44A7-954C-433AAC17EB18}"/>
                  </a:ext>
                </a:extLst>
              </p:cNvPr>
              <p:cNvSpPr/>
              <p:nvPr/>
            </p:nvSpPr>
            <p:spPr>
              <a:xfrm>
                <a:off x="8890589" y="1779150"/>
                <a:ext cx="168311" cy="242407"/>
              </a:xfrm>
              <a:custGeom>
                <a:avLst/>
                <a:gdLst>
                  <a:gd name="connsiteX0" fmla="*/ 0 w 168311"/>
                  <a:gd name="connsiteY0" fmla="*/ 66630 h 242407"/>
                  <a:gd name="connsiteX1" fmla="*/ 65281 w 168311"/>
                  <a:gd name="connsiteY1" fmla="*/ 242407 h 242407"/>
                  <a:gd name="connsiteX2" fmla="*/ 168312 w 168311"/>
                  <a:gd name="connsiteY2" fmla="*/ 242407 h 242407"/>
                  <a:gd name="connsiteX3" fmla="*/ 64003 w 168311"/>
                  <a:gd name="connsiteY3" fmla="*/ 0 h 242407"/>
                </a:gdLst>
                <a:ahLst/>
                <a:cxnLst>
                  <a:cxn ang="0">
                    <a:pos x="connsiteX0" y="connsiteY0"/>
                  </a:cxn>
                  <a:cxn ang="0">
                    <a:pos x="connsiteX1" y="connsiteY1"/>
                  </a:cxn>
                  <a:cxn ang="0">
                    <a:pos x="connsiteX2" y="connsiteY2"/>
                  </a:cxn>
                  <a:cxn ang="0">
                    <a:pos x="connsiteX3" y="connsiteY3"/>
                  </a:cxn>
                </a:cxnLst>
                <a:rect l="l" t="t" r="r" b="b"/>
                <a:pathLst>
                  <a:path w="168311" h="242407">
                    <a:moveTo>
                      <a:pt x="0" y="66630"/>
                    </a:moveTo>
                    <a:cubicBezTo>
                      <a:pt x="39373" y="109620"/>
                      <a:pt x="63403" y="166901"/>
                      <a:pt x="65281" y="242407"/>
                    </a:cubicBezTo>
                    <a:lnTo>
                      <a:pt x="168312" y="242407"/>
                    </a:lnTo>
                    <a:cubicBezTo>
                      <a:pt x="166434" y="138560"/>
                      <a:pt x="126895" y="56566"/>
                      <a:pt x="64003" y="0"/>
                    </a:cubicBez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27" name="Freeform 26">
                <a:extLst>
                  <a:ext uri="{FF2B5EF4-FFF2-40B4-BE49-F238E27FC236}">
                    <a16:creationId xmlns:a16="http://schemas.microsoft.com/office/drawing/2014/main" id="{040EFCEB-8E75-3867-5FEB-CB59A5DA08C9}"/>
                  </a:ext>
                </a:extLst>
              </p:cNvPr>
              <p:cNvSpPr/>
              <p:nvPr/>
            </p:nvSpPr>
            <p:spPr>
              <a:xfrm>
                <a:off x="8437572" y="1700400"/>
                <a:ext cx="497934" cy="321157"/>
              </a:xfrm>
              <a:custGeom>
                <a:avLst/>
                <a:gdLst>
                  <a:gd name="connsiteX0" fmla="*/ 429242 w 497934"/>
                  <a:gd name="connsiteY0" fmla="*/ 123183 h 321157"/>
                  <a:gd name="connsiteX1" fmla="*/ 274690 w 497934"/>
                  <a:gd name="connsiteY1" fmla="*/ 67345 h 321157"/>
                  <a:gd name="connsiteX2" fmla="*/ 31708 w 497934"/>
                  <a:gd name="connsiteY2" fmla="*/ 321158 h 321157"/>
                  <a:gd name="connsiteX3" fmla="*/ 0 w 497934"/>
                  <a:gd name="connsiteY3" fmla="*/ 321158 h 321157"/>
                  <a:gd name="connsiteX4" fmla="*/ 310358 w 497934"/>
                  <a:gd name="connsiteY4" fmla="*/ 0 h 321157"/>
                  <a:gd name="connsiteX5" fmla="*/ 497934 w 497934"/>
                  <a:gd name="connsiteY5" fmla="*/ 63386 h 3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7934" h="321157">
                    <a:moveTo>
                      <a:pt x="429242" y="123183"/>
                    </a:moveTo>
                    <a:cubicBezTo>
                      <a:pt x="387340" y="88316"/>
                      <a:pt x="333468" y="67345"/>
                      <a:pt x="274690" y="67345"/>
                    </a:cubicBezTo>
                    <a:cubicBezTo>
                      <a:pt x="141190" y="67345"/>
                      <a:pt x="31708" y="187693"/>
                      <a:pt x="31708" y="321158"/>
                    </a:cubicBezTo>
                    <a:lnTo>
                      <a:pt x="0" y="321158"/>
                    </a:lnTo>
                    <a:cubicBezTo>
                      <a:pt x="0" y="150489"/>
                      <a:pt x="139644" y="0"/>
                      <a:pt x="310358" y="0"/>
                    </a:cubicBezTo>
                    <a:cubicBezTo>
                      <a:pt x="380902" y="0"/>
                      <a:pt x="445914" y="23628"/>
                      <a:pt x="497934" y="63386"/>
                    </a:cubicBez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52" name="Freeform 51">
                <a:extLst>
                  <a:ext uri="{FF2B5EF4-FFF2-40B4-BE49-F238E27FC236}">
                    <a16:creationId xmlns:a16="http://schemas.microsoft.com/office/drawing/2014/main" id="{DCFC036E-F3F8-791E-9384-7D7C8CA29EB4}"/>
                  </a:ext>
                </a:extLst>
              </p:cNvPr>
              <p:cNvSpPr/>
              <p:nvPr/>
            </p:nvSpPr>
            <p:spPr>
              <a:xfrm>
                <a:off x="8921467" y="1846048"/>
                <a:ext cx="85273" cy="47536"/>
              </a:xfrm>
              <a:custGeom>
                <a:avLst/>
                <a:gdLst>
                  <a:gd name="connsiteX0" fmla="*/ 0 w 85273"/>
                  <a:gd name="connsiteY0" fmla="*/ 47536 h 47536"/>
                  <a:gd name="connsiteX1" fmla="*/ 85274 w 85273"/>
                  <a:gd name="connsiteY1" fmla="*/ 0 h 47536"/>
                </a:gdLst>
                <a:ahLst/>
                <a:cxnLst>
                  <a:cxn ang="0">
                    <a:pos x="connsiteX0" y="connsiteY0"/>
                  </a:cxn>
                  <a:cxn ang="0">
                    <a:pos x="connsiteX1" y="connsiteY1"/>
                  </a:cxn>
                </a:cxnLst>
                <a:rect l="l" t="t" r="r" b="b"/>
                <a:pathLst>
                  <a:path w="85273" h="47536">
                    <a:moveTo>
                      <a:pt x="0" y="47536"/>
                    </a:moveTo>
                    <a:lnTo>
                      <a:pt x="85274" y="0"/>
                    </a:ln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sp>
            <p:nvSpPr>
              <p:cNvPr id="64" name="Freeform 63">
                <a:extLst>
                  <a:ext uri="{FF2B5EF4-FFF2-40B4-BE49-F238E27FC236}">
                    <a16:creationId xmlns:a16="http://schemas.microsoft.com/office/drawing/2014/main" id="{8648A589-6D1C-C1AB-3101-7DAFD279FBA0}"/>
                  </a:ext>
                </a:extLst>
              </p:cNvPr>
              <p:cNvSpPr/>
              <p:nvPr/>
            </p:nvSpPr>
            <p:spPr>
              <a:xfrm>
                <a:off x="8946071" y="1928758"/>
                <a:ext cx="103030" cy="25300"/>
              </a:xfrm>
              <a:custGeom>
                <a:avLst/>
                <a:gdLst>
                  <a:gd name="connsiteX0" fmla="*/ 0 w 103030"/>
                  <a:gd name="connsiteY0" fmla="*/ 25301 h 25300"/>
                  <a:gd name="connsiteX1" fmla="*/ 103031 w 103030"/>
                  <a:gd name="connsiteY1" fmla="*/ 0 h 25300"/>
                </a:gdLst>
                <a:ahLst/>
                <a:cxnLst>
                  <a:cxn ang="0">
                    <a:pos x="connsiteX0" y="connsiteY0"/>
                  </a:cxn>
                  <a:cxn ang="0">
                    <a:pos x="connsiteX1" y="connsiteY1"/>
                  </a:cxn>
                </a:cxnLst>
                <a:rect l="l" t="t" r="r" b="b"/>
                <a:pathLst>
                  <a:path w="103030" h="25300">
                    <a:moveTo>
                      <a:pt x="0" y="25301"/>
                    </a:moveTo>
                    <a:lnTo>
                      <a:pt x="103031" y="0"/>
                    </a:lnTo>
                  </a:path>
                </a:pathLst>
              </a:custGeom>
              <a:noFill/>
              <a:ln w="15875" cap="flat">
                <a:solidFill>
                  <a:schemeClr val="tx1"/>
                </a:solidFill>
                <a:prstDash val="solid"/>
                <a:round/>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Amazon Ember"/>
                  <a:ea typeface="+mn-ea"/>
                  <a:cs typeface="+mn-cs"/>
                </a:endParaRPr>
              </a:p>
            </p:txBody>
          </p:sp>
        </p:grpSp>
      </p:grpSp>
      <p:sp>
        <p:nvSpPr>
          <p:cNvPr id="65" name="TextBox 64">
            <a:extLst>
              <a:ext uri="{FF2B5EF4-FFF2-40B4-BE49-F238E27FC236}">
                <a16:creationId xmlns:a16="http://schemas.microsoft.com/office/drawing/2014/main" id="{C46A2F74-999A-0D3A-4A05-103776390A9B}"/>
              </a:ext>
            </a:extLst>
          </p:cNvPr>
          <p:cNvSpPr txBox="1"/>
          <p:nvPr/>
        </p:nvSpPr>
        <p:spPr>
          <a:xfrm>
            <a:off x="2038332" y="3810502"/>
            <a:ext cx="1232710" cy="646331"/>
          </a:xfrm>
          <a:prstGeom prst="rect">
            <a:avLst/>
          </a:prstGeom>
        </p:spPr>
        <p:txBody>
          <a:bodyPr wrap="none" lIns="0" rIns="0" rtlCol="0">
            <a:spAutoFit/>
          </a:bodyPr>
          <a:lstStyle/>
          <a:p>
            <a:pPr lvl="0" algn="ctr">
              <a:defRPr/>
            </a:pPr>
            <a:r>
              <a:rPr lang="en-US" dirty="0">
                <a:solidFill>
                  <a:srgbClr val="FFFFFF"/>
                </a:solidFill>
                <a:latin typeface="Amazon Ember" pitchFamily="34" charset="0"/>
                <a:ea typeface="Arial" pitchFamily="34" charset="-122"/>
                <a:cs typeface="Arial" pitchFamily="34" charset="-120"/>
              </a:rPr>
              <a:t>Acceptance</a:t>
            </a:r>
          </a:p>
          <a:p>
            <a:pPr lvl="0" algn="ctr">
              <a:defRPr/>
            </a:pPr>
            <a:r>
              <a:rPr lang="en-US" dirty="0">
                <a:solidFill>
                  <a:srgbClr val="FFFFFF"/>
                </a:solidFill>
                <a:latin typeface="Amazon Ember" pitchFamily="34" charset="0"/>
                <a:ea typeface="Arial" pitchFamily="34" charset="-122"/>
                <a:cs typeface="Arial" pitchFamily="34" charset="-120"/>
              </a:rPr>
              <a:t>Criteria</a:t>
            </a:r>
            <a:endParaRPr kumimoji="0" lang="en-US" sz="180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endParaRPr>
          </a:p>
        </p:txBody>
      </p:sp>
      <p:pic>
        <p:nvPicPr>
          <p:cNvPr id="66" name="Graphic 65">
            <a:extLst>
              <a:ext uri="{FF2B5EF4-FFF2-40B4-BE49-F238E27FC236}">
                <a16:creationId xmlns:a16="http://schemas.microsoft.com/office/drawing/2014/main" id="{0F3DE13B-F3B0-E481-22AA-0A6A4E0A139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49900" y="3137266"/>
            <a:ext cx="573442" cy="605900"/>
          </a:xfrm>
          <a:prstGeom prst="rect">
            <a:avLst/>
          </a:prstGeom>
        </p:spPr>
      </p:pic>
      <p:sp>
        <p:nvSpPr>
          <p:cNvPr id="67" name="TextBox 66">
            <a:extLst>
              <a:ext uri="{FF2B5EF4-FFF2-40B4-BE49-F238E27FC236}">
                <a16:creationId xmlns:a16="http://schemas.microsoft.com/office/drawing/2014/main" id="{F3C4E111-0196-15D7-95C0-9D8C9C5E126F}"/>
              </a:ext>
            </a:extLst>
          </p:cNvPr>
          <p:cNvSpPr txBox="1"/>
          <p:nvPr/>
        </p:nvSpPr>
        <p:spPr>
          <a:xfrm>
            <a:off x="8211440" y="3778050"/>
            <a:ext cx="1227900" cy="646331"/>
          </a:xfrm>
          <a:prstGeom prst="rect">
            <a:avLst/>
          </a:prstGeom>
        </p:spPr>
        <p:txBody>
          <a:bodyPr wrap="none" lIns="0" r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rPr>
              <a:t>Security </a:t>
            </a:r>
            <a:r>
              <a:rPr lang="en-US" dirty="0">
                <a:solidFill>
                  <a:srgbClr val="FFFFFF"/>
                </a:solidFill>
                <a:latin typeface="Amazon Ember Display"/>
                <a:ea typeface="Amazon Ember Light" panose="020B0403020204020204" pitchFamily="34" charset="0"/>
                <a:cs typeface="Amazon Ember Light" panose="020B0403020204020204" pitchFamily="34" charset="0"/>
              </a:rPr>
              <a:t>&amp;</a:t>
            </a:r>
          </a:p>
          <a:p>
            <a:pPr lvl="0" algn="ctr">
              <a:defRPr/>
            </a:pPr>
            <a:r>
              <a:rPr lang="en-US" dirty="0">
                <a:solidFill>
                  <a:srgbClr val="FFFFFF"/>
                </a:solidFill>
                <a:latin typeface="Amazon Ember" pitchFamily="34" charset="0"/>
                <a:ea typeface="Arial" pitchFamily="34" charset="-122"/>
                <a:cs typeface="Arial" pitchFamily="34" charset="-120"/>
              </a:rPr>
              <a:t>Compliance</a:t>
            </a:r>
            <a:endParaRPr kumimoji="0" lang="en-US" sz="180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endParaRPr>
          </a:p>
        </p:txBody>
      </p:sp>
      <p:grpSp>
        <p:nvGrpSpPr>
          <p:cNvPr id="70" name="Group 69">
            <a:extLst>
              <a:ext uri="{FF2B5EF4-FFF2-40B4-BE49-F238E27FC236}">
                <a16:creationId xmlns:a16="http://schemas.microsoft.com/office/drawing/2014/main" id="{20825C4F-CB7B-AAE6-E7A8-8333FC956A67}"/>
              </a:ext>
            </a:extLst>
          </p:cNvPr>
          <p:cNvGrpSpPr/>
          <p:nvPr/>
        </p:nvGrpSpPr>
        <p:grpSpPr>
          <a:xfrm>
            <a:off x="554582" y="3191156"/>
            <a:ext cx="819964" cy="895728"/>
            <a:chOff x="910094" y="2836850"/>
            <a:chExt cx="819964" cy="895728"/>
          </a:xfrm>
        </p:grpSpPr>
        <p:sp>
          <p:nvSpPr>
            <p:cNvPr id="71" name="Freeform 25">
              <a:extLst>
                <a:ext uri="{FF2B5EF4-FFF2-40B4-BE49-F238E27FC236}">
                  <a16:creationId xmlns:a16="http://schemas.microsoft.com/office/drawing/2014/main" id="{C06E2BB6-4807-9959-EDB8-DDB6E10CF02C}"/>
                </a:ext>
              </a:extLst>
            </p:cNvPr>
            <p:cNvSpPr/>
            <p:nvPr/>
          </p:nvSpPr>
          <p:spPr>
            <a:xfrm>
              <a:off x="1049432" y="2995447"/>
              <a:ext cx="497503" cy="569493"/>
            </a:xfrm>
            <a:custGeom>
              <a:avLst/>
              <a:gdLst>
                <a:gd name="connsiteX0" fmla="*/ 353019 w 497503"/>
                <a:gd name="connsiteY0" fmla="*/ 569494 h 569493"/>
                <a:gd name="connsiteX1" fmla="*/ 144485 w 497503"/>
                <a:gd name="connsiteY1" fmla="*/ 569494 h 569493"/>
                <a:gd name="connsiteX2" fmla="*/ 137037 w 497503"/>
                <a:gd name="connsiteY2" fmla="*/ 562063 h 569493"/>
                <a:gd name="connsiteX3" fmla="*/ 137037 w 497503"/>
                <a:gd name="connsiteY3" fmla="*/ 469803 h 569493"/>
                <a:gd name="connsiteX4" fmla="*/ 0 w 497503"/>
                <a:gd name="connsiteY4" fmla="*/ 248188 h 569493"/>
                <a:gd name="connsiteX5" fmla="*/ 248752 w 497503"/>
                <a:gd name="connsiteY5" fmla="*/ 0 h 569493"/>
                <a:gd name="connsiteX6" fmla="*/ 497503 w 497503"/>
                <a:gd name="connsiteY6" fmla="*/ 248188 h 569493"/>
                <a:gd name="connsiteX7" fmla="*/ 360467 w 497503"/>
                <a:gd name="connsiteY7" fmla="*/ 469803 h 569493"/>
                <a:gd name="connsiteX8" fmla="*/ 360467 w 497503"/>
                <a:gd name="connsiteY8" fmla="*/ 562063 h 569493"/>
                <a:gd name="connsiteX9" fmla="*/ 353019 w 497503"/>
                <a:gd name="connsiteY9" fmla="*/ 569494 h 569493"/>
                <a:gd name="connsiteX10" fmla="*/ 151932 w 497503"/>
                <a:gd name="connsiteY10" fmla="*/ 554632 h 569493"/>
                <a:gd name="connsiteX11" fmla="*/ 345571 w 497503"/>
                <a:gd name="connsiteY11" fmla="*/ 554632 h 569493"/>
                <a:gd name="connsiteX12" fmla="*/ 345571 w 497503"/>
                <a:gd name="connsiteY12" fmla="*/ 465166 h 569493"/>
                <a:gd name="connsiteX13" fmla="*/ 349802 w 497503"/>
                <a:gd name="connsiteY13" fmla="*/ 458449 h 569493"/>
                <a:gd name="connsiteX14" fmla="*/ 482608 w 497503"/>
                <a:gd name="connsiteY14" fmla="*/ 248188 h 569493"/>
                <a:gd name="connsiteX15" fmla="*/ 248752 w 497503"/>
                <a:gd name="connsiteY15" fmla="*/ 14862 h 569493"/>
                <a:gd name="connsiteX16" fmla="*/ 14895 w 497503"/>
                <a:gd name="connsiteY16" fmla="*/ 248188 h 569493"/>
                <a:gd name="connsiteX17" fmla="*/ 147702 w 497503"/>
                <a:gd name="connsiteY17" fmla="*/ 458449 h 569493"/>
                <a:gd name="connsiteX18" fmla="*/ 151932 w 497503"/>
                <a:gd name="connsiteY18" fmla="*/ 465166 h 569493"/>
                <a:gd name="connsiteX19" fmla="*/ 151932 w 497503"/>
                <a:gd name="connsiteY19" fmla="*/ 554632 h 569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7503" h="569493">
                  <a:moveTo>
                    <a:pt x="353019" y="569494"/>
                  </a:moveTo>
                  <a:lnTo>
                    <a:pt x="144485" y="569494"/>
                  </a:lnTo>
                  <a:cubicBezTo>
                    <a:pt x="140373" y="569494"/>
                    <a:pt x="137037" y="566165"/>
                    <a:pt x="137037" y="562063"/>
                  </a:cubicBezTo>
                  <a:lnTo>
                    <a:pt x="137037" y="469803"/>
                  </a:lnTo>
                  <a:cubicBezTo>
                    <a:pt x="53623" y="428012"/>
                    <a:pt x="0" y="341577"/>
                    <a:pt x="0" y="248188"/>
                  </a:cubicBezTo>
                  <a:cubicBezTo>
                    <a:pt x="0" y="111343"/>
                    <a:pt x="111596" y="0"/>
                    <a:pt x="248752" y="0"/>
                  </a:cubicBezTo>
                  <a:cubicBezTo>
                    <a:pt x="385908" y="0"/>
                    <a:pt x="497503" y="111343"/>
                    <a:pt x="497503" y="248188"/>
                  </a:cubicBezTo>
                  <a:cubicBezTo>
                    <a:pt x="497503" y="341577"/>
                    <a:pt x="443880" y="428012"/>
                    <a:pt x="360467" y="469803"/>
                  </a:cubicBezTo>
                  <a:lnTo>
                    <a:pt x="360467" y="562063"/>
                  </a:lnTo>
                  <a:cubicBezTo>
                    <a:pt x="360467" y="566165"/>
                    <a:pt x="357130" y="569494"/>
                    <a:pt x="353019" y="569494"/>
                  </a:cubicBezTo>
                  <a:close/>
                  <a:moveTo>
                    <a:pt x="151932" y="554632"/>
                  </a:moveTo>
                  <a:lnTo>
                    <a:pt x="345571" y="554632"/>
                  </a:lnTo>
                  <a:lnTo>
                    <a:pt x="345571" y="465166"/>
                  </a:lnTo>
                  <a:cubicBezTo>
                    <a:pt x="345571" y="462313"/>
                    <a:pt x="347240" y="459697"/>
                    <a:pt x="349802" y="458449"/>
                  </a:cubicBezTo>
                  <a:cubicBezTo>
                    <a:pt x="430475" y="419987"/>
                    <a:pt x="482608" y="337416"/>
                    <a:pt x="482608" y="248188"/>
                  </a:cubicBezTo>
                  <a:cubicBezTo>
                    <a:pt x="482608" y="119546"/>
                    <a:pt x="377686" y="14862"/>
                    <a:pt x="248752" y="14862"/>
                  </a:cubicBezTo>
                  <a:cubicBezTo>
                    <a:pt x="119818" y="14862"/>
                    <a:pt x="14895" y="119546"/>
                    <a:pt x="14895" y="248188"/>
                  </a:cubicBezTo>
                  <a:cubicBezTo>
                    <a:pt x="14895" y="337476"/>
                    <a:pt x="67029" y="419987"/>
                    <a:pt x="147702" y="458449"/>
                  </a:cubicBezTo>
                  <a:cubicBezTo>
                    <a:pt x="150264" y="459697"/>
                    <a:pt x="151932" y="462313"/>
                    <a:pt x="151932" y="465166"/>
                  </a:cubicBezTo>
                  <a:lnTo>
                    <a:pt x="151932" y="554632"/>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2" name="Freeform 27">
              <a:extLst>
                <a:ext uri="{FF2B5EF4-FFF2-40B4-BE49-F238E27FC236}">
                  <a16:creationId xmlns:a16="http://schemas.microsoft.com/office/drawing/2014/main" id="{4DA3C109-FD2E-6C3A-778F-588E92443095}"/>
                </a:ext>
              </a:extLst>
            </p:cNvPr>
            <p:cNvSpPr/>
            <p:nvPr/>
          </p:nvSpPr>
          <p:spPr>
            <a:xfrm>
              <a:off x="1290736" y="3342910"/>
              <a:ext cx="14895" cy="214600"/>
            </a:xfrm>
            <a:custGeom>
              <a:avLst/>
              <a:gdLst>
                <a:gd name="connsiteX0" fmla="*/ 0 w 14895"/>
                <a:gd name="connsiteY0" fmla="*/ 0 h 214600"/>
                <a:gd name="connsiteX1" fmla="*/ 14895 w 14895"/>
                <a:gd name="connsiteY1" fmla="*/ 0 h 214600"/>
                <a:gd name="connsiteX2" fmla="*/ 14895 w 14895"/>
                <a:gd name="connsiteY2" fmla="*/ 214601 h 214600"/>
                <a:gd name="connsiteX3" fmla="*/ 0 w 14895"/>
                <a:gd name="connsiteY3" fmla="*/ 214601 h 214600"/>
              </a:gdLst>
              <a:ahLst/>
              <a:cxnLst>
                <a:cxn ang="0">
                  <a:pos x="connsiteX0" y="connsiteY0"/>
                </a:cxn>
                <a:cxn ang="0">
                  <a:pos x="connsiteX1" y="connsiteY1"/>
                </a:cxn>
                <a:cxn ang="0">
                  <a:pos x="connsiteX2" y="connsiteY2"/>
                </a:cxn>
                <a:cxn ang="0">
                  <a:pos x="connsiteX3" y="connsiteY3"/>
                </a:cxn>
              </a:cxnLst>
              <a:rect l="l" t="t" r="r" b="b"/>
              <a:pathLst>
                <a:path w="14895" h="214600">
                  <a:moveTo>
                    <a:pt x="0" y="0"/>
                  </a:moveTo>
                  <a:lnTo>
                    <a:pt x="14895" y="0"/>
                  </a:lnTo>
                  <a:lnTo>
                    <a:pt x="14895" y="214601"/>
                  </a:lnTo>
                  <a:lnTo>
                    <a:pt x="0" y="214601"/>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3" name="Freeform 28">
              <a:extLst>
                <a:ext uri="{FF2B5EF4-FFF2-40B4-BE49-F238E27FC236}">
                  <a16:creationId xmlns:a16="http://schemas.microsoft.com/office/drawing/2014/main" id="{C9FB4C73-982E-6CE7-7679-861E578FB38C}"/>
                </a:ext>
              </a:extLst>
            </p:cNvPr>
            <p:cNvSpPr/>
            <p:nvPr/>
          </p:nvSpPr>
          <p:spPr>
            <a:xfrm>
              <a:off x="1244561" y="3333696"/>
              <a:ext cx="107246" cy="14861"/>
            </a:xfrm>
            <a:custGeom>
              <a:avLst/>
              <a:gdLst>
                <a:gd name="connsiteX0" fmla="*/ 0 w 107246"/>
                <a:gd name="connsiteY0" fmla="*/ 0 h 14861"/>
                <a:gd name="connsiteX1" fmla="*/ 107246 w 107246"/>
                <a:gd name="connsiteY1" fmla="*/ 0 h 14861"/>
                <a:gd name="connsiteX2" fmla="*/ 107246 w 107246"/>
                <a:gd name="connsiteY2" fmla="*/ 14862 h 14861"/>
                <a:gd name="connsiteX3" fmla="*/ 0 w 107246"/>
                <a:gd name="connsiteY3" fmla="*/ 14862 h 14861"/>
              </a:gdLst>
              <a:ahLst/>
              <a:cxnLst>
                <a:cxn ang="0">
                  <a:pos x="connsiteX0" y="connsiteY0"/>
                </a:cxn>
                <a:cxn ang="0">
                  <a:pos x="connsiteX1" y="connsiteY1"/>
                </a:cxn>
                <a:cxn ang="0">
                  <a:pos x="connsiteX2" y="connsiteY2"/>
                </a:cxn>
                <a:cxn ang="0">
                  <a:pos x="connsiteX3" y="connsiteY3"/>
                </a:cxn>
              </a:cxnLst>
              <a:rect l="l" t="t" r="r" b="b"/>
              <a:pathLst>
                <a:path w="107246" h="14861">
                  <a:moveTo>
                    <a:pt x="0" y="0"/>
                  </a:moveTo>
                  <a:lnTo>
                    <a:pt x="107246" y="0"/>
                  </a:lnTo>
                  <a:lnTo>
                    <a:pt x="107246" y="14862"/>
                  </a:lnTo>
                  <a:lnTo>
                    <a:pt x="0" y="14862"/>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4" name="Freeform 51">
              <a:extLst>
                <a:ext uri="{FF2B5EF4-FFF2-40B4-BE49-F238E27FC236}">
                  <a16:creationId xmlns:a16="http://schemas.microsoft.com/office/drawing/2014/main" id="{35E77F75-2ADB-8789-FF9D-59A966CAC1D4}"/>
                </a:ext>
              </a:extLst>
            </p:cNvPr>
            <p:cNvSpPr/>
            <p:nvPr/>
          </p:nvSpPr>
          <p:spPr>
            <a:xfrm rot="17551200">
              <a:off x="967995" y="2778949"/>
              <a:ext cx="704162" cy="819964"/>
            </a:xfrm>
            <a:custGeom>
              <a:avLst/>
              <a:gdLst>
                <a:gd name="connsiteX0" fmla="*/ 302686 w 704162"/>
                <a:gd name="connsiteY0" fmla="*/ 713821 h 819964"/>
                <a:gd name="connsiteX1" fmla="*/ 302908 w 704162"/>
                <a:gd name="connsiteY1" fmla="*/ 819932 h 819964"/>
                <a:gd name="connsiteX2" fmla="*/ 288013 w 704162"/>
                <a:gd name="connsiteY2" fmla="*/ 819964 h 819964"/>
                <a:gd name="connsiteX3" fmla="*/ 287791 w 704162"/>
                <a:gd name="connsiteY3" fmla="*/ 713853 h 819964"/>
                <a:gd name="connsiteX4" fmla="*/ 86085 w 704162"/>
                <a:gd name="connsiteY4" fmla="*/ 189660 h 819964"/>
                <a:gd name="connsiteX5" fmla="*/ 75617 w 704162"/>
                <a:gd name="connsiteY5" fmla="*/ 200210 h 819964"/>
                <a:gd name="connsiteX6" fmla="*/ 0 w 704162"/>
                <a:gd name="connsiteY6" fmla="*/ 125171 h 819964"/>
                <a:gd name="connsiteX7" fmla="*/ 10468 w 704162"/>
                <a:gd name="connsiteY7" fmla="*/ 114622 h 819964"/>
                <a:gd name="connsiteX8" fmla="*/ 302136 w 704162"/>
                <a:gd name="connsiteY8" fmla="*/ 44 h 819964"/>
                <a:gd name="connsiteX9" fmla="*/ 301821 w 704162"/>
                <a:gd name="connsiteY9" fmla="*/ 106334 h 819964"/>
                <a:gd name="connsiteX10" fmla="*/ 286926 w 704162"/>
                <a:gd name="connsiteY10" fmla="*/ 106290 h 819964"/>
                <a:gd name="connsiteX11" fmla="*/ 287241 w 704162"/>
                <a:gd name="connsiteY11" fmla="*/ 0 h 819964"/>
                <a:gd name="connsiteX12" fmla="*/ 590305 w 704162"/>
                <a:gd name="connsiteY12" fmla="*/ 694735 h 819964"/>
                <a:gd name="connsiteX13" fmla="*/ 579780 w 704162"/>
                <a:gd name="connsiteY13" fmla="*/ 705227 h 819964"/>
                <a:gd name="connsiteX14" fmla="*/ 504695 w 704162"/>
                <a:gd name="connsiteY14" fmla="*/ 629907 h 819964"/>
                <a:gd name="connsiteX15" fmla="*/ 515220 w 704162"/>
                <a:gd name="connsiteY15" fmla="*/ 619413 h 819964"/>
                <a:gd name="connsiteX16" fmla="*/ 589320 w 704162"/>
                <a:gd name="connsiteY16" fmla="*/ 125802 h 819964"/>
                <a:gd name="connsiteX17" fmla="*/ 514761 w 704162"/>
                <a:gd name="connsiteY17" fmla="*/ 200466 h 819964"/>
                <a:gd name="connsiteX18" fmla="*/ 504221 w 704162"/>
                <a:gd name="connsiteY18" fmla="*/ 189941 h 819964"/>
                <a:gd name="connsiteX19" fmla="*/ 578781 w 704162"/>
                <a:gd name="connsiteY19" fmla="*/ 115277 h 819964"/>
                <a:gd name="connsiteX20" fmla="*/ 704162 w 704162"/>
                <a:gd name="connsiteY20" fmla="*/ 402525 h 819964"/>
                <a:gd name="connsiteX21" fmla="*/ 704162 w 704162"/>
                <a:gd name="connsiteY21" fmla="*/ 417387 h 819964"/>
                <a:gd name="connsiteX22" fmla="*/ 598405 w 704162"/>
                <a:gd name="connsiteY22" fmla="*/ 417387 h 819964"/>
                <a:gd name="connsiteX23" fmla="*/ 598405 w 704162"/>
                <a:gd name="connsiteY23" fmla="*/ 402525 h 819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04162" h="819964">
                  <a:moveTo>
                    <a:pt x="302686" y="713821"/>
                  </a:moveTo>
                  <a:lnTo>
                    <a:pt x="302908" y="819932"/>
                  </a:lnTo>
                  <a:lnTo>
                    <a:pt x="288013" y="819964"/>
                  </a:lnTo>
                  <a:lnTo>
                    <a:pt x="287791" y="713853"/>
                  </a:lnTo>
                  <a:close/>
                  <a:moveTo>
                    <a:pt x="86085" y="189660"/>
                  </a:moveTo>
                  <a:lnTo>
                    <a:pt x="75617" y="200210"/>
                  </a:lnTo>
                  <a:lnTo>
                    <a:pt x="0" y="125171"/>
                  </a:lnTo>
                  <a:lnTo>
                    <a:pt x="10468" y="114622"/>
                  </a:lnTo>
                  <a:close/>
                  <a:moveTo>
                    <a:pt x="302136" y="44"/>
                  </a:moveTo>
                  <a:lnTo>
                    <a:pt x="301821" y="106334"/>
                  </a:lnTo>
                  <a:lnTo>
                    <a:pt x="286926" y="106290"/>
                  </a:lnTo>
                  <a:lnTo>
                    <a:pt x="287241" y="0"/>
                  </a:lnTo>
                  <a:close/>
                  <a:moveTo>
                    <a:pt x="590305" y="694735"/>
                  </a:moveTo>
                  <a:lnTo>
                    <a:pt x="579780" y="705227"/>
                  </a:lnTo>
                  <a:lnTo>
                    <a:pt x="504695" y="629907"/>
                  </a:lnTo>
                  <a:lnTo>
                    <a:pt x="515220" y="619413"/>
                  </a:lnTo>
                  <a:close/>
                  <a:moveTo>
                    <a:pt x="589320" y="125802"/>
                  </a:moveTo>
                  <a:lnTo>
                    <a:pt x="514761" y="200466"/>
                  </a:lnTo>
                  <a:lnTo>
                    <a:pt x="504221" y="189941"/>
                  </a:lnTo>
                  <a:lnTo>
                    <a:pt x="578781" y="115277"/>
                  </a:lnTo>
                  <a:close/>
                  <a:moveTo>
                    <a:pt x="704162" y="402525"/>
                  </a:moveTo>
                  <a:lnTo>
                    <a:pt x="704162" y="417387"/>
                  </a:lnTo>
                  <a:lnTo>
                    <a:pt x="598405" y="417387"/>
                  </a:lnTo>
                  <a:lnTo>
                    <a:pt x="598405" y="402525"/>
                  </a:lnTo>
                  <a:close/>
                </a:path>
              </a:pathLst>
            </a:custGeom>
            <a:solidFill>
              <a:schemeClr val="accent2"/>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5" name="Freeform 36">
              <a:extLst>
                <a:ext uri="{FF2B5EF4-FFF2-40B4-BE49-F238E27FC236}">
                  <a16:creationId xmlns:a16="http://schemas.microsoft.com/office/drawing/2014/main" id="{1F58F44F-0049-B7EB-DE53-0EA787F2456A}"/>
                </a:ext>
              </a:extLst>
            </p:cNvPr>
            <p:cNvSpPr/>
            <p:nvPr/>
          </p:nvSpPr>
          <p:spPr>
            <a:xfrm>
              <a:off x="1186469" y="3575047"/>
              <a:ext cx="222881" cy="45773"/>
            </a:xfrm>
            <a:custGeom>
              <a:avLst/>
              <a:gdLst>
                <a:gd name="connsiteX0" fmla="*/ 204662 w 222881"/>
                <a:gd name="connsiteY0" fmla="*/ 45774 h 45773"/>
                <a:gd name="connsiteX1" fmla="*/ 18768 w 222881"/>
                <a:gd name="connsiteY1" fmla="*/ 45774 h 45773"/>
                <a:gd name="connsiteX2" fmla="*/ 0 w 222881"/>
                <a:gd name="connsiteY2" fmla="*/ 27048 h 45773"/>
                <a:gd name="connsiteX3" fmla="*/ 0 w 222881"/>
                <a:gd name="connsiteY3" fmla="*/ 18726 h 45773"/>
                <a:gd name="connsiteX4" fmla="*/ 18768 w 222881"/>
                <a:gd name="connsiteY4" fmla="*/ 0 h 45773"/>
                <a:gd name="connsiteX5" fmla="*/ 204066 w 222881"/>
                <a:gd name="connsiteY5" fmla="*/ 0 h 45773"/>
                <a:gd name="connsiteX6" fmla="*/ 222834 w 222881"/>
                <a:gd name="connsiteY6" fmla="*/ 18726 h 45773"/>
                <a:gd name="connsiteX7" fmla="*/ 222834 w 222881"/>
                <a:gd name="connsiteY7" fmla="*/ 26751 h 45773"/>
                <a:gd name="connsiteX8" fmla="*/ 218246 w 222881"/>
                <a:gd name="connsiteY8" fmla="*/ 39651 h 45773"/>
                <a:gd name="connsiteX9" fmla="*/ 204662 w 222881"/>
                <a:gd name="connsiteY9" fmla="*/ 45774 h 45773"/>
                <a:gd name="connsiteX10" fmla="*/ 18768 w 222881"/>
                <a:gd name="connsiteY10" fmla="*/ 14862 h 45773"/>
                <a:gd name="connsiteX11" fmla="*/ 14895 w 222881"/>
                <a:gd name="connsiteY11" fmla="*/ 18726 h 45773"/>
                <a:gd name="connsiteX12" fmla="*/ 14895 w 222881"/>
                <a:gd name="connsiteY12" fmla="*/ 27048 h 45773"/>
                <a:gd name="connsiteX13" fmla="*/ 18768 w 222881"/>
                <a:gd name="connsiteY13" fmla="*/ 30912 h 45773"/>
                <a:gd name="connsiteX14" fmla="*/ 204662 w 222881"/>
                <a:gd name="connsiteY14" fmla="*/ 30912 h 45773"/>
                <a:gd name="connsiteX15" fmla="*/ 207224 w 222881"/>
                <a:gd name="connsiteY15" fmla="*/ 29664 h 45773"/>
                <a:gd name="connsiteX16" fmla="*/ 207998 w 222881"/>
                <a:gd name="connsiteY16" fmla="*/ 27761 h 45773"/>
                <a:gd name="connsiteX17" fmla="*/ 207998 w 222881"/>
                <a:gd name="connsiteY17" fmla="*/ 27048 h 45773"/>
                <a:gd name="connsiteX18" fmla="*/ 207998 w 222881"/>
                <a:gd name="connsiteY18" fmla="*/ 18726 h 45773"/>
                <a:gd name="connsiteX19" fmla="*/ 204125 w 222881"/>
                <a:gd name="connsiteY19" fmla="*/ 14862 h 45773"/>
                <a:gd name="connsiteX20" fmla="*/ 18828 w 222881"/>
                <a:gd name="connsiteY20" fmla="*/ 14862 h 45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22881" h="45773">
                  <a:moveTo>
                    <a:pt x="204662" y="45774"/>
                  </a:moveTo>
                  <a:lnTo>
                    <a:pt x="18768" y="45774"/>
                  </a:lnTo>
                  <a:cubicBezTo>
                    <a:pt x="8401" y="45774"/>
                    <a:pt x="0" y="37392"/>
                    <a:pt x="0" y="27048"/>
                  </a:cubicBezTo>
                  <a:lnTo>
                    <a:pt x="0" y="18726"/>
                  </a:lnTo>
                  <a:cubicBezTo>
                    <a:pt x="0" y="8382"/>
                    <a:pt x="8401" y="0"/>
                    <a:pt x="18768" y="0"/>
                  </a:cubicBezTo>
                  <a:lnTo>
                    <a:pt x="204066" y="0"/>
                  </a:lnTo>
                  <a:cubicBezTo>
                    <a:pt x="214433" y="0"/>
                    <a:pt x="222834" y="8382"/>
                    <a:pt x="222834" y="18726"/>
                  </a:cubicBezTo>
                  <a:lnTo>
                    <a:pt x="222834" y="26751"/>
                  </a:lnTo>
                  <a:cubicBezTo>
                    <a:pt x="223191" y="31388"/>
                    <a:pt x="221523" y="36084"/>
                    <a:pt x="218246" y="39651"/>
                  </a:cubicBezTo>
                  <a:cubicBezTo>
                    <a:pt x="214731" y="43515"/>
                    <a:pt x="209786" y="45774"/>
                    <a:pt x="204662" y="45774"/>
                  </a:cubicBezTo>
                  <a:close/>
                  <a:moveTo>
                    <a:pt x="18768" y="14862"/>
                  </a:moveTo>
                  <a:cubicBezTo>
                    <a:pt x="16921" y="14862"/>
                    <a:pt x="14895" y="16348"/>
                    <a:pt x="14895" y="18726"/>
                  </a:cubicBezTo>
                  <a:lnTo>
                    <a:pt x="14895" y="27048"/>
                  </a:lnTo>
                  <a:cubicBezTo>
                    <a:pt x="14895" y="28891"/>
                    <a:pt x="16385" y="30912"/>
                    <a:pt x="18768" y="30912"/>
                  </a:cubicBezTo>
                  <a:lnTo>
                    <a:pt x="204662" y="30912"/>
                  </a:lnTo>
                  <a:cubicBezTo>
                    <a:pt x="205555" y="30912"/>
                    <a:pt x="206509" y="30436"/>
                    <a:pt x="207224" y="29664"/>
                  </a:cubicBezTo>
                  <a:cubicBezTo>
                    <a:pt x="207462" y="29366"/>
                    <a:pt x="208058" y="28594"/>
                    <a:pt x="207998" y="27761"/>
                  </a:cubicBezTo>
                  <a:cubicBezTo>
                    <a:pt x="207998" y="27524"/>
                    <a:pt x="207998" y="27286"/>
                    <a:pt x="207998" y="27048"/>
                  </a:cubicBezTo>
                  <a:lnTo>
                    <a:pt x="207998" y="18726"/>
                  </a:lnTo>
                  <a:cubicBezTo>
                    <a:pt x="207998" y="16883"/>
                    <a:pt x="206509" y="14862"/>
                    <a:pt x="204125" y="14862"/>
                  </a:cubicBezTo>
                  <a:lnTo>
                    <a:pt x="18828" y="14862"/>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6" name="Freeform 37">
              <a:extLst>
                <a:ext uri="{FF2B5EF4-FFF2-40B4-BE49-F238E27FC236}">
                  <a16:creationId xmlns:a16="http://schemas.microsoft.com/office/drawing/2014/main" id="{F84635C4-5C6A-11CE-DC4A-581814EE964D}"/>
                </a:ext>
              </a:extLst>
            </p:cNvPr>
            <p:cNvSpPr/>
            <p:nvPr/>
          </p:nvSpPr>
          <p:spPr>
            <a:xfrm>
              <a:off x="1186469" y="3630926"/>
              <a:ext cx="222881" cy="45773"/>
            </a:xfrm>
            <a:custGeom>
              <a:avLst/>
              <a:gdLst>
                <a:gd name="connsiteX0" fmla="*/ 204662 w 222881"/>
                <a:gd name="connsiteY0" fmla="*/ 45773 h 45773"/>
                <a:gd name="connsiteX1" fmla="*/ 18768 w 222881"/>
                <a:gd name="connsiteY1" fmla="*/ 45773 h 45773"/>
                <a:gd name="connsiteX2" fmla="*/ 0 w 222881"/>
                <a:gd name="connsiteY2" fmla="*/ 27048 h 45773"/>
                <a:gd name="connsiteX3" fmla="*/ 0 w 222881"/>
                <a:gd name="connsiteY3" fmla="*/ 18725 h 45773"/>
                <a:gd name="connsiteX4" fmla="*/ 18768 w 222881"/>
                <a:gd name="connsiteY4" fmla="*/ 0 h 45773"/>
                <a:gd name="connsiteX5" fmla="*/ 204066 w 222881"/>
                <a:gd name="connsiteY5" fmla="*/ 0 h 45773"/>
                <a:gd name="connsiteX6" fmla="*/ 222834 w 222881"/>
                <a:gd name="connsiteY6" fmla="*/ 18725 h 45773"/>
                <a:gd name="connsiteX7" fmla="*/ 222834 w 222881"/>
                <a:gd name="connsiteY7" fmla="*/ 26751 h 45773"/>
                <a:gd name="connsiteX8" fmla="*/ 218246 w 222881"/>
                <a:gd name="connsiteY8" fmla="*/ 39651 h 45773"/>
                <a:gd name="connsiteX9" fmla="*/ 204662 w 222881"/>
                <a:gd name="connsiteY9" fmla="*/ 45773 h 45773"/>
                <a:gd name="connsiteX10" fmla="*/ 18768 w 222881"/>
                <a:gd name="connsiteY10" fmla="*/ 14862 h 45773"/>
                <a:gd name="connsiteX11" fmla="*/ 14895 w 222881"/>
                <a:gd name="connsiteY11" fmla="*/ 18725 h 45773"/>
                <a:gd name="connsiteX12" fmla="*/ 14895 w 222881"/>
                <a:gd name="connsiteY12" fmla="*/ 27048 h 45773"/>
                <a:gd name="connsiteX13" fmla="*/ 18768 w 222881"/>
                <a:gd name="connsiteY13" fmla="*/ 30912 h 45773"/>
                <a:gd name="connsiteX14" fmla="*/ 204662 w 222881"/>
                <a:gd name="connsiteY14" fmla="*/ 30912 h 45773"/>
                <a:gd name="connsiteX15" fmla="*/ 207224 w 222881"/>
                <a:gd name="connsiteY15" fmla="*/ 29664 h 45773"/>
                <a:gd name="connsiteX16" fmla="*/ 207998 w 222881"/>
                <a:gd name="connsiteY16" fmla="*/ 27761 h 45773"/>
                <a:gd name="connsiteX17" fmla="*/ 207998 w 222881"/>
                <a:gd name="connsiteY17" fmla="*/ 27048 h 45773"/>
                <a:gd name="connsiteX18" fmla="*/ 207998 w 222881"/>
                <a:gd name="connsiteY18" fmla="*/ 18725 h 45773"/>
                <a:gd name="connsiteX19" fmla="*/ 204125 w 222881"/>
                <a:gd name="connsiteY19" fmla="*/ 14862 h 45773"/>
                <a:gd name="connsiteX20" fmla="*/ 18828 w 222881"/>
                <a:gd name="connsiteY20" fmla="*/ 14862 h 45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22881" h="45773">
                  <a:moveTo>
                    <a:pt x="204662" y="45773"/>
                  </a:moveTo>
                  <a:lnTo>
                    <a:pt x="18768" y="45773"/>
                  </a:lnTo>
                  <a:cubicBezTo>
                    <a:pt x="8401" y="45773"/>
                    <a:pt x="0" y="37392"/>
                    <a:pt x="0" y="27048"/>
                  </a:cubicBezTo>
                  <a:lnTo>
                    <a:pt x="0" y="18725"/>
                  </a:lnTo>
                  <a:cubicBezTo>
                    <a:pt x="0" y="8382"/>
                    <a:pt x="8401" y="0"/>
                    <a:pt x="18768" y="0"/>
                  </a:cubicBezTo>
                  <a:lnTo>
                    <a:pt x="204066" y="0"/>
                  </a:lnTo>
                  <a:cubicBezTo>
                    <a:pt x="214433" y="0"/>
                    <a:pt x="222834" y="8382"/>
                    <a:pt x="222834" y="18725"/>
                  </a:cubicBezTo>
                  <a:lnTo>
                    <a:pt x="222834" y="26751"/>
                  </a:lnTo>
                  <a:cubicBezTo>
                    <a:pt x="223191" y="31388"/>
                    <a:pt x="221523" y="36084"/>
                    <a:pt x="218246" y="39651"/>
                  </a:cubicBezTo>
                  <a:cubicBezTo>
                    <a:pt x="214731" y="43515"/>
                    <a:pt x="209786" y="45773"/>
                    <a:pt x="204662" y="45773"/>
                  </a:cubicBezTo>
                  <a:close/>
                  <a:moveTo>
                    <a:pt x="18768" y="14862"/>
                  </a:moveTo>
                  <a:cubicBezTo>
                    <a:pt x="16921" y="14862"/>
                    <a:pt x="14895" y="16348"/>
                    <a:pt x="14895" y="18725"/>
                  </a:cubicBezTo>
                  <a:lnTo>
                    <a:pt x="14895" y="27048"/>
                  </a:lnTo>
                  <a:cubicBezTo>
                    <a:pt x="14895" y="28891"/>
                    <a:pt x="16385" y="30912"/>
                    <a:pt x="18768" y="30912"/>
                  </a:cubicBezTo>
                  <a:lnTo>
                    <a:pt x="204662" y="30912"/>
                  </a:lnTo>
                  <a:cubicBezTo>
                    <a:pt x="205555" y="30912"/>
                    <a:pt x="206509" y="30436"/>
                    <a:pt x="207224" y="29664"/>
                  </a:cubicBezTo>
                  <a:cubicBezTo>
                    <a:pt x="207462" y="29366"/>
                    <a:pt x="208058" y="28594"/>
                    <a:pt x="207998" y="27761"/>
                  </a:cubicBezTo>
                  <a:cubicBezTo>
                    <a:pt x="207998" y="27524"/>
                    <a:pt x="207998" y="27286"/>
                    <a:pt x="207998" y="27048"/>
                  </a:cubicBezTo>
                  <a:lnTo>
                    <a:pt x="207998" y="18725"/>
                  </a:lnTo>
                  <a:cubicBezTo>
                    <a:pt x="207998" y="16883"/>
                    <a:pt x="206509" y="14862"/>
                    <a:pt x="204125" y="14862"/>
                  </a:cubicBezTo>
                  <a:lnTo>
                    <a:pt x="18828" y="14862"/>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77" name="Freeform 38">
              <a:extLst>
                <a:ext uri="{FF2B5EF4-FFF2-40B4-BE49-F238E27FC236}">
                  <a16:creationId xmlns:a16="http://schemas.microsoft.com/office/drawing/2014/main" id="{7E075A51-BA6E-4465-473F-A7D3667AF4FA}"/>
                </a:ext>
              </a:extLst>
            </p:cNvPr>
            <p:cNvSpPr/>
            <p:nvPr/>
          </p:nvSpPr>
          <p:spPr>
            <a:xfrm>
              <a:off x="1241303" y="3686211"/>
              <a:ext cx="113783" cy="46367"/>
            </a:xfrm>
            <a:custGeom>
              <a:avLst/>
              <a:gdLst>
                <a:gd name="connsiteX0" fmla="*/ 89651 w 113783"/>
                <a:gd name="connsiteY0" fmla="*/ 46368 h 46367"/>
                <a:gd name="connsiteX1" fmla="*/ 24111 w 113783"/>
                <a:gd name="connsiteY1" fmla="*/ 46368 h 46367"/>
                <a:gd name="connsiteX2" fmla="*/ 17557 w 113783"/>
                <a:gd name="connsiteY2" fmla="*/ 42385 h 46367"/>
                <a:gd name="connsiteX3" fmla="*/ 875 w 113783"/>
                <a:gd name="connsiteY3" fmla="*/ 10879 h 46367"/>
                <a:gd name="connsiteX4" fmla="*/ 1053 w 113783"/>
                <a:gd name="connsiteY4" fmla="*/ 3567 h 46367"/>
                <a:gd name="connsiteX5" fmla="*/ 7429 w 113783"/>
                <a:gd name="connsiteY5" fmla="*/ 0 h 46367"/>
                <a:gd name="connsiteX6" fmla="*/ 106333 w 113783"/>
                <a:gd name="connsiteY6" fmla="*/ 0 h 46367"/>
                <a:gd name="connsiteX7" fmla="*/ 112709 w 113783"/>
                <a:gd name="connsiteY7" fmla="*/ 3567 h 46367"/>
                <a:gd name="connsiteX8" fmla="*/ 112887 w 113783"/>
                <a:gd name="connsiteY8" fmla="*/ 10879 h 46367"/>
                <a:gd name="connsiteX9" fmla="*/ 96205 w 113783"/>
                <a:gd name="connsiteY9" fmla="*/ 42385 h 46367"/>
                <a:gd name="connsiteX10" fmla="*/ 89591 w 113783"/>
                <a:gd name="connsiteY10" fmla="*/ 46368 h 46367"/>
                <a:gd name="connsiteX11" fmla="*/ 28639 w 113783"/>
                <a:gd name="connsiteY11" fmla="*/ 31506 h 46367"/>
                <a:gd name="connsiteX12" fmla="*/ 85182 w 113783"/>
                <a:gd name="connsiteY12" fmla="*/ 31506 h 46367"/>
                <a:gd name="connsiteX13" fmla="*/ 94000 w 113783"/>
                <a:gd name="connsiteY13" fmla="*/ 14862 h 46367"/>
                <a:gd name="connsiteX14" fmla="*/ 19821 w 113783"/>
                <a:gd name="connsiteY14" fmla="*/ 14862 h 46367"/>
                <a:gd name="connsiteX15" fmla="*/ 28639 w 113783"/>
                <a:gd name="connsiteY15" fmla="*/ 31506 h 463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3783" h="46367">
                  <a:moveTo>
                    <a:pt x="89651" y="46368"/>
                  </a:moveTo>
                  <a:lnTo>
                    <a:pt x="24111" y="46368"/>
                  </a:lnTo>
                  <a:cubicBezTo>
                    <a:pt x="21371" y="46368"/>
                    <a:pt x="18809" y="44822"/>
                    <a:pt x="17557" y="42385"/>
                  </a:cubicBezTo>
                  <a:lnTo>
                    <a:pt x="875" y="10879"/>
                  </a:lnTo>
                  <a:cubicBezTo>
                    <a:pt x="-377" y="8560"/>
                    <a:pt x="-257" y="5826"/>
                    <a:pt x="1053" y="3567"/>
                  </a:cubicBezTo>
                  <a:cubicBezTo>
                    <a:pt x="2424" y="1308"/>
                    <a:pt x="4807" y="0"/>
                    <a:pt x="7429" y="0"/>
                  </a:cubicBezTo>
                  <a:lnTo>
                    <a:pt x="106333" y="0"/>
                  </a:lnTo>
                  <a:cubicBezTo>
                    <a:pt x="108955" y="0"/>
                    <a:pt x="111338" y="1367"/>
                    <a:pt x="112709" y="3567"/>
                  </a:cubicBezTo>
                  <a:cubicBezTo>
                    <a:pt x="114079" y="5826"/>
                    <a:pt x="114139" y="8560"/>
                    <a:pt x="112887" y="10879"/>
                  </a:cubicBezTo>
                  <a:lnTo>
                    <a:pt x="96205" y="42385"/>
                  </a:lnTo>
                  <a:cubicBezTo>
                    <a:pt x="94894" y="44822"/>
                    <a:pt x="92391" y="46368"/>
                    <a:pt x="89591" y="46368"/>
                  </a:cubicBezTo>
                  <a:close/>
                  <a:moveTo>
                    <a:pt x="28639" y="31506"/>
                  </a:moveTo>
                  <a:lnTo>
                    <a:pt x="85182" y="31506"/>
                  </a:lnTo>
                  <a:lnTo>
                    <a:pt x="94000" y="14862"/>
                  </a:lnTo>
                  <a:lnTo>
                    <a:pt x="19821" y="14862"/>
                  </a:lnTo>
                  <a:lnTo>
                    <a:pt x="28639" y="31506"/>
                  </a:lnTo>
                  <a:close/>
                </a:path>
              </a:pathLst>
            </a:custGeom>
            <a:solidFill>
              <a:schemeClr val="tx1"/>
            </a:solidFill>
            <a:ln w="595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sp>
        <p:nvSpPr>
          <p:cNvPr id="78" name="TextBox 77">
            <a:extLst>
              <a:ext uri="{FF2B5EF4-FFF2-40B4-BE49-F238E27FC236}">
                <a16:creationId xmlns:a16="http://schemas.microsoft.com/office/drawing/2014/main" id="{380647D5-84C6-6AF3-454D-6E6C5735C5E4}"/>
              </a:ext>
            </a:extLst>
          </p:cNvPr>
          <p:cNvSpPr txBox="1"/>
          <p:nvPr/>
        </p:nvSpPr>
        <p:spPr>
          <a:xfrm>
            <a:off x="736137" y="4182126"/>
            <a:ext cx="456855" cy="369332"/>
          </a:xfrm>
          <a:prstGeom prst="rect">
            <a:avLst/>
          </a:prstGeom>
          <a:noFill/>
        </p:spPr>
        <p:txBody>
          <a:bodyPr wrap="none" lIns="0" r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rPr>
              <a:t>POC</a:t>
            </a:r>
          </a:p>
        </p:txBody>
      </p:sp>
      <p:sp>
        <p:nvSpPr>
          <p:cNvPr id="79" name="TextBox 78">
            <a:extLst>
              <a:ext uri="{FF2B5EF4-FFF2-40B4-BE49-F238E27FC236}">
                <a16:creationId xmlns:a16="http://schemas.microsoft.com/office/drawing/2014/main" id="{2E8BDAD4-48C1-9B07-CD02-B25A0FCF1514}"/>
              </a:ext>
            </a:extLst>
          </p:cNvPr>
          <p:cNvSpPr txBox="1"/>
          <p:nvPr/>
        </p:nvSpPr>
        <p:spPr>
          <a:xfrm>
            <a:off x="10043092" y="4210478"/>
            <a:ext cx="1472108" cy="369332"/>
          </a:xfrm>
          <a:prstGeom prst="rect">
            <a:avLst/>
          </a:prstGeom>
          <a:noFill/>
        </p:spPr>
        <p:txBody>
          <a:bodyPr wrap="square" lIns="0" r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rPr>
              <a:t>Production</a:t>
            </a:r>
          </a:p>
        </p:txBody>
      </p:sp>
      <p:sp>
        <p:nvSpPr>
          <p:cNvPr id="80" name="Right Arrow 79">
            <a:extLst>
              <a:ext uri="{FF2B5EF4-FFF2-40B4-BE49-F238E27FC236}">
                <a16:creationId xmlns:a16="http://schemas.microsoft.com/office/drawing/2014/main" id="{9D611E44-D0A7-7D19-3C35-5CE78F36A758}"/>
              </a:ext>
            </a:extLst>
          </p:cNvPr>
          <p:cNvSpPr/>
          <p:nvPr/>
        </p:nvSpPr>
        <p:spPr>
          <a:xfrm>
            <a:off x="693920" y="5133025"/>
            <a:ext cx="10821280" cy="486136"/>
          </a:xfrm>
          <a:prstGeom prst="rightArrow">
            <a:avLst/>
          </a:prstGeom>
          <a:gradFill>
            <a:gsLst>
              <a:gs pos="0">
                <a:schemeClr val="accent2"/>
              </a:gs>
              <a:gs pos="100000">
                <a:schemeClr val="accent3"/>
              </a:gs>
              <a:gs pos="50000">
                <a:schemeClr val="accent1"/>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err="1">
              <a:ln>
                <a:noFill/>
              </a:ln>
              <a:solidFill>
                <a:srgbClr val="FFFFFF"/>
              </a:solidFill>
              <a:effectLst/>
              <a:uLnTx/>
              <a:uFillTx/>
              <a:latin typeface="Amazon Ember Display"/>
              <a:ea typeface="+mn-ea"/>
              <a:cs typeface="+mn-cs"/>
            </a:endParaRPr>
          </a:p>
        </p:txBody>
      </p:sp>
      <p:grpSp>
        <p:nvGrpSpPr>
          <p:cNvPr id="81" name="Group 80">
            <a:extLst>
              <a:ext uri="{FF2B5EF4-FFF2-40B4-BE49-F238E27FC236}">
                <a16:creationId xmlns:a16="http://schemas.microsoft.com/office/drawing/2014/main" id="{537C7A9B-B402-30C9-2569-B63C4C765D80}"/>
              </a:ext>
            </a:extLst>
          </p:cNvPr>
          <p:cNvGrpSpPr/>
          <p:nvPr/>
        </p:nvGrpSpPr>
        <p:grpSpPr>
          <a:xfrm>
            <a:off x="5088516" y="3084241"/>
            <a:ext cx="954088" cy="635988"/>
            <a:chOff x="4816071" y="5316885"/>
            <a:chExt cx="1005840" cy="663422"/>
          </a:xfrm>
        </p:grpSpPr>
        <p:grpSp>
          <p:nvGrpSpPr>
            <p:cNvPr id="82" name="Group 81">
              <a:extLst>
                <a:ext uri="{FF2B5EF4-FFF2-40B4-BE49-F238E27FC236}">
                  <a16:creationId xmlns:a16="http://schemas.microsoft.com/office/drawing/2014/main" id="{8F6770C8-A082-AFFF-38C4-96A2D0309228}"/>
                </a:ext>
              </a:extLst>
            </p:cNvPr>
            <p:cNvGrpSpPr>
              <a:grpSpLocks noChangeAspect="1"/>
            </p:cNvGrpSpPr>
            <p:nvPr/>
          </p:nvGrpSpPr>
          <p:grpSpPr>
            <a:xfrm>
              <a:off x="4816071" y="5316885"/>
              <a:ext cx="1005840" cy="663422"/>
              <a:chOff x="8179939" y="-440872"/>
              <a:chExt cx="4218716" cy="2782538"/>
            </a:xfrm>
          </p:grpSpPr>
          <p:sp>
            <p:nvSpPr>
              <p:cNvPr id="84" name="Freeform: Shape 46">
                <a:extLst>
                  <a:ext uri="{FF2B5EF4-FFF2-40B4-BE49-F238E27FC236}">
                    <a16:creationId xmlns:a16="http://schemas.microsoft.com/office/drawing/2014/main" id="{B08D2032-A007-5E4C-AD29-164ADEF0AA7B}"/>
                  </a:ext>
                </a:extLst>
              </p:cNvPr>
              <p:cNvSpPr/>
              <p:nvPr/>
            </p:nvSpPr>
            <p:spPr>
              <a:xfrm>
                <a:off x="8179939" y="-440872"/>
                <a:ext cx="3645503" cy="2782538"/>
              </a:xfrm>
              <a:custGeom>
                <a:avLst/>
                <a:gdLst>
                  <a:gd name="connsiteX0" fmla="*/ 0 w 3645503"/>
                  <a:gd name="connsiteY0" fmla="*/ 2782538 h 2782538"/>
                  <a:gd name="connsiteX1" fmla="*/ 487775 w 3645503"/>
                  <a:gd name="connsiteY1" fmla="*/ 2782538 h 2782538"/>
                  <a:gd name="connsiteX2" fmla="*/ 516255 w 3645503"/>
                  <a:gd name="connsiteY2" fmla="*/ 2757678 h 2782538"/>
                  <a:gd name="connsiteX3" fmla="*/ 516255 w 3645503"/>
                  <a:gd name="connsiteY3" fmla="*/ 2114455 h 2782538"/>
                  <a:gd name="connsiteX4" fmla="*/ 477107 w 3645503"/>
                  <a:gd name="connsiteY4" fmla="*/ 2075402 h 2782538"/>
                  <a:gd name="connsiteX5" fmla="*/ 277749 w 3645503"/>
                  <a:gd name="connsiteY5" fmla="*/ 2075402 h 2782538"/>
                  <a:gd name="connsiteX6" fmla="*/ 242126 w 3645503"/>
                  <a:gd name="connsiteY6" fmla="*/ 2039874 h 2782538"/>
                  <a:gd name="connsiteX7" fmla="*/ 252794 w 3645503"/>
                  <a:gd name="connsiteY7" fmla="*/ 2011490 h 2782538"/>
                  <a:gd name="connsiteX8" fmla="*/ 822388 w 3645503"/>
                  <a:gd name="connsiteY8" fmla="*/ 1442942 h 2782538"/>
                  <a:gd name="connsiteX9" fmla="*/ 847344 w 3645503"/>
                  <a:gd name="connsiteY9" fmla="*/ 1432274 h 2782538"/>
                  <a:gd name="connsiteX10" fmla="*/ 875824 w 3645503"/>
                  <a:gd name="connsiteY10" fmla="*/ 1442942 h 2782538"/>
                  <a:gd name="connsiteX11" fmla="*/ 1445419 w 3645503"/>
                  <a:gd name="connsiteY11" fmla="*/ 2011490 h 2782538"/>
                  <a:gd name="connsiteX12" fmla="*/ 1456087 w 3645503"/>
                  <a:gd name="connsiteY12" fmla="*/ 2039874 h 2782538"/>
                  <a:gd name="connsiteX13" fmla="*/ 1445419 w 3645503"/>
                  <a:gd name="connsiteY13" fmla="*/ 2064734 h 2782538"/>
                  <a:gd name="connsiteX14" fmla="*/ 1420463 w 3645503"/>
                  <a:gd name="connsiteY14" fmla="*/ 2075402 h 2782538"/>
                  <a:gd name="connsiteX15" fmla="*/ 1221105 w 3645503"/>
                  <a:gd name="connsiteY15" fmla="*/ 2075402 h 2782538"/>
                  <a:gd name="connsiteX16" fmla="*/ 1181957 w 3645503"/>
                  <a:gd name="connsiteY16" fmla="*/ 2114455 h 2782538"/>
                  <a:gd name="connsiteX17" fmla="*/ 1181957 w 3645503"/>
                  <a:gd name="connsiteY17" fmla="*/ 2757678 h 2782538"/>
                  <a:gd name="connsiteX18" fmla="*/ 1210437 w 3645503"/>
                  <a:gd name="connsiteY18" fmla="*/ 2782538 h 2782538"/>
                  <a:gd name="connsiteX19" fmla="*/ 1580674 w 3645503"/>
                  <a:gd name="connsiteY19" fmla="*/ 2782538 h 2782538"/>
                  <a:gd name="connsiteX20" fmla="*/ 1609154 w 3645503"/>
                  <a:gd name="connsiteY20" fmla="*/ 2757678 h 2782538"/>
                  <a:gd name="connsiteX21" fmla="*/ 1609154 w 3645503"/>
                  <a:gd name="connsiteY21" fmla="*/ 1396651 h 2782538"/>
                  <a:gd name="connsiteX22" fmla="*/ 1570006 w 3645503"/>
                  <a:gd name="connsiteY22" fmla="*/ 1361123 h 2782538"/>
                  <a:gd name="connsiteX23" fmla="*/ 1370648 w 3645503"/>
                  <a:gd name="connsiteY23" fmla="*/ 1361123 h 2782538"/>
                  <a:gd name="connsiteX24" fmla="*/ 1335024 w 3645503"/>
                  <a:gd name="connsiteY24" fmla="*/ 1322070 h 2782538"/>
                  <a:gd name="connsiteX25" fmla="*/ 1345692 w 3645503"/>
                  <a:gd name="connsiteY25" fmla="*/ 1297210 h 2782538"/>
                  <a:gd name="connsiteX26" fmla="*/ 1915287 w 3645503"/>
                  <a:gd name="connsiteY26" fmla="*/ 725043 h 2782538"/>
                  <a:gd name="connsiteX27" fmla="*/ 1943767 w 3645503"/>
                  <a:gd name="connsiteY27" fmla="*/ 714375 h 2782538"/>
                  <a:gd name="connsiteX28" fmla="*/ 1968722 w 3645503"/>
                  <a:gd name="connsiteY28" fmla="*/ 725043 h 2782538"/>
                  <a:gd name="connsiteX29" fmla="*/ 2538317 w 3645503"/>
                  <a:gd name="connsiteY29" fmla="*/ 1297210 h 2782538"/>
                  <a:gd name="connsiteX30" fmla="*/ 2548985 w 3645503"/>
                  <a:gd name="connsiteY30" fmla="*/ 1322070 h 2782538"/>
                  <a:gd name="connsiteX31" fmla="*/ 2538317 w 3645503"/>
                  <a:gd name="connsiteY31" fmla="*/ 1350455 h 2782538"/>
                  <a:gd name="connsiteX32" fmla="*/ 2513362 w 3645503"/>
                  <a:gd name="connsiteY32" fmla="*/ 1361123 h 2782538"/>
                  <a:gd name="connsiteX33" fmla="*/ 2314004 w 3645503"/>
                  <a:gd name="connsiteY33" fmla="*/ 1361123 h 2782538"/>
                  <a:gd name="connsiteX34" fmla="*/ 2274856 w 3645503"/>
                  <a:gd name="connsiteY34" fmla="*/ 1396651 h 2782538"/>
                  <a:gd name="connsiteX35" fmla="*/ 2274856 w 3645503"/>
                  <a:gd name="connsiteY35" fmla="*/ 2757678 h 2782538"/>
                  <a:gd name="connsiteX36" fmla="*/ 2303336 w 3645503"/>
                  <a:gd name="connsiteY36" fmla="*/ 2782538 h 2782538"/>
                  <a:gd name="connsiteX37" fmla="*/ 2677097 w 3645503"/>
                  <a:gd name="connsiteY37" fmla="*/ 2782538 h 2782538"/>
                  <a:gd name="connsiteX38" fmla="*/ 2702052 w 3645503"/>
                  <a:gd name="connsiteY38" fmla="*/ 2757678 h 2782538"/>
                  <a:gd name="connsiteX39" fmla="*/ 2702052 w 3645503"/>
                  <a:gd name="connsiteY39" fmla="*/ 682276 h 2782538"/>
                  <a:gd name="connsiteX40" fmla="*/ 2666429 w 3645503"/>
                  <a:gd name="connsiteY40" fmla="*/ 643223 h 2782538"/>
                  <a:gd name="connsiteX41" fmla="*/ 2467070 w 3645503"/>
                  <a:gd name="connsiteY41" fmla="*/ 643223 h 2782538"/>
                  <a:gd name="connsiteX42" fmla="*/ 2427923 w 3645503"/>
                  <a:gd name="connsiteY42" fmla="*/ 607695 h 2782538"/>
                  <a:gd name="connsiteX43" fmla="*/ 2438591 w 3645503"/>
                  <a:gd name="connsiteY43" fmla="*/ 579311 h 2782538"/>
                  <a:gd name="connsiteX44" fmla="*/ 3011805 w 3645503"/>
                  <a:gd name="connsiteY44" fmla="*/ 10668 h 2782538"/>
                  <a:gd name="connsiteX45" fmla="*/ 3036761 w 3645503"/>
                  <a:gd name="connsiteY45" fmla="*/ 0 h 2782538"/>
                  <a:gd name="connsiteX46" fmla="*/ 3065240 w 3645503"/>
                  <a:gd name="connsiteY46" fmla="*/ 10668 h 2782538"/>
                  <a:gd name="connsiteX47" fmla="*/ 3634835 w 3645503"/>
                  <a:gd name="connsiteY47" fmla="*/ 579215 h 2782538"/>
                  <a:gd name="connsiteX48" fmla="*/ 3645503 w 3645503"/>
                  <a:gd name="connsiteY48" fmla="*/ 607600 h 2782538"/>
                  <a:gd name="connsiteX49" fmla="*/ 3634835 w 3645503"/>
                  <a:gd name="connsiteY49" fmla="*/ 632460 h 2782538"/>
                  <a:gd name="connsiteX50" fmla="*/ 3606356 w 3645503"/>
                  <a:gd name="connsiteY50" fmla="*/ 643128 h 2782538"/>
                  <a:gd name="connsiteX51" fmla="*/ 3406997 w 3645503"/>
                  <a:gd name="connsiteY51" fmla="*/ 643128 h 2782538"/>
                  <a:gd name="connsiteX52" fmla="*/ 3371374 w 3645503"/>
                  <a:gd name="connsiteY52" fmla="*/ 682181 h 2782538"/>
                  <a:gd name="connsiteX53" fmla="*/ 3371374 w 3645503"/>
                  <a:gd name="connsiteY53" fmla="*/ 1279208 h 278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645503" h="2782538">
                    <a:moveTo>
                      <a:pt x="0" y="2782538"/>
                    </a:moveTo>
                    <a:lnTo>
                      <a:pt x="487775" y="2782538"/>
                    </a:lnTo>
                    <a:cubicBezTo>
                      <a:pt x="502063" y="2782538"/>
                      <a:pt x="516255" y="2771870"/>
                      <a:pt x="516255" y="2757678"/>
                    </a:cubicBezTo>
                    <a:lnTo>
                      <a:pt x="516255" y="2114455"/>
                    </a:lnTo>
                    <a:cubicBezTo>
                      <a:pt x="516255" y="2093119"/>
                      <a:pt x="498443" y="2075402"/>
                      <a:pt x="477107" y="2075402"/>
                    </a:cubicBezTo>
                    <a:lnTo>
                      <a:pt x="277749" y="2075402"/>
                    </a:lnTo>
                    <a:cubicBezTo>
                      <a:pt x="256413" y="2075402"/>
                      <a:pt x="242126" y="2057591"/>
                      <a:pt x="242126" y="2039874"/>
                    </a:cubicBezTo>
                    <a:cubicBezTo>
                      <a:pt x="242126" y="2029206"/>
                      <a:pt x="245650" y="2018538"/>
                      <a:pt x="252794" y="2011490"/>
                    </a:cubicBezTo>
                    <a:lnTo>
                      <a:pt x="822388" y="1442942"/>
                    </a:lnTo>
                    <a:cubicBezTo>
                      <a:pt x="829532" y="1435798"/>
                      <a:pt x="840200" y="1432274"/>
                      <a:pt x="847344" y="1432274"/>
                    </a:cubicBezTo>
                    <a:cubicBezTo>
                      <a:pt x="858012" y="1432274"/>
                      <a:pt x="868680" y="1435798"/>
                      <a:pt x="875824" y="1442942"/>
                    </a:cubicBezTo>
                    <a:lnTo>
                      <a:pt x="1445419" y="2011490"/>
                    </a:lnTo>
                    <a:cubicBezTo>
                      <a:pt x="1452563" y="2018633"/>
                      <a:pt x="1456087" y="2029301"/>
                      <a:pt x="1456087" y="2039874"/>
                    </a:cubicBezTo>
                    <a:cubicBezTo>
                      <a:pt x="1456087" y="2047018"/>
                      <a:pt x="1452563" y="2057686"/>
                      <a:pt x="1445419" y="2064734"/>
                    </a:cubicBezTo>
                    <a:cubicBezTo>
                      <a:pt x="1438275" y="2071878"/>
                      <a:pt x="1427607" y="2075402"/>
                      <a:pt x="1420463" y="2075402"/>
                    </a:cubicBezTo>
                    <a:lnTo>
                      <a:pt x="1221105" y="2075402"/>
                    </a:lnTo>
                    <a:cubicBezTo>
                      <a:pt x="1199769" y="2075402"/>
                      <a:pt x="1181957" y="2093214"/>
                      <a:pt x="1181957" y="2114455"/>
                    </a:cubicBezTo>
                    <a:lnTo>
                      <a:pt x="1181957" y="2757678"/>
                    </a:lnTo>
                    <a:cubicBezTo>
                      <a:pt x="1181957" y="2771870"/>
                      <a:pt x="1192625" y="2782538"/>
                      <a:pt x="1210437" y="2782538"/>
                    </a:cubicBezTo>
                    <a:lnTo>
                      <a:pt x="1580674" y="2782538"/>
                    </a:lnTo>
                    <a:cubicBezTo>
                      <a:pt x="1598486" y="2782538"/>
                      <a:pt x="1609154" y="2771870"/>
                      <a:pt x="1609154" y="2757678"/>
                    </a:cubicBezTo>
                    <a:lnTo>
                      <a:pt x="1609154" y="1396651"/>
                    </a:lnTo>
                    <a:cubicBezTo>
                      <a:pt x="1609154" y="1375315"/>
                      <a:pt x="1591342" y="1361123"/>
                      <a:pt x="1570006" y="1361123"/>
                    </a:cubicBezTo>
                    <a:lnTo>
                      <a:pt x="1370648" y="1361123"/>
                    </a:lnTo>
                    <a:cubicBezTo>
                      <a:pt x="1352836" y="1361123"/>
                      <a:pt x="1335024" y="1343311"/>
                      <a:pt x="1335024" y="1322070"/>
                    </a:cubicBezTo>
                    <a:cubicBezTo>
                      <a:pt x="1335024" y="1311402"/>
                      <a:pt x="1338548" y="1304258"/>
                      <a:pt x="1345692" y="1297210"/>
                    </a:cubicBezTo>
                    <a:lnTo>
                      <a:pt x="1915287" y="725043"/>
                    </a:lnTo>
                    <a:cubicBezTo>
                      <a:pt x="1922431" y="717899"/>
                      <a:pt x="1933099" y="714375"/>
                      <a:pt x="1943767" y="714375"/>
                    </a:cubicBezTo>
                    <a:cubicBezTo>
                      <a:pt x="1950911" y="714375"/>
                      <a:pt x="1961579" y="717899"/>
                      <a:pt x="1968722" y="725043"/>
                    </a:cubicBezTo>
                    <a:lnTo>
                      <a:pt x="2538317" y="1297210"/>
                    </a:lnTo>
                    <a:cubicBezTo>
                      <a:pt x="2545461" y="1304354"/>
                      <a:pt x="2548985" y="1311402"/>
                      <a:pt x="2548985" y="1322070"/>
                    </a:cubicBezTo>
                    <a:cubicBezTo>
                      <a:pt x="2548985" y="1332738"/>
                      <a:pt x="2545461" y="1343406"/>
                      <a:pt x="2538317" y="1350455"/>
                    </a:cubicBezTo>
                    <a:cubicBezTo>
                      <a:pt x="2531174" y="1357598"/>
                      <a:pt x="2524030" y="1361123"/>
                      <a:pt x="2513362" y="1361123"/>
                    </a:cubicBezTo>
                    <a:lnTo>
                      <a:pt x="2314004" y="1361123"/>
                    </a:lnTo>
                    <a:cubicBezTo>
                      <a:pt x="2292668" y="1361123"/>
                      <a:pt x="2274856" y="1375315"/>
                      <a:pt x="2274856" y="1396651"/>
                    </a:cubicBezTo>
                    <a:lnTo>
                      <a:pt x="2274856" y="2757678"/>
                    </a:lnTo>
                    <a:cubicBezTo>
                      <a:pt x="2274856" y="2771870"/>
                      <a:pt x="2289143" y="2782538"/>
                      <a:pt x="2303336" y="2782538"/>
                    </a:cubicBezTo>
                    <a:lnTo>
                      <a:pt x="2677097" y="2782538"/>
                    </a:lnTo>
                    <a:cubicBezTo>
                      <a:pt x="2691384" y="2782538"/>
                      <a:pt x="2702052" y="2771870"/>
                      <a:pt x="2702052" y="2757678"/>
                    </a:cubicBezTo>
                    <a:lnTo>
                      <a:pt x="2702052" y="682276"/>
                    </a:lnTo>
                    <a:cubicBezTo>
                      <a:pt x="2702052" y="660940"/>
                      <a:pt x="2687765" y="643223"/>
                      <a:pt x="2666429" y="643223"/>
                    </a:cubicBezTo>
                    <a:lnTo>
                      <a:pt x="2467070" y="643223"/>
                    </a:lnTo>
                    <a:cubicBezTo>
                      <a:pt x="2445734" y="643223"/>
                      <a:pt x="2427923" y="629031"/>
                      <a:pt x="2427923" y="607695"/>
                    </a:cubicBezTo>
                    <a:cubicBezTo>
                      <a:pt x="2427923" y="597027"/>
                      <a:pt x="2431447" y="586359"/>
                      <a:pt x="2438591" y="579311"/>
                    </a:cubicBezTo>
                    <a:lnTo>
                      <a:pt x="3011805" y="10668"/>
                    </a:lnTo>
                    <a:cubicBezTo>
                      <a:pt x="3018949" y="3524"/>
                      <a:pt x="3026093" y="0"/>
                      <a:pt x="3036761" y="0"/>
                    </a:cubicBezTo>
                    <a:cubicBezTo>
                      <a:pt x="3047429" y="0"/>
                      <a:pt x="3058097" y="3524"/>
                      <a:pt x="3065240" y="10668"/>
                    </a:cubicBezTo>
                    <a:lnTo>
                      <a:pt x="3634835" y="579215"/>
                    </a:lnTo>
                    <a:cubicBezTo>
                      <a:pt x="3641979" y="586359"/>
                      <a:pt x="3645503" y="597027"/>
                      <a:pt x="3645503" y="607600"/>
                    </a:cubicBezTo>
                    <a:cubicBezTo>
                      <a:pt x="3645503" y="614744"/>
                      <a:pt x="3641979" y="625412"/>
                      <a:pt x="3634835" y="632460"/>
                    </a:cubicBezTo>
                    <a:cubicBezTo>
                      <a:pt x="3627691" y="639509"/>
                      <a:pt x="3617024" y="643128"/>
                      <a:pt x="3606356" y="643128"/>
                    </a:cubicBezTo>
                    <a:lnTo>
                      <a:pt x="3406997" y="643128"/>
                    </a:lnTo>
                    <a:cubicBezTo>
                      <a:pt x="3389186" y="643128"/>
                      <a:pt x="3371374" y="660940"/>
                      <a:pt x="3371374" y="682181"/>
                    </a:cubicBezTo>
                    <a:lnTo>
                      <a:pt x="3371374" y="1279208"/>
                    </a:lnTo>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85" name="Freeform: Shape 47">
                <a:extLst>
                  <a:ext uri="{FF2B5EF4-FFF2-40B4-BE49-F238E27FC236}">
                    <a16:creationId xmlns:a16="http://schemas.microsoft.com/office/drawing/2014/main" id="{3DA5941F-90D2-11AA-EDFB-75389CFC0417}"/>
                  </a:ext>
                </a:extLst>
              </p:cNvPr>
              <p:cNvSpPr/>
              <p:nvPr/>
            </p:nvSpPr>
            <p:spPr>
              <a:xfrm>
                <a:off x="11551312" y="1975620"/>
                <a:ext cx="847343" cy="366045"/>
              </a:xfrm>
              <a:custGeom>
                <a:avLst/>
                <a:gdLst>
                  <a:gd name="connsiteX0" fmla="*/ 0 w 847343"/>
                  <a:gd name="connsiteY0" fmla="*/ 0 h 366045"/>
                  <a:gd name="connsiteX1" fmla="*/ 0 w 847343"/>
                  <a:gd name="connsiteY1" fmla="*/ 341185 h 366045"/>
                  <a:gd name="connsiteX2" fmla="*/ 24955 w 847343"/>
                  <a:gd name="connsiteY2" fmla="*/ 366046 h 366045"/>
                  <a:gd name="connsiteX3" fmla="*/ 847344 w 847343"/>
                  <a:gd name="connsiteY3" fmla="*/ 366046 h 366045"/>
                </a:gdLst>
                <a:ahLst/>
                <a:cxnLst>
                  <a:cxn ang="0">
                    <a:pos x="connsiteX0" y="connsiteY0"/>
                  </a:cxn>
                  <a:cxn ang="0">
                    <a:pos x="connsiteX1" y="connsiteY1"/>
                  </a:cxn>
                  <a:cxn ang="0">
                    <a:pos x="connsiteX2" y="connsiteY2"/>
                  </a:cxn>
                  <a:cxn ang="0">
                    <a:pos x="connsiteX3" y="connsiteY3"/>
                  </a:cxn>
                </a:cxnLst>
                <a:rect l="l" t="t" r="r" b="b"/>
                <a:pathLst>
                  <a:path w="847343" h="366045">
                    <a:moveTo>
                      <a:pt x="0" y="0"/>
                    </a:moveTo>
                    <a:lnTo>
                      <a:pt x="0" y="341185"/>
                    </a:lnTo>
                    <a:cubicBezTo>
                      <a:pt x="0" y="355378"/>
                      <a:pt x="10668" y="366046"/>
                      <a:pt x="24955" y="366046"/>
                    </a:cubicBezTo>
                    <a:lnTo>
                      <a:pt x="847344" y="366046"/>
                    </a:lnTo>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cxnSp>
          <p:nvCxnSpPr>
            <p:cNvPr id="83" name="Straight Connector 82">
              <a:extLst>
                <a:ext uri="{FF2B5EF4-FFF2-40B4-BE49-F238E27FC236}">
                  <a16:creationId xmlns:a16="http://schemas.microsoft.com/office/drawing/2014/main" id="{09DBF69E-497B-5F91-EF9D-B6327BAFC454}"/>
                </a:ext>
              </a:extLst>
            </p:cNvPr>
            <p:cNvCxnSpPr/>
            <p:nvPr/>
          </p:nvCxnSpPr>
          <p:spPr>
            <a:xfrm>
              <a:off x="5619885" y="5608252"/>
              <a:ext cx="0" cy="365760"/>
            </a:xfrm>
            <a:prstGeom prst="line">
              <a:avLst/>
            </a:prstGeom>
            <a:ln w="19050" cap="rnd">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6" name="TextBox 85">
            <a:extLst>
              <a:ext uri="{FF2B5EF4-FFF2-40B4-BE49-F238E27FC236}">
                <a16:creationId xmlns:a16="http://schemas.microsoft.com/office/drawing/2014/main" id="{7A378167-86D8-C04F-4AF8-FD553CBC3C08}"/>
              </a:ext>
            </a:extLst>
          </p:cNvPr>
          <p:cNvSpPr txBox="1"/>
          <p:nvPr/>
        </p:nvSpPr>
        <p:spPr>
          <a:xfrm>
            <a:off x="5075610" y="3780264"/>
            <a:ext cx="956992" cy="646331"/>
          </a:xfrm>
          <a:prstGeom prst="rect">
            <a:avLst/>
          </a:prstGeom>
        </p:spPr>
        <p:txBody>
          <a:bodyPr wrap="none" lIns="0" rIns="0" rtlCol="0">
            <a:spAutoFit/>
          </a:bodyPr>
          <a:lstStyle/>
          <a:p>
            <a:pPr lvl="0" algn="ctr">
              <a:defRPr/>
            </a:pPr>
            <a:r>
              <a:rPr lang="en-US" dirty="0">
                <a:solidFill>
                  <a:srgbClr val="FFFFFF"/>
                </a:solidFill>
                <a:latin typeface="Amazon Ember" pitchFamily="34" charset="0"/>
                <a:ea typeface="Arial" pitchFamily="34" charset="-122"/>
                <a:cs typeface="Arial" pitchFamily="34" charset="-120"/>
              </a:rPr>
              <a:t>Use-Case</a:t>
            </a:r>
          </a:p>
          <a:p>
            <a:pPr lvl="0" algn="ctr">
              <a:defRPr/>
            </a:pPr>
            <a:r>
              <a:rPr lang="en-US" dirty="0">
                <a:solidFill>
                  <a:srgbClr val="FFFFFF"/>
                </a:solidFill>
                <a:latin typeface="Amazon Ember" pitchFamily="34" charset="0"/>
                <a:ea typeface="Arial" pitchFamily="34" charset="-122"/>
                <a:cs typeface="Arial" pitchFamily="34" charset="-120"/>
              </a:rPr>
              <a:t>Sizing</a:t>
            </a:r>
            <a:endParaRPr kumimoji="0" lang="en-US" sz="180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endParaRPr>
          </a:p>
        </p:txBody>
      </p:sp>
      <p:grpSp>
        <p:nvGrpSpPr>
          <p:cNvPr id="87" name="Group 86">
            <a:extLst>
              <a:ext uri="{FF2B5EF4-FFF2-40B4-BE49-F238E27FC236}">
                <a16:creationId xmlns:a16="http://schemas.microsoft.com/office/drawing/2014/main" id="{BC5C0F4A-AA25-BC42-B269-06F0B917EFA8}"/>
              </a:ext>
            </a:extLst>
          </p:cNvPr>
          <p:cNvGrpSpPr>
            <a:grpSpLocks noChangeAspect="1"/>
          </p:cNvGrpSpPr>
          <p:nvPr/>
        </p:nvGrpSpPr>
        <p:grpSpPr>
          <a:xfrm>
            <a:off x="10072565" y="3223488"/>
            <a:ext cx="1277575" cy="914400"/>
            <a:chOff x="5954229" y="3346637"/>
            <a:chExt cx="1675718" cy="1199363"/>
          </a:xfrm>
        </p:grpSpPr>
        <p:grpSp>
          <p:nvGrpSpPr>
            <p:cNvPr id="88" name="Group 87">
              <a:extLst>
                <a:ext uri="{FF2B5EF4-FFF2-40B4-BE49-F238E27FC236}">
                  <a16:creationId xmlns:a16="http://schemas.microsoft.com/office/drawing/2014/main" id="{0ADA8FA6-AA79-0398-F3C6-3870E023941B}"/>
                </a:ext>
              </a:extLst>
            </p:cNvPr>
            <p:cNvGrpSpPr>
              <a:grpSpLocks noChangeAspect="1"/>
            </p:cNvGrpSpPr>
            <p:nvPr/>
          </p:nvGrpSpPr>
          <p:grpSpPr>
            <a:xfrm>
              <a:off x="5954229" y="3346637"/>
              <a:ext cx="1005840" cy="569767"/>
              <a:chOff x="6190467" y="6083321"/>
              <a:chExt cx="1253606" cy="710116"/>
            </a:xfrm>
          </p:grpSpPr>
          <p:sp useBgFill="1">
            <p:nvSpPr>
              <p:cNvPr id="104" name="Freeform: Shape 56">
                <a:extLst>
                  <a:ext uri="{FF2B5EF4-FFF2-40B4-BE49-F238E27FC236}">
                    <a16:creationId xmlns:a16="http://schemas.microsoft.com/office/drawing/2014/main" id="{B846D51D-BA56-04E0-D368-E34404842B05}"/>
                  </a:ext>
                </a:extLst>
              </p:cNvPr>
              <p:cNvSpPr/>
              <p:nvPr/>
            </p:nvSpPr>
            <p:spPr>
              <a:xfrm>
                <a:off x="6196969" y="6083321"/>
                <a:ext cx="1240602" cy="710116"/>
              </a:xfrm>
              <a:custGeom>
                <a:avLst/>
                <a:gdLst>
                  <a:gd name="connsiteX0" fmla="*/ 1240602 w 1240602"/>
                  <a:gd name="connsiteY0" fmla="*/ 179358 h 710116"/>
                  <a:gd name="connsiteX1" fmla="*/ 1127894 w 1240602"/>
                  <a:gd name="connsiteY1" fmla="*/ 179358 h 710116"/>
                  <a:gd name="connsiteX2" fmla="*/ 1127894 w 1240602"/>
                  <a:gd name="connsiteY2" fmla="*/ 0 h 710116"/>
                  <a:gd name="connsiteX3" fmla="*/ 112708 w 1240602"/>
                  <a:gd name="connsiteY3" fmla="*/ 0 h 710116"/>
                  <a:gd name="connsiteX4" fmla="*/ 112708 w 1240602"/>
                  <a:gd name="connsiteY4" fmla="*/ 179358 h 710116"/>
                  <a:gd name="connsiteX5" fmla="*/ 0 w 1240602"/>
                  <a:gd name="connsiteY5" fmla="*/ 179358 h 710116"/>
                  <a:gd name="connsiteX6" fmla="*/ 0 w 1240602"/>
                  <a:gd name="connsiteY6" fmla="*/ 530758 h 710116"/>
                  <a:gd name="connsiteX7" fmla="*/ 112708 w 1240602"/>
                  <a:gd name="connsiteY7" fmla="*/ 530758 h 710116"/>
                  <a:gd name="connsiteX8" fmla="*/ 112708 w 1240602"/>
                  <a:gd name="connsiteY8" fmla="*/ 710116 h 710116"/>
                  <a:gd name="connsiteX9" fmla="*/ 1127894 w 1240602"/>
                  <a:gd name="connsiteY9" fmla="*/ 710116 h 710116"/>
                  <a:gd name="connsiteX10" fmla="*/ 1127894 w 1240602"/>
                  <a:gd name="connsiteY10" fmla="*/ 530758 h 710116"/>
                  <a:gd name="connsiteX11" fmla="*/ 1240602 w 1240602"/>
                  <a:gd name="connsiteY11" fmla="*/ 530758 h 710116"/>
                  <a:gd name="connsiteX12" fmla="*/ 1240602 w 1240602"/>
                  <a:gd name="connsiteY12" fmla="*/ 179358 h 71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40602" h="710116">
                    <a:moveTo>
                      <a:pt x="1240602" y="179358"/>
                    </a:moveTo>
                    <a:lnTo>
                      <a:pt x="1127894" y="179358"/>
                    </a:lnTo>
                    <a:lnTo>
                      <a:pt x="1127894" y="0"/>
                    </a:lnTo>
                    <a:lnTo>
                      <a:pt x="112708" y="0"/>
                    </a:lnTo>
                    <a:lnTo>
                      <a:pt x="112708" y="179358"/>
                    </a:lnTo>
                    <a:lnTo>
                      <a:pt x="0" y="179358"/>
                    </a:lnTo>
                    <a:lnTo>
                      <a:pt x="0" y="530758"/>
                    </a:lnTo>
                    <a:lnTo>
                      <a:pt x="112708" y="530758"/>
                    </a:lnTo>
                    <a:lnTo>
                      <a:pt x="112708" y="710116"/>
                    </a:lnTo>
                    <a:lnTo>
                      <a:pt x="1127894" y="710116"/>
                    </a:lnTo>
                    <a:lnTo>
                      <a:pt x="1127894" y="530758"/>
                    </a:lnTo>
                    <a:lnTo>
                      <a:pt x="1240602" y="530758"/>
                    </a:lnTo>
                    <a:lnTo>
                      <a:pt x="1240602" y="179358"/>
                    </a:lnTo>
                    <a:close/>
                  </a:path>
                </a:pathLst>
              </a:custGeom>
              <a:ln w="2695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105" name="Freeform: Shape 57">
                <a:extLst>
                  <a:ext uri="{FF2B5EF4-FFF2-40B4-BE49-F238E27FC236}">
                    <a16:creationId xmlns:a16="http://schemas.microsoft.com/office/drawing/2014/main" id="{8DCFA467-945A-B0A3-526C-37178F9EF96F}"/>
                  </a:ext>
                </a:extLst>
              </p:cNvPr>
              <p:cNvSpPr/>
              <p:nvPr/>
            </p:nvSpPr>
            <p:spPr>
              <a:xfrm>
                <a:off x="6190467" y="6262679"/>
                <a:ext cx="1253606" cy="351400"/>
              </a:xfrm>
              <a:custGeom>
                <a:avLst/>
                <a:gdLst>
                  <a:gd name="connsiteX0" fmla="*/ 377952 w 1253606"/>
                  <a:gd name="connsiteY0" fmla="*/ 96181 h 351400"/>
                  <a:gd name="connsiteX1" fmla="*/ 441079 w 1253606"/>
                  <a:gd name="connsiteY1" fmla="*/ 33054 h 351400"/>
                  <a:gd name="connsiteX2" fmla="*/ 504206 w 1253606"/>
                  <a:gd name="connsiteY2" fmla="*/ 96181 h 351400"/>
                  <a:gd name="connsiteX3" fmla="*/ 441079 w 1253606"/>
                  <a:gd name="connsiteY3" fmla="*/ 159309 h 351400"/>
                  <a:gd name="connsiteX4" fmla="*/ 377952 w 1253606"/>
                  <a:gd name="connsiteY4" fmla="*/ 96181 h 351400"/>
                  <a:gd name="connsiteX5" fmla="*/ 377952 w 1253606"/>
                  <a:gd name="connsiteY5" fmla="*/ 96181 h 351400"/>
                  <a:gd name="connsiteX6" fmla="*/ 723120 w 1253606"/>
                  <a:gd name="connsiteY6" fmla="*/ 96181 h 351400"/>
                  <a:gd name="connsiteX7" fmla="*/ 786248 w 1253606"/>
                  <a:gd name="connsiteY7" fmla="*/ 159309 h 351400"/>
                  <a:gd name="connsiteX8" fmla="*/ 849375 w 1253606"/>
                  <a:gd name="connsiteY8" fmla="*/ 96181 h 351400"/>
                  <a:gd name="connsiteX9" fmla="*/ 786248 w 1253606"/>
                  <a:gd name="connsiteY9" fmla="*/ 33054 h 351400"/>
                  <a:gd name="connsiteX10" fmla="*/ 723120 w 1253606"/>
                  <a:gd name="connsiteY10" fmla="*/ 96181 h 351400"/>
                  <a:gd name="connsiteX11" fmla="*/ 723120 w 1253606"/>
                  <a:gd name="connsiteY11" fmla="*/ 96181 h 351400"/>
                  <a:gd name="connsiteX12" fmla="*/ 119211 w 1253606"/>
                  <a:gd name="connsiteY12" fmla="*/ 351401 h 351400"/>
                  <a:gd name="connsiteX13" fmla="*/ 119211 w 1253606"/>
                  <a:gd name="connsiteY13" fmla="*/ 0 h 351400"/>
                  <a:gd name="connsiteX14" fmla="*/ 6502 w 1253606"/>
                  <a:gd name="connsiteY14" fmla="*/ 0 h 351400"/>
                  <a:gd name="connsiteX15" fmla="*/ 0 w 1253606"/>
                  <a:gd name="connsiteY15" fmla="*/ 6502 h 351400"/>
                  <a:gd name="connsiteX16" fmla="*/ 0 w 1253606"/>
                  <a:gd name="connsiteY16" fmla="*/ 338125 h 351400"/>
                  <a:gd name="connsiteX17" fmla="*/ 6502 w 1253606"/>
                  <a:gd name="connsiteY17" fmla="*/ 351401 h 351400"/>
                  <a:gd name="connsiteX18" fmla="*/ 119211 w 1253606"/>
                  <a:gd name="connsiteY18" fmla="*/ 351401 h 351400"/>
                  <a:gd name="connsiteX19" fmla="*/ 1134396 w 1253606"/>
                  <a:gd name="connsiteY19" fmla="*/ 351401 h 351400"/>
                  <a:gd name="connsiteX20" fmla="*/ 1134396 w 1253606"/>
                  <a:gd name="connsiteY20" fmla="*/ 0 h 351400"/>
                  <a:gd name="connsiteX21" fmla="*/ 1247105 w 1253606"/>
                  <a:gd name="connsiteY21" fmla="*/ 0 h 351400"/>
                  <a:gd name="connsiteX22" fmla="*/ 1253607 w 1253606"/>
                  <a:gd name="connsiteY22" fmla="*/ 6502 h 351400"/>
                  <a:gd name="connsiteX23" fmla="*/ 1253607 w 1253606"/>
                  <a:gd name="connsiteY23" fmla="*/ 338125 h 351400"/>
                  <a:gd name="connsiteX24" fmla="*/ 1247105 w 1253606"/>
                  <a:gd name="connsiteY24" fmla="*/ 351401 h 351400"/>
                  <a:gd name="connsiteX25" fmla="*/ 1134396 w 1253606"/>
                  <a:gd name="connsiteY25" fmla="*/ 351401 h 35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53606" h="351400">
                    <a:moveTo>
                      <a:pt x="377952" y="96181"/>
                    </a:moveTo>
                    <a:cubicBezTo>
                      <a:pt x="377952" y="61231"/>
                      <a:pt x="405858" y="33054"/>
                      <a:pt x="441079" y="33054"/>
                    </a:cubicBezTo>
                    <a:cubicBezTo>
                      <a:pt x="476300" y="33054"/>
                      <a:pt x="504206" y="60960"/>
                      <a:pt x="504206" y="96181"/>
                    </a:cubicBezTo>
                    <a:cubicBezTo>
                      <a:pt x="504206" y="131403"/>
                      <a:pt x="476300" y="159309"/>
                      <a:pt x="441079" y="159309"/>
                    </a:cubicBezTo>
                    <a:cubicBezTo>
                      <a:pt x="405858" y="159309"/>
                      <a:pt x="377952" y="131403"/>
                      <a:pt x="377952" y="96181"/>
                    </a:cubicBezTo>
                    <a:lnTo>
                      <a:pt x="377952" y="96181"/>
                    </a:lnTo>
                    <a:close/>
                    <a:moveTo>
                      <a:pt x="723120" y="96181"/>
                    </a:moveTo>
                    <a:cubicBezTo>
                      <a:pt x="723120" y="131132"/>
                      <a:pt x="751026" y="159309"/>
                      <a:pt x="786248" y="159309"/>
                    </a:cubicBezTo>
                    <a:cubicBezTo>
                      <a:pt x="821469" y="159309"/>
                      <a:pt x="849375" y="131403"/>
                      <a:pt x="849375" y="96181"/>
                    </a:cubicBezTo>
                    <a:cubicBezTo>
                      <a:pt x="849375" y="60960"/>
                      <a:pt x="821469" y="33054"/>
                      <a:pt x="786248" y="33054"/>
                    </a:cubicBezTo>
                    <a:cubicBezTo>
                      <a:pt x="751026" y="33054"/>
                      <a:pt x="723120" y="60960"/>
                      <a:pt x="723120" y="96181"/>
                    </a:cubicBezTo>
                    <a:lnTo>
                      <a:pt x="723120" y="96181"/>
                    </a:lnTo>
                    <a:close/>
                    <a:moveTo>
                      <a:pt x="119211" y="351401"/>
                    </a:moveTo>
                    <a:lnTo>
                      <a:pt x="119211" y="0"/>
                    </a:lnTo>
                    <a:lnTo>
                      <a:pt x="6502" y="0"/>
                    </a:lnTo>
                    <a:cubicBezTo>
                      <a:pt x="6502" y="0"/>
                      <a:pt x="0" y="0"/>
                      <a:pt x="0" y="6502"/>
                    </a:cubicBezTo>
                    <a:lnTo>
                      <a:pt x="0" y="338125"/>
                    </a:lnTo>
                    <a:cubicBezTo>
                      <a:pt x="0" y="344627"/>
                      <a:pt x="6502" y="351401"/>
                      <a:pt x="6502" y="351401"/>
                    </a:cubicBezTo>
                    <a:lnTo>
                      <a:pt x="119211" y="351401"/>
                    </a:lnTo>
                    <a:moveTo>
                      <a:pt x="1134396" y="351401"/>
                    </a:moveTo>
                    <a:lnTo>
                      <a:pt x="1134396" y="0"/>
                    </a:lnTo>
                    <a:lnTo>
                      <a:pt x="1247105" y="0"/>
                    </a:lnTo>
                    <a:cubicBezTo>
                      <a:pt x="1247105" y="0"/>
                      <a:pt x="1253607" y="0"/>
                      <a:pt x="1253607" y="6502"/>
                    </a:cubicBezTo>
                    <a:lnTo>
                      <a:pt x="1253607" y="338125"/>
                    </a:lnTo>
                    <a:cubicBezTo>
                      <a:pt x="1253607" y="344627"/>
                      <a:pt x="1247105" y="351401"/>
                      <a:pt x="1247105" y="351401"/>
                    </a:cubicBezTo>
                    <a:lnTo>
                      <a:pt x="1134396" y="351401"/>
                    </a:lnTo>
                  </a:path>
                </a:pathLst>
              </a:custGeom>
              <a:noFill/>
              <a:ln w="19050" cap="flat">
                <a:solidFill>
                  <a:schemeClr val="accent3"/>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106" name="Freeform: Shape 58">
                <a:extLst>
                  <a:ext uri="{FF2B5EF4-FFF2-40B4-BE49-F238E27FC236}">
                    <a16:creationId xmlns:a16="http://schemas.microsoft.com/office/drawing/2014/main" id="{2D2A3F90-504D-1939-823D-0ECE75D724BC}"/>
                  </a:ext>
                </a:extLst>
              </p:cNvPr>
              <p:cNvSpPr/>
              <p:nvPr/>
            </p:nvSpPr>
            <p:spPr>
              <a:xfrm>
                <a:off x="6309677" y="6083592"/>
                <a:ext cx="1014914" cy="709574"/>
              </a:xfrm>
              <a:custGeom>
                <a:avLst/>
                <a:gdLst>
                  <a:gd name="connsiteX0" fmla="*/ 0 w 1014914"/>
                  <a:gd name="connsiteY0" fmla="*/ 19778 h 709574"/>
                  <a:gd name="connsiteX1" fmla="*/ 19778 w 1014914"/>
                  <a:gd name="connsiteY1" fmla="*/ 0 h 709574"/>
                  <a:gd name="connsiteX2" fmla="*/ 995137 w 1014914"/>
                  <a:gd name="connsiteY2" fmla="*/ 0 h 709574"/>
                  <a:gd name="connsiteX3" fmla="*/ 1014915 w 1014914"/>
                  <a:gd name="connsiteY3" fmla="*/ 19778 h 709574"/>
                  <a:gd name="connsiteX4" fmla="*/ 1014915 w 1014914"/>
                  <a:gd name="connsiteY4" fmla="*/ 689796 h 709574"/>
                  <a:gd name="connsiteX5" fmla="*/ 995137 w 1014914"/>
                  <a:gd name="connsiteY5" fmla="*/ 709574 h 709574"/>
                  <a:gd name="connsiteX6" fmla="*/ 20049 w 1014914"/>
                  <a:gd name="connsiteY6" fmla="*/ 709574 h 709574"/>
                  <a:gd name="connsiteX7" fmla="*/ 271 w 1014914"/>
                  <a:gd name="connsiteY7" fmla="*/ 689796 h 709574"/>
                  <a:gd name="connsiteX8" fmla="*/ 271 w 1014914"/>
                  <a:gd name="connsiteY8" fmla="*/ 19778 h 709574"/>
                  <a:gd name="connsiteX9" fmla="*/ 271 w 1014914"/>
                  <a:gd name="connsiteY9" fmla="*/ 19778 h 709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4914" h="709574">
                    <a:moveTo>
                      <a:pt x="0" y="19778"/>
                    </a:moveTo>
                    <a:cubicBezTo>
                      <a:pt x="0" y="6502"/>
                      <a:pt x="6502" y="0"/>
                      <a:pt x="19778" y="0"/>
                    </a:cubicBezTo>
                    <a:lnTo>
                      <a:pt x="995137" y="0"/>
                    </a:lnTo>
                    <a:cubicBezTo>
                      <a:pt x="1008413" y="0"/>
                      <a:pt x="1014915" y="6502"/>
                      <a:pt x="1014915" y="19778"/>
                    </a:cubicBezTo>
                    <a:lnTo>
                      <a:pt x="1014915" y="689796"/>
                    </a:lnTo>
                    <a:cubicBezTo>
                      <a:pt x="1014915" y="696299"/>
                      <a:pt x="1008413" y="709574"/>
                      <a:pt x="995137" y="709574"/>
                    </a:cubicBezTo>
                    <a:lnTo>
                      <a:pt x="20049" y="709574"/>
                    </a:lnTo>
                    <a:cubicBezTo>
                      <a:pt x="6773" y="709574"/>
                      <a:pt x="271" y="696299"/>
                      <a:pt x="271" y="689796"/>
                    </a:cubicBezTo>
                    <a:lnTo>
                      <a:pt x="271" y="19778"/>
                    </a:lnTo>
                    <a:lnTo>
                      <a:pt x="271" y="19778"/>
                    </a:lnTo>
                    <a:close/>
                  </a:path>
                </a:pathLst>
              </a:custGeom>
              <a:noFill/>
              <a:ln w="1905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grpSp>
          <p:nvGrpSpPr>
            <p:cNvPr id="89" name="Group 88">
              <a:extLst>
                <a:ext uri="{FF2B5EF4-FFF2-40B4-BE49-F238E27FC236}">
                  <a16:creationId xmlns:a16="http://schemas.microsoft.com/office/drawing/2014/main" id="{D9E9B1CD-B38D-1CE9-DD95-4E949B0ABA16}"/>
                </a:ext>
              </a:extLst>
            </p:cNvPr>
            <p:cNvGrpSpPr/>
            <p:nvPr/>
          </p:nvGrpSpPr>
          <p:grpSpPr>
            <a:xfrm>
              <a:off x="6177522" y="3452505"/>
              <a:ext cx="1005840" cy="673759"/>
              <a:chOff x="3684266" y="3462461"/>
              <a:chExt cx="1005840" cy="673759"/>
            </a:xfrm>
          </p:grpSpPr>
          <p:sp useBgFill="1">
            <p:nvSpPr>
              <p:cNvPr id="100" name="Rectangle 99">
                <a:extLst>
                  <a:ext uri="{FF2B5EF4-FFF2-40B4-BE49-F238E27FC236}">
                    <a16:creationId xmlns:a16="http://schemas.microsoft.com/office/drawing/2014/main" id="{488A6A8C-5B57-2A56-AE9E-54CBDFC601CA}"/>
                  </a:ext>
                </a:extLst>
              </p:cNvPr>
              <p:cNvSpPr/>
              <p:nvPr/>
            </p:nvSpPr>
            <p:spPr>
              <a:xfrm>
                <a:off x="3718519" y="3462461"/>
                <a:ext cx="518564" cy="26403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useBgFill="1">
            <p:nvSpPr>
              <p:cNvPr id="101" name="Freeform: Shape 53">
                <a:extLst>
                  <a:ext uri="{FF2B5EF4-FFF2-40B4-BE49-F238E27FC236}">
                    <a16:creationId xmlns:a16="http://schemas.microsoft.com/office/drawing/2014/main" id="{ED2333C1-4BD7-B31D-D3E5-83FE562CA143}"/>
                  </a:ext>
                </a:extLst>
              </p:cNvPr>
              <p:cNvSpPr/>
              <p:nvPr/>
            </p:nvSpPr>
            <p:spPr>
              <a:xfrm>
                <a:off x="3689483" y="3566453"/>
                <a:ext cx="995406" cy="569767"/>
              </a:xfrm>
              <a:custGeom>
                <a:avLst/>
                <a:gdLst>
                  <a:gd name="connsiteX0" fmla="*/ 1240602 w 1240602"/>
                  <a:gd name="connsiteY0" fmla="*/ 179358 h 710116"/>
                  <a:gd name="connsiteX1" fmla="*/ 1127894 w 1240602"/>
                  <a:gd name="connsiteY1" fmla="*/ 179358 h 710116"/>
                  <a:gd name="connsiteX2" fmla="*/ 1127894 w 1240602"/>
                  <a:gd name="connsiteY2" fmla="*/ 0 h 710116"/>
                  <a:gd name="connsiteX3" fmla="*/ 112708 w 1240602"/>
                  <a:gd name="connsiteY3" fmla="*/ 0 h 710116"/>
                  <a:gd name="connsiteX4" fmla="*/ 112708 w 1240602"/>
                  <a:gd name="connsiteY4" fmla="*/ 179358 h 710116"/>
                  <a:gd name="connsiteX5" fmla="*/ 0 w 1240602"/>
                  <a:gd name="connsiteY5" fmla="*/ 179358 h 710116"/>
                  <a:gd name="connsiteX6" fmla="*/ 0 w 1240602"/>
                  <a:gd name="connsiteY6" fmla="*/ 530758 h 710116"/>
                  <a:gd name="connsiteX7" fmla="*/ 112708 w 1240602"/>
                  <a:gd name="connsiteY7" fmla="*/ 530758 h 710116"/>
                  <a:gd name="connsiteX8" fmla="*/ 112708 w 1240602"/>
                  <a:gd name="connsiteY8" fmla="*/ 710116 h 710116"/>
                  <a:gd name="connsiteX9" fmla="*/ 1127894 w 1240602"/>
                  <a:gd name="connsiteY9" fmla="*/ 710116 h 710116"/>
                  <a:gd name="connsiteX10" fmla="*/ 1127894 w 1240602"/>
                  <a:gd name="connsiteY10" fmla="*/ 530758 h 710116"/>
                  <a:gd name="connsiteX11" fmla="*/ 1240602 w 1240602"/>
                  <a:gd name="connsiteY11" fmla="*/ 530758 h 710116"/>
                  <a:gd name="connsiteX12" fmla="*/ 1240602 w 1240602"/>
                  <a:gd name="connsiteY12" fmla="*/ 179358 h 71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40602" h="710116">
                    <a:moveTo>
                      <a:pt x="1240602" y="179358"/>
                    </a:moveTo>
                    <a:lnTo>
                      <a:pt x="1127894" y="179358"/>
                    </a:lnTo>
                    <a:lnTo>
                      <a:pt x="1127894" y="0"/>
                    </a:lnTo>
                    <a:lnTo>
                      <a:pt x="112708" y="0"/>
                    </a:lnTo>
                    <a:lnTo>
                      <a:pt x="112708" y="179358"/>
                    </a:lnTo>
                    <a:lnTo>
                      <a:pt x="0" y="179358"/>
                    </a:lnTo>
                    <a:lnTo>
                      <a:pt x="0" y="530758"/>
                    </a:lnTo>
                    <a:lnTo>
                      <a:pt x="112708" y="530758"/>
                    </a:lnTo>
                    <a:lnTo>
                      <a:pt x="112708" y="710116"/>
                    </a:lnTo>
                    <a:lnTo>
                      <a:pt x="1127894" y="710116"/>
                    </a:lnTo>
                    <a:lnTo>
                      <a:pt x="1127894" y="530758"/>
                    </a:lnTo>
                    <a:lnTo>
                      <a:pt x="1240602" y="530758"/>
                    </a:lnTo>
                    <a:lnTo>
                      <a:pt x="1240602" y="179358"/>
                    </a:lnTo>
                    <a:close/>
                  </a:path>
                </a:pathLst>
              </a:custGeom>
              <a:ln w="2695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102" name="Freeform: Shape 54">
                <a:extLst>
                  <a:ext uri="{FF2B5EF4-FFF2-40B4-BE49-F238E27FC236}">
                    <a16:creationId xmlns:a16="http://schemas.microsoft.com/office/drawing/2014/main" id="{E5BD7E46-E4C8-18C5-410D-EF18AA5489CD}"/>
                  </a:ext>
                </a:extLst>
              </p:cNvPr>
              <p:cNvSpPr/>
              <p:nvPr/>
            </p:nvSpPr>
            <p:spPr>
              <a:xfrm>
                <a:off x="3684266" y="3710362"/>
                <a:ext cx="1005840" cy="281948"/>
              </a:xfrm>
              <a:custGeom>
                <a:avLst/>
                <a:gdLst>
                  <a:gd name="connsiteX0" fmla="*/ 377952 w 1253606"/>
                  <a:gd name="connsiteY0" fmla="*/ 96181 h 351400"/>
                  <a:gd name="connsiteX1" fmla="*/ 441079 w 1253606"/>
                  <a:gd name="connsiteY1" fmla="*/ 33054 h 351400"/>
                  <a:gd name="connsiteX2" fmla="*/ 504206 w 1253606"/>
                  <a:gd name="connsiteY2" fmla="*/ 96181 h 351400"/>
                  <a:gd name="connsiteX3" fmla="*/ 441079 w 1253606"/>
                  <a:gd name="connsiteY3" fmla="*/ 159309 h 351400"/>
                  <a:gd name="connsiteX4" fmla="*/ 377952 w 1253606"/>
                  <a:gd name="connsiteY4" fmla="*/ 96181 h 351400"/>
                  <a:gd name="connsiteX5" fmla="*/ 377952 w 1253606"/>
                  <a:gd name="connsiteY5" fmla="*/ 96181 h 351400"/>
                  <a:gd name="connsiteX6" fmla="*/ 723120 w 1253606"/>
                  <a:gd name="connsiteY6" fmla="*/ 96181 h 351400"/>
                  <a:gd name="connsiteX7" fmla="*/ 786248 w 1253606"/>
                  <a:gd name="connsiteY7" fmla="*/ 159309 h 351400"/>
                  <a:gd name="connsiteX8" fmla="*/ 849375 w 1253606"/>
                  <a:gd name="connsiteY8" fmla="*/ 96181 h 351400"/>
                  <a:gd name="connsiteX9" fmla="*/ 786248 w 1253606"/>
                  <a:gd name="connsiteY9" fmla="*/ 33054 h 351400"/>
                  <a:gd name="connsiteX10" fmla="*/ 723120 w 1253606"/>
                  <a:gd name="connsiteY10" fmla="*/ 96181 h 351400"/>
                  <a:gd name="connsiteX11" fmla="*/ 723120 w 1253606"/>
                  <a:gd name="connsiteY11" fmla="*/ 96181 h 351400"/>
                  <a:gd name="connsiteX12" fmla="*/ 119211 w 1253606"/>
                  <a:gd name="connsiteY12" fmla="*/ 351401 h 351400"/>
                  <a:gd name="connsiteX13" fmla="*/ 119211 w 1253606"/>
                  <a:gd name="connsiteY13" fmla="*/ 0 h 351400"/>
                  <a:gd name="connsiteX14" fmla="*/ 6502 w 1253606"/>
                  <a:gd name="connsiteY14" fmla="*/ 0 h 351400"/>
                  <a:gd name="connsiteX15" fmla="*/ 0 w 1253606"/>
                  <a:gd name="connsiteY15" fmla="*/ 6502 h 351400"/>
                  <a:gd name="connsiteX16" fmla="*/ 0 w 1253606"/>
                  <a:gd name="connsiteY16" fmla="*/ 338125 h 351400"/>
                  <a:gd name="connsiteX17" fmla="*/ 6502 w 1253606"/>
                  <a:gd name="connsiteY17" fmla="*/ 351401 h 351400"/>
                  <a:gd name="connsiteX18" fmla="*/ 119211 w 1253606"/>
                  <a:gd name="connsiteY18" fmla="*/ 351401 h 351400"/>
                  <a:gd name="connsiteX19" fmla="*/ 1134396 w 1253606"/>
                  <a:gd name="connsiteY19" fmla="*/ 351401 h 351400"/>
                  <a:gd name="connsiteX20" fmla="*/ 1134396 w 1253606"/>
                  <a:gd name="connsiteY20" fmla="*/ 0 h 351400"/>
                  <a:gd name="connsiteX21" fmla="*/ 1247105 w 1253606"/>
                  <a:gd name="connsiteY21" fmla="*/ 0 h 351400"/>
                  <a:gd name="connsiteX22" fmla="*/ 1253607 w 1253606"/>
                  <a:gd name="connsiteY22" fmla="*/ 6502 h 351400"/>
                  <a:gd name="connsiteX23" fmla="*/ 1253607 w 1253606"/>
                  <a:gd name="connsiteY23" fmla="*/ 338125 h 351400"/>
                  <a:gd name="connsiteX24" fmla="*/ 1247105 w 1253606"/>
                  <a:gd name="connsiteY24" fmla="*/ 351401 h 351400"/>
                  <a:gd name="connsiteX25" fmla="*/ 1134396 w 1253606"/>
                  <a:gd name="connsiteY25" fmla="*/ 351401 h 35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53606" h="351400">
                    <a:moveTo>
                      <a:pt x="377952" y="96181"/>
                    </a:moveTo>
                    <a:cubicBezTo>
                      <a:pt x="377952" y="61231"/>
                      <a:pt x="405858" y="33054"/>
                      <a:pt x="441079" y="33054"/>
                    </a:cubicBezTo>
                    <a:cubicBezTo>
                      <a:pt x="476300" y="33054"/>
                      <a:pt x="504206" y="60960"/>
                      <a:pt x="504206" y="96181"/>
                    </a:cubicBezTo>
                    <a:cubicBezTo>
                      <a:pt x="504206" y="131403"/>
                      <a:pt x="476300" y="159309"/>
                      <a:pt x="441079" y="159309"/>
                    </a:cubicBezTo>
                    <a:cubicBezTo>
                      <a:pt x="405858" y="159309"/>
                      <a:pt x="377952" y="131403"/>
                      <a:pt x="377952" y="96181"/>
                    </a:cubicBezTo>
                    <a:lnTo>
                      <a:pt x="377952" y="96181"/>
                    </a:lnTo>
                    <a:close/>
                    <a:moveTo>
                      <a:pt x="723120" y="96181"/>
                    </a:moveTo>
                    <a:cubicBezTo>
                      <a:pt x="723120" y="131132"/>
                      <a:pt x="751026" y="159309"/>
                      <a:pt x="786248" y="159309"/>
                    </a:cubicBezTo>
                    <a:cubicBezTo>
                      <a:pt x="821469" y="159309"/>
                      <a:pt x="849375" y="131403"/>
                      <a:pt x="849375" y="96181"/>
                    </a:cubicBezTo>
                    <a:cubicBezTo>
                      <a:pt x="849375" y="60960"/>
                      <a:pt x="821469" y="33054"/>
                      <a:pt x="786248" y="33054"/>
                    </a:cubicBezTo>
                    <a:cubicBezTo>
                      <a:pt x="751026" y="33054"/>
                      <a:pt x="723120" y="60960"/>
                      <a:pt x="723120" y="96181"/>
                    </a:cubicBezTo>
                    <a:lnTo>
                      <a:pt x="723120" y="96181"/>
                    </a:lnTo>
                    <a:close/>
                    <a:moveTo>
                      <a:pt x="119211" y="351401"/>
                    </a:moveTo>
                    <a:lnTo>
                      <a:pt x="119211" y="0"/>
                    </a:lnTo>
                    <a:lnTo>
                      <a:pt x="6502" y="0"/>
                    </a:lnTo>
                    <a:cubicBezTo>
                      <a:pt x="6502" y="0"/>
                      <a:pt x="0" y="0"/>
                      <a:pt x="0" y="6502"/>
                    </a:cubicBezTo>
                    <a:lnTo>
                      <a:pt x="0" y="338125"/>
                    </a:lnTo>
                    <a:cubicBezTo>
                      <a:pt x="0" y="344627"/>
                      <a:pt x="6502" y="351401"/>
                      <a:pt x="6502" y="351401"/>
                    </a:cubicBezTo>
                    <a:lnTo>
                      <a:pt x="119211" y="351401"/>
                    </a:lnTo>
                    <a:moveTo>
                      <a:pt x="1134396" y="351401"/>
                    </a:moveTo>
                    <a:lnTo>
                      <a:pt x="1134396" y="0"/>
                    </a:lnTo>
                    <a:lnTo>
                      <a:pt x="1247105" y="0"/>
                    </a:lnTo>
                    <a:cubicBezTo>
                      <a:pt x="1247105" y="0"/>
                      <a:pt x="1253607" y="0"/>
                      <a:pt x="1253607" y="6502"/>
                    </a:cubicBezTo>
                    <a:lnTo>
                      <a:pt x="1253607" y="338125"/>
                    </a:lnTo>
                    <a:cubicBezTo>
                      <a:pt x="1253607" y="344627"/>
                      <a:pt x="1247105" y="351401"/>
                      <a:pt x="1247105" y="351401"/>
                    </a:cubicBezTo>
                    <a:lnTo>
                      <a:pt x="1134396" y="351401"/>
                    </a:lnTo>
                  </a:path>
                </a:pathLst>
              </a:custGeom>
              <a:noFill/>
              <a:ln w="19050" cap="flat">
                <a:solidFill>
                  <a:schemeClr val="accent3"/>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103" name="Freeform: Shape 55">
                <a:extLst>
                  <a:ext uri="{FF2B5EF4-FFF2-40B4-BE49-F238E27FC236}">
                    <a16:creationId xmlns:a16="http://schemas.microsoft.com/office/drawing/2014/main" id="{EA6A9FB4-D28D-743E-DB93-5818906C02CF}"/>
                  </a:ext>
                </a:extLst>
              </p:cNvPr>
              <p:cNvSpPr/>
              <p:nvPr/>
            </p:nvSpPr>
            <p:spPr>
              <a:xfrm>
                <a:off x="3779915" y="3566670"/>
                <a:ext cx="814324" cy="569332"/>
              </a:xfrm>
              <a:custGeom>
                <a:avLst/>
                <a:gdLst>
                  <a:gd name="connsiteX0" fmla="*/ 0 w 1014914"/>
                  <a:gd name="connsiteY0" fmla="*/ 19778 h 709574"/>
                  <a:gd name="connsiteX1" fmla="*/ 19778 w 1014914"/>
                  <a:gd name="connsiteY1" fmla="*/ 0 h 709574"/>
                  <a:gd name="connsiteX2" fmla="*/ 995137 w 1014914"/>
                  <a:gd name="connsiteY2" fmla="*/ 0 h 709574"/>
                  <a:gd name="connsiteX3" fmla="*/ 1014915 w 1014914"/>
                  <a:gd name="connsiteY3" fmla="*/ 19778 h 709574"/>
                  <a:gd name="connsiteX4" fmla="*/ 1014915 w 1014914"/>
                  <a:gd name="connsiteY4" fmla="*/ 689796 h 709574"/>
                  <a:gd name="connsiteX5" fmla="*/ 995137 w 1014914"/>
                  <a:gd name="connsiteY5" fmla="*/ 709574 h 709574"/>
                  <a:gd name="connsiteX6" fmla="*/ 20049 w 1014914"/>
                  <a:gd name="connsiteY6" fmla="*/ 709574 h 709574"/>
                  <a:gd name="connsiteX7" fmla="*/ 271 w 1014914"/>
                  <a:gd name="connsiteY7" fmla="*/ 689796 h 709574"/>
                  <a:gd name="connsiteX8" fmla="*/ 271 w 1014914"/>
                  <a:gd name="connsiteY8" fmla="*/ 19778 h 709574"/>
                  <a:gd name="connsiteX9" fmla="*/ 271 w 1014914"/>
                  <a:gd name="connsiteY9" fmla="*/ 19778 h 709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4914" h="709574">
                    <a:moveTo>
                      <a:pt x="0" y="19778"/>
                    </a:moveTo>
                    <a:cubicBezTo>
                      <a:pt x="0" y="6502"/>
                      <a:pt x="6502" y="0"/>
                      <a:pt x="19778" y="0"/>
                    </a:cubicBezTo>
                    <a:lnTo>
                      <a:pt x="995137" y="0"/>
                    </a:lnTo>
                    <a:cubicBezTo>
                      <a:pt x="1008413" y="0"/>
                      <a:pt x="1014915" y="6502"/>
                      <a:pt x="1014915" y="19778"/>
                    </a:cubicBezTo>
                    <a:lnTo>
                      <a:pt x="1014915" y="689796"/>
                    </a:lnTo>
                    <a:cubicBezTo>
                      <a:pt x="1014915" y="696299"/>
                      <a:pt x="1008413" y="709574"/>
                      <a:pt x="995137" y="709574"/>
                    </a:cubicBezTo>
                    <a:lnTo>
                      <a:pt x="20049" y="709574"/>
                    </a:lnTo>
                    <a:cubicBezTo>
                      <a:pt x="6773" y="709574"/>
                      <a:pt x="271" y="696299"/>
                      <a:pt x="271" y="689796"/>
                    </a:cubicBezTo>
                    <a:lnTo>
                      <a:pt x="271" y="19778"/>
                    </a:lnTo>
                    <a:lnTo>
                      <a:pt x="271" y="19778"/>
                    </a:lnTo>
                    <a:close/>
                  </a:path>
                </a:pathLst>
              </a:custGeom>
              <a:noFill/>
              <a:ln w="1905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grpSp>
          <p:nvGrpSpPr>
            <p:cNvPr id="90" name="Group 89">
              <a:extLst>
                <a:ext uri="{FF2B5EF4-FFF2-40B4-BE49-F238E27FC236}">
                  <a16:creationId xmlns:a16="http://schemas.microsoft.com/office/drawing/2014/main" id="{2F1EBEAA-76D2-57E2-EB55-9D3DE1F0D86C}"/>
                </a:ext>
              </a:extLst>
            </p:cNvPr>
            <p:cNvGrpSpPr/>
            <p:nvPr/>
          </p:nvGrpSpPr>
          <p:grpSpPr>
            <a:xfrm>
              <a:off x="6400815" y="3656374"/>
              <a:ext cx="1005840" cy="673759"/>
              <a:chOff x="3684266" y="3462461"/>
              <a:chExt cx="1005840" cy="673759"/>
            </a:xfrm>
          </p:grpSpPr>
          <p:sp useBgFill="1">
            <p:nvSpPr>
              <p:cNvPr id="96" name="Rectangle 95">
                <a:extLst>
                  <a:ext uri="{FF2B5EF4-FFF2-40B4-BE49-F238E27FC236}">
                    <a16:creationId xmlns:a16="http://schemas.microsoft.com/office/drawing/2014/main" id="{E7F79C08-4CD0-FE9F-2FB6-7F40C5389188}"/>
                  </a:ext>
                </a:extLst>
              </p:cNvPr>
              <p:cNvSpPr/>
              <p:nvPr/>
            </p:nvSpPr>
            <p:spPr>
              <a:xfrm>
                <a:off x="3718519" y="3462461"/>
                <a:ext cx="518564" cy="26403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useBgFill="1">
            <p:nvSpPr>
              <p:cNvPr id="97" name="Freeform: Shape 49">
                <a:extLst>
                  <a:ext uri="{FF2B5EF4-FFF2-40B4-BE49-F238E27FC236}">
                    <a16:creationId xmlns:a16="http://schemas.microsoft.com/office/drawing/2014/main" id="{FCD07F2B-7BD5-1F60-C2C1-8A79B2047258}"/>
                  </a:ext>
                </a:extLst>
              </p:cNvPr>
              <p:cNvSpPr/>
              <p:nvPr/>
            </p:nvSpPr>
            <p:spPr>
              <a:xfrm>
                <a:off x="3689483" y="3566453"/>
                <a:ext cx="995406" cy="569767"/>
              </a:xfrm>
              <a:custGeom>
                <a:avLst/>
                <a:gdLst>
                  <a:gd name="connsiteX0" fmla="*/ 1240602 w 1240602"/>
                  <a:gd name="connsiteY0" fmla="*/ 179358 h 710116"/>
                  <a:gd name="connsiteX1" fmla="*/ 1127894 w 1240602"/>
                  <a:gd name="connsiteY1" fmla="*/ 179358 h 710116"/>
                  <a:gd name="connsiteX2" fmla="*/ 1127894 w 1240602"/>
                  <a:gd name="connsiteY2" fmla="*/ 0 h 710116"/>
                  <a:gd name="connsiteX3" fmla="*/ 112708 w 1240602"/>
                  <a:gd name="connsiteY3" fmla="*/ 0 h 710116"/>
                  <a:gd name="connsiteX4" fmla="*/ 112708 w 1240602"/>
                  <a:gd name="connsiteY4" fmla="*/ 179358 h 710116"/>
                  <a:gd name="connsiteX5" fmla="*/ 0 w 1240602"/>
                  <a:gd name="connsiteY5" fmla="*/ 179358 h 710116"/>
                  <a:gd name="connsiteX6" fmla="*/ 0 w 1240602"/>
                  <a:gd name="connsiteY6" fmla="*/ 530758 h 710116"/>
                  <a:gd name="connsiteX7" fmla="*/ 112708 w 1240602"/>
                  <a:gd name="connsiteY7" fmla="*/ 530758 h 710116"/>
                  <a:gd name="connsiteX8" fmla="*/ 112708 w 1240602"/>
                  <a:gd name="connsiteY8" fmla="*/ 710116 h 710116"/>
                  <a:gd name="connsiteX9" fmla="*/ 1127894 w 1240602"/>
                  <a:gd name="connsiteY9" fmla="*/ 710116 h 710116"/>
                  <a:gd name="connsiteX10" fmla="*/ 1127894 w 1240602"/>
                  <a:gd name="connsiteY10" fmla="*/ 530758 h 710116"/>
                  <a:gd name="connsiteX11" fmla="*/ 1240602 w 1240602"/>
                  <a:gd name="connsiteY11" fmla="*/ 530758 h 710116"/>
                  <a:gd name="connsiteX12" fmla="*/ 1240602 w 1240602"/>
                  <a:gd name="connsiteY12" fmla="*/ 179358 h 71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40602" h="710116">
                    <a:moveTo>
                      <a:pt x="1240602" y="179358"/>
                    </a:moveTo>
                    <a:lnTo>
                      <a:pt x="1127894" y="179358"/>
                    </a:lnTo>
                    <a:lnTo>
                      <a:pt x="1127894" y="0"/>
                    </a:lnTo>
                    <a:lnTo>
                      <a:pt x="112708" y="0"/>
                    </a:lnTo>
                    <a:lnTo>
                      <a:pt x="112708" y="179358"/>
                    </a:lnTo>
                    <a:lnTo>
                      <a:pt x="0" y="179358"/>
                    </a:lnTo>
                    <a:lnTo>
                      <a:pt x="0" y="530758"/>
                    </a:lnTo>
                    <a:lnTo>
                      <a:pt x="112708" y="530758"/>
                    </a:lnTo>
                    <a:lnTo>
                      <a:pt x="112708" y="710116"/>
                    </a:lnTo>
                    <a:lnTo>
                      <a:pt x="1127894" y="710116"/>
                    </a:lnTo>
                    <a:lnTo>
                      <a:pt x="1127894" y="530758"/>
                    </a:lnTo>
                    <a:lnTo>
                      <a:pt x="1240602" y="530758"/>
                    </a:lnTo>
                    <a:lnTo>
                      <a:pt x="1240602" y="179358"/>
                    </a:lnTo>
                    <a:close/>
                  </a:path>
                </a:pathLst>
              </a:custGeom>
              <a:ln w="2695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98" name="Freeform: Shape 50">
                <a:extLst>
                  <a:ext uri="{FF2B5EF4-FFF2-40B4-BE49-F238E27FC236}">
                    <a16:creationId xmlns:a16="http://schemas.microsoft.com/office/drawing/2014/main" id="{BB0E730F-F147-68DB-A39B-23B735FF0200}"/>
                  </a:ext>
                </a:extLst>
              </p:cNvPr>
              <p:cNvSpPr/>
              <p:nvPr/>
            </p:nvSpPr>
            <p:spPr>
              <a:xfrm>
                <a:off x="3684266" y="3710362"/>
                <a:ext cx="1005840" cy="281948"/>
              </a:xfrm>
              <a:custGeom>
                <a:avLst/>
                <a:gdLst>
                  <a:gd name="connsiteX0" fmla="*/ 377952 w 1253606"/>
                  <a:gd name="connsiteY0" fmla="*/ 96181 h 351400"/>
                  <a:gd name="connsiteX1" fmla="*/ 441079 w 1253606"/>
                  <a:gd name="connsiteY1" fmla="*/ 33054 h 351400"/>
                  <a:gd name="connsiteX2" fmla="*/ 504206 w 1253606"/>
                  <a:gd name="connsiteY2" fmla="*/ 96181 h 351400"/>
                  <a:gd name="connsiteX3" fmla="*/ 441079 w 1253606"/>
                  <a:gd name="connsiteY3" fmla="*/ 159309 h 351400"/>
                  <a:gd name="connsiteX4" fmla="*/ 377952 w 1253606"/>
                  <a:gd name="connsiteY4" fmla="*/ 96181 h 351400"/>
                  <a:gd name="connsiteX5" fmla="*/ 377952 w 1253606"/>
                  <a:gd name="connsiteY5" fmla="*/ 96181 h 351400"/>
                  <a:gd name="connsiteX6" fmla="*/ 723120 w 1253606"/>
                  <a:gd name="connsiteY6" fmla="*/ 96181 h 351400"/>
                  <a:gd name="connsiteX7" fmla="*/ 786248 w 1253606"/>
                  <a:gd name="connsiteY7" fmla="*/ 159309 h 351400"/>
                  <a:gd name="connsiteX8" fmla="*/ 849375 w 1253606"/>
                  <a:gd name="connsiteY8" fmla="*/ 96181 h 351400"/>
                  <a:gd name="connsiteX9" fmla="*/ 786248 w 1253606"/>
                  <a:gd name="connsiteY9" fmla="*/ 33054 h 351400"/>
                  <a:gd name="connsiteX10" fmla="*/ 723120 w 1253606"/>
                  <a:gd name="connsiteY10" fmla="*/ 96181 h 351400"/>
                  <a:gd name="connsiteX11" fmla="*/ 723120 w 1253606"/>
                  <a:gd name="connsiteY11" fmla="*/ 96181 h 351400"/>
                  <a:gd name="connsiteX12" fmla="*/ 119211 w 1253606"/>
                  <a:gd name="connsiteY12" fmla="*/ 351401 h 351400"/>
                  <a:gd name="connsiteX13" fmla="*/ 119211 w 1253606"/>
                  <a:gd name="connsiteY13" fmla="*/ 0 h 351400"/>
                  <a:gd name="connsiteX14" fmla="*/ 6502 w 1253606"/>
                  <a:gd name="connsiteY14" fmla="*/ 0 h 351400"/>
                  <a:gd name="connsiteX15" fmla="*/ 0 w 1253606"/>
                  <a:gd name="connsiteY15" fmla="*/ 6502 h 351400"/>
                  <a:gd name="connsiteX16" fmla="*/ 0 w 1253606"/>
                  <a:gd name="connsiteY16" fmla="*/ 338125 h 351400"/>
                  <a:gd name="connsiteX17" fmla="*/ 6502 w 1253606"/>
                  <a:gd name="connsiteY17" fmla="*/ 351401 h 351400"/>
                  <a:gd name="connsiteX18" fmla="*/ 119211 w 1253606"/>
                  <a:gd name="connsiteY18" fmla="*/ 351401 h 351400"/>
                  <a:gd name="connsiteX19" fmla="*/ 1134396 w 1253606"/>
                  <a:gd name="connsiteY19" fmla="*/ 351401 h 351400"/>
                  <a:gd name="connsiteX20" fmla="*/ 1134396 w 1253606"/>
                  <a:gd name="connsiteY20" fmla="*/ 0 h 351400"/>
                  <a:gd name="connsiteX21" fmla="*/ 1247105 w 1253606"/>
                  <a:gd name="connsiteY21" fmla="*/ 0 h 351400"/>
                  <a:gd name="connsiteX22" fmla="*/ 1253607 w 1253606"/>
                  <a:gd name="connsiteY22" fmla="*/ 6502 h 351400"/>
                  <a:gd name="connsiteX23" fmla="*/ 1253607 w 1253606"/>
                  <a:gd name="connsiteY23" fmla="*/ 338125 h 351400"/>
                  <a:gd name="connsiteX24" fmla="*/ 1247105 w 1253606"/>
                  <a:gd name="connsiteY24" fmla="*/ 351401 h 351400"/>
                  <a:gd name="connsiteX25" fmla="*/ 1134396 w 1253606"/>
                  <a:gd name="connsiteY25" fmla="*/ 351401 h 35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53606" h="351400">
                    <a:moveTo>
                      <a:pt x="377952" y="96181"/>
                    </a:moveTo>
                    <a:cubicBezTo>
                      <a:pt x="377952" y="61231"/>
                      <a:pt x="405858" y="33054"/>
                      <a:pt x="441079" y="33054"/>
                    </a:cubicBezTo>
                    <a:cubicBezTo>
                      <a:pt x="476300" y="33054"/>
                      <a:pt x="504206" y="60960"/>
                      <a:pt x="504206" y="96181"/>
                    </a:cubicBezTo>
                    <a:cubicBezTo>
                      <a:pt x="504206" y="131403"/>
                      <a:pt x="476300" y="159309"/>
                      <a:pt x="441079" y="159309"/>
                    </a:cubicBezTo>
                    <a:cubicBezTo>
                      <a:pt x="405858" y="159309"/>
                      <a:pt x="377952" y="131403"/>
                      <a:pt x="377952" y="96181"/>
                    </a:cubicBezTo>
                    <a:lnTo>
                      <a:pt x="377952" y="96181"/>
                    </a:lnTo>
                    <a:close/>
                    <a:moveTo>
                      <a:pt x="723120" y="96181"/>
                    </a:moveTo>
                    <a:cubicBezTo>
                      <a:pt x="723120" y="131132"/>
                      <a:pt x="751026" y="159309"/>
                      <a:pt x="786248" y="159309"/>
                    </a:cubicBezTo>
                    <a:cubicBezTo>
                      <a:pt x="821469" y="159309"/>
                      <a:pt x="849375" y="131403"/>
                      <a:pt x="849375" y="96181"/>
                    </a:cubicBezTo>
                    <a:cubicBezTo>
                      <a:pt x="849375" y="60960"/>
                      <a:pt x="821469" y="33054"/>
                      <a:pt x="786248" y="33054"/>
                    </a:cubicBezTo>
                    <a:cubicBezTo>
                      <a:pt x="751026" y="33054"/>
                      <a:pt x="723120" y="60960"/>
                      <a:pt x="723120" y="96181"/>
                    </a:cubicBezTo>
                    <a:lnTo>
                      <a:pt x="723120" y="96181"/>
                    </a:lnTo>
                    <a:close/>
                    <a:moveTo>
                      <a:pt x="119211" y="351401"/>
                    </a:moveTo>
                    <a:lnTo>
                      <a:pt x="119211" y="0"/>
                    </a:lnTo>
                    <a:lnTo>
                      <a:pt x="6502" y="0"/>
                    </a:lnTo>
                    <a:cubicBezTo>
                      <a:pt x="6502" y="0"/>
                      <a:pt x="0" y="0"/>
                      <a:pt x="0" y="6502"/>
                    </a:cubicBezTo>
                    <a:lnTo>
                      <a:pt x="0" y="338125"/>
                    </a:lnTo>
                    <a:cubicBezTo>
                      <a:pt x="0" y="344627"/>
                      <a:pt x="6502" y="351401"/>
                      <a:pt x="6502" y="351401"/>
                    </a:cubicBezTo>
                    <a:lnTo>
                      <a:pt x="119211" y="351401"/>
                    </a:lnTo>
                    <a:moveTo>
                      <a:pt x="1134396" y="351401"/>
                    </a:moveTo>
                    <a:lnTo>
                      <a:pt x="1134396" y="0"/>
                    </a:lnTo>
                    <a:lnTo>
                      <a:pt x="1247105" y="0"/>
                    </a:lnTo>
                    <a:cubicBezTo>
                      <a:pt x="1247105" y="0"/>
                      <a:pt x="1253607" y="0"/>
                      <a:pt x="1253607" y="6502"/>
                    </a:cubicBezTo>
                    <a:lnTo>
                      <a:pt x="1253607" y="338125"/>
                    </a:lnTo>
                    <a:cubicBezTo>
                      <a:pt x="1253607" y="344627"/>
                      <a:pt x="1247105" y="351401"/>
                      <a:pt x="1247105" y="351401"/>
                    </a:cubicBezTo>
                    <a:lnTo>
                      <a:pt x="1134396" y="351401"/>
                    </a:lnTo>
                  </a:path>
                </a:pathLst>
              </a:custGeom>
              <a:noFill/>
              <a:ln w="19050" cap="flat">
                <a:solidFill>
                  <a:schemeClr val="accent3"/>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99" name="Freeform: Shape 51">
                <a:extLst>
                  <a:ext uri="{FF2B5EF4-FFF2-40B4-BE49-F238E27FC236}">
                    <a16:creationId xmlns:a16="http://schemas.microsoft.com/office/drawing/2014/main" id="{F174E50F-24B4-6ED0-C9EC-BEB60076EB59}"/>
                  </a:ext>
                </a:extLst>
              </p:cNvPr>
              <p:cNvSpPr/>
              <p:nvPr/>
            </p:nvSpPr>
            <p:spPr>
              <a:xfrm>
                <a:off x="3779915" y="3566670"/>
                <a:ext cx="814324" cy="569332"/>
              </a:xfrm>
              <a:custGeom>
                <a:avLst/>
                <a:gdLst>
                  <a:gd name="connsiteX0" fmla="*/ 0 w 1014914"/>
                  <a:gd name="connsiteY0" fmla="*/ 19778 h 709574"/>
                  <a:gd name="connsiteX1" fmla="*/ 19778 w 1014914"/>
                  <a:gd name="connsiteY1" fmla="*/ 0 h 709574"/>
                  <a:gd name="connsiteX2" fmla="*/ 995137 w 1014914"/>
                  <a:gd name="connsiteY2" fmla="*/ 0 h 709574"/>
                  <a:gd name="connsiteX3" fmla="*/ 1014915 w 1014914"/>
                  <a:gd name="connsiteY3" fmla="*/ 19778 h 709574"/>
                  <a:gd name="connsiteX4" fmla="*/ 1014915 w 1014914"/>
                  <a:gd name="connsiteY4" fmla="*/ 689796 h 709574"/>
                  <a:gd name="connsiteX5" fmla="*/ 995137 w 1014914"/>
                  <a:gd name="connsiteY5" fmla="*/ 709574 h 709574"/>
                  <a:gd name="connsiteX6" fmla="*/ 20049 w 1014914"/>
                  <a:gd name="connsiteY6" fmla="*/ 709574 h 709574"/>
                  <a:gd name="connsiteX7" fmla="*/ 271 w 1014914"/>
                  <a:gd name="connsiteY7" fmla="*/ 689796 h 709574"/>
                  <a:gd name="connsiteX8" fmla="*/ 271 w 1014914"/>
                  <a:gd name="connsiteY8" fmla="*/ 19778 h 709574"/>
                  <a:gd name="connsiteX9" fmla="*/ 271 w 1014914"/>
                  <a:gd name="connsiteY9" fmla="*/ 19778 h 709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4914" h="709574">
                    <a:moveTo>
                      <a:pt x="0" y="19778"/>
                    </a:moveTo>
                    <a:cubicBezTo>
                      <a:pt x="0" y="6502"/>
                      <a:pt x="6502" y="0"/>
                      <a:pt x="19778" y="0"/>
                    </a:cubicBezTo>
                    <a:lnTo>
                      <a:pt x="995137" y="0"/>
                    </a:lnTo>
                    <a:cubicBezTo>
                      <a:pt x="1008413" y="0"/>
                      <a:pt x="1014915" y="6502"/>
                      <a:pt x="1014915" y="19778"/>
                    </a:cubicBezTo>
                    <a:lnTo>
                      <a:pt x="1014915" y="689796"/>
                    </a:lnTo>
                    <a:cubicBezTo>
                      <a:pt x="1014915" y="696299"/>
                      <a:pt x="1008413" y="709574"/>
                      <a:pt x="995137" y="709574"/>
                    </a:cubicBezTo>
                    <a:lnTo>
                      <a:pt x="20049" y="709574"/>
                    </a:lnTo>
                    <a:cubicBezTo>
                      <a:pt x="6773" y="709574"/>
                      <a:pt x="271" y="696299"/>
                      <a:pt x="271" y="689796"/>
                    </a:cubicBezTo>
                    <a:lnTo>
                      <a:pt x="271" y="19778"/>
                    </a:lnTo>
                    <a:lnTo>
                      <a:pt x="271" y="19778"/>
                    </a:lnTo>
                    <a:close/>
                  </a:path>
                </a:pathLst>
              </a:custGeom>
              <a:noFill/>
              <a:ln w="1905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grpSp>
          <p:nvGrpSpPr>
            <p:cNvPr id="91" name="Group 90">
              <a:extLst>
                <a:ext uri="{FF2B5EF4-FFF2-40B4-BE49-F238E27FC236}">
                  <a16:creationId xmlns:a16="http://schemas.microsoft.com/office/drawing/2014/main" id="{A1842B30-067A-2E68-0C15-BCADAA3B2312}"/>
                </a:ext>
              </a:extLst>
            </p:cNvPr>
            <p:cNvGrpSpPr/>
            <p:nvPr/>
          </p:nvGrpSpPr>
          <p:grpSpPr>
            <a:xfrm>
              <a:off x="6624107" y="3872241"/>
              <a:ext cx="1005840" cy="673759"/>
              <a:chOff x="3684266" y="3462461"/>
              <a:chExt cx="1005840" cy="673759"/>
            </a:xfrm>
          </p:grpSpPr>
          <p:sp useBgFill="1">
            <p:nvSpPr>
              <p:cNvPr id="92" name="Rectangle 91">
                <a:extLst>
                  <a:ext uri="{FF2B5EF4-FFF2-40B4-BE49-F238E27FC236}">
                    <a16:creationId xmlns:a16="http://schemas.microsoft.com/office/drawing/2014/main" id="{64D65B38-E973-3685-65BB-A2CABE8FCD19}"/>
                  </a:ext>
                </a:extLst>
              </p:cNvPr>
              <p:cNvSpPr/>
              <p:nvPr/>
            </p:nvSpPr>
            <p:spPr>
              <a:xfrm>
                <a:off x="3718519" y="3462461"/>
                <a:ext cx="518564" cy="26403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useBgFill="1">
            <p:nvSpPr>
              <p:cNvPr id="93" name="Freeform: Shape 45">
                <a:extLst>
                  <a:ext uri="{FF2B5EF4-FFF2-40B4-BE49-F238E27FC236}">
                    <a16:creationId xmlns:a16="http://schemas.microsoft.com/office/drawing/2014/main" id="{01AB86BE-570C-16CC-3A68-620034B11171}"/>
                  </a:ext>
                </a:extLst>
              </p:cNvPr>
              <p:cNvSpPr/>
              <p:nvPr/>
            </p:nvSpPr>
            <p:spPr>
              <a:xfrm>
                <a:off x="3689483" y="3566453"/>
                <a:ext cx="995406" cy="569767"/>
              </a:xfrm>
              <a:custGeom>
                <a:avLst/>
                <a:gdLst>
                  <a:gd name="connsiteX0" fmla="*/ 1240602 w 1240602"/>
                  <a:gd name="connsiteY0" fmla="*/ 179358 h 710116"/>
                  <a:gd name="connsiteX1" fmla="*/ 1127894 w 1240602"/>
                  <a:gd name="connsiteY1" fmla="*/ 179358 h 710116"/>
                  <a:gd name="connsiteX2" fmla="*/ 1127894 w 1240602"/>
                  <a:gd name="connsiteY2" fmla="*/ 0 h 710116"/>
                  <a:gd name="connsiteX3" fmla="*/ 112708 w 1240602"/>
                  <a:gd name="connsiteY3" fmla="*/ 0 h 710116"/>
                  <a:gd name="connsiteX4" fmla="*/ 112708 w 1240602"/>
                  <a:gd name="connsiteY4" fmla="*/ 179358 h 710116"/>
                  <a:gd name="connsiteX5" fmla="*/ 0 w 1240602"/>
                  <a:gd name="connsiteY5" fmla="*/ 179358 h 710116"/>
                  <a:gd name="connsiteX6" fmla="*/ 0 w 1240602"/>
                  <a:gd name="connsiteY6" fmla="*/ 530758 h 710116"/>
                  <a:gd name="connsiteX7" fmla="*/ 112708 w 1240602"/>
                  <a:gd name="connsiteY7" fmla="*/ 530758 h 710116"/>
                  <a:gd name="connsiteX8" fmla="*/ 112708 w 1240602"/>
                  <a:gd name="connsiteY8" fmla="*/ 710116 h 710116"/>
                  <a:gd name="connsiteX9" fmla="*/ 1127894 w 1240602"/>
                  <a:gd name="connsiteY9" fmla="*/ 710116 h 710116"/>
                  <a:gd name="connsiteX10" fmla="*/ 1127894 w 1240602"/>
                  <a:gd name="connsiteY10" fmla="*/ 530758 h 710116"/>
                  <a:gd name="connsiteX11" fmla="*/ 1240602 w 1240602"/>
                  <a:gd name="connsiteY11" fmla="*/ 530758 h 710116"/>
                  <a:gd name="connsiteX12" fmla="*/ 1240602 w 1240602"/>
                  <a:gd name="connsiteY12" fmla="*/ 179358 h 71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40602" h="710116">
                    <a:moveTo>
                      <a:pt x="1240602" y="179358"/>
                    </a:moveTo>
                    <a:lnTo>
                      <a:pt x="1127894" y="179358"/>
                    </a:lnTo>
                    <a:lnTo>
                      <a:pt x="1127894" y="0"/>
                    </a:lnTo>
                    <a:lnTo>
                      <a:pt x="112708" y="0"/>
                    </a:lnTo>
                    <a:lnTo>
                      <a:pt x="112708" y="179358"/>
                    </a:lnTo>
                    <a:lnTo>
                      <a:pt x="0" y="179358"/>
                    </a:lnTo>
                    <a:lnTo>
                      <a:pt x="0" y="530758"/>
                    </a:lnTo>
                    <a:lnTo>
                      <a:pt x="112708" y="530758"/>
                    </a:lnTo>
                    <a:lnTo>
                      <a:pt x="112708" y="710116"/>
                    </a:lnTo>
                    <a:lnTo>
                      <a:pt x="1127894" y="710116"/>
                    </a:lnTo>
                    <a:lnTo>
                      <a:pt x="1127894" y="530758"/>
                    </a:lnTo>
                    <a:lnTo>
                      <a:pt x="1240602" y="530758"/>
                    </a:lnTo>
                    <a:lnTo>
                      <a:pt x="1240602" y="179358"/>
                    </a:lnTo>
                    <a:close/>
                  </a:path>
                </a:pathLst>
              </a:custGeom>
              <a:ln w="2695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94" name="Freeform: Shape 46">
                <a:extLst>
                  <a:ext uri="{FF2B5EF4-FFF2-40B4-BE49-F238E27FC236}">
                    <a16:creationId xmlns:a16="http://schemas.microsoft.com/office/drawing/2014/main" id="{18297993-502A-14C6-13A5-1F20A27DDF5C}"/>
                  </a:ext>
                </a:extLst>
              </p:cNvPr>
              <p:cNvSpPr/>
              <p:nvPr/>
            </p:nvSpPr>
            <p:spPr>
              <a:xfrm>
                <a:off x="3684266" y="3710362"/>
                <a:ext cx="1005840" cy="281948"/>
              </a:xfrm>
              <a:custGeom>
                <a:avLst/>
                <a:gdLst>
                  <a:gd name="connsiteX0" fmla="*/ 377952 w 1253606"/>
                  <a:gd name="connsiteY0" fmla="*/ 96181 h 351400"/>
                  <a:gd name="connsiteX1" fmla="*/ 441079 w 1253606"/>
                  <a:gd name="connsiteY1" fmla="*/ 33054 h 351400"/>
                  <a:gd name="connsiteX2" fmla="*/ 504206 w 1253606"/>
                  <a:gd name="connsiteY2" fmla="*/ 96181 h 351400"/>
                  <a:gd name="connsiteX3" fmla="*/ 441079 w 1253606"/>
                  <a:gd name="connsiteY3" fmla="*/ 159309 h 351400"/>
                  <a:gd name="connsiteX4" fmla="*/ 377952 w 1253606"/>
                  <a:gd name="connsiteY4" fmla="*/ 96181 h 351400"/>
                  <a:gd name="connsiteX5" fmla="*/ 377952 w 1253606"/>
                  <a:gd name="connsiteY5" fmla="*/ 96181 h 351400"/>
                  <a:gd name="connsiteX6" fmla="*/ 723120 w 1253606"/>
                  <a:gd name="connsiteY6" fmla="*/ 96181 h 351400"/>
                  <a:gd name="connsiteX7" fmla="*/ 786248 w 1253606"/>
                  <a:gd name="connsiteY7" fmla="*/ 159309 h 351400"/>
                  <a:gd name="connsiteX8" fmla="*/ 849375 w 1253606"/>
                  <a:gd name="connsiteY8" fmla="*/ 96181 h 351400"/>
                  <a:gd name="connsiteX9" fmla="*/ 786248 w 1253606"/>
                  <a:gd name="connsiteY9" fmla="*/ 33054 h 351400"/>
                  <a:gd name="connsiteX10" fmla="*/ 723120 w 1253606"/>
                  <a:gd name="connsiteY10" fmla="*/ 96181 h 351400"/>
                  <a:gd name="connsiteX11" fmla="*/ 723120 w 1253606"/>
                  <a:gd name="connsiteY11" fmla="*/ 96181 h 351400"/>
                  <a:gd name="connsiteX12" fmla="*/ 119211 w 1253606"/>
                  <a:gd name="connsiteY12" fmla="*/ 351401 h 351400"/>
                  <a:gd name="connsiteX13" fmla="*/ 119211 w 1253606"/>
                  <a:gd name="connsiteY13" fmla="*/ 0 h 351400"/>
                  <a:gd name="connsiteX14" fmla="*/ 6502 w 1253606"/>
                  <a:gd name="connsiteY14" fmla="*/ 0 h 351400"/>
                  <a:gd name="connsiteX15" fmla="*/ 0 w 1253606"/>
                  <a:gd name="connsiteY15" fmla="*/ 6502 h 351400"/>
                  <a:gd name="connsiteX16" fmla="*/ 0 w 1253606"/>
                  <a:gd name="connsiteY16" fmla="*/ 338125 h 351400"/>
                  <a:gd name="connsiteX17" fmla="*/ 6502 w 1253606"/>
                  <a:gd name="connsiteY17" fmla="*/ 351401 h 351400"/>
                  <a:gd name="connsiteX18" fmla="*/ 119211 w 1253606"/>
                  <a:gd name="connsiteY18" fmla="*/ 351401 h 351400"/>
                  <a:gd name="connsiteX19" fmla="*/ 1134396 w 1253606"/>
                  <a:gd name="connsiteY19" fmla="*/ 351401 h 351400"/>
                  <a:gd name="connsiteX20" fmla="*/ 1134396 w 1253606"/>
                  <a:gd name="connsiteY20" fmla="*/ 0 h 351400"/>
                  <a:gd name="connsiteX21" fmla="*/ 1247105 w 1253606"/>
                  <a:gd name="connsiteY21" fmla="*/ 0 h 351400"/>
                  <a:gd name="connsiteX22" fmla="*/ 1253607 w 1253606"/>
                  <a:gd name="connsiteY22" fmla="*/ 6502 h 351400"/>
                  <a:gd name="connsiteX23" fmla="*/ 1253607 w 1253606"/>
                  <a:gd name="connsiteY23" fmla="*/ 338125 h 351400"/>
                  <a:gd name="connsiteX24" fmla="*/ 1247105 w 1253606"/>
                  <a:gd name="connsiteY24" fmla="*/ 351401 h 351400"/>
                  <a:gd name="connsiteX25" fmla="*/ 1134396 w 1253606"/>
                  <a:gd name="connsiteY25" fmla="*/ 351401 h 35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53606" h="351400">
                    <a:moveTo>
                      <a:pt x="377952" y="96181"/>
                    </a:moveTo>
                    <a:cubicBezTo>
                      <a:pt x="377952" y="61231"/>
                      <a:pt x="405858" y="33054"/>
                      <a:pt x="441079" y="33054"/>
                    </a:cubicBezTo>
                    <a:cubicBezTo>
                      <a:pt x="476300" y="33054"/>
                      <a:pt x="504206" y="60960"/>
                      <a:pt x="504206" y="96181"/>
                    </a:cubicBezTo>
                    <a:cubicBezTo>
                      <a:pt x="504206" y="131403"/>
                      <a:pt x="476300" y="159309"/>
                      <a:pt x="441079" y="159309"/>
                    </a:cubicBezTo>
                    <a:cubicBezTo>
                      <a:pt x="405858" y="159309"/>
                      <a:pt x="377952" y="131403"/>
                      <a:pt x="377952" y="96181"/>
                    </a:cubicBezTo>
                    <a:lnTo>
                      <a:pt x="377952" y="96181"/>
                    </a:lnTo>
                    <a:close/>
                    <a:moveTo>
                      <a:pt x="723120" y="96181"/>
                    </a:moveTo>
                    <a:cubicBezTo>
                      <a:pt x="723120" y="131132"/>
                      <a:pt x="751026" y="159309"/>
                      <a:pt x="786248" y="159309"/>
                    </a:cubicBezTo>
                    <a:cubicBezTo>
                      <a:pt x="821469" y="159309"/>
                      <a:pt x="849375" y="131403"/>
                      <a:pt x="849375" y="96181"/>
                    </a:cubicBezTo>
                    <a:cubicBezTo>
                      <a:pt x="849375" y="60960"/>
                      <a:pt x="821469" y="33054"/>
                      <a:pt x="786248" y="33054"/>
                    </a:cubicBezTo>
                    <a:cubicBezTo>
                      <a:pt x="751026" y="33054"/>
                      <a:pt x="723120" y="60960"/>
                      <a:pt x="723120" y="96181"/>
                    </a:cubicBezTo>
                    <a:lnTo>
                      <a:pt x="723120" y="96181"/>
                    </a:lnTo>
                    <a:close/>
                    <a:moveTo>
                      <a:pt x="119211" y="351401"/>
                    </a:moveTo>
                    <a:lnTo>
                      <a:pt x="119211" y="0"/>
                    </a:lnTo>
                    <a:lnTo>
                      <a:pt x="6502" y="0"/>
                    </a:lnTo>
                    <a:cubicBezTo>
                      <a:pt x="6502" y="0"/>
                      <a:pt x="0" y="0"/>
                      <a:pt x="0" y="6502"/>
                    </a:cubicBezTo>
                    <a:lnTo>
                      <a:pt x="0" y="338125"/>
                    </a:lnTo>
                    <a:cubicBezTo>
                      <a:pt x="0" y="344627"/>
                      <a:pt x="6502" y="351401"/>
                      <a:pt x="6502" y="351401"/>
                    </a:cubicBezTo>
                    <a:lnTo>
                      <a:pt x="119211" y="351401"/>
                    </a:lnTo>
                    <a:moveTo>
                      <a:pt x="1134396" y="351401"/>
                    </a:moveTo>
                    <a:lnTo>
                      <a:pt x="1134396" y="0"/>
                    </a:lnTo>
                    <a:lnTo>
                      <a:pt x="1247105" y="0"/>
                    </a:lnTo>
                    <a:cubicBezTo>
                      <a:pt x="1247105" y="0"/>
                      <a:pt x="1253607" y="0"/>
                      <a:pt x="1253607" y="6502"/>
                    </a:cubicBezTo>
                    <a:lnTo>
                      <a:pt x="1253607" y="338125"/>
                    </a:lnTo>
                    <a:cubicBezTo>
                      <a:pt x="1253607" y="344627"/>
                      <a:pt x="1247105" y="351401"/>
                      <a:pt x="1247105" y="351401"/>
                    </a:cubicBezTo>
                    <a:lnTo>
                      <a:pt x="1134396" y="351401"/>
                    </a:lnTo>
                  </a:path>
                </a:pathLst>
              </a:custGeom>
              <a:noFill/>
              <a:ln w="19050" cap="flat">
                <a:solidFill>
                  <a:schemeClr val="accent3"/>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sp>
            <p:nvSpPr>
              <p:cNvPr id="95" name="Freeform: Shape 47">
                <a:extLst>
                  <a:ext uri="{FF2B5EF4-FFF2-40B4-BE49-F238E27FC236}">
                    <a16:creationId xmlns:a16="http://schemas.microsoft.com/office/drawing/2014/main" id="{3443FA84-8C10-38D7-4B1F-3CF2BD27F289}"/>
                  </a:ext>
                </a:extLst>
              </p:cNvPr>
              <p:cNvSpPr/>
              <p:nvPr/>
            </p:nvSpPr>
            <p:spPr>
              <a:xfrm>
                <a:off x="3779915" y="3566670"/>
                <a:ext cx="814324" cy="569332"/>
              </a:xfrm>
              <a:custGeom>
                <a:avLst/>
                <a:gdLst>
                  <a:gd name="connsiteX0" fmla="*/ 0 w 1014914"/>
                  <a:gd name="connsiteY0" fmla="*/ 19778 h 709574"/>
                  <a:gd name="connsiteX1" fmla="*/ 19778 w 1014914"/>
                  <a:gd name="connsiteY1" fmla="*/ 0 h 709574"/>
                  <a:gd name="connsiteX2" fmla="*/ 995137 w 1014914"/>
                  <a:gd name="connsiteY2" fmla="*/ 0 h 709574"/>
                  <a:gd name="connsiteX3" fmla="*/ 1014915 w 1014914"/>
                  <a:gd name="connsiteY3" fmla="*/ 19778 h 709574"/>
                  <a:gd name="connsiteX4" fmla="*/ 1014915 w 1014914"/>
                  <a:gd name="connsiteY4" fmla="*/ 689796 h 709574"/>
                  <a:gd name="connsiteX5" fmla="*/ 995137 w 1014914"/>
                  <a:gd name="connsiteY5" fmla="*/ 709574 h 709574"/>
                  <a:gd name="connsiteX6" fmla="*/ 20049 w 1014914"/>
                  <a:gd name="connsiteY6" fmla="*/ 709574 h 709574"/>
                  <a:gd name="connsiteX7" fmla="*/ 271 w 1014914"/>
                  <a:gd name="connsiteY7" fmla="*/ 689796 h 709574"/>
                  <a:gd name="connsiteX8" fmla="*/ 271 w 1014914"/>
                  <a:gd name="connsiteY8" fmla="*/ 19778 h 709574"/>
                  <a:gd name="connsiteX9" fmla="*/ 271 w 1014914"/>
                  <a:gd name="connsiteY9" fmla="*/ 19778 h 709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4914" h="709574">
                    <a:moveTo>
                      <a:pt x="0" y="19778"/>
                    </a:moveTo>
                    <a:cubicBezTo>
                      <a:pt x="0" y="6502"/>
                      <a:pt x="6502" y="0"/>
                      <a:pt x="19778" y="0"/>
                    </a:cubicBezTo>
                    <a:lnTo>
                      <a:pt x="995137" y="0"/>
                    </a:lnTo>
                    <a:cubicBezTo>
                      <a:pt x="1008413" y="0"/>
                      <a:pt x="1014915" y="6502"/>
                      <a:pt x="1014915" y="19778"/>
                    </a:cubicBezTo>
                    <a:lnTo>
                      <a:pt x="1014915" y="689796"/>
                    </a:lnTo>
                    <a:cubicBezTo>
                      <a:pt x="1014915" y="696299"/>
                      <a:pt x="1008413" y="709574"/>
                      <a:pt x="995137" y="709574"/>
                    </a:cubicBezTo>
                    <a:lnTo>
                      <a:pt x="20049" y="709574"/>
                    </a:lnTo>
                    <a:cubicBezTo>
                      <a:pt x="6773" y="709574"/>
                      <a:pt x="271" y="696299"/>
                      <a:pt x="271" y="689796"/>
                    </a:cubicBezTo>
                    <a:lnTo>
                      <a:pt x="271" y="19778"/>
                    </a:lnTo>
                    <a:lnTo>
                      <a:pt x="271" y="19778"/>
                    </a:lnTo>
                    <a:close/>
                  </a:path>
                </a:pathLst>
              </a:custGeom>
              <a:noFill/>
              <a:ln w="1905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mazon Ember Display"/>
                  <a:ea typeface="+mn-ea"/>
                  <a:cs typeface="+mn-cs"/>
                </a:endParaRPr>
              </a:p>
            </p:txBody>
          </p:sp>
        </p:grpSp>
      </p:grpSp>
      <p:pic>
        <p:nvPicPr>
          <p:cNvPr id="107" name="Graphic 106">
            <a:extLst>
              <a:ext uri="{FF2B5EF4-FFF2-40B4-BE49-F238E27FC236}">
                <a16:creationId xmlns:a16="http://schemas.microsoft.com/office/drawing/2014/main" id="{A4C94968-2244-449A-AA21-F1D09695D28E}"/>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776865" y="3091681"/>
            <a:ext cx="758395" cy="707886"/>
          </a:xfrm>
          <a:prstGeom prst="rect">
            <a:avLst/>
          </a:prstGeom>
        </p:spPr>
      </p:pic>
      <p:sp>
        <p:nvSpPr>
          <p:cNvPr id="109" name="TextBox 108">
            <a:extLst>
              <a:ext uri="{FF2B5EF4-FFF2-40B4-BE49-F238E27FC236}">
                <a16:creationId xmlns:a16="http://schemas.microsoft.com/office/drawing/2014/main" id="{2401A010-9E92-675C-08B7-10F946DF0B54}"/>
              </a:ext>
            </a:extLst>
          </p:cNvPr>
          <p:cNvSpPr txBox="1"/>
          <p:nvPr/>
        </p:nvSpPr>
        <p:spPr>
          <a:xfrm>
            <a:off x="3689049" y="3793328"/>
            <a:ext cx="755014" cy="646331"/>
          </a:xfrm>
          <a:prstGeom prst="rect">
            <a:avLst/>
          </a:prstGeom>
        </p:spPr>
        <p:txBody>
          <a:bodyPr wrap="none" lIns="0" rIns="0" rtlCol="0">
            <a:spAutoFit/>
          </a:bodyPr>
          <a:lstStyle/>
          <a:p>
            <a:pPr lvl="0" algn="ctr">
              <a:defRPr/>
            </a:pPr>
            <a:r>
              <a:rPr lang="en-US" dirty="0">
                <a:solidFill>
                  <a:srgbClr val="FFFFFF"/>
                </a:solidFill>
                <a:latin typeface="Amazon Ember" pitchFamily="34" charset="0"/>
                <a:ea typeface="Arial" pitchFamily="34" charset="-122"/>
                <a:cs typeface="Arial" pitchFamily="34" charset="-120"/>
              </a:rPr>
              <a:t>Hidden</a:t>
            </a:r>
          </a:p>
          <a:p>
            <a:pPr lvl="0" algn="ctr">
              <a:defRPr/>
            </a:pPr>
            <a:r>
              <a:rPr lang="en-US" dirty="0">
                <a:solidFill>
                  <a:srgbClr val="FFFFFF"/>
                </a:solidFill>
                <a:latin typeface="Amazon Ember" pitchFamily="34" charset="0"/>
                <a:ea typeface="Arial" pitchFamily="34" charset="-122"/>
                <a:cs typeface="Arial" pitchFamily="34" charset="-120"/>
              </a:rPr>
              <a:t>Gaps</a:t>
            </a:r>
            <a:endParaRPr kumimoji="0" lang="en-US" sz="1800" i="0" u="none" strike="noStrike" kern="1200" cap="none" spc="0" normalizeH="0" baseline="0" noProof="0" dirty="0">
              <a:ln>
                <a:noFill/>
              </a:ln>
              <a:solidFill>
                <a:srgbClr val="FFFFFF"/>
              </a:solidFill>
              <a:effectLst/>
              <a:uLnTx/>
              <a:uFillTx/>
              <a:latin typeface="Amazon Ember Display"/>
              <a:ea typeface="Amazon Ember Light" panose="020B0403020204020204" pitchFamily="34" charset="0"/>
              <a:cs typeface="Amazon Ember Light" panose="020B0403020204020204" pitchFamily="34" charset="0"/>
            </a:endParaRPr>
          </a:p>
        </p:txBody>
      </p:sp>
      <p:grpSp>
        <p:nvGrpSpPr>
          <p:cNvPr id="115" name="Group 114">
            <a:extLst>
              <a:ext uri="{FF2B5EF4-FFF2-40B4-BE49-F238E27FC236}">
                <a16:creationId xmlns:a16="http://schemas.microsoft.com/office/drawing/2014/main" id="{941BD339-917B-5C69-221B-4B5A6FF9F12B}"/>
              </a:ext>
            </a:extLst>
          </p:cNvPr>
          <p:cNvGrpSpPr/>
          <p:nvPr/>
        </p:nvGrpSpPr>
        <p:grpSpPr>
          <a:xfrm>
            <a:off x="3797184" y="3192006"/>
            <a:ext cx="649468" cy="607561"/>
            <a:chOff x="6873070" y="2339786"/>
            <a:chExt cx="864443" cy="808664"/>
          </a:xfrm>
          <a:solidFill>
            <a:schemeClr val="tx1"/>
          </a:solidFill>
        </p:grpSpPr>
        <p:sp>
          <p:nvSpPr>
            <p:cNvPr id="116" name="Freeform: Shape 258">
              <a:extLst>
                <a:ext uri="{FF2B5EF4-FFF2-40B4-BE49-F238E27FC236}">
                  <a16:creationId xmlns:a16="http://schemas.microsoft.com/office/drawing/2014/main" id="{C27D8077-D67F-A1CE-A89B-D1E9D9B51EA1}"/>
                </a:ext>
              </a:extLst>
            </p:cNvPr>
            <p:cNvSpPr/>
            <p:nvPr/>
          </p:nvSpPr>
          <p:spPr>
            <a:xfrm>
              <a:off x="6873070" y="2339786"/>
              <a:ext cx="562968" cy="564159"/>
            </a:xfrm>
            <a:custGeom>
              <a:avLst/>
              <a:gdLst>
                <a:gd name="connsiteX0" fmla="*/ 289084 w 475532"/>
                <a:gd name="connsiteY0" fmla="*/ 476541 h 476540"/>
                <a:gd name="connsiteX1" fmla="*/ 278048 w 475532"/>
                <a:gd name="connsiteY1" fmla="*/ 470234 h 476540"/>
                <a:gd name="connsiteX2" fmla="*/ 260706 w 475532"/>
                <a:gd name="connsiteY2" fmla="*/ 435549 h 476540"/>
                <a:gd name="connsiteX3" fmla="*/ 211832 w 475532"/>
                <a:gd name="connsiteY3" fmla="*/ 435549 h 476540"/>
                <a:gd name="connsiteX4" fmla="*/ 194489 w 475532"/>
                <a:gd name="connsiteY4" fmla="*/ 470234 h 476540"/>
                <a:gd name="connsiteX5" fmla="*/ 180300 w 475532"/>
                <a:gd name="connsiteY5" fmla="*/ 474964 h 476540"/>
                <a:gd name="connsiteX6" fmla="*/ 109353 w 475532"/>
                <a:gd name="connsiteY6" fmla="*/ 446585 h 476540"/>
                <a:gd name="connsiteX7" fmla="*/ 103047 w 475532"/>
                <a:gd name="connsiteY7" fmla="*/ 432396 h 476540"/>
                <a:gd name="connsiteX8" fmla="*/ 115660 w 475532"/>
                <a:gd name="connsiteY8" fmla="*/ 396134 h 476540"/>
                <a:gd name="connsiteX9" fmla="*/ 80975 w 475532"/>
                <a:gd name="connsiteY9" fmla="*/ 361449 h 476540"/>
                <a:gd name="connsiteX10" fmla="*/ 44713 w 475532"/>
                <a:gd name="connsiteY10" fmla="*/ 374062 h 476540"/>
                <a:gd name="connsiteX11" fmla="*/ 30524 w 475532"/>
                <a:gd name="connsiteY11" fmla="*/ 367756 h 476540"/>
                <a:gd name="connsiteX12" fmla="*/ 569 w 475532"/>
                <a:gd name="connsiteY12" fmla="*/ 295233 h 476540"/>
                <a:gd name="connsiteX13" fmla="*/ 6875 w 475532"/>
                <a:gd name="connsiteY13" fmla="*/ 281043 h 476540"/>
                <a:gd name="connsiteX14" fmla="*/ 41560 w 475532"/>
                <a:gd name="connsiteY14" fmla="*/ 263701 h 476540"/>
                <a:gd name="connsiteX15" fmla="*/ 41560 w 475532"/>
                <a:gd name="connsiteY15" fmla="*/ 214826 h 476540"/>
                <a:gd name="connsiteX16" fmla="*/ 6875 w 475532"/>
                <a:gd name="connsiteY16" fmla="*/ 197484 h 476540"/>
                <a:gd name="connsiteX17" fmla="*/ 569 w 475532"/>
                <a:gd name="connsiteY17" fmla="*/ 183295 h 476540"/>
                <a:gd name="connsiteX18" fmla="*/ 30524 w 475532"/>
                <a:gd name="connsiteY18" fmla="*/ 110771 h 476540"/>
                <a:gd name="connsiteX19" fmla="*/ 52596 w 475532"/>
                <a:gd name="connsiteY19" fmla="*/ 120231 h 476540"/>
                <a:gd name="connsiteX20" fmla="*/ 27371 w 475532"/>
                <a:gd name="connsiteY20" fmla="*/ 183295 h 476540"/>
                <a:gd name="connsiteX21" fmla="*/ 58902 w 475532"/>
                <a:gd name="connsiteY21" fmla="*/ 199061 h 476540"/>
                <a:gd name="connsiteX22" fmla="*/ 63632 w 475532"/>
                <a:gd name="connsiteY22" fmla="*/ 210097 h 476540"/>
                <a:gd name="connsiteX23" fmla="*/ 63632 w 475532"/>
                <a:gd name="connsiteY23" fmla="*/ 268431 h 476540"/>
                <a:gd name="connsiteX24" fmla="*/ 57326 w 475532"/>
                <a:gd name="connsiteY24" fmla="*/ 281043 h 476540"/>
                <a:gd name="connsiteX25" fmla="*/ 25794 w 475532"/>
                <a:gd name="connsiteY25" fmla="*/ 296809 h 476540"/>
                <a:gd name="connsiteX26" fmla="*/ 47866 w 475532"/>
                <a:gd name="connsiteY26" fmla="*/ 347260 h 476540"/>
                <a:gd name="connsiteX27" fmla="*/ 80975 w 475532"/>
                <a:gd name="connsiteY27" fmla="*/ 336224 h 476540"/>
                <a:gd name="connsiteX28" fmla="*/ 93587 w 475532"/>
                <a:gd name="connsiteY28" fmla="*/ 340954 h 476540"/>
                <a:gd name="connsiteX29" fmla="*/ 134579 w 475532"/>
                <a:gd name="connsiteY29" fmla="*/ 381945 h 476540"/>
                <a:gd name="connsiteX30" fmla="*/ 139308 w 475532"/>
                <a:gd name="connsiteY30" fmla="*/ 394558 h 476540"/>
                <a:gd name="connsiteX31" fmla="*/ 128272 w 475532"/>
                <a:gd name="connsiteY31" fmla="*/ 427666 h 476540"/>
                <a:gd name="connsiteX32" fmla="*/ 180300 w 475532"/>
                <a:gd name="connsiteY32" fmla="*/ 449738 h 476540"/>
                <a:gd name="connsiteX33" fmla="*/ 196066 w 475532"/>
                <a:gd name="connsiteY33" fmla="*/ 418207 h 476540"/>
                <a:gd name="connsiteX34" fmla="*/ 208678 w 475532"/>
                <a:gd name="connsiteY34" fmla="*/ 411900 h 476540"/>
                <a:gd name="connsiteX35" fmla="*/ 267012 w 475532"/>
                <a:gd name="connsiteY35" fmla="*/ 411900 h 476540"/>
                <a:gd name="connsiteX36" fmla="*/ 279625 w 475532"/>
                <a:gd name="connsiteY36" fmla="*/ 418207 h 476540"/>
                <a:gd name="connsiteX37" fmla="*/ 295391 w 475532"/>
                <a:gd name="connsiteY37" fmla="*/ 449738 h 476540"/>
                <a:gd name="connsiteX38" fmla="*/ 347418 w 475532"/>
                <a:gd name="connsiteY38" fmla="*/ 427666 h 476540"/>
                <a:gd name="connsiteX39" fmla="*/ 334806 w 475532"/>
                <a:gd name="connsiteY39" fmla="*/ 394558 h 476540"/>
                <a:gd name="connsiteX40" fmla="*/ 339535 w 475532"/>
                <a:gd name="connsiteY40" fmla="*/ 381945 h 476540"/>
                <a:gd name="connsiteX41" fmla="*/ 380527 w 475532"/>
                <a:gd name="connsiteY41" fmla="*/ 340954 h 476540"/>
                <a:gd name="connsiteX42" fmla="*/ 393139 w 475532"/>
                <a:gd name="connsiteY42" fmla="*/ 336224 h 476540"/>
                <a:gd name="connsiteX43" fmla="*/ 426248 w 475532"/>
                <a:gd name="connsiteY43" fmla="*/ 347260 h 476540"/>
                <a:gd name="connsiteX44" fmla="*/ 448320 w 475532"/>
                <a:gd name="connsiteY44" fmla="*/ 295233 h 476540"/>
                <a:gd name="connsiteX45" fmla="*/ 416788 w 475532"/>
                <a:gd name="connsiteY45" fmla="*/ 279467 h 476540"/>
                <a:gd name="connsiteX46" fmla="*/ 410482 w 475532"/>
                <a:gd name="connsiteY46" fmla="*/ 266854 h 476540"/>
                <a:gd name="connsiteX47" fmla="*/ 410482 w 475532"/>
                <a:gd name="connsiteY47" fmla="*/ 208520 h 476540"/>
                <a:gd name="connsiteX48" fmla="*/ 416788 w 475532"/>
                <a:gd name="connsiteY48" fmla="*/ 195907 h 476540"/>
                <a:gd name="connsiteX49" fmla="*/ 448320 w 475532"/>
                <a:gd name="connsiteY49" fmla="*/ 180141 h 476540"/>
                <a:gd name="connsiteX50" fmla="*/ 426248 w 475532"/>
                <a:gd name="connsiteY50" fmla="*/ 128114 h 476540"/>
                <a:gd name="connsiteX51" fmla="*/ 393139 w 475532"/>
                <a:gd name="connsiteY51" fmla="*/ 140727 h 476540"/>
                <a:gd name="connsiteX52" fmla="*/ 380527 w 475532"/>
                <a:gd name="connsiteY52" fmla="*/ 135997 h 476540"/>
                <a:gd name="connsiteX53" fmla="*/ 339535 w 475532"/>
                <a:gd name="connsiteY53" fmla="*/ 95006 h 476540"/>
                <a:gd name="connsiteX54" fmla="*/ 334806 w 475532"/>
                <a:gd name="connsiteY54" fmla="*/ 82393 h 476540"/>
                <a:gd name="connsiteX55" fmla="*/ 345842 w 475532"/>
                <a:gd name="connsiteY55" fmla="*/ 49284 h 476540"/>
                <a:gd name="connsiteX56" fmla="*/ 293814 w 475532"/>
                <a:gd name="connsiteY56" fmla="*/ 27212 h 476540"/>
                <a:gd name="connsiteX57" fmla="*/ 278048 w 475532"/>
                <a:gd name="connsiteY57" fmla="*/ 58744 h 476540"/>
                <a:gd name="connsiteX58" fmla="*/ 265436 w 475532"/>
                <a:gd name="connsiteY58" fmla="*/ 65050 h 476540"/>
                <a:gd name="connsiteX59" fmla="*/ 207102 w 475532"/>
                <a:gd name="connsiteY59" fmla="*/ 65050 h 476540"/>
                <a:gd name="connsiteX60" fmla="*/ 194489 w 475532"/>
                <a:gd name="connsiteY60" fmla="*/ 58744 h 476540"/>
                <a:gd name="connsiteX61" fmla="*/ 178723 w 475532"/>
                <a:gd name="connsiteY61" fmla="*/ 27212 h 476540"/>
                <a:gd name="connsiteX62" fmla="*/ 128272 w 475532"/>
                <a:gd name="connsiteY62" fmla="*/ 47708 h 476540"/>
                <a:gd name="connsiteX63" fmla="*/ 139308 w 475532"/>
                <a:gd name="connsiteY63" fmla="*/ 80816 h 476540"/>
                <a:gd name="connsiteX64" fmla="*/ 117236 w 475532"/>
                <a:gd name="connsiteY64" fmla="*/ 90276 h 476540"/>
                <a:gd name="connsiteX65" fmla="*/ 103047 w 475532"/>
                <a:gd name="connsiteY65" fmla="*/ 46131 h 476540"/>
                <a:gd name="connsiteX66" fmla="*/ 109353 w 475532"/>
                <a:gd name="connsiteY66" fmla="*/ 31942 h 476540"/>
                <a:gd name="connsiteX67" fmla="*/ 181876 w 475532"/>
                <a:gd name="connsiteY67" fmla="*/ 1987 h 476540"/>
                <a:gd name="connsiteX68" fmla="*/ 196066 w 475532"/>
                <a:gd name="connsiteY68" fmla="*/ 6716 h 476540"/>
                <a:gd name="connsiteX69" fmla="*/ 213408 w 475532"/>
                <a:gd name="connsiteY69" fmla="*/ 41401 h 476540"/>
                <a:gd name="connsiteX70" fmla="*/ 262282 w 475532"/>
                <a:gd name="connsiteY70" fmla="*/ 41401 h 476540"/>
                <a:gd name="connsiteX71" fmla="*/ 279625 w 475532"/>
                <a:gd name="connsiteY71" fmla="*/ 6716 h 476540"/>
                <a:gd name="connsiteX72" fmla="*/ 293814 w 475532"/>
                <a:gd name="connsiteY72" fmla="*/ 410 h 476540"/>
                <a:gd name="connsiteX73" fmla="*/ 364761 w 475532"/>
                <a:gd name="connsiteY73" fmla="*/ 31942 h 476540"/>
                <a:gd name="connsiteX74" fmla="*/ 371067 w 475532"/>
                <a:gd name="connsiteY74" fmla="*/ 46131 h 476540"/>
                <a:gd name="connsiteX75" fmla="*/ 358454 w 475532"/>
                <a:gd name="connsiteY75" fmla="*/ 82393 h 476540"/>
                <a:gd name="connsiteX76" fmla="*/ 393139 w 475532"/>
                <a:gd name="connsiteY76" fmla="*/ 117078 h 476540"/>
                <a:gd name="connsiteX77" fmla="*/ 429401 w 475532"/>
                <a:gd name="connsiteY77" fmla="*/ 104465 h 476540"/>
                <a:gd name="connsiteX78" fmla="*/ 443590 w 475532"/>
                <a:gd name="connsiteY78" fmla="*/ 110771 h 476540"/>
                <a:gd name="connsiteX79" fmla="*/ 473545 w 475532"/>
                <a:gd name="connsiteY79" fmla="*/ 183295 h 476540"/>
                <a:gd name="connsiteX80" fmla="*/ 468816 w 475532"/>
                <a:gd name="connsiteY80" fmla="*/ 197484 h 476540"/>
                <a:gd name="connsiteX81" fmla="*/ 434131 w 475532"/>
                <a:gd name="connsiteY81" fmla="*/ 214826 h 476540"/>
                <a:gd name="connsiteX82" fmla="*/ 434131 w 475532"/>
                <a:gd name="connsiteY82" fmla="*/ 263701 h 476540"/>
                <a:gd name="connsiteX83" fmla="*/ 468816 w 475532"/>
                <a:gd name="connsiteY83" fmla="*/ 281043 h 476540"/>
                <a:gd name="connsiteX84" fmla="*/ 475122 w 475532"/>
                <a:gd name="connsiteY84" fmla="*/ 295233 h 476540"/>
                <a:gd name="connsiteX85" fmla="*/ 445167 w 475532"/>
                <a:gd name="connsiteY85" fmla="*/ 367756 h 476540"/>
                <a:gd name="connsiteX86" fmla="*/ 430977 w 475532"/>
                <a:gd name="connsiteY86" fmla="*/ 374062 h 476540"/>
                <a:gd name="connsiteX87" fmla="*/ 394716 w 475532"/>
                <a:gd name="connsiteY87" fmla="*/ 361449 h 476540"/>
                <a:gd name="connsiteX88" fmla="*/ 360031 w 475532"/>
                <a:gd name="connsiteY88" fmla="*/ 396134 h 476540"/>
                <a:gd name="connsiteX89" fmla="*/ 372644 w 475532"/>
                <a:gd name="connsiteY89" fmla="*/ 432396 h 476540"/>
                <a:gd name="connsiteX90" fmla="*/ 366337 w 475532"/>
                <a:gd name="connsiteY90" fmla="*/ 446585 h 476540"/>
                <a:gd name="connsiteX91" fmla="*/ 293814 w 475532"/>
                <a:gd name="connsiteY91" fmla="*/ 476541 h 476540"/>
                <a:gd name="connsiteX92" fmla="*/ 289084 w 475532"/>
                <a:gd name="connsiteY92" fmla="*/ 476541 h 476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475532" h="476540">
                  <a:moveTo>
                    <a:pt x="289084" y="476541"/>
                  </a:moveTo>
                  <a:cubicBezTo>
                    <a:pt x="284355" y="476541"/>
                    <a:pt x="281202" y="474964"/>
                    <a:pt x="278048" y="470234"/>
                  </a:cubicBezTo>
                  <a:lnTo>
                    <a:pt x="260706" y="435549"/>
                  </a:lnTo>
                  <a:cubicBezTo>
                    <a:pt x="244940" y="437126"/>
                    <a:pt x="229174" y="437126"/>
                    <a:pt x="211832" y="435549"/>
                  </a:cubicBezTo>
                  <a:lnTo>
                    <a:pt x="194489" y="470234"/>
                  </a:lnTo>
                  <a:cubicBezTo>
                    <a:pt x="191336" y="474964"/>
                    <a:pt x="185030" y="478117"/>
                    <a:pt x="180300" y="474964"/>
                  </a:cubicBezTo>
                  <a:lnTo>
                    <a:pt x="109353" y="446585"/>
                  </a:lnTo>
                  <a:cubicBezTo>
                    <a:pt x="103047" y="445009"/>
                    <a:pt x="101470" y="438702"/>
                    <a:pt x="103047" y="432396"/>
                  </a:cubicBezTo>
                  <a:lnTo>
                    <a:pt x="115660" y="396134"/>
                  </a:lnTo>
                  <a:cubicBezTo>
                    <a:pt x="103047" y="386675"/>
                    <a:pt x="92011" y="374062"/>
                    <a:pt x="80975" y="361449"/>
                  </a:cubicBezTo>
                  <a:lnTo>
                    <a:pt x="44713" y="374062"/>
                  </a:lnTo>
                  <a:cubicBezTo>
                    <a:pt x="38407" y="375639"/>
                    <a:pt x="32100" y="372486"/>
                    <a:pt x="30524" y="367756"/>
                  </a:cubicBezTo>
                  <a:lnTo>
                    <a:pt x="569" y="295233"/>
                  </a:lnTo>
                  <a:cubicBezTo>
                    <a:pt x="-1008" y="288926"/>
                    <a:pt x="569" y="282620"/>
                    <a:pt x="6875" y="281043"/>
                  </a:cubicBezTo>
                  <a:lnTo>
                    <a:pt x="41560" y="263701"/>
                  </a:lnTo>
                  <a:cubicBezTo>
                    <a:pt x="39983" y="247935"/>
                    <a:pt x="39983" y="232169"/>
                    <a:pt x="41560" y="214826"/>
                  </a:cubicBezTo>
                  <a:lnTo>
                    <a:pt x="6875" y="197484"/>
                  </a:lnTo>
                  <a:cubicBezTo>
                    <a:pt x="2145" y="194331"/>
                    <a:pt x="-1008" y="188024"/>
                    <a:pt x="569" y="183295"/>
                  </a:cubicBezTo>
                  <a:lnTo>
                    <a:pt x="30524" y="110771"/>
                  </a:lnTo>
                  <a:lnTo>
                    <a:pt x="52596" y="120231"/>
                  </a:lnTo>
                  <a:lnTo>
                    <a:pt x="27371" y="183295"/>
                  </a:lnTo>
                  <a:lnTo>
                    <a:pt x="58902" y="199061"/>
                  </a:lnTo>
                  <a:cubicBezTo>
                    <a:pt x="62056" y="199061"/>
                    <a:pt x="63632" y="205367"/>
                    <a:pt x="63632" y="210097"/>
                  </a:cubicBezTo>
                  <a:cubicBezTo>
                    <a:pt x="60479" y="229016"/>
                    <a:pt x="60479" y="249511"/>
                    <a:pt x="63632" y="268431"/>
                  </a:cubicBezTo>
                  <a:cubicBezTo>
                    <a:pt x="65209" y="273160"/>
                    <a:pt x="62056" y="277890"/>
                    <a:pt x="57326" y="281043"/>
                  </a:cubicBezTo>
                  <a:lnTo>
                    <a:pt x="25794" y="296809"/>
                  </a:lnTo>
                  <a:lnTo>
                    <a:pt x="47866" y="347260"/>
                  </a:lnTo>
                  <a:lnTo>
                    <a:pt x="80975" y="336224"/>
                  </a:lnTo>
                  <a:cubicBezTo>
                    <a:pt x="85704" y="334647"/>
                    <a:pt x="90434" y="336224"/>
                    <a:pt x="93587" y="340954"/>
                  </a:cubicBezTo>
                  <a:cubicBezTo>
                    <a:pt x="104624" y="356720"/>
                    <a:pt x="118813" y="370909"/>
                    <a:pt x="134579" y="381945"/>
                  </a:cubicBezTo>
                  <a:cubicBezTo>
                    <a:pt x="139308" y="385098"/>
                    <a:pt x="140885" y="389828"/>
                    <a:pt x="139308" y="394558"/>
                  </a:cubicBezTo>
                  <a:lnTo>
                    <a:pt x="128272" y="427666"/>
                  </a:lnTo>
                  <a:lnTo>
                    <a:pt x="180300" y="449738"/>
                  </a:lnTo>
                  <a:lnTo>
                    <a:pt x="196066" y="418207"/>
                  </a:lnTo>
                  <a:cubicBezTo>
                    <a:pt x="197642" y="413477"/>
                    <a:pt x="203949" y="411900"/>
                    <a:pt x="208678" y="411900"/>
                  </a:cubicBezTo>
                  <a:cubicBezTo>
                    <a:pt x="227597" y="415053"/>
                    <a:pt x="248093" y="415053"/>
                    <a:pt x="267012" y="411900"/>
                  </a:cubicBezTo>
                  <a:cubicBezTo>
                    <a:pt x="271742" y="410324"/>
                    <a:pt x="276472" y="413477"/>
                    <a:pt x="279625" y="418207"/>
                  </a:cubicBezTo>
                  <a:lnTo>
                    <a:pt x="295391" y="449738"/>
                  </a:lnTo>
                  <a:lnTo>
                    <a:pt x="347418" y="427666"/>
                  </a:lnTo>
                  <a:lnTo>
                    <a:pt x="334806" y="394558"/>
                  </a:lnTo>
                  <a:cubicBezTo>
                    <a:pt x="333229" y="389828"/>
                    <a:pt x="334806" y="385098"/>
                    <a:pt x="339535" y="381945"/>
                  </a:cubicBezTo>
                  <a:cubicBezTo>
                    <a:pt x="355301" y="370909"/>
                    <a:pt x="369491" y="356720"/>
                    <a:pt x="380527" y="340954"/>
                  </a:cubicBezTo>
                  <a:cubicBezTo>
                    <a:pt x="383680" y="336224"/>
                    <a:pt x="388410" y="334647"/>
                    <a:pt x="393139" y="336224"/>
                  </a:cubicBezTo>
                  <a:lnTo>
                    <a:pt x="426248" y="347260"/>
                  </a:lnTo>
                  <a:lnTo>
                    <a:pt x="448320" y="295233"/>
                  </a:lnTo>
                  <a:lnTo>
                    <a:pt x="416788" y="279467"/>
                  </a:lnTo>
                  <a:cubicBezTo>
                    <a:pt x="412058" y="277890"/>
                    <a:pt x="410482" y="271584"/>
                    <a:pt x="410482" y="266854"/>
                  </a:cubicBezTo>
                  <a:cubicBezTo>
                    <a:pt x="413635" y="247935"/>
                    <a:pt x="413635" y="227439"/>
                    <a:pt x="410482" y="208520"/>
                  </a:cubicBezTo>
                  <a:cubicBezTo>
                    <a:pt x="408905" y="203790"/>
                    <a:pt x="412058" y="199061"/>
                    <a:pt x="416788" y="195907"/>
                  </a:cubicBezTo>
                  <a:lnTo>
                    <a:pt x="448320" y="180141"/>
                  </a:lnTo>
                  <a:lnTo>
                    <a:pt x="426248" y="128114"/>
                  </a:lnTo>
                  <a:lnTo>
                    <a:pt x="393139" y="140727"/>
                  </a:lnTo>
                  <a:cubicBezTo>
                    <a:pt x="388410" y="142303"/>
                    <a:pt x="383680" y="140727"/>
                    <a:pt x="380527" y="135997"/>
                  </a:cubicBezTo>
                  <a:cubicBezTo>
                    <a:pt x="369491" y="120231"/>
                    <a:pt x="355301" y="106042"/>
                    <a:pt x="339535" y="95006"/>
                  </a:cubicBezTo>
                  <a:cubicBezTo>
                    <a:pt x="334806" y="91852"/>
                    <a:pt x="333229" y="87123"/>
                    <a:pt x="334806" y="82393"/>
                  </a:cubicBezTo>
                  <a:lnTo>
                    <a:pt x="345842" y="49284"/>
                  </a:lnTo>
                  <a:lnTo>
                    <a:pt x="293814" y="27212"/>
                  </a:lnTo>
                  <a:lnTo>
                    <a:pt x="278048" y="58744"/>
                  </a:lnTo>
                  <a:cubicBezTo>
                    <a:pt x="276472" y="63474"/>
                    <a:pt x="270165" y="66627"/>
                    <a:pt x="265436" y="65050"/>
                  </a:cubicBezTo>
                  <a:cubicBezTo>
                    <a:pt x="246517" y="61897"/>
                    <a:pt x="226021" y="61897"/>
                    <a:pt x="207102" y="65050"/>
                  </a:cubicBezTo>
                  <a:cubicBezTo>
                    <a:pt x="202372" y="65050"/>
                    <a:pt x="197642" y="63474"/>
                    <a:pt x="194489" y="58744"/>
                  </a:cubicBezTo>
                  <a:lnTo>
                    <a:pt x="178723" y="27212"/>
                  </a:lnTo>
                  <a:lnTo>
                    <a:pt x="128272" y="47708"/>
                  </a:lnTo>
                  <a:lnTo>
                    <a:pt x="139308" y="80816"/>
                  </a:lnTo>
                  <a:lnTo>
                    <a:pt x="117236" y="90276"/>
                  </a:lnTo>
                  <a:lnTo>
                    <a:pt x="103047" y="46131"/>
                  </a:lnTo>
                  <a:cubicBezTo>
                    <a:pt x="99894" y="39825"/>
                    <a:pt x="103047" y="33519"/>
                    <a:pt x="109353" y="31942"/>
                  </a:cubicBezTo>
                  <a:lnTo>
                    <a:pt x="181876" y="1987"/>
                  </a:lnTo>
                  <a:cubicBezTo>
                    <a:pt x="188183" y="410"/>
                    <a:pt x="194489" y="1987"/>
                    <a:pt x="196066" y="6716"/>
                  </a:cubicBezTo>
                  <a:lnTo>
                    <a:pt x="213408" y="41401"/>
                  </a:lnTo>
                  <a:cubicBezTo>
                    <a:pt x="229174" y="39825"/>
                    <a:pt x="244940" y="39825"/>
                    <a:pt x="262282" y="41401"/>
                  </a:cubicBezTo>
                  <a:lnTo>
                    <a:pt x="279625" y="6716"/>
                  </a:lnTo>
                  <a:cubicBezTo>
                    <a:pt x="282778" y="1987"/>
                    <a:pt x="289084" y="-1166"/>
                    <a:pt x="293814" y="410"/>
                  </a:cubicBezTo>
                  <a:lnTo>
                    <a:pt x="364761" y="31942"/>
                  </a:lnTo>
                  <a:cubicBezTo>
                    <a:pt x="371067" y="33519"/>
                    <a:pt x="372644" y="39825"/>
                    <a:pt x="371067" y="46131"/>
                  </a:cubicBezTo>
                  <a:lnTo>
                    <a:pt x="358454" y="82393"/>
                  </a:lnTo>
                  <a:cubicBezTo>
                    <a:pt x="371067" y="91852"/>
                    <a:pt x="382103" y="104465"/>
                    <a:pt x="393139" y="117078"/>
                  </a:cubicBezTo>
                  <a:lnTo>
                    <a:pt x="429401" y="104465"/>
                  </a:lnTo>
                  <a:cubicBezTo>
                    <a:pt x="435707" y="102889"/>
                    <a:pt x="442014" y="106042"/>
                    <a:pt x="443590" y="110771"/>
                  </a:cubicBezTo>
                  <a:lnTo>
                    <a:pt x="473545" y="183295"/>
                  </a:lnTo>
                  <a:cubicBezTo>
                    <a:pt x="475122" y="189601"/>
                    <a:pt x="473545" y="195907"/>
                    <a:pt x="468816" y="197484"/>
                  </a:cubicBezTo>
                  <a:lnTo>
                    <a:pt x="434131" y="214826"/>
                  </a:lnTo>
                  <a:cubicBezTo>
                    <a:pt x="435707" y="230592"/>
                    <a:pt x="435707" y="246358"/>
                    <a:pt x="434131" y="263701"/>
                  </a:cubicBezTo>
                  <a:lnTo>
                    <a:pt x="468816" y="281043"/>
                  </a:lnTo>
                  <a:cubicBezTo>
                    <a:pt x="473545" y="284196"/>
                    <a:pt x="476699" y="290503"/>
                    <a:pt x="475122" y="295233"/>
                  </a:cubicBezTo>
                  <a:lnTo>
                    <a:pt x="445167" y="367756"/>
                  </a:lnTo>
                  <a:cubicBezTo>
                    <a:pt x="443590" y="374062"/>
                    <a:pt x="437284" y="375639"/>
                    <a:pt x="430977" y="374062"/>
                  </a:cubicBezTo>
                  <a:lnTo>
                    <a:pt x="394716" y="361449"/>
                  </a:lnTo>
                  <a:cubicBezTo>
                    <a:pt x="385256" y="374062"/>
                    <a:pt x="372644" y="385098"/>
                    <a:pt x="360031" y="396134"/>
                  </a:cubicBezTo>
                  <a:lnTo>
                    <a:pt x="372644" y="432396"/>
                  </a:lnTo>
                  <a:cubicBezTo>
                    <a:pt x="374220" y="438702"/>
                    <a:pt x="371067" y="445009"/>
                    <a:pt x="366337" y="446585"/>
                  </a:cubicBezTo>
                  <a:lnTo>
                    <a:pt x="293814" y="476541"/>
                  </a:lnTo>
                  <a:cubicBezTo>
                    <a:pt x="292238" y="476541"/>
                    <a:pt x="290661" y="476541"/>
                    <a:pt x="289084" y="476541"/>
                  </a:cubicBez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sp>
          <p:nvSpPr>
            <p:cNvPr id="117" name="Freeform: Shape 259">
              <a:extLst>
                <a:ext uri="{FF2B5EF4-FFF2-40B4-BE49-F238E27FC236}">
                  <a16:creationId xmlns:a16="http://schemas.microsoft.com/office/drawing/2014/main" id="{D5D99A3D-03C1-E379-5150-88D9223DAFF1}"/>
                </a:ext>
              </a:extLst>
            </p:cNvPr>
            <p:cNvSpPr/>
            <p:nvPr/>
          </p:nvSpPr>
          <p:spPr>
            <a:xfrm>
              <a:off x="7338893" y="2745694"/>
              <a:ext cx="398620" cy="402756"/>
            </a:xfrm>
            <a:custGeom>
              <a:avLst/>
              <a:gdLst>
                <a:gd name="connsiteX0" fmla="*/ 133671 w 336710"/>
                <a:gd name="connsiteY0" fmla="*/ 340204 h 340204"/>
                <a:gd name="connsiteX1" fmla="*/ 128941 w 336710"/>
                <a:gd name="connsiteY1" fmla="*/ 338627 h 340204"/>
                <a:gd name="connsiteX2" fmla="*/ 78490 w 336710"/>
                <a:gd name="connsiteY2" fmla="*/ 318132 h 340204"/>
                <a:gd name="connsiteX3" fmla="*/ 72184 w 336710"/>
                <a:gd name="connsiteY3" fmla="*/ 302366 h 340204"/>
                <a:gd name="connsiteX4" fmla="*/ 84796 w 336710"/>
                <a:gd name="connsiteY4" fmla="*/ 272411 h 340204"/>
                <a:gd name="connsiteX5" fmla="*/ 67454 w 336710"/>
                <a:gd name="connsiteY5" fmla="*/ 255068 h 340204"/>
                <a:gd name="connsiteX6" fmla="*/ 37499 w 336710"/>
                <a:gd name="connsiteY6" fmla="*/ 267681 h 340204"/>
                <a:gd name="connsiteX7" fmla="*/ 21733 w 336710"/>
                <a:gd name="connsiteY7" fmla="*/ 261374 h 340204"/>
                <a:gd name="connsiteX8" fmla="*/ 1237 w 336710"/>
                <a:gd name="connsiteY8" fmla="*/ 210924 h 340204"/>
                <a:gd name="connsiteX9" fmla="*/ 7543 w 336710"/>
                <a:gd name="connsiteY9" fmla="*/ 195158 h 340204"/>
                <a:gd name="connsiteX10" fmla="*/ 37499 w 336710"/>
                <a:gd name="connsiteY10" fmla="*/ 182545 h 340204"/>
                <a:gd name="connsiteX11" fmla="*/ 37499 w 336710"/>
                <a:gd name="connsiteY11" fmla="*/ 157320 h 340204"/>
                <a:gd name="connsiteX12" fmla="*/ 7543 w 336710"/>
                <a:gd name="connsiteY12" fmla="*/ 144707 h 340204"/>
                <a:gd name="connsiteX13" fmla="*/ 1237 w 336710"/>
                <a:gd name="connsiteY13" fmla="*/ 138400 h 340204"/>
                <a:gd name="connsiteX14" fmla="*/ 1237 w 336710"/>
                <a:gd name="connsiteY14" fmla="*/ 128941 h 340204"/>
                <a:gd name="connsiteX15" fmla="*/ 21733 w 336710"/>
                <a:gd name="connsiteY15" fmla="*/ 78490 h 340204"/>
                <a:gd name="connsiteX16" fmla="*/ 28039 w 336710"/>
                <a:gd name="connsiteY16" fmla="*/ 72184 h 340204"/>
                <a:gd name="connsiteX17" fmla="*/ 37499 w 336710"/>
                <a:gd name="connsiteY17" fmla="*/ 72184 h 340204"/>
                <a:gd name="connsiteX18" fmla="*/ 67454 w 336710"/>
                <a:gd name="connsiteY18" fmla="*/ 84796 h 340204"/>
                <a:gd name="connsiteX19" fmla="*/ 84796 w 336710"/>
                <a:gd name="connsiteY19" fmla="*/ 67454 h 340204"/>
                <a:gd name="connsiteX20" fmla="*/ 72184 w 336710"/>
                <a:gd name="connsiteY20" fmla="*/ 37499 h 340204"/>
                <a:gd name="connsiteX21" fmla="*/ 72184 w 336710"/>
                <a:gd name="connsiteY21" fmla="*/ 28039 h 340204"/>
                <a:gd name="connsiteX22" fmla="*/ 78490 w 336710"/>
                <a:gd name="connsiteY22" fmla="*/ 21733 h 340204"/>
                <a:gd name="connsiteX23" fmla="*/ 128941 w 336710"/>
                <a:gd name="connsiteY23" fmla="*/ 1237 h 340204"/>
                <a:gd name="connsiteX24" fmla="*/ 144707 w 336710"/>
                <a:gd name="connsiteY24" fmla="*/ 7543 h 340204"/>
                <a:gd name="connsiteX25" fmla="*/ 157319 w 336710"/>
                <a:gd name="connsiteY25" fmla="*/ 37499 h 340204"/>
                <a:gd name="connsiteX26" fmla="*/ 182545 w 336710"/>
                <a:gd name="connsiteY26" fmla="*/ 37499 h 340204"/>
                <a:gd name="connsiteX27" fmla="*/ 195158 w 336710"/>
                <a:gd name="connsiteY27" fmla="*/ 7543 h 340204"/>
                <a:gd name="connsiteX28" fmla="*/ 201464 w 336710"/>
                <a:gd name="connsiteY28" fmla="*/ 1237 h 340204"/>
                <a:gd name="connsiteX29" fmla="*/ 210923 w 336710"/>
                <a:gd name="connsiteY29" fmla="*/ 1237 h 340204"/>
                <a:gd name="connsiteX30" fmla="*/ 261374 w 336710"/>
                <a:gd name="connsiteY30" fmla="*/ 21733 h 340204"/>
                <a:gd name="connsiteX31" fmla="*/ 267681 w 336710"/>
                <a:gd name="connsiteY31" fmla="*/ 37499 h 340204"/>
                <a:gd name="connsiteX32" fmla="*/ 251915 w 336710"/>
                <a:gd name="connsiteY32" fmla="*/ 72184 h 340204"/>
                <a:gd name="connsiteX33" fmla="*/ 269257 w 336710"/>
                <a:gd name="connsiteY33" fmla="*/ 89526 h 340204"/>
                <a:gd name="connsiteX34" fmla="*/ 299212 w 336710"/>
                <a:gd name="connsiteY34" fmla="*/ 76913 h 340204"/>
                <a:gd name="connsiteX35" fmla="*/ 308672 w 336710"/>
                <a:gd name="connsiteY35" fmla="*/ 76913 h 340204"/>
                <a:gd name="connsiteX36" fmla="*/ 314978 w 336710"/>
                <a:gd name="connsiteY36" fmla="*/ 83220 h 340204"/>
                <a:gd name="connsiteX37" fmla="*/ 335474 w 336710"/>
                <a:gd name="connsiteY37" fmla="*/ 133671 h 340204"/>
                <a:gd name="connsiteX38" fmla="*/ 329168 w 336710"/>
                <a:gd name="connsiteY38" fmla="*/ 149437 h 340204"/>
                <a:gd name="connsiteX39" fmla="*/ 299212 w 336710"/>
                <a:gd name="connsiteY39" fmla="*/ 160473 h 340204"/>
                <a:gd name="connsiteX40" fmla="*/ 299212 w 336710"/>
                <a:gd name="connsiteY40" fmla="*/ 185698 h 340204"/>
                <a:gd name="connsiteX41" fmla="*/ 329168 w 336710"/>
                <a:gd name="connsiteY41" fmla="*/ 198311 h 340204"/>
                <a:gd name="connsiteX42" fmla="*/ 335474 w 336710"/>
                <a:gd name="connsiteY42" fmla="*/ 214077 h 340204"/>
                <a:gd name="connsiteX43" fmla="*/ 314978 w 336710"/>
                <a:gd name="connsiteY43" fmla="*/ 261374 h 340204"/>
                <a:gd name="connsiteX44" fmla="*/ 308672 w 336710"/>
                <a:gd name="connsiteY44" fmla="*/ 267681 h 340204"/>
                <a:gd name="connsiteX45" fmla="*/ 299212 w 336710"/>
                <a:gd name="connsiteY45" fmla="*/ 267681 h 340204"/>
                <a:gd name="connsiteX46" fmla="*/ 269257 w 336710"/>
                <a:gd name="connsiteY46" fmla="*/ 255068 h 340204"/>
                <a:gd name="connsiteX47" fmla="*/ 244032 w 336710"/>
                <a:gd name="connsiteY47" fmla="*/ 278717 h 340204"/>
                <a:gd name="connsiteX48" fmla="*/ 229842 w 336710"/>
                <a:gd name="connsiteY48" fmla="*/ 259798 h 340204"/>
                <a:gd name="connsiteX49" fmla="*/ 255068 w 336710"/>
                <a:gd name="connsiteY49" fmla="*/ 234572 h 340204"/>
                <a:gd name="connsiteX50" fmla="*/ 269257 w 336710"/>
                <a:gd name="connsiteY50" fmla="*/ 229843 h 340204"/>
                <a:gd name="connsiteX51" fmla="*/ 297636 w 336710"/>
                <a:gd name="connsiteY51" fmla="*/ 240879 h 340204"/>
                <a:gd name="connsiteX52" fmla="*/ 308672 w 336710"/>
                <a:gd name="connsiteY52" fmla="*/ 212500 h 340204"/>
                <a:gd name="connsiteX53" fmla="*/ 280293 w 336710"/>
                <a:gd name="connsiteY53" fmla="*/ 201464 h 340204"/>
                <a:gd name="connsiteX54" fmla="*/ 273987 w 336710"/>
                <a:gd name="connsiteY54" fmla="*/ 188851 h 340204"/>
                <a:gd name="connsiteX55" fmla="*/ 273987 w 336710"/>
                <a:gd name="connsiteY55" fmla="*/ 154166 h 340204"/>
                <a:gd name="connsiteX56" fmla="*/ 280293 w 336710"/>
                <a:gd name="connsiteY56" fmla="*/ 141554 h 340204"/>
                <a:gd name="connsiteX57" fmla="*/ 308672 w 336710"/>
                <a:gd name="connsiteY57" fmla="*/ 130517 h 340204"/>
                <a:gd name="connsiteX58" fmla="*/ 297636 w 336710"/>
                <a:gd name="connsiteY58" fmla="*/ 102139 h 340204"/>
                <a:gd name="connsiteX59" fmla="*/ 269257 w 336710"/>
                <a:gd name="connsiteY59" fmla="*/ 113175 h 340204"/>
                <a:gd name="connsiteX60" fmla="*/ 255068 w 336710"/>
                <a:gd name="connsiteY60" fmla="*/ 108445 h 340204"/>
                <a:gd name="connsiteX61" fmla="*/ 229842 w 336710"/>
                <a:gd name="connsiteY61" fmla="*/ 83220 h 340204"/>
                <a:gd name="connsiteX62" fmla="*/ 225113 w 336710"/>
                <a:gd name="connsiteY62" fmla="*/ 69030 h 340204"/>
                <a:gd name="connsiteX63" fmla="*/ 236149 w 336710"/>
                <a:gd name="connsiteY63" fmla="*/ 40652 h 340204"/>
                <a:gd name="connsiteX64" fmla="*/ 207770 w 336710"/>
                <a:gd name="connsiteY64" fmla="*/ 29616 h 340204"/>
                <a:gd name="connsiteX65" fmla="*/ 196734 w 336710"/>
                <a:gd name="connsiteY65" fmla="*/ 57994 h 340204"/>
                <a:gd name="connsiteX66" fmla="*/ 184121 w 336710"/>
                <a:gd name="connsiteY66" fmla="*/ 64301 h 340204"/>
                <a:gd name="connsiteX67" fmla="*/ 149436 w 336710"/>
                <a:gd name="connsiteY67" fmla="*/ 64301 h 340204"/>
                <a:gd name="connsiteX68" fmla="*/ 136824 w 336710"/>
                <a:gd name="connsiteY68" fmla="*/ 57994 h 340204"/>
                <a:gd name="connsiteX69" fmla="*/ 125788 w 336710"/>
                <a:gd name="connsiteY69" fmla="*/ 29616 h 340204"/>
                <a:gd name="connsiteX70" fmla="*/ 97409 w 336710"/>
                <a:gd name="connsiteY70" fmla="*/ 40652 h 340204"/>
                <a:gd name="connsiteX71" fmla="*/ 108445 w 336710"/>
                <a:gd name="connsiteY71" fmla="*/ 69030 h 340204"/>
                <a:gd name="connsiteX72" fmla="*/ 103715 w 336710"/>
                <a:gd name="connsiteY72" fmla="*/ 83220 h 340204"/>
                <a:gd name="connsiteX73" fmla="*/ 78490 w 336710"/>
                <a:gd name="connsiteY73" fmla="*/ 108445 h 340204"/>
                <a:gd name="connsiteX74" fmla="*/ 64301 w 336710"/>
                <a:gd name="connsiteY74" fmla="*/ 113175 h 340204"/>
                <a:gd name="connsiteX75" fmla="*/ 35922 w 336710"/>
                <a:gd name="connsiteY75" fmla="*/ 102139 h 340204"/>
                <a:gd name="connsiteX76" fmla="*/ 28039 w 336710"/>
                <a:gd name="connsiteY76" fmla="*/ 130517 h 340204"/>
                <a:gd name="connsiteX77" fmla="*/ 56418 w 336710"/>
                <a:gd name="connsiteY77" fmla="*/ 141554 h 340204"/>
                <a:gd name="connsiteX78" fmla="*/ 62724 w 336710"/>
                <a:gd name="connsiteY78" fmla="*/ 154166 h 340204"/>
                <a:gd name="connsiteX79" fmla="*/ 62724 w 336710"/>
                <a:gd name="connsiteY79" fmla="*/ 188851 h 340204"/>
                <a:gd name="connsiteX80" fmla="*/ 56418 w 336710"/>
                <a:gd name="connsiteY80" fmla="*/ 201464 h 340204"/>
                <a:gd name="connsiteX81" fmla="*/ 28039 w 336710"/>
                <a:gd name="connsiteY81" fmla="*/ 212500 h 340204"/>
                <a:gd name="connsiteX82" fmla="*/ 39075 w 336710"/>
                <a:gd name="connsiteY82" fmla="*/ 240879 h 340204"/>
                <a:gd name="connsiteX83" fmla="*/ 67454 w 336710"/>
                <a:gd name="connsiteY83" fmla="*/ 229843 h 340204"/>
                <a:gd name="connsiteX84" fmla="*/ 81643 w 336710"/>
                <a:gd name="connsiteY84" fmla="*/ 234572 h 340204"/>
                <a:gd name="connsiteX85" fmla="*/ 106868 w 336710"/>
                <a:gd name="connsiteY85" fmla="*/ 259798 h 340204"/>
                <a:gd name="connsiteX86" fmla="*/ 111598 w 336710"/>
                <a:gd name="connsiteY86" fmla="*/ 273987 h 340204"/>
                <a:gd name="connsiteX87" fmla="*/ 100562 w 336710"/>
                <a:gd name="connsiteY87" fmla="*/ 302366 h 340204"/>
                <a:gd name="connsiteX88" fmla="*/ 128941 w 336710"/>
                <a:gd name="connsiteY88" fmla="*/ 313402 h 340204"/>
                <a:gd name="connsiteX89" fmla="*/ 139977 w 336710"/>
                <a:gd name="connsiteY89" fmla="*/ 285023 h 340204"/>
                <a:gd name="connsiteX90" fmla="*/ 162049 w 336710"/>
                <a:gd name="connsiteY90" fmla="*/ 294483 h 340204"/>
                <a:gd name="connsiteX91" fmla="*/ 146283 w 336710"/>
                <a:gd name="connsiteY91" fmla="*/ 332321 h 340204"/>
                <a:gd name="connsiteX92" fmla="*/ 139977 w 336710"/>
                <a:gd name="connsiteY92" fmla="*/ 338627 h 340204"/>
                <a:gd name="connsiteX93" fmla="*/ 133671 w 336710"/>
                <a:gd name="connsiteY93" fmla="*/ 340204 h 340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336710" h="340204">
                  <a:moveTo>
                    <a:pt x="133671" y="340204"/>
                  </a:moveTo>
                  <a:cubicBezTo>
                    <a:pt x="132094" y="340204"/>
                    <a:pt x="130517" y="340204"/>
                    <a:pt x="128941" y="338627"/>
                  </a:cubicBezTo>
                  <a:lnTo>
                    <a:pt x="78490" y="318132"/>
                  </a:lnTo>
                  <a:cubicBezTo>
                    <a:pt x="72184" y="314979"/>
                    <a:pt x="69030" y="308672"/>
                    <a:pt x="72184" y="302366"/>
                  </a:cubicBezTo>
                  <a:lnTo>
                    <a:pt x="84796" y="272411"/>
                  </a:lnTo>
                  <a:cubicBezTo>
                    <a:pt x="78490" y="267681"/>
                    <a:pt x="72184" y="261374"/>
                    <a:pt x="67454" y="255068"/>
                  </a:cubicBezTo>
                  <a:lnTo>
                    <a:pt x="37499" y="267681"/>
                  </a:lnTo>
                  <a:cubicBezTo>
                    <a:pt x="31192" y="270834"/>
                    <a:pt x="24886" y="267681"/>
                    <a:pt x="21733" y="261374"/>
                  </a:cubicBezTo>
                  <a:lnTo>
                    <a:pt x="1237" y="210924"/>
                  </a:lnTo>
                  <a:cubicBezTo>
                    <a:pt x="-1916" y="204617"/>
                    <a:pt x="1237" y="198311"/>
                    <a:pt x="7543" y="195158"/>
                  </a:cubicBezTo>
                  <a:lnTo>
                    <a:pt x="37499" y="182545"/>
                  </a:lnTo>
                  <a:cubicBezTo>
                    <a:pt x="37499" y="174662"/>
                    <a:pt x="37499" y="166779"/>
                    <a:pt x="37499" y="157320"/>
                  </a:cubicBezTo>
                  <a:lnTo>
                    <a:pt x="7543" y="144707"/>
                  </a:lnTo>
                  <a:cubicBezTo>
                    <a:pt x="4390" y="143130"/>
                    <a:pt x="2814" y="141554"/>
                    <a:pt x="1237" y="138400"/>
                  </a:cubicBezTo>
                  <a:cubicBezTo>
                    <a:pt x="-340" y="135247"/>
                    <a:pt x="-340" y="132094"/>
                    <a:pt x="1237" y="128941"/>
                  </a:cubicBezTo>
                  <a:lnTo>
                    <a:pt x="21733" y="78490"/>
                  </a:lnTo>
                  <a:cubicBezTo>
                    <a:pt x="23309" y="75337"/>
                    <a:pt x="24886" y="73760"/>
                    <a:pt x="28039" y="72184"/>
                  </a:cubicBezTo>
                  <a:cubicBezTo>
                    <a:pt x="31192" y="70607"/>
                    <a:pt x="34345" y="70607"/>
                    <a:pt x="37499" y="72184"/>
                  </a:cubicBezTo>
                  <a:lnTo>
                    <a:pt x="67454" y="84796"/>
                  </a:lnTo>
                  <a:cubicBezTo>
                    <a:pt x="72184" y="78490"/>
                    <a:pt x="78490" y="72184"/>
                    <a:pt x="84796" y="67454"/>
                  </a:cubicBezTo>
                  <a:lnTo>
                    <a:pt x="72184" y="37499"/>
                  </a:lnTo>
                  <a:cubicBezTo>
                    <a:pt x="70607" y="34345"/>
                    <a:pt x="70607" y="31192"/>
                    <a:pt x="72184" y="28039"/>
                  </a:cubicBezTo>
                  <a:cubicBezTo>
                    <a:pt x="73760" y="24886"/>
                    <a:pt x="75337" y="23309"/>
                    <a:pt x="78490" y="21733"/>
                  </a:cubicBezTo>
                  <a:lnTo>
                    <a:pt x="128941" y="1237"/>
                  </a:lnTo>
                  <a:cubicBezTo>
                    <a:pt x="135247" y="-1916"/>
                    <a:pt x="141553" y="1237"/>
                    <a:pt x="144707" y="7543"/>
                  </a:cubicBezTo>
                  <a:lnTo>
                    <a:pt x="157319" y="37499"/>
                  </a:lnTo>
                  <a:cubicBezTo>
                    <a:pt x="165202" y="37499"/>
                    <a:pt x="173085" y="37499"/>
                    <a:pt x="182545" y="37499"/>
                  </a:cubicBezTo>
                  <a:lnTo>
                    <a:pt x="195158" y="7543"/>
                  </a:lnTo>
                  <a:cubicBezTo>
                    <a:pt x="196734" y="4390"/>
                    <a:pt x="198311" y="2814"/>
                    <a:pt x="201464" y="1237"/>
                  </a:cubicBezTo>
                  <a:cubicBezTo>
                    <a:pt x="204617" y="-340"/>
                    <a:pt x="207770" y="-340"/>
                    <a:pt x="210923" y="1237"/>
                  </a:cubicBezTo>
                  <a:lnTo>
                    <a:pt x="261374" y="21733"/>
                  </a:lnTo>
                  <a:cubicBezTo>
                    <a:pt x="267681" y="24886"/>
                    <a:pt x="270834" y="31192"/>
                    <a:pt x="267681" y="37499"/>
                  </a:cubicBezTo>
                  <a:lnTo>
                    <a:pt x="251915" y="72184"/>
                  </a:lnTo>
                  <a:cubicBezTo>
                    <a:pt x="258221" y="76913"/>
                    <a:pt x="264527" y="83220"/>
                    <a:pt x="269257" y="89526"/>
                  </a:cubicBezTo>
                  <a:lnTo>
                    <a:pt x="299212" y="76913"/>
                  </a:lnTo>
                  <a:cubicBezTo>
                    <a:pt x="302366" y="75337"/>
                    <a:pt x="305519" y="75337"/>
                    <a:pt x="308672" y="76913"/>
                  </a:cubicBezTo>
                  <a:cubicBezTo>
                    <a:pt x="311825" y="78490"/>
                    <a:pt x="313402" y="80067"/>
                    <a:pt x="314978" y="83220"/>
                  </a:cubicBezTo>
                  <a:lnTo>
                    <a:pt x="335474" y="133671"/>
                  </a:lnTo>
                  <a:cubicBezTo>
                    <a:pt x="338627" y="139977"/>
                    <a:pt x="335474" y="146283"/>
                    <a:pt x="329168" y="149437"/>
                  </a:cubicBezTo>
                  <a:lnTo>
                    <a:pt x="299212" y="160473"/>
                  </a:lnTo>
                  <a:cubicBezTo>
                    <a:pt x="299212" y="168356"/>
                    <a:pt x="299212" y="176239"/>
                    <a:pt x="299212" y="185698"/>
                  </a:cubicBezTo>
                  <a:lnTo>
                    <a:pt x="329168" y="198311"/>
                  </a:lnTo>
                  <a:cubicBezTo>
                    <a:pt x="335474" y="201464"/>
                    <a:pt x="338627" y="207770"/>
                    <a:pt x="335474" y="214077"/>
                  </a:cubicBezTo>
                  <a:lnTo>
                    <a:pt x="314978" y="261374"/>
                  </a:lnTo>
                  <a:cubicBezTo>
                    <a:pt x="313402" y="264528"/>
                    <a:pt x="311825" y="266104"/>
                    <a:pt x="308672" y="267681"/>
                  </a:cubicBezTo>
                  <a:cubicBezTo>
                    <a:pt x="305519" y="269257"/>
                    <a:pt x="302366" y="269257"/>
                    <a:pt x="299212" y="267681"/>
                  </a:cubicBezTo>
                  <a:lnTo>
                    <a:pt x="269257" y="255068"/>
                  </a:lnTo>
                  <a:cubicBezTo>
                    <a:pt x="261374" y="264528"/>
                    <a:pt x="253491" y="270834"/>
                    <a:pt x="244032" y="278717"/>
                  </a:cubicBezTo>
                  <a:lnTo>
                    <a:pt x="229842" y="259798"/>
                  </a:lnTo>
                  <a:cubicBezTo>
                    <a:pt x="239302" y="253492"/>
                    <a:pt x="247185" y="244032"/>
                    <a:pt x="255068" y="234572"/>
                  </a:cubicBezTo>
                  <a:cubicBezTo>
                    <a:pt x="258221" y="229843"/>
                    <a:pt x="264527" y="228266"/>
                    <a:pt x="269257" y="229843"/>
                  </a:cubicBezTo>
                  <a:lnTo>
                    <a:pt x="297636" y="240879"/>
                  </a:lnTo>
                  <a:lnTo>
                    <a:pt x="308672" y="212500"/>
                  </a:lnTo>
                  <a:lnTo>
                    <a:pt x="280293" y="201464"/>
                  </a:lnTo>
                  <a:cubicBezTo>
                    <a:pt x="275564" y="199887"/>
                    <a:pt x="272410" y="193581"/>
                    <a:pt x="273987" y="188851"/>
                  </a:cubicBezTo>
                  <a:cubicBezTo>
                    <a:pt x="275564" y="177815"/>
                    <a:pt x="275564" y="165202"/>
                    <a:pt x="273987" y="154166"/>
                  </a:cubicBezTo>
                  <a:cubicBezTo>
                    <a:pt x="272410" y="149437"/>
                    <a:pt x="275564" y="143130"/>
                    <a:pt x="280293" y="141554"/>
                  </a:cubicBezTo>
                  <a:lnTo>
                    <a:pt x="308672" y="130517"/>
                  </a:lnTo>
                  <a:lnTo>
                    <a:pt x="297636" y="102139"/>
                  </a:lnTo>
                  <a:lnTo>
                    <a:pt x="269257" y="113175"/>
                  </a:lnTo>
                  <a:cubicBezTo>
                    <a:pt x="264527" y="114752"/>
                    <a:pt x="258221" y="113175"/>
                    <a:pt x="255068" y="108445"/>
                  </a:cubicBezTo>
                  <a:cubicBezTo>
                    <a:pt x="248761" y="98986"/>
                    <a:pt x="239302" y="91103"/>
                    <a:pt x="229842" y="83220"/>
                  </a:cubicBezTo>
                  <a:cubicBezTo>
                    <a:pt x="225113" y="80067"/>
                    <a:pt x="223536" y="73760"/>
                    <a:pt x="225113" y="69030"/>
                  </a:cubicBezTo>
                  <a:lnTo>
                    <a:pt x="236149" y="40652"/>
                  </a:lnTo>
                  <a:lnTo>
                    <a:pt x="207770" y="29616"/>
                  </a:lnTo>
                  <a:lnTo>
                    <a:pt x="196734" y="57994"/>
                  </a:lnTo>
                  <a:cubicBezTo>
                    <a:pt x="195158" y="62724"/>
                    <a:pt x="188851" y="65877"/>
                    <a:pt x="184121" y="64301"/>
                  </a:cubicBezTo>
                  <a:cubicBezTo>
                    <a:pt x="173085" y="62724"/>
                    <a:pt x="160473" y="62724"/>
                    <a:pt x="149436" y="64301"/>
                  </a:cubicBezTo>
                  <a:cubicBezTo>
                    <a:pt x="144707" y="65877"/>
                    <a:pt x="138400" y="62724"/>
                    <a:pt x="136824" y="57994"/>
                  </a:cubicBezTo>
                  <a:lnTo>
                    <a:pt x="125788" y="29616"/>
                  </a:lnTo>
                  <a:lnTo>
                    <a:pt x="97409" y="40652"/>
                  </a:lnTo>
                  <a:lnTo>
                    <a:pt x="108445" y="69030"/>
                  </a:lnTo>
                  <a:cubicBezTo>
                    <a:pt x="110022" y="73760"/>
                    <a:pt x="108445" y="80067"/>
                    <a:pt x="103715" y="83220"/>
                  </a:cubicBezTo>
                  <a:cubicBezTo>
                    <a:pt x="94256" y="89526"/>
                    <a:pt x="86373" y="98986"/>
                    <a:pt x="78490" y="108445"/>
                  </a:cubicBezTo>
                  <a:cubicBezTo>
                    <a:pt x="75337" y="113175"/>
                    <a:pt x="69030" y="114752"/>
                    <a:pt x="64301" y="113175"/>
                  </a:cubicBezTo>
                  <a:lnTo>
                    <a:pt x="35922" y="102139"/>
                  </a:lnTo>
                  <a:lnTo>
                    <a:pt x="28039" y="130517"/>
                  </a:lnTo>
                  <a:lnTo>
                    <a:pt x="56418" y="141554"/>
                  </a:lnTo>
                  <a:cubicBezTo>
                    <a:pt x="61147" y="143130"/>
                    <a:pt x="64301" y="149437"/>
                    <a:pt x="62724" y="154166"/>
                  </a:cubicBezTo>
                  <a:cubicBezTo>
                    <a:pt x="61147" y="165202"/>
                    <a:pt x="61147" y="177815"/>
                    <a:pt x="62724" y="188851"/>
                  </a:cubicBezTo>
                  <a:cubicBezTo>
                    <a:pt x="64301" y="193581"/>
                    <a:pt x="61147" y="199887"/>
                    <a:pt x="56418" y="201464"/>
                  </a:cubicBezTo>
                  <a:lnTo>
                    <a:pt x="28039" y="212500"/>
                  </a:lnTo>
                  <a:lnTo>
                    <a:pt x="39075" y="240879"/>
                  </a:lnTo>
                  <a:lnTo>
                    <a:pt x="67454" y="229843"/>
                  </a:lnTo>
                  <a:cubicBezTo>
                    <a:pt x="72184" y="228266"/>
                    <a:pt x="78490" y="229843"/>
                    <a:pt x="81643" y="234572"/>
                  </a:cubicBezTo>
                  <a:cubicBezTo>
                    <a:pt x="87949" y="244032"/>
                    <a:pt x="97409" y="251915"/>
                    <a:pt x="106868" y="259798"/>
                  </a:cubicBezTo>
                  <a:cubicBezTo>
                    <a:pt x="111598" y="262951"/>
                    <a:pt x="113175" y="269257"/>
                    <a:pt x="111598" y="273987"/>
                  </a:cubicBezTo>
                  <a:lnTo>
                    <a:pt x="100562" y="302366"/>
                  </a:lnTo>
                  <a:lnTo>
                    <a:pt x="128941" y="313402"/>
                  </a:lnTo>
                  <a:lnTo>
                    <a:pt x="139977" y="285023"/>
                  </a:lnTo>
                  <a:lnTo>
                    <a:pt x="162049" y="294483"/>
                  </a:lnTo>
                  <a:lnTo>
                    <a:pt x="146283" y="332321"/>
                  </a:lnTo>
                  <a:cubicBezTo>
                    <a:pt x="144707" y="335474"/>
                    <a:pt x="143130" y="337051"/>
                    <a:pt x="139977" y="338627"/>
                  </a:cubicBezTo>
                  <a:cubicBezTo>
                    <a:pt x="136824" y="340204"/>
                    <a:pt x="135247" y="340204"/>
                    <a:pt x="133671" y="340204"/>
                  </a:cubicBez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sp>
          <p:nvSpPr>
            <p:cNvPr id="118" name="Freeform: Shape 260">
              <a:extLst>
                <a:ext uri="{FF2B5EF4-FFF2-40B4-BE49-F238E27FC236}">
                  <a16:creationId xmlns:a16="http://schemas.microsoft.com/office/drawing/2014/main" id="{F506302F-D5F9-FE4E-48DC-26C7A3A71CFA}"/>
                </a:ext>
              </a:extLst>
            </p:cNvPr>
            <p:cNvSpPr/>
            <p:nvPr/>
          </p:nvSpPr>
          <p:spPr>
            <a:xfrm>
              <a:off x="7469138" y="2885277"/>
              <a:ext cx="139985" cy="136251"/>
            </a:xfrm>
            <a:custGeom>
              <a:avLst/>
              <a:gdLst>
                <a:gd name="connsiteX0" fmla="*/ 58334 w 118244"/>
                <a:gd name="connsiteY0" fmla="*/ 115091 h 115091"/>
                <a:gd name="connsiteX1" fmla="*/ 0 w 118244"/>
                <a:gd name="connsiteY1" fmla="*/ 56757 h 115091"/>
                <a:gd name="connsiteX2" fmla="*/ 45721 w 118244"/>
                <a:gd name="connsiteY2" fmla="*/ 0 h 115091"/>
                <a:gd name="connsiteX3" fmla="*/ 50451 w 118244"/>
                <a:gd name="connsiteY3" fmla="*/ 22072 h 115091"/>
                <a:gd name="connsiteX4" fmla="*/ 22072 w 118244"/>
                <a:gd name="connsiteY4" fmla="*/ 56757 h 115091"/>
                <a:gd name="connsiteX5" fmla="*/ 58334 w 118244"/>
                <a:gd name="connsiteY5" fmla="*/ 93019 h 115091"/>
                <a:gd name="connsiteX6" fmla="*/ 94595 w 118244"/>
                <a:gd name="connsiteY6" fmla="*/ 56757 h 115091"/>
                <a:gd name="connsiteX7" fmla="*/ 74100 w 118244"/>
                <a:gd name="connsiteY7" fmla="*/ 25225 h 115091"/>
                <a:gd name="connsiteX8" fmla="*/ 85136 w 118244"/>
                <a:gd name="connsiteY8" fmla="*/ 4730 h 115091"/>
                <a:gd name="connsiteX9" fmla="*/ 118244 w 118244"/>
                <a:gd name="connsiteY9" fmla="*/ 56757 h 115091"/>
                <a:gd name="connsiteX10" fmla="*/ 58334 w 118244"/>
                <a:gd name="connsiteY10" fmla="*/ 115091 h 115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44" h="115091">
                  <a:moveTo>
                    <a:pt x="58334" y="115091"/>
                  </a:moveTo>
                  <a:cubicBezTo>
                    <a:pt x="25225" y="115091"/>
                    <a:pt x="0" y="88289"/>
                    <a:pt x="0" y="56757"/>
                  </a:cubicBezTo>
                  <a:cubicBezTo>
                    <a:pt x="0" y="29955"/>
                    <a:pt x="18919" y="4730"/>
                    <a:pt x="45721" y="0"/>
                  </a:cubicBezTo>
                  <a:lnTo>
                    <a:pt x="50451" y="22072"/>
                  </a:lnTo>
                  <a:cubicBezTo>
                    <a:pt x="34685" y="25225"/>
                    <a:pt x="22072" y="40991"/>
                    <a:pt x="22072" y="56757"/>
                  </a:cubicBezTo>
                  <a:cubicBezTo>
                    <a:pt x="22072" y="75676"/>
                    <a:pt x="37838" y="93019"/>
                    <a:pt x="58334" y="93019"/>
                  </a:cubicBezTo>
                  <a:cubicBezTo>
                    <a:pt x="78829" y="93019"/>
                    <a:pt x="94595" y="77253"/>
                    <a:pt x="94595" y="56757"/>
                  </a:cubicBezTo>
                  <a:cubicBezTo>
                    <a:pt x="94595" y="42568"/>
                    <a:pt x="86712" y="31532"/>
                    <a:pt x="74100" y="25225"/>
                  </a:cubicBezTo>
                  <a:lnTo>
                    <a:pt x="85136" y="4730"/>
                  </a:lnTo>
                  <a:cubicBezTo>
                    <a:pt x="105631" y="14189"/>
                    <a:pt x="118244" y="34685"/>
                    <a:pt x="118244" y="56757"/>
                  </a:cubicBezTo>
                  <a:cubicBezTo>
                    <a:pt x="118244" y="88289"/>
                    <a:pt x="91442" y="115091"/>
                    <a:pt x="58334" y="115091"/>
                  </a:cubicBez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sp>
          <p:nvSpPr>
            <p:cNvPr id="119" name="Freeform: Shape 261">
              <a:extLst>
                <a:ext uri="{FF2B5EF4-FFF2-40B4-BE49-F238E27FC236}">
                  <a16:creationId xmlns:a16="http://schemas.microsoft.com/office/drawing/2014/main" id="{22CAFA93-412F-7B01-F9CA-BA00F10E5FD2}"/>
                </a:ext>
              </a:extLst>
            </p:cNvPr>
            <p:cNvSpPr/>
            <p:nvPr/>
          </p:nvSpPr>
          <p:spPr>
            <a:xfrm>
              <a:off x="7082750" y="2525049"/>
              <a:ext cx="138117" cy="194113"/>
            </a:xfrm>
            <a:custGeom>
              <a:avLst/>
              <a:gdLst>
                <a:gd name="connsiteX0" fmla="*/ 78829 w 116667"/>
                <a:gd name="connsiteY0" fmla="*/ 163965 h 163965"/>
                <a:gd name="connsiteX1" fmla="*/ 42568 w 116667"/>
                <a:gd name="connsiteY1" fmla="*/ 163965 h 163965"/>
                <a:gd name="connsiteX2" fmla="*/ 0 w 116667"/>
                <a:gd name="connsiteY2" fmla="*/ 121397 h 163965"/>
                <a:gd name="connsiteX3" fmla="*/ 23649 w 116667"/>
                <a:gd name="connsiteY3" fmla="*/ 121397 h 163965"/>
                <a:gd name="connsiteX4" fmla="*/ 44145 w 116667"/>
                <a:gd name="connsiteY4" fmla="*/ 141893 h 163965"/>
                <a:gd name="connsiteX5" fmla="*/ 80406 w 116667"/>
                <a:gd name="connsiteY5" fmla="*/ 141893 h 163965"/>
                <a:gd name="connsiteX6" fmla="*/ 96172 w 116667"/>
                <a:gd name="connsiteY6" fmla="*/ 122974 h 163965"/>
                <a:gd name="connsiteX7" fmla="*/ 85136 w 116667"/>
                <a:gd name="connsiteY7" fmla="*/ 104055 h 163965"/>
                <a:gd name="connsiteX8" fmla="*/ 26802 w 116667"/>
                <a:gd name="connsiteY8" fmla="*/ 81983 h 163965"/>
                <a:gd name="connsiteX9" fmla="*/ 0 w 116667"/>
                <a:gd name="connsiteY9" fmla="*/ 42568 h 163965"/>
                <a:gd name="connsiteX10" fmla="*/ 39415 w 116667"/>
                <a:gd name="connsiteY10" fmla="*/ 0 h 163965"/>
                <a:gd name="connsiteX11" fmla="*/ 74100 w 116667"/>
                <a:gd name="connsiteY11" fmla="*/ 0 h 163965"/>
                <a:gd name="connsiteX12" fmla="*/ 116668 w 116667"/>
                <a:gd name="connsiteY12" fmla="*/ 42568 h 163965"/>
                <a:gd name="connsiteX13" fmla="*/ 93019 w 116667"/>
                <a:gd name="connsiteY13" fmla="*/ 42568 h 163965"/>
                <a:gd name="connsiteX14" fmla="*/ 72523 w 116667"/>
                <a:gd name="connsiteY14" fmla="*/ 22072 h 163965"/>
                <a:gd name="connsiteX15" fmla="*/ 36262 w 116667"/>
                <a:gd name="connsiteY15" fmla="*/ 22072 h 163965"/>
                <a:gd name="connsiteX16" fmla="*/ 20496 w 116667"/>
                <a:gd name="connsiteY16" fmla="*/ 40991 h 163965"/>
                <a:gd name="connsiteX17" fmla="*/ 31532 w 116667"/>
                <a:gd name="connsiteY17" fmla="*/ 59910 h 163965"/>
                <a:gd name="connsiteX18" fmla="*/ 88289 w 116667"/>
                <a:gd name="connsiteY18" fmla="*/ 81983 h 163965"/>
                <a:gd name="connsiteX19" fmla="*/ 115091 w 116667"/>
                <a:gd name="connsiteY19" fmla="*/ 121397 h 163965"/>
                <a:gd name="connsiteX20" fmla="*/ 78829 w 116667"/>
                <a:gd name="connsiteY20" fmla="*/ 163965 h 163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16667" h="163965">
                  <a:moveTo>
                    <a:pt x="78829" y="163965"/>
                  </a:moveTo>
                  <a:lnTo>
                    <a:pt x="42568" y="163965"/>
                  </a:lnTo>
                  <a:cubicBezTo>
                    <a:pt x="17342" y="163965"/>
                    <a:pt x="0" y="146623"/>
                    <a:pt x="0" y="121397"/>
                  </a:cubicBezTo>
                  <a:lnTo>
                    <a:pt x="23649" y="121397"/>
                  </a:lnTo>
                  <a:cubicBezTo>
                    <a:pt x="23649" y="135587"/>
                    <a:pt x="34685" y="141893"/>
                    <a:pt x="44145" y="141893"/>
                  </a:cubicBezTo>
                  <a:lnTo>
                    <a:pt x="80406" y="141893"/>
                  </a:lnTo>
                  <a:cubicBezTo>
                    <a:pt x="89866" y="141893"/>
                    <a:pt x="96172" y="134010"/>
                    <a:pt x="96172" y="122974"/>
                  </a:cubicBezTo>
                  <a:cubicBezTo>
                    <a:pt x="96172" y="115091"/>
                    <a:pt x="91442" y="107208"/>
                    <a:pt x="85136" y="104055"/>
                  </a:cubicBezTo>
                  <a:lnTo>
                    <a:pt x="26802" y="81983"/>
                  </a:lnTo>
                  <a:cubicBezTo>
                    <a:pt x="11036" y="75676"/>
                    <a:pt x="0" y="59910"/>
                    <a:pt x="0" y="42568"/>
                  </a:cubicBezTo>
                  <a:cubicBezTo>
                    <a:pt x="0" y="18919"/>
                    <a:pt x="17342" y="0"/>
                    <a:pt x="39415" y="0"/>
                  </a:cubicBezTo>
                  <a:lnTo>
                    <a:pt x="74100" y="0"/>
                  </a:lnTo>
                  <a:cubicBezTo>
                    <a:pt x="99325" y="0"/>
                    <a:pt x="116668" y="17343"/>
                    <a:pt x="116668" y="42568"/>
                  </a:cubicBezTo>
                  <a:lnTo>
                    <a:pt x="93019" y="42568"/>
                  </a:lnTo>
                  <a:cubicBezTo>
                    <a:pt x="93019" y="28379"/>
                    <a:pt x="81983" y="22072"/>
                    <a:pt x="72523" y="22072"/>
                  </a:cubicBezTo>
                  <a:lnTo>
                    <a:pt x="36262" y="22072"/>
                  </a:lnTo>
                  <a:cubicBezTo>
                    <a:pt x="26802" y="22072"/>
                    <a:pt x="20496" y="29955"/>
                    <a:pt x="20496" y="40991"/>
                  </a:cubicBezTo>
                  <a:cubicBezTo>
                    <a:pt x="20496" y="48874"/>
                    <a:pt x="25225" y="56757"/>
                    <a:pt x="31532" y="59910"/>
                  </a:cubicBezTo>
                  <a:lnTo>
                    <a:pt x="88289" y="81983"/>
                  </a:lnTo>
                  <a:cubicBezTo>
                    <a:pt x="104055" y="88289"/>
                    <a:pt x="115091" y="104055"/>
                    <a:pt x="115091" y="121397"/>
                  </a:cubicBezTo>
                  <a:cubicBezTo>
                    <a:pt x="118244" y="145046"/>
                    <a:pt x="99325" y="163965"/>
                    <a:pt x="78829" y="163965"/>
                  </a:cubicBez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sp>
          <p:nvSpPr>
            <p:cNvPr id="120" name="Freeform: Shape 262">
              <a:extLst>
                <a:ext uri="{FF2B5EF4-FFF2-40B4-BE49-F238E27FC236}">
                  <a16:creationId xmlns:a16="http://schemas.microsoft.com/office/drawing/2014/main" id="{90F23937-6A42-7C06-EBBC-E56FF34B0190}"/>
                </a:ext>
              </a:extLst>
            </p:cNvPr>
            <p:cNvSpPr/>
            <p:nvPr/>
          </p:nvSpPr>
          <p:spPr>
            <a:xfrm>
              <a:off x="7138724" y="2482118"/>
              <a:ext cx="27996" cy="55993"/>
            </a:xfrm>
            <a:custGeom>
              <a:avLst/>
              <a:gdLst>
                <a:gd name="connsiteX0" fmla="*/ 0 w 23648"/>
                <a:gd name="connsiteY0" fmla="*/ 0 h 47297"/>
                <a:gd name="connsiteX1" fmla="*/ 23649 w 23648"/>
                <a:gd name="connsiteY1" fmla="*/ 0 h 47297"/>
                <a:gd name="connsiteX2" fmla="*/ 23649 w 23648"/>
                <a:gd name="connsiteY2" fmla="*/ 47298 h 47297"/>
                <a:gd name="connsiteX3" fmla="*/ 0 w 23648"/>
                <a:gd name="connsiteY3" fmla="*/ 47298 h 47297"/>
              </a:gdLst>
              <a:ahLst/>
              <a:cxnLst>
                <a:cxn ang="0">
                  <a:pos x="connsiteX0" y="connsiteY0"/>
                </a:cxn>
                <a:cxn ang="0">
                  <a:pos x="connsiteX1" y="connsiteY1"/>
                </a:cxn>
                <a:cxn ang="0">
                  <a:pos x="connsiteX2" y="connsiteY2"/>
                </a:cxn>
                <a:cxn ang="0">
                  <a:pos x="connsiteX3" y="connsiteY3"/>
                </a:cxn>
              </a:cxnLst>
              <a:rect l="l" t="t" r="r" b="b"/>
              <a:pathLst>
                <a:path w="23648" h="47297">
                  <a:moveTo>
                    <a:pt x="0" y="0"/>
                  </a:moveTo>
                  <a:lnTo>
                    <a:pt x="23649" y="0"/>
                  </a:lnTo>
                  <a:lnTo>
                    <a:pt x="23649" y="47298"/>
                  </a:lnTo>
                  <a:lnTo>
                    <a:pt x="0" y="47298"/>
                  </a:ln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sp>
          <p:nvSpPr>
            <p:cNvPr id="121" name="Freeform: Shape 263">
              <a:extLst>
                <a:ext uri="{FF2B5EF4-FFF2-40B4-BE49-F238E27FC236}">
                  <a16:creationId xmlns:a16="http://schemas.microsoft.com/office/drawing/2014/main" id="{4BCD4189-347B-1B39-08AF-E7A12235D229}"/>
                </a:ext>
              </a:extLst>
            </p:cNvPr>
            <p:cNvSpPr/>
            <p:nvPr/>
          </p:nvSpPr>
          <p:spPr>
            <a:xfrm>
              <a:off x="7138685" y="2706078"/>
              <a:ext cx="27996" cy="55993"/>
            </a:xfrm>
            <a:custGeom>
              <a:avLst/>
              <a:gdLst>
                <a:gd name="connsiteX0" fmla="*/ 0 w 23648"/>
                <a:gd name="connsiteY0" fmla="*/ 0 h 47297"/>
                <a:gd name="connsiteX1" fmla="*/ 23649 w 23648"/>
                <a:gd name="connsiteY1" fmla="*/ 0 h 47297"/>
                <a:gd name="connsiteX2" fmla="*/ 23649 w 23648"/>
                <a:gd name="connsiteY2" fmla="*/ 47298 h 47297"/>
                <a:gd name="connsiteX3" fmla="*/ 0 w 23648"/>
                <a:gd name="connsiteY3" fmla="*/ 47298 h 47297"/>
              </a:gdLst>
              <a:ahLst/>
              <a:cxnLst>
                <a:cxn ang="0">
                  <a:pos x="connsiteX0" y="connsiteY0"/>
                </a:cxn>
                <a:cxn ang="0">
                  <a:pos x="connsiteX1" y="connsiteY1"/>
                </a:cxn>
                <a:cxn ang="0">
                  <a:pos x="connsiteX2" y="connsiteY2"/>
                </a:cxn>
                <a:cxn ang="0">
                  <a:pos x="connsiteX3" y="connsiteY3"/>
                </a:cxn>
              </a:cxnLst>
              <a:rect l="l" t="t" r="r" b="b"/>
              <a:pathLst>
                <a:path w="23648" h="47297">
                  <a:moveTo>
                    <a:pt x="0" y="0"/>
                  </a:moveTo>
                  <a:lnTo>
                    <a:pt x="23649" y="0"/>
                  </a:lnTo>
                  <a:lnTo>
                    <a:pt x="23649" y="47298"/>
                  </a:lnTo>
                  <a:lnTo>
                    <a:pt x="0" y="47298"/>
                  </a:lnTo>
                  <a:close/>
                </a:path>
              </a:pathLst>
            </a:custGeom>
            <a:grpFill/>
            <a:ln w="15737"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mazon Ember"/>
                <a:ea typeface="+mn-ea"/>
                <a:cs typeface="+mn-cs"/>
              </a:endParaRPr>
            </a:p>
          </p:txBody>
        </p:sp>
      </p:grpSp>
      <p:sp>
        <p:nvSpPr>
          <p:cNvPr id="122" name="TextBox 121">
            <a:extLst>
              <a:ext uri="{FF2B5EF4-FFF2-40B4-BE49-F238E27FC236}">
                <a16:creationId xmlns:a16="http://schemas.microsoft.com/office/drawing/2014/main" id="{7D9C2486-FDD5-54B2-69B2-A84E204A2B12}"/>
              </a:ext>
            </a:extLst>
          </p:cNvPr>
          <p:cNvSpPr txBox="1"/>
          <p:nvPr/>
        </p:nvSpPr>
        <p:spPr>
          <a:xfrm>
            <a:off x="6576748" y="3777146"/>
            <a:ext cx="1171796" cy="646331"/>
          </a:xfrm>
          <a:prstGeom prst="rect">
            <a:avLst/>
          </a:prstGeom>
        </p:spPr>
        <p:txBody>
          <a:bodyPr wrap="none" lIns="0" rIns="0" rtlCol="0">
            <a:spAutoFit/>
          </a:bodyPr>
          <a:lstStyle/>
          <a:p>
            <a:r>
              <a:rPr lang="en-US" dirty="0">
                <a:solidFill>
                  <a:srgbClr val="FFFFFF"/>
                </a:solidFill>
                <a:latin typeface="Amazon Ember" pitchFamily="34" charset="0"/>
                <a:ea typeface="Arial" pitchFamily="34" charset="-122"/>
                <a:cs typeface="Arial" pitchFamily="34" charset="-120"/>
              </a:rPr>
              <a:t>Enterprise</a:t>
            </a:r>
          </a:p>
          <a:p>
            <a:r>
              <a:rPr lang="en-US" dirty="0">
                <a:solidFill>
                  <a:srgbClr val="FFFFFF"/>
                </a:solidFill>
                <a:latin typeface="Amazon Ember" pitchFamily="34" charset="0"/>
                <a:ea typeface="Arial" pitchFamily="34" charset="-122"/>
                <a:cs typeface="Arial" pitchFamily="34" charset="-120"/>
              </a:rPr>
              <a:t>Integration</a:t>
            </a:r>
            <a:endParaRPr lang="en-US" dirty="0"/>
          </a:p>
        </p:txBody>
      </p:sp>
    </p:spTree>
    <p:extLst>
      <p:ext uri="{BB962C8B-B14F-4D97-AF65-F5344CB8AC3E}">
        <p14:creationId xmlns:p14="http://schemas.microsoft.com/office/powerpoint/2010/main" val="20918800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F9B6C-1A28-924F-F368-68E4D65617C5}"/>
            </a:ext>
          </a:extLst>
        </p:cNvPr>
        <p:cNvGrpSpPr/>
        <p:nvPr/>
      </p:nvGrpSpPr>
      <p:grpSpPr>
        <a:xfrm>
          <a:off x="0" y="0"/>
          <a:ext cx="0" cy="0"/>
          <a:chOff x="0" y="0"/>
          <a:chExt cx="0" cy="0"/>
        </a:xfrm>
      </p:grpSpPr>
      <p:sp>
        <p:nvSpPr>
          <p:cNvPr id="5" name="Title 2">
            <a:extLst>
              <a:ext uri="{FF2B5EF4-FFF2-40B4-BE49-F238E27FC236}">
                <a16:creationId xmlns:a16="http://schemas.microsoft.com/office/drawing/2014/main" id="{D10CD27E-DBE5-3C4F-21C8-47B9A0A8B73D}"/>
              </a:ext>
            </a:extLst>
          </p:cNvPr>
          <p:cNvSpPr txBox="1">
            <a:spLocks/>
          </p:cNvSpPr>
          <p:nvPr/>
        </p:nvSpPr>
        <p:spPr>
          <a:xfrm>
            <a:off x="166412" y="273601"/>
            <a:ext cx="11634388" cy="655199"/>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3400" dirty="0">
                <a:solidFill>
                  <a:srgbClr val="FFFFFF"/>
                </a:solidFill>
                <a:ea typeface="Arial" pitchFamily="34" charset="-122"/>
                <a:cs typeface="Arial" pitchFamily="34" charset="-120"/>
              </a:rPr>
              <a:t>A demo proves it’s possible. Production proves it holds up.</a:t>
            </a:r>
            <a:endParaRPr lang="en-US" sz="3400" dirty="0"/>
          </a:p>
        </p:txBody>
      </p:sp>
      <p:sp>
        <p:nvSpPr>
          <p:cNvPr id="7" name="Shape 3">
            <a:extLst>
              <a:ext uri="{FF2B5EF4-FFF2-40B4-BE49-F238E27FC236}">
                <a16:creationId xmlns:a16="http://schemas.microsoft.com/office/drawing/2014/main" id="{92BD9A40-F59C-037B-AFF5-37636374B90B}"/>
              </a:ext>
            </a:extLst>
          </p:cNvPr>
          <p:cNvSpPr/>
          <p:nvPr/>
        </p:nvSpPr>
        <p:spPr>
          <a:xfrm>
            <a:off x="457200" y="1497240"/>
            <a:ext cx="5349240" cy="3108960"/>
          </a:xfrm>
          <a:prstGeom prst="roundRect">
            <a:avLst>
              <a:gd name="adj" fmla="val 2353"/>
            </a:avLst>
          </a:prstGeom>
          <a:solidFill>
            <a:srgbClr val="232F3E"/>
          </a:solidFill>
          <a:ln w="1905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9" name="Text 4">
            <a:extLst>
              <a:ext uri="{FF2B5EF4-FFF2-40B4-BE49-F238E27FC236}">
                <a16:creationId xmlns:a16="http://schemas.microsoft.com/office/drawing/2014/main" id="{70801235-AFD0-6A80-E382-04E8C6C7193A}"/>
              </a:ext>
            </a:extLst>
          </p:cNvPr>
          <p:cNvSpPr/>
          <p:nvPr/>
        </p:nvSpPr>
        <p:spPr>
          <a:xfrm>
            <a:off x="731520" y="1753272"/>
            <a:ext cx="1463040" cy="310896"/>
          </a:xfrm>
          <a:prstGeom prst="roundRect">
            <a:avLst>
              <a:gd name="adj" fmla="val 50000"/>
            </a:avLst>
          </a:prstGeom>
          <a:solidFill>
            <a:srgbClr val="FF9900"/>
          </a:solidFill>
          <a:ln/>
        </p:spPr>
        <p:txBody>
          <a:bodyPr wrap="square" rtlCol="0" anchor="ctr"/>
          <a:lstStyle/>
          <a:p>
            <a:pPr marL="0" indent="0" algn="ctr">
              <a:buNone/>
            </a:pPr>
            <a:r>
              <a:rPr lang="en-US" sz="1000" b="1" dirty="0">
                <a:solidFill>
                  <a:srgbClr val="FFFFFF"/>
                </a:solidFill>
                <a:latin typeface="Amazon Ember" pitchFamily="34" charset="0"/>
                <a:ea typeface="Arial" pitchFamily="34" charset="-122"/>
                <a:cs typeface="Arial" pitchFamily="34" charset="-120"/>
              </a:rPr>
              <a:t>DEMO / POC</a:t>
            </a:r>
            <a:endParaRPr lang="en-US" sz="1000" dirty="0"/>
          </a:p>
        </p:txBody>
      </p:sp>
      <p:sp>
        <p:nvSpPr>
          <p:cNvPr id="11" name="Text 5">
            <a:extLst>
              <a:ext uri="{FF2B5EF4-FFF2-40B4-BE49-F238E27FC236}">
                <a16:creationId xmlns:a16="http://schemas.microsoft.com/office/drawing/2014/main" id="{16429EE1-A156-5990-758B-19E89B7F96D9}"/>
              </a:ext>
            </a:extLst>
          </p:cNvPr>
          <p:cNvSpPr/>
          <p:nvPr/>
        </p:nvSpPr>
        <p:spPr>
          <a:xfrm>
            <a:off x="731520" y="2228760"/>
            <a:ext cx="4800600" cy="457200"/>
          </a:xfrm>
          <a:prstGeom prst="rect">
            <a:avLst/>
          </a:prstGeom>
          <a:noFill/>
          <a:ln/>
        </p:spPr>
        <p:txBody>
          <a:bodyPr wrap="square" rtlCol="0" anchor="ctr"/>
          <a:lstStyle/>
          <a:p>
            <a:pPr marL="0" indent="0">
              <a:buNone/>
            </a:pPr>
            <a:r>
              <a:rPr lang="en-US" sz="1700" b="1" dirty="0">
                <a:solidFill>
                  <a:srgbClr val="FFAC31"/>
                </a:solidFill>
                <a:latin typeface="Amazon Ember" pitchFamily="34" charset="0"/>
                <a:ea typeface="Arial" pitchFamily="34" charset="-122"/>
                <a:cs typeface="Arial" pitchFamily="34" charset="-120"/>
              </a:rPr>
              <a:t>Built to demonstrate capability</a:t>
            </a:r>
            <a:endParaRPr lang="en-US" sz="1700" dirty="0"/>
          </a:p>
        </p:txBody>
      </p:sp>
      <p:sp>
        <p:nvSpPr>
          <p:cNvPr id="12" name="Text 6">
            <a:extLst>
              <a:ext uri="{FF2B5EF4-FFF2-40B4-BE49-F238E27FC236}">
                <a16:creationId xmlns:a16="http://schemas.microsoft.com/office/drawing/2014/main" id="{9176A26D-B884-E5C7-0019-061036049B4E}"/>
              </a:ext>
            </a:extLst>
          </p:cNvPr>
          <p:cNvSpPr/>
          <p:nvPr/>
        </p:nvSpPr>
        <p:spPr>
          <a:xfrm>
            <a:off x="777240" y="2731680"/>
            <a:ext cx="4343400" cy="1463040"/>
          </a:xfrm>
          <a:prstGeom prst="rect">
            <a:avLst/>
          </a:prstGeom>
          <a:noFill/>
          <a:ln/>
        </p:spPr>
        <p:txBody>
          <a:bodyPr wrap="square" rtlCol="0" anchor="ctr"/>
          <a:lstStyle/>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Low volume, clean inputs</a:t>
            </a:r>
            <a:endParaRPr lang="en-US" sz="1500" dirty="0"/>
          </a:p>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A patient tester - usually you</a:t>
            </a:r>
            <a:endParaRPr lang="en-US" sz="1500" dirty="0"/>
          </a:p>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Negligible bill, looks fast</a:t>
            </a:r>
            <a:endParaRPr lang="en-US" sz="1500" dirty="0"/>
          </a:p>
        </p:txBody>
      </p:sp>
      <p:sp>
        <p:nvSpPr>
          <p:cNvPr id="16" name="Shape 7">
            <a:extLst>
              <a:ext uri="{FF2B5EF4-FFF2-40B4-BE49-F238E27FC236}">
                <a16:creationId xmlns:a16="http://schemas.microsoft.com/office/drawing/2014/main" id="{C8B8AB03-E299-577A-C2C2-BC96050EADFB}"/>
              </a:ext>
            </a:extLst>
          </p:cNvPr>
          <p:cNvSpPr/>
          <p:nvPr/>
        </p:nvSpPr>
        <p:spPr>
          <a:xfrm>
            <a:off x="6309360" y="1497240"/>
            <a:ext cx="5349240" cy="3108960"/>
          </a:xfrm>
          <a:prstGeom prst="roundRect">
            <a:avLst>
              <a:gd name="adj" fmla="val 2353"/>
            </a:avLst>
          </a:prstGeom>
          <a:solidFill>
            <a:srgbClr val="232F3E"/>
          </a:solidFill>
          <a:ln w="1905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17" name="Text 8">
            <a:extLst>
              <a:ext uri="{FF2B5EF4-FFF2-40B4-BE49-F238E27FC236}">
                <a16:creationId xmlns:a16="http://schemas.microsoft.com/office/drawing/2014/main" id="{35097A76-8748-1B1F-D64C-263244BBC9AD}"/>
              </a:ext>
            </a:extLst>
          </p:cNvPr>
          <p:cNvSpPr/>
          <p:nvPr/>
        </p:nvSpPr>
        <p:spPr>
          <a:xfrm>
            <a:off x="6583680" y="1753272"/>
            <a:ext cx="1463040" cy="310896"/>
          </a:xfrm>
          <a:prstGeom prst="roundRect">
            <a:avLst>
              <a:gd name="adj" fmla="val 50000"/>
            </a:avLst>
          </a:prstGeom>
          <a:solidFill>
            <a:srgbClr val="FF9900"/>
          </a:solidFill>
          <a:ln/>
        </p:spPr>
        <p:txBody>
          <a:bodyPr wrap="square" rtlCol="0" anchor="ctr"/>
          <a:lstStyle/>
          <a:p>
            <a:pPr marL="0" indent="0" algn="ctr">
              <a:buNone/>
            </a:pPr>
            <a:r>
              <a:rPr lang="en-US" sz="1000" b="1" dirty="0">
                <a:solidFill>
                  <a:srgbClr val="FFFFFF"/>
                </a:solidFill>
                <a:latin typeface="Amazon Ember" pitchFamily="34" charset="0"/>
                <a:ea typeface="Arial" pitchFamily="34" charset="-122"/>
                <a:cs typeface="Arial" pitchFamily="34" charset="-120"/>
              </a:rPr>
              <a:t>PRODUCTION</a:t>
            </a:r>
            <a:endParaRPr lang="en-US" sz="1000" dirty="0"/>
          </a:p>
        </p:txBody>
      </p:sp>
      <p:sp>
        <p:nvSpPr>
          <p:cNvPr id="18" name="Text 9">
            <a:extLst>
              <a:ext uri="{FF2B5EF4-FFF2-40B4-BE49-F238E27FC236}">
                <a16:creationId xmlns:a16="http://schemas.microsoft.com/office/drawing/2014/main" id="{B9E17A4D-A8B3-6B37-37B0-2F3D442CA719}"/>
              </a:ext>
            </a:extLst>
          </p:cNvPr>
          <p:cNvSpPr/>
          <p:nvPr/>
        </p:nvSpPr>
        <p:spPr>
          <a:xfrm>
            <a:off x="6583680" y="2228760"/>
            <a:ext cx="4800600" cy="457200"/>
          </a:xfrm>
          <a:prstGeom prst="rect">
            <a:avLst/>
          </a:prstGeom>
          <a:noFill/>
          <a:ln/>
        </p:spPr>
        <p:txBody>
          <a:bodyPr wrap="square" rtlCol="0" anchor="ctr"/>
          <a:lstStyle/>
          <a:p>
            <a:pPr marL="0" indent="0">
              <a:buNone/>
            </a:pPr>
            <a:r>
              <a:rPr lang="en-US" sz="1700" b="1" dirty="0">
                <a:solidFill>
                  <a:srgbClr val="FF9900"/>
                </a:solidFill>
                <a:latin typeface="Amazon Ember" pitchFamily="34" charset="0"/>
                <a:ea typeface="Arial" pitchFamily="34" charset="-122"/>
                <a:cs typeface="Arial" pitchFamily="34" charset="-120"/>
              </a:rPr>
              <a:t>Built to survive real load</a:t>
            </a:r>
            <a:endParaRPr lang="en-US" sz="1700" dirty="0"/>
          </a:p>
        </p:txBody>
      </p:sp>
      <p:sp>
        <p:nvSpPr>
          <p:cNvPr id="19" name="Text 10">
            <a:extLst>
              <a:ext uri="{FF2B5EF4-FFF2-40B4-BE49-F238E27FC236}">
                <a16:creationId xmlns:a16="http://schemas.microsoft.com/office/drawing/2014/main" id="{AE4EFF95-7658-C254-8A92-CCD254C3B185}"/>
              </a:ext>
            </a:extLst>
          </p:cNvPr>
          <p:cNvSpPr/>
          <p:nvPr/>
        </p:nvSpPr>
        <p:spPr>
          <a:xfrm>
            <a:off x="6629400" y="2731680"/>
            <a:ext cx="4343400" cy="1463040"/>
          </a:xfrm>
          <a:prstGeom prst="rect">
            <a:avLst/>
          </a:prstGeom>
          <a:noFill/>
          <a:ln/>
        </p:spPr>
        <p:txBody>
          <a:bodyPr wrap="square" rtlCol="0" anchor="ctr"/>
          <a:lstStyle/>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Business volume, messy inputs</a:t>
            </a:r>
            <a:endParaRPr lang="en-US" sz="1500" dirty="0"/>
          </a:p>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Impatient users, zero tolerance</a:t>
            </a:r>
            <a:endParaRPr lang="en-US" sz="1500" dirty="0"/>
          </a:p>
          <a:p>
            <a:pPr marL="342900" indent="-342900">
              <a:lnSpc>
                <a:spcPts val="2600"/>
              </a:lnSpc>
              <a:buSzPct val="100000"/>
              <a:buChar char="●"/>
            </a:pPr>
            <a:r>
              <a:rPr lang="en-US" sz="1500" dirty="0">
                <a:solidFill>
                  <a:srgbClr val="FFFFFF"/>
                </a:solidFill>
                <a:latin typeface="Amazon Ember" pitchFamily="34" charset="0"/>
                <a:ea typeface="Arial" pitchFamily="34" charset="-122"/>
                <a:cs typeface="Arial" pitchFamily="34" charset="-120"/>
              </a:rPr>
              <a:t>Cost, latency &amp; failures surface at scale</a:t>
            </a:r>
            <a:endParaRPr lang="en-US" sz="1500" dirty="0"/>
          </a:p>
        </p:txBody>
      </p:sp>
      <p:sp>
        <p:nvSpPr>
          <p:cNvPr id="20" name="Text 11">
            <a:extLst>
              <a:ext uri="{FF2B5EF4-FFF2-40B4-BE49-F238E27FC236}">
                <a16:creationId xmlns:a16="http://schemas.microsoft.com/office/drawing/2014/main" id="{AA934F5D-E3B1-8502-73F3-9C78E9ACCFEF}"/>
              </a:ext>
            </a:extLst>
          </p:cNvPr>
          <p:cNvSpPr/>
          <p:nvPr/>
        </p:nvSpPr>
        <p:spPr>
          <a:xfrm>
            <a:off x="457200" y="5074920"/>
            <a:ext cx="2194560" cy="457200"/>
          </a:xfrm>
          <a:prstGeom prst="rect">
            <a:avLst/>
          </a:prstGeom>
          <a:noFill/>
          <a:ln/>
        </p:spPr>
        <p:txBody>
          <a:bodyPr wrap="square" rtlCol="0" anchor="ctr"/>
          <a:lstStyle/>
          <a:p>
            <a:pPr marL="0" indent="0">
              <a:buNone/>
            </a:pPr>
            <a:r>
              <a:rPr lang="en-US" sz="1400" b="1" dirty="0">
                <a:latin typeface="Amazon Ember" pitchFamily="34" charset="0"/>
                <a:ea typeface="Arial" pitchFamily="34" charset="-122"/>
                <a:cs typeface="Arial" pitchFamily="34" charset="-120"/>
              </a:rPr>
              <a:t>Invisible in a demo:</a:t>
            </a:r>
            <a:endParaRPr lang="en-US" sz="1400" dirty="0"/>
          </a:p>
        </p:txBody>
      </p:sp>
      <p:sp>
        <p:nvSpPr>
          <p:cNvPr id="21" name="Text 12">
            <a:extLst>
              <a:ext uri="{FF2B5EF4-FFF2-40B4-BE49-F238E27FC236}">
                <a16:creationId xmlns:a16="http://schemas.microsoft.com/office/drawing/2014/main" id="{C92070E5-0132-9E0B-981F-36534DE78DD8}"/>
              </a:ext>
            </a:extLst>
          </p:cNvPr>
          <p:cNvSpPr/>
          <p:nvPr/>
        </p:nvSpPr>
        <p:spPr>
          <a:xfrm>
            <a:off x="2651760" y="5074920"/>
            <a:ext cx="932688" cy="457200"/>
          </a:xfrm>
          <a:prstGeom prst="roundRect">
            <a:avLst>
              <a:gd name="adj" fmla="val 24000"/>
            </a:avLst>
          </a:prstGeom>
          <a:ln>
            <a:solidFill>
              <a:schemeClr val="tx1"/>
            </a:solidFill>
          </a:ln>
        </p:spPr>
        <p:style>
          <a:lnRef idx="1">
            <a:schemeClr val="dk1"/>
          </a:lnRef>
          <a:fillRef idx="3">
            <a:schemeClr val="dk1"/>
          </a:fillRef>
          <a:effectRef idx="2">
            <a:schemeClr val="dk1"/>
          </a:effectRef>
          <a:fontRef idx="minor">
            <a:schemeClr val="lt1"/>
          </a:fontRef>
        </p:style>
        <p:txBody>
          <a:bodyPr wrap="square" rtlCol="0" anchor="ctr"/>
          <a:lstStyle/>
          <a:p>
            <a:pPr marL="0" indent="0" algn="ctr">
              <a:buNone/>
            </a:pPr>
            <a:r>
              <a:rPr lang="en-US" sz="1300" b="1" dirty="0">
                <a:solidFill>
                  <a:srgbClr val="FFFFFF"/>
                </a:solidFill>
                <a:latin typeface="Amazon Ember" pitchFamily="34" charset="0"/>
                <a:ea typeface="Arial" pitchFamily="34" charset="-122"/>
                <a:cs typeface="Arial" pitchFamily="34" charset="-120"/>
              </a:rPr>
              <a:t>Cost</a:t>
            </a:r>
            <a:endParaRPr lang="en-US" sz="1300" dirty="0"/>
          </a:p>
        </p:txBody>
      </p:sp>
      <p:sp>
        <p:nvSpPr>
          <p:cNvPr id="25" name="Text 13">
            <a:extLst>
              <a:ext uri="{FF2B5EF4-FFF2-40B4-BE49-F238E27FC236}">
                <a16:creationId xmlns:a16="http://schemas.microsoft.com/office/drawing/2014/main" id="{FEB27EF7-CD3D-91EC-7C40-BAB40575EDD5}"/>
              </a:ext>
            </a:extLst>
          </p:cNvPr>
          <p:cNvSpPr/>
          <p:nvPr/>
        </p:nvSpPr>
        <p:spPr>
          <a:xfrm>
            <a:off x="3813048" y="5074920"/>
            <a:ext cx="1289304" cy="457200"/>
          </a:xfrm>
          <a:prstGeom prst="roundRect">
            <a:avLst>
              <a:gd name="adj" fmla="val 24000"/>
            </a:avLst>
          </a:prstGeom>
          <a:ln>
            <a:solidFill>
              <a:schemeClr val="tx1"/>
            </a:solidFill>
          </a:ln>
        </p:spPr>
        <p:style>
          <a:lnRef idx="1">
            <a:schemeClr val="dk1"/>
          </a:lnRef>
          <a:fillRef idx="3">
            <a:schemeClr val="dk1"/>
          </a:fillRef>
          <a:effectRef idx="2">
            <a:schemeClr val="dk1"/>
          </a:effectRef>
          <a:fontRef idx="minor">
            <a:schemeClr val="lt1"/>
          </a:fontRef>
        </p:style>
        <p:txBody>
          <a:bodyPr wrap="square" rtlCol="0" anchor="ctr"/>
          <a:lstStyle/>
          <a:p>
            <a:pPr marL="0" indent="0" algn="ctr">
              <a:buNone/>
            </a:pPr>
            <a:r>
              <a:rPr lang="en-US" sz="1300" b="1" dirty="0">
                <a:solidFill>
                  <a:srgbClr val="FFFFFF"/>
                </a:solidFill>
                <a:latin typeface="Amazon Ember" pitchFamily="34" charset="0"/>
                <a:ea typeface="Arial" pitchFamily="34" charset="-122"/>
                <a:cs typeface="Arial" pitchFamily="34" charset="-120"/>
              </a:rPr>
              <a:t>Latency</a:t>
            </a:r>
            <a:endParaRPr lang="en-US" sz="1300" dirty="0"/>
          </a:p>
        </p:txBody>
      </p:sp>
      <p:sp>
        <p:nvSpPr>
          <p:cNvPr id="26" name="Text 14">
            <a:extLst>
              <a:ext uri="{FF2B5EF4-FFF2-40B4-BE49-F238E27FC236}">
                <a16:creationId xmlns:a16="http://schemas.microsoft.com/office/drawing/2014/main" id="{5A5E7CD9-113C-A1F2-0417-2799E432195B}"/>
              </a:ext>
            </a:extLst>
          </p:cNvPr>
          <p:cNvSpPr/>
          <p:nvPr/>
        </p:nvSpPr>
        <p:spPr>
          <a:xfrm>
            <a:off x="5330952" y="5074920"/>
            <a:ext cx="1764792" cy="457200"/>
          </a:xfrm>
          <a:prstGeom prst="roundRect">
            <a:avLst>
              <a:gd name="adj" fmla="val 24000"/>
            </a:avLst>
          </a:prstGeom>
          <a:ln>
            <a:solidFill>
              <a:schemeClr val="tx1"/>
            </a:solidFill>
          </a:ln>
        </p:spPr>
        <p:style>
          <a:lnRef idx="1">
            <a:schemeClr val="dk1"/>
          </a:lnRef>
          <a:fillRef idx="3">
            <a:schemeClr val="dk1"/>
          </a:fillRef>
          <a:effectRef idx="2">
            <a:schemeClr val="dk1"/>
          </a:effectRef>
          <a:fontRef idx="minor">
            <a:schemeClr val="lt1"/>
          </a:fontRef>
        </p:style>
        <p:txBody>
          <a:bodyPr wrap="square" rtlCol="0" anchor="ctr"/>
          <a:lstStyle/>
          <a:p>
            <a:pPr marL="0" indent="0" algn="ctr">
              <a:buNone/>
            </a:pPr>
            <a:r>
              <a:rPr lang="en-US" sz="1300" b="1" dirty="0">
                <a:solidFill>
                  <a:srgbClr val="FFFFFF"/>
                </a:solidFill>
                <a:latin typeface="Amazon Ember" pitchFamily="34" charset="0"/>
                <a:ea typeface="Arial" pitchFamily="34" charset="-122"/>
                <a:cs typeface="Arial" pitchFamily="34" charset="-120"/>
              </a:rPr>
              <a:t>Reliability</a:t>
            </a:r>
            <a:endParaRPr lang="en-US" sz="1300" dirty="0"/>
          </a:p>
        </p:txBody>
      </p:sp>
      <p:sp>
        <p:nvSpPr>
          <p:cNvPr id="27" name="Text 15">
            <a:extLst>
              <a:ext uri="{FF2B5EF4-FFF2-40B4-BE49-F238E27FC236}">
                <a16:creationId xmlns:a16="http://schemas.microsoft.com/office/drawing/2014/main" id="{4ECC5546-E99C-C00F-1286-C0E6E6D9D555}"/>
              </a:ext>
            </a:extLst>
          </p:cNvPr>
          <p:cNvSpPr/>
          <p:nvPr/>
        </p:nvSpPr>
        <p:spPr>
          <a:xfrm>
            <a:off x="7324344" y="5074920"/>
            <a:ext cx="2002536" cy="457200"/>
          </a:xfrm>
          <a:prstGeom prst="roundRect">
            <a:avLst>
              <a:gd name="adj" fmla="val 24000"/>
            </a:avLst>
          </a:prstGeom>
          <a:ln>
            <a:solidFill>
              <a:schemeClr val="tx1"/>
            </a:solidFill>
          </a:ln>
        </p:spPr>
        <p:style>
          <a:lnRef idx="1">
            <a:schemeClr val="dk1"/>
          </a:lnRef>
          <a:fillRef idx="3">
            <a:schemeClr val="dk1"/>
          </a:fillRef>
          <a:effectRef idx="2">
            <a:schemeClr val="dk1"/>
          </a:effectRef>
          <a:fontRef idx="minor">
            <a:schemeClr val="lt1"/>
          </a:fontRef>
        </p:style>
        <p:txBody>
          <a:bodyPr wrap="square" rtlCol="0" anchor="ctr"/>
          <a:lstStyle/>
          <a:p>
            <a:pPr marL="0" indent="0" algn="ctr">
              <a:buNone/>
            </a:pPr>
            <a:r>
              <a:rPr lang="en-US" sz="1300" b="1" dirty="0">
                <a:solidFill>
                  <a:srgbClr val="FFFFFF"/>
                </a:solidFill>
                <a:latin typeface="Amazon Ember" pitchFamily="34" charset="0"/>
                <a:ea typeface="Arial" pitchFamily="34" charset="-122"/>
                <a:cs typeface="Arial" pitchFamily="34" charset="-120"/>
              </a:rPr>
              <a:t>Failure modes</a:t>
            </a:r>
            <a:endParaRPr lang="en-US" sz="1300" dirty="0"/>
          </a:p>
        </p:txBody>
      </p:sp>
    </p:spTree>
    <p:extLst>
      <p:ext uri="{BB962C8B-B14F-4D97-AF65-F5344CB8AC3E}">
        <p14:creationId xmlns:p14="http://schemas.microsoft.com/office/powerpoint/2010/main" val="114052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89DA3-3992-751A-E773-DF3531F7B95D}"/>
            </a:ext>
          </a:extLst>
        </p:cNvPr>
        <p:cNvGrpSpPr/>
        <p:nvPr/>
      </p:nvGrpSpPr>
      <p:grpSpPr>
        <a:xfrm>
          <a:off x="0" y="0"/>
          <a:ext cx="0" cy="0"/>
          <a:chOff x="0" y="0"/>
          <a:chExt cx="0" cy="0"/>
        </a:xfrm>
      </p:grpSpPr>
      <p:sp>
        <p:nvSpPr>
          <p:cNvPr id="16" name="Shape 9">
            <a:extLst>
              <a:ext uri="{FF2B5EF4-FFF2-40B4-BE49-F238E27FC236}">
                <a16:creationId xmlns:a16="http://schemas.microsoft.com/office/drawing/2014/main" id="{2BCBDF7C-A9F7-6BAE-22EC-16BFC8D6130D}"/>
              </a:ext>
            </a:extLst>
          </p:cNvPr>
          <p:cNvSpPr/>
          <p:nvPr/>
        </p:nvSpPr>
        <p:spPr>
          <a:xfrm>
            <a:off x="4325112" y="2331720"/>
            <a:ext cx="3611880" cy="2880360"/>
          </a:xfrm>
          <a:prstGeom prst="roundRect">
            <a:avLst>
              <a:gd name="adj" fmla="val 2540"/>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79" name="Shape 16">
            <a:extLst>
              <a:ext uri="{FF2B5EF4-FFF2-40B4-BE49-F238E27FC236}">
                <a16:creationId xmlns:a16="http://schemas.microsoft.com/office/drawing/2014/main" id="{E0AD84F3-73F9-735C-ED55-3B87105C26F3}"/>
              </a:ext>
            </a:extLst>
          </p:cNvPr>
          <p:cNvSpPr/>
          <p:nvPr/>
        </p:nvSpPr>
        <p:spPr>
          <a:xfrm>
            <a:off x="4690872" y="2798744"/>
            <a:ext cx="914400" cy="914400"/>
          </a:xfrm>
          <a:prstGeom prst="ellipse">
            <a:avLst/>
          </a:prstGeom>
          <a:solidFill>
            <a:srgbClr val="232F3E"/>
          </a:solidFill>
          <a:ln w="19050">
            <a:solidFill>
              <a:srgbClr val="FF9900"/>
            </a:solidFill>
            <a:prstDash val="solid"/>
          </a:ln>
        </p:spPr>
        <p:txBody>
          <a:bodyPr/>
          <a:lstStyle/>
          <a:p>
            <a:endParaRPr/>
          </a:p>
        </p:txBody>
      </p:sp>
      <p:sp>
        <p:nvSpPr>
          <p:cNvPr id="5" name="Title 2">
            <a:extLst>
              <a:ext uri="{FF2B5EF4-FFF2-40B4-BE49-F238E27FC236}">
                <a16:creationId xmlns:a16="http://schemas.microsoft.com/office/drawing/2014/main" id="{59C5A409-0EB7-FF51-FBAA-84D93965C864}"/>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solidFill>
                  <a:srgbClr val="FFFFFF"/>
                </a:solidFill>
                <a:ea typeface="Arial" pitchFamily="34" charset="-122"/>
                <a:cs typeface="Arial" pitchFamily="34" charset="-120"/>
              </a:rPr>
              <a:t>Evals As Acceptance Criteria</a:t>
            </a:r>
            <a:endParaRPr lang="en-US" dirty="0"/>
          </a:p>
        </p:txBody>
      </p:sp>
      <p:sp>
        <p:nvSpPr>
          <p:cNvPr id="2" name="Text 3">
            <a:extLst>
              <a:ext uri="{FF2B5EF4-FFF2-40B4-BE49-F238E27FC236}">
                <a16:creationId xmlns:a16="http://schemas.microsoft.com/office/drawing/2014/main" id="{469A1436-C4C2-AE11-8327-E8EEFB5124B4}"/>
              </a:ext>
            </a:extLst>
          </p:cNvPr>
          <p:cNvSpPr/>
          <p:nvPr/>
        </p:nvSpPr>
        <p:spPr>
          <a:xfrm>
            <a:off x="658368" y="1481328"/>
            <a:ext cx="10881360" cy="640080"/>
          </a:xfrm>
          <a:prstGeom prst="rect">
            <a:avLst/>
          </a:prstGeom>
          <a:noFill/>
          <a:ln/>
        </p:spPr>
        <p:txBody>
          <a:bodyPr wrap="square" rtlCol="0" anchor="ctr"/>
          <a:lstStyle/>
          <a:p>
            <a:pPr marL="0" indent="0">
              <a:buNone/>
            </a:pPr>
            <a:r>
              <a:rPr lang="en-US" sz="1500" dirty="0">
                <a:solidFill>
                  <a:srgbClr val="C6C6CD"/>
                </a:solidFill>
                <a:latin typeface="Amazon Ember" pitchFamily="34" charset="0"/>
                <a:ea typeface="Arial" pitchFamily="34" charset="-122"/>
                <a:cs typeface="Arial" pitchFamily="34" charset="-120"/>
              </a:rPr>
              <a:t>An eval is a structured test that checks whether your system returns the expected, accurate output. Writing the suite before production code forces three things to happen.</a:t>
            </a:r>
            <a:endParaRPr lang="en-US" sz="1500" dirty="0"/>
          </a:p>
        </p:txBody>
      </p:sp>
      <p:sp>
        <p:nvSpPr>
          <p:cNvPr id="7" name="Shape 4">
            <a:extLst>
              <a:ext uri="{FF2B5EF4-FFF2-40B4-BE49-F238E27FC236}">
                <a16:creationId xmlns:a16="http://schemas.microsoft.com/office/drawing/2014/main" id="{B075D08F-BB50-B023-40B2-B2617C525ADB}"/>
              </a:ext>
            </a:extLst>
          </p:cNvPr>
          <p:cNvSpPr/>
          <p:nvPr/>
        </p:nvSpPr>
        <p:spPr>
          <a:xfrm>
            <a:off x="457200" y="2331720"/>
            <a:ext cx="3611880" cy="2880360"/>
          </a:xfrm>
          <a:prstGeom prst="roundRect">
            <a:avLst>
              <a:gd name="adj" fmla="val 2540"/>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dirty="0"/>
          </a:p>
        </p:txBody>
      </p:sp>
      <p:sp>
        <p:nvSpPr>
          <p:cNvPr id="9" name="Shape 6">
            <a:extLst>
              <a:ext uri="{FF2B5EF4-FFF2-40B4-BE49-F238E27FC236}">
                <a16:creationId xmlns:a16="http://schemas.microsoft.com/office/drawing/2014/main" id="{958AE13B-23AB-34E3-59C8-7C83990CC1BA}"/>
              </a:ext>
            </a:extLst>
          </p:cNvPr>
          <p:cNvSpPr/>
          <p:nvPr/>
        </p:nvSpPr>
        <p:spPr>
          <a:xfrm>
            <a:off x="829710" y="2788920"/>
            <a:ext cx="914400" cy="914400"/>
          </a:xfrm>
          <a:prstGeom prst="ellipse">
            <a:avLst/>
          </a:prstGeom>
          <a:solidFill>
            <a:srgbClr val="232F3E"/>
          </a:solidFill>
          <a:ln w="19050">
            <a:solidFill>
              <a:srgbClr val="FF9900"/>
            </a:solidFill>
            <a:prstDash val="solid"/>
          </a:ln>
        </p:spPr>
        <p:txBody>
          <a:bodyPr/>
          <a:lstStyle/>
          <a:p>
            <a:endParaRPr/>
          </a:p>
        </p:txBody>
      </p:sp>
      <p:sp>
        <p:nvSpPr>
          <p:cNvPr id="11" name="Text 7">
            <a:extLst>
              <a:ext uri="{FF2B5EF4-FFF2-40B4-BE49-F238E27FC236}">
                <a16:creationId xmlns:a16="http://schemas.microsoft.com/office/drawing/2014/main" id="{FF905D7E-296E-8DD5-4E83-8D15BCC3C52E}"/>
              </a:ext>
            </a:extLst>
          </p:cNvPr>
          <p:cNvSpPr/>
          <p:nvPr/>
        </p:nvSpPr>
        <p:spPr>
          <a:xfrm>
            <a:off x="777240" y="3886200"/>
            <a:ext cx="2971800" cy="45720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Define success</a:t>
            </a:r>
            <a:endParaRPr lang="en-US" sz="1900" dirty="0"/>
          </a:p>
        </p:txBody>
      </p:sp>
      <p:sp>
        <p:nvSpPr>
          <p:cNvPr id="12" name="Text 8">
            <a:extLst>
              <a:ext uri="{FF2B5EF4-FFF2-40B4-BE49-F238E27FC236}">
                <a16:creationId xmlns:a16="http://schemas.microsoft.com/office/drawing/2014/main" id="{2ADCE4A2-4511-2737-E1E4-5F957E0BA30F}"/>
              </a:ext>
            </a:extLst>
          </p:cNvPr>
          <p:cNvSpPr/>
          <p:nvPr/>
        </p:nvSpPr>
        <p:spPr>
          <a:xfrm>
            <a:off x="777240" y="4343400"/>
            <a:ext cx="2971800" cy="77724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State what success means in measurable terms </a:t>
            </a:r>
            <a:r>
              <a:rPr lang="ru-RU" sz="1350" dirty="0">
                <a:latin typeface="Amazon Ember" pitchFamily="34" charset="0"/>
                <a:ea typeface="Arial" pitchFamily="34" charset="-122"/>
                <a:cs typeface="Arial" pitchFamily="34" charset="-120"/>
              </a:rPr>
              <a:t>-</a:t>
            </a:r>
            <a:r>
              <a:rPr lang="en-US" sz="1350" dirty="0">
                <a:latin typeface="Amazon Ember" pitchFamily="34" charset="0"/>
                <a:ea typeface="Arial" pitchFamily="34" charset="-122"/>
                <a:cs typeface="Arial" pitchFamily="34" charset="-120"/>
              </a:rPr>
              <a:t> before opinions creep in.</a:t>
            </a:r>
            <a:endParaRPr lang="en-US" sz="1350" dirty="0"/>
          </a:p>
        </p:txBody>
      </p:sp>
      <p:sp>
        <p:nvSpPr>
          <p:cNvPr id="19" name="Text 12">
            <a:extLst>
              <a:ext uri="{FF2B5EF4-FFF2-40B4-BE49-F238E27FC236}">
                <a16:creationId xmlns:a16="http://schemas.microsoft.com/office/drawing/2014/main" id="{7D29C61E-D94B-E4F0-6D5C-F0C81E5DCD33}"/>
              </a:ext>
            </a:extLst>
          </p:cNvPr>
          <p:cNvSpPr/>
          <p:nvPr/>
        </p:nvSpPr>
        <p:spPr>
          <a:xfrm>
            <a:off x="4645152" y="3886200"/>
            <a:ext cx="2971800" cy="45720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Expose assumptions</a:t>
            </a:r>
            <a:endParaRPr lang="en-US" sz="1900" dirty="0"/>
          </a:p>
        </p:txBody>
      </p:sp>
      <p:sp>
        <p:nvSpPr>
          <p:cNvPr id="20" name="Text 13">
            <a:extLst>
              <a:ext uri="{FF2B5EF4-FFF2-40B4-BE49-F238E27FC236}">
                <a16:creationId xmlns:a16="http://schemas.microsoft.com/office/drawing/2014/main" id="{1BD4ABBC-C3F4-D7DA-A2F6-21C5109D0D93}"/>
              </a:ext>
            </a:extLst>
          </p:cNvPr>
          <p:cNvSpPr/>
          <p:nvPr/>
        </p:nvSpPr>
        <p:spPr>
          <a:xfrm>
            <a:off x="4645152" y="4343400"/>
            <a:ext cx="2971800" cy="77724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Surface design assumptions early, while changing them is still cheap.</a:t>
            </a:r>
            <a:endParaRPr lang="en-US" sz="1350" dirty="0"/>
          </a:p>
        </p:txBody>
      </p:sp>
      <p:sp>
        <p:nvSpPr>
          <p:cNvPr id="21" name="Shape 14">
            <a:extLst>
              <a:ext uri="{FF2B5EF4-FFF2-40B4-BE49-F238E27FC236}">
                <a16:creationId xmlns:a16="http://schemas.microsoft.com/office/drawing/2014/main" id="{43CDF608-8CBD-85FF-BFF5-A0975C220821}"/>
              </a:ext>
            </a:extLst>
          </p:cNvPr>
          <p:cNvSpPr/>
          <p:nvPr/>
        </p:nvSpPr>
        <p:spPr>
          <a:xfrm>
            <a:off x="8193024" y="2331720"/>
            <a:ext cx="3611880" cy="2880360"/>
          </a:xfrm>
          <a:prstGeom prst="roundRect">
            <a:avLst>
              <a:gd name="adj" fmla="val 2540"/>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25" name="Shape 16">
            <a:extLst>
              <a:ext uri="{FF2B5EF4-FFF2-40B4-BE49-F238E27FC236}">
                <a16:creationId xmlns:a16="http://schemas.microsoft.com/office/drawing/2014/main" id="{07B5DF27-AC89-6CE7-276D-CD9CB5030353}"/>
              </a:ext>
            </a:extLst>
          </p:cNvPr>
          <p:cNvSpPr/>
          <p:nvPr/>
        </p:nvSpPr>
        <p:spPr>
          <a:xfrm>
            <a:off x="8558784" y="2788920"/>
            <a:ext cx="914400" cy="914400"/>
          </a:xfrm>
          <a:prstGeom prst="ellipse">
            <a:avLst/>
          </a:prstGeom>
          <a:solidFill>
            <a:srgbClr val="232F3E"/>
          </a:solidFill>
          <a:ln w="19050">
            <a:solidFill>
              <a:srgbClr val="FF9900"/>
            </a:solidFill>
            <a:prstDash val="solid"/>
          </a:ln>
        </p:spPr>
        <p:txBody>
          <a:bodyPr/>
          <a:lstStyle/>
          <a:p>
            <a:endParaRPr/>
          </a:p>
        </p:txBody>
      </p:sp>
      <p:sp>
        <p:nvSpPr>
          <p:cNvPr id="26" name="Text 17">
            <a:extLst>
              <a:ext uri="{FF2B5EF4-FFF2-40B4-BE49-F238E27FC236}">
                <a16:creationId xmlns:a16="http://schemas.microsoft.com/office/drawing/2014/main" id="{CFE84EBB-6F09-26C8-5B8C-501881934F3B}"/>
              </a:ext>
            </a:extLst>
          </p:cNvPr>
          <p:cNvSpPr/>
          <p:nvPr/>
        </p:nvSpPr>
        <p:spPr>
          <a:xfrm>
            <a:off x="8513064" y="3886200"/>
            <a:ext cx="2971800" cy="45720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Create a change-gate</a:t>
            </a:r>
            <a:endParaRPr lang="en-US" sz="1900" dirty="0"/>
          </a:p>
        </p:txBody>
      </p:sp>
      <p:sp>
        <p:nvSpPr>
          <p:cNvPr id="27" name="Text 18">
            <a:extLst>
              <a:ext uri="{FF2B5EF4-FFF2-40B4-BE49-F238E27FC236}">
                <a16:creationId xmlns:a16="http://schemas.microsoft.com/office/drawing/2014/main" id="{665763AC-3A1F-9191-9D78-77DF7D2D1CC7}"/>
              </a:ext>
            </a:extLst>
          </p:cNvPr>
          <p:cNvSpPr/>
          <p:nvPr/>
        </p:nvSpPr>
        <p:spPr>
          <a:xfrm>
            <a:off x="8513064" y="4343400"/>
            <a:ext cx="2971800" cy="77724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Know whether a model swap, prompt change, or new retrieval actually improved things.</a:t>
            </a:r>
            <a:endParaRPr lang="en-US" sz="1350" dirty="0"/>
          </a:p>
        </p:txBody>
      </p:sp>
      <p:grpSp>
        <p:nvGrpSpPr>
          <p:cNvPr id="32" name="Group 31">
            <a:extLst>
              <a:ext uri="{FF2B5EF4-FFF2-40B4-BE49-F238E27FC236}">
                <a16:creationId xmlns:a16="http://schemas.microsoft.com/office/drawing/2014/main" id="{8888BF60-C715-C11E-218D-F9AE13ABC090}"/>
              </a:ext>
            </a:extLst>
          </p:cNvPr>
          <p:cNvGrpSpPr/>
          <p:nvPr/>
        </p:nvGrpSpPr>
        <p:grpSpPr>
          <a:xfrm>
            <a:off x="890146" y="2832960"/>
            <a:ext cx="780028" cy="777600"/>
            <a:chOff x="1403795" y="1611926"/>
            <a:chExt cx="502921" cy="502920"/>
          </a:xfrm>
        </p:grpSpPr>
        <p:grpSp>
          <p:nvGrpSpPr>
            <p:cNvPr id="45" name="Graphic 132">
              <a:extLst>
                <a:ext uri="{FF2B5EF4-FFF2-40B4-BE49-F238E27FC236}">
                  <a16:creationId xmlns:a16="http://schemas.microsoft.com/office/drawing/2014/main" id="{4C33B9B9-FD9B-A580-9FB4-1555974D3F24}"/>
                </a:ext>
              </a:extLst>
            </p:cNvPr>
            <p:cNvGrpSpPr>
              <a:grpSpLocks noChangeAspect="1"/>
            </p:cNvGrpSpPr>
            <p:nvPr/>
          </p:nvGrpSpPr>
          <p:grpSpPr>
            <a:xfrm>
              <a:off x="1403795" y="1611926"/>
              <a:ext cx="502921" cy="502920"/>
              <a:chOff x="8683057" y="1646606"/>
              <a:chExt cx="442537" cy="442536"/>
            </a:xfrm>
          </p:grpSpPr>
          <p:sp>
            <p:nvSpPr>
              <p:cNvPr id="47" name="Freeform: Shape 17">
                <a:extLst>
                  <a:ext uri="{FF2B5EF4-FFF2-40B4-BE49-F238E27FC236}">
                    <a16:creationId xmlns:a16="http://schemas.microsoft.com/office/drawing/2014/main" id="{B657FE4F-E8AA-DC80-8F3F-6562ECA12CD4}"/>
                  </a:ext>
                </a:extLst>
              </p:cNvPr>
              <p:cNvSpPr/>
              <p:nvPr/>
            </p:nvSpPr>
            <p:spPr>
              <a:xfrm>
                <a:off x="8826922" y="1792723"/>
                <a:ext cx="151267" cy="151267"/>
              </a:xfrm>
              <a:custGeom>
                <a:avLst/>
                <a:gdLst>
                  <a:gd name="connsiteX0" fmla="*/ 147083 w 151266"/>
                  <a:gd name="connsiteY0" fmla="*/ 75955 h 151266"/>
                  <a:gd name="connsiteX1" fmla="*/ 75955 w 151266"/>
                  <a:gd name="connsiteY1" fmla="*/ 147083 h 151266"/>
                  <a:gd name="connsiteX2" fmla="*/ 4828 w 151266"/>
                  <a:gd name="connsiteY2" fmla="*/ 75955 h 151266"/>
                  <a:gd name="connsiteX3" fmla="*/ 75955 w 151266"/>
                  <a:gd name="connsiteY3" fmla="*/ 4828 h 151266"/>
                  <a:gd name="connsiteX4" fmla="*/ 147083 w 151266"/>
                  <a:gd name="connsiteY4" fmla="*/ 75955 h 1512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266" h="151266">
                    <a:moveTo>
                      <a:pt x="147083" y="75955"/>
                    </a:moveTo>
                    <a:cubicBezTo>
                      <a:pt x="147083" y="115238"/>
                      <a:pt x="115238" y="147083"/>
                      <a:pt x="75955" y="147083"/>
                    </a:cubicBezTo>
                    <a:cubicBezTo>
                      <a:pt x="36673" y="147083"/>
                      <a:pt x="4828" y="115238"/>
                      <a:pt x="4828" y="75955"/>
                    </a:cubicBezTo>
                    <a:cubicBezTo>
                      <a:pt x="4828" y="36673"/>
                      <a:pt x="36673" y="4828"/>
                      <a:pt x="75955" y="4828"/>
                    </a:cubicBezTo>
                    <a:cubicBezTo>
                      <a:pt x="115238" y="4828"/>
                      <a:pt x="147083" y="36673"/>
                      <a:pt x="147083" y="75955"/>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8" name="Freeform: Shape 19">
                <a:extLst>
                  <a:ext uri="{FF2B5EF4-FFF2-40B4-BE49-F238E27FC236}">
                    <a16:creationId xmlns:a16="http://schemas.microsoft.com/office/drawing/2014/main" id="{25493451-5492-C234-3C8D-42741B9AF050}"/>
                  </a:ext>
                </a:extLst>
              </p:cNvPr>
              <p:cNvSpPr/>
              <p:nvPr/>
            </p:nvSpPr>
            <p:spPr>
              <a:xfrm>
                <a:off x="8772208" y="1738010"/>
                <a:ext cx="260694" cy="260694"/>
              </a:xfrm>
              <a:custGeom>
                <a:avLst/>
                <a:gdLst>
                  <a:gd name="connsiteX0" fmla="*/ 256510 w 260694"/>
                  <a:gd name="connsiteY0" fmla="*/ 130669 h 260694"/>
                  <a:gd name="connsiteX1" fmla="*/ 130669 w 260694"/>
                  <a:gd name="connsiteY1" fmla="*/ 256510 h 260694"/>
                  <a:gd name="connsiteX2" fmla="*/ 4828 w 260694"/>
                  <a:gd name="connsiteY2" fmla="*/ 130669 h 260694"/>
                  <a:gd name="connsiteX3" fmla="*/ 130669 w 260694"/>
                  <a:gd name="connsiteY3" fmla="*/ 4828 h 260694"/>
                  <a:gd name="connsiteX4" fmla="*/ 256510 w 260694"/>
                  <a:gd name="connsiteY4" fmla="*/ 130669 h 260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0694" h="260694">
                    <a:moveTo>
                      <a:pt x="256510" y="130669"/>
                    </a:moveTo>
                    <a:cubicBezTo>
                      <a:pt x="256510" y="200169"/>
                      <a:pt x="200169" y="256510"/>
                      <a:pt x="130669" y="256510"/>
                    </a:cubicBezTo>
                    <a:cubicBezTo>
                      <a:pt x="61169" y="256510"/>
                      <a:pt x="4828" y="200169"/>
                      <a:pt x="4828" y="130669"/>
                    </a:cubicBezTo>
                    <a:cubicBezTo>
                      <a:pt x="4828" y="61169"/>
                      <a:pt x="61169" y="4828"/>
                      <a:pt x="130669" y="4828"/>
                    </a:cubicBezTo>
                    <a:cubicBezTo>
                      <a:pt x="200169" y="4828"/>
                      <a:pt x="256510" y="61169"/>
                      <a:pt x="256510" y="130669"/>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9" name="Freeform: Shape 20">
                <a:extLst>
                  <a:ext uri="{FF2B5EF4-FFF2-40B4-BE49-F238E27FC236}">
                    <a16:creationId xmlns:a16="http://schemas.microsoft.com/office/drawing/2014/main" id="{DC35E8AF-B407-1B03-41B5-806AB5F22E0F}"/>
                  </a:ext>
                </a:extLst>
              </p:cNvPr>
              <p:cNvSpPr/>
              <p:nvPr/>
            </p:nvSpPr>
            <p:spPr>
              <a:xfrm>
                <a:off x="8724253" y="1690055"/>
                <a:ext cx="357247" cy="354029"/>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0" name="Freeform: Shape 21">
                <a:extLst>
                  <a:ext uri="{FF2B5EF4-FFF2-40B4-BE49-F238E27FC236}">
                    <a16:creationId xmlns:a16="http://schemas.microsoft.com/office/drawing/2014/main" id="{FA032F41-CDD5-2D5E-67F7-1B6DE9555617}"/>
                  </a:ext>
                </a:extLst>
              </p:cNvPr>
              <p:cNvSpPr/>
              <p:nvPr/>
            </p:nvSpPr>
            <p:spPr>
              <a:xfrm>
                <a:off x="8898049" y="1646606"/>
                <a:ext cx="9655" cy="189888"/>
              </a:xfrm>
              <a:custGeom>
                <a:avLst/>
                <a:gdLst>
                  <a:gd name="connsiteX0" fmla="*/ 4828 w 9655"/>
                  <a:gd name="connsiteY0" fmla="*/ 185704 h 189888"/>
                  <a:gd name="connsiteX1" fmla="*/ 4828 w 9655"/>
                  <a:gd name="connsiteY1" fmla="*/ 4828 h 189888"/>
                </a:gdLst>
                <a:ahLst/>
                <a:cxnLst>
                  <a:cxn ang="0">
                    <a:pos x="connsiteX0" y="connsiteY0"/>
                  </a:cxn>
                  <a:cxn ang="0">
                    <a:pos x="connsiteX1" y="connsiteY1"/>
                  </a:cxn>
                </a:cxnLst>
                <a:rect l="l" t="t" r="r" b="b"/>
                <a:pathLst>
                  <a:path w="9655" h="189888">
                    <a:moveTo>
                      <a:pt x="4828" y="185704"/>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1" name="Freeform: Shape 22">
                <a:extLst>
                  <a:ext uri="{FF2B5EF4-FFF2-40B4-BE49-F238E27FC236}">
                    <a16:creationId xmlns:a16="http://schemas.microsoft.com/office/drawing/2014/main" id="{3B5FF84E-5B8C-796A-1D42-83B778DCA3EE}"/>
                  </a:ext>
                </a:extLst>
              </p:cNvPr>
              <p:cNvSpPr/>
              <p:nvPr/>
            </p:nvSpPr>
            <p:spPr>
              <a:xfrm>
                <a:off x="8898049" y="1896035"/>
                <a:ext cx="9655" cy="193107"/>
              </a:xfrm>
              <a:custGeom>
                <a:avLst/>
                <a:gdLst>
                  <a:gd name="connsiteX0" fmla="*/ 4828 w 9655"/>
                  <a:gd name="connsiteY0" fmla="*/ 4828 h 193106"/>
                  <a:gd name="connsiteX1" fmla="*/ 4828 w 9655"/>
                  <a:gd name="connsiteY1" fmla="*/ 190532 h 193106"/>
                </a:gdLst>
                <a:ahLst/>
                <a:cxnLst>
                  <a:cxn ang="0">
                    <a:pos x="connsiteX0" y="connsiteY0"/>
                  </a:cxn>
                  <a:cxn ang="0">
                    <a:pos x="connsiteX1" y="connsiteY1"/>
                  </a:cxn>
                </a:cxnLst>
                <a:rect l="l" t="t" r="r" b="b"/>
                <a:pathLst>
                  <a:path w="9655" h="193106">
                    <a:moveTo>
                      <a:pt x="4828" y="4828"/>
                    </a:moveTo>
                    <a:lnTo>
                      <a:pt x="4828" y="190532"/>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2" name="Freeform: Shape 23">
                <a:extLst>
                  <a:ext uri="{FF2B5EF4-FFF2-40B4-BE49-F238E27FC236}">
                    <a16:creationId xmlns:a16="http://schemas.microsoft.com/office/drawing/2014/main" id="{640AFFB0-CE1F-525E-200A-7AB5CB44CCAD}"/>
                  </a:ext>
                </a:extLst>
              </p:cNvPr>
              <p:cNvSpPr/>
              <p:nvPr/>
            </p:nvSpPr>
            <p:spPr>
              <a:xfrm>
                <a:off x="8683057" y="1861598"/>
                <a:ext cx="189888" cy="9655"/>
              </a:xfrm>
              <a:custGeom>
                <a:avLst/>
                <a:gdLst>
                  <a:gd name="connsiteX0" fmla="*/ 185704 w 189888"/>
                  <a:gd name="connsiteY0" fmla="*/ 4828 h 9655"/>
                  <a:gd name="connsiteX1" fmla="*/ 4828 w 189888"/>
                  <a:gd name="connsiteY1" fmla="*/ 4828 h 9655"/>
                </a:gdLst>
                <a:ahLst/>
                <a:cxnLst>
                  <a:cxn ang="0">
                    <a:pos x="connsiteX0" y="connsiteY0"/>
                  </a:cxn>
                  <a:cxn ang="0">
                    <a:pos x="connsiteX1" y="connsiteY1"/>
                  </a:cxn>
                </a:cxnLst>
                <a:rect l="l" t="t" r="r" b="b"/>
                <a:pathLst>
                  <a:path w="189888" h="9655">
                    <a:moveTo>
                      <a:pt x="185704" y="4828"/>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24">
                <a:extLst>
                  <a:ext uri="{FF2B5EF4-FFF2-40B4-BE49-F238E27FC236}">
                    <a16:creationId xmlns:a16="http://schemas.microsoft.com/office/drawing/2014/main" id="{39F00D1A-3F02-3ADC-D732-0AB1F0DC88D2}"/>
                  </a:ext>
                </a:extLst>
              </p:cNvPr>
              <p:cNvSpPr/>
              <p:nvPr/>
            </p:nvSpPr>
            <p:spPr>
              <a:xfrm>
                <a:off x="8932487" y="1861598"/>
                <a:ext cx="193107" cy="9655"/>
              </a:xfrm>
              <a:custGeom>
                <a:avLst/>
                <a:gdLst>
                  <a:gd name="connsiteX0" fmla="*/ 4828 w 193106"/>
                  <a:gd name="connsiteY0" fmla="*/ 4828 h 9655"/>
                  <a:gd name="connsiteX1" fmla="*/ 190532 w 193106"/>
                  <a:gd name="connsiteY1" fmla="*/ 4828 h 9655"/>
                </a:gdLst>
                <a:ahLst/>
                <a:cxnLst>
                  <a:cxn ang="0">
                    <a:pos x="connsiteX0" y="connsiteY0"/>
                  </a:cxn>
                  <a:cxn ang="0">
                    <a:pos x="connsiteX1" y="connsiteY1"/>
                  </a:cxn>
                </a:cxnLst>
                <a:rect l="l" t="t" r="r" b="b"/>
                <a:pathLst>
                  <a:path w="193106" h="9655">
                    <a:moveTo>
                      <a:pt x="4828" y="4828"/>
                    </a:moveTo>
                    <a:lnTo>
                      <a:pt x="190532"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46" name="Freeform: Shape 27">
              <a:extLst>
                <a:ext uri="{FF2B5EF4-FFF2-40B4-BE49-F238E27FC236}">
                  <a16:creationId xmlns:a16="http://schemas.microsoft.com/office/drawing/2014/main" id="{5BB4BAB7-9506-7602-9373-C6678591D58B}"/>
                </a:ext>
              </a:extLst>
            </p:cNvPr>
            <p:cNvSpPr/>
            <p:nvPr/>
          </p:nvSpPr>
          <p:spPr>
            <a:xfrm rot="7200000">
              <a:off x="1450612" y="1665327"/>
              <a:ext cx="405993" cy="402336"/>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54" name="Graphic 2">
            <a:extLst>
              <a:ext uri="{FF2B5EF4-FFF2-40B4-BE49-F238E27FC236}">
                <a16:creationId xmlns:a16="http://schemas.microsoft.com/office/drawing/2014/main" id="{AF53A5F6-1D95-4C6D-7D2A-767C5E410B4D}"/>
              </a:ext>
              <a:ext uri="{C183D7F6-B498-43B3-948B-1728B52AA6E4}">
                <adec:decorative xmlns:adec="http://schemas.microsoft.com/office/drawing/2017/decorative" val="1"/>
              </a:ext>
            </a:extLst>
          </p:cNvPr>
          <p:cNvGrpSpPr/>
          <p:nvPr/>
        </p:nvGrpSpPr>
        <p:grpSpPr>
          <a:xfrm>
            <a:off x="8736984" y="2931120"/>
            <a:ext cx="558000" cy="630000"/>
            <a:chOff x="6392640" y="1252943"/>
            <a:chExt cx="224741" cy="323607"/>
          </a:xfrm>
          <a:noFill/>
        </p:grpSpPr>
        <p:grpSp>
          <p:nvGrpSpPr>
            <p:cNvPr id="55" name="Graphic 2">
              <a:extLst>
                <a:ext uri="{FF2B5EF4-FFF2-40B4-BE49-F238E27FC236}">
                  <a16:creationId xmlns:a16="http://schemas.microsoft.com/office/drawing/2014/main" id="{09D4BBA2-5756-41DC-414D-E43F03D258C7}"/>
                </a:ext>
              </a:extLst>
            </p:cNvPr>
            <p:cNvGrpSpPr/>
            <p:nvPr/>
          </p:nvGrpSpPr>
          <p:grpSpPr>
            <a:xfrm>
              <a:off x="6392640" y="1252943"/>
              <a:ext cx="224741" cy="323607"/>
              <a:chOff x="6392640" y="1252943"/>
              <a:chExt cx="224741" cy="323607"/>
            </a:xfrm>
            <a:noFill/>
          </p:grpSpPr>
          <p:sp>
            <p:nvSpPr>
              <p:cNvPr id="72" name="Freeform: Shape 512">
                <a:extLst>
                  <a:ext uri="{FF2B5EF4-FFF2-40B4-BE49-F238E27FC236}">
                    <a16:creationId xmlns:a16="http://schemas.microsoft.com/office/drawing/2014/main" id="{F99A3677-FB24-B453-E70A-01116813C86B}"/>
                  </a:ext>
                </a:extLst>
              </p:cNvPr>
              <p:cNvSpPr/>
              <p:nvPr/>
            </p:nvSpPr>
            <p:spPr>
              <a:xfrm>
                <a:off x="6392640" y="1252943"/>
                <a:ext cx="224036" cy="323607"/>
              </a:xfrm>
              <a:custGeom>
                <a:avLst/>
                <a:gdLst>
                  <a:gd name="connsiteX0" fmla="*/ 0 w 224036"/>
                  <a:gd name="connsiteY0" fmla="*/ 315310 h 323607"/>
                  <a:gd name="connsiteX1" fmla="*/ 0 w 224036"/>
                  <a:gd name="connsiteY1" fmla="*/ 8298 h 323607"/>
                  <a:gd name="connsiteX2" fmla="*/ 8298 w 224036"/>
                  <a:gd name="connsiteY2" fmla="*/ 0 h 323607"/>
                  <a:gd name="connsiteX3" fmla="*/ 149358 w 224036"/>
                  <a:gd name="connsiteY3" fmla="*/ 0 h 323607"/>
                  <a:gd name="connsiteX4" fmla="*/ 224036 w 224036"/>
                  <a:gd name="connsiteY4" fmla="*/ 74679 h 323607"/>
                  <a:gd name="connsiteX5" fmla="*/ 224036 w 224036"/>
                  <a:gd name="connsiteY5" fmla="*/ 315310 h 323607"/>
                  <a:gd name="connsiteX6" fmla="*/ 215739 w 224036"/>
                  <a:gd name="connsiteY6" fmla="*/ 323608 h 323607"/>
                  <a:gd name="connsiteX7" fmla="*/ 8298 w 224036"/>
                  <a:gd name="connsiteY7" fmla="*/ 323608 h 323607"/>
                  <a:gd name="connsiteX8" fmla="*/ 0 w 224036"/>
                  <a:gd name="connsiteY8" fmla="*/ 315310 h 323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36" h="323607">
                    <a:moveTo>
                      <a:pt x="0" y="315310"/>
                    </a:moveTo>
                    <a:lnTo>
                      <a:pt x="0" y="8298"/>
                    </a:lnTo>
                    <a:cubicBezTo>
                      <a:pt x="0" y="3402"/>
                      <a:pt x="3402" y="0"/>
                      <a:pt x="8298" y="0"/>
                    </a:cubicBezTo>
                    <a:lnTo>
                      <a:pt x="149358" y="0"/>
                    </a:lnTo>
                    <a:lnTo>
                      <a:pt x="224036" y="74679"/>
                    </a:lnTo>
                    <a:lnTo>
                      <a:pt x="224036" y="315310"/>
                    </a:lnTo>
                    <a:cubicBezTo>
                      <a:pt x="224036" y="320206"/>
                      <a:pt x="220634" y="323608"/>
                      <a:pt x="215739" y="323608"/>
                    </a:cubicBezTo>
                    <a:lnTo>
                      <a:pt x="8298" y="323608"/>
                    </a:lnTo>
                    <a:cubicBezTo>
                      <a:pt x="3402" y="323608"/>
                      <a:pt x="0" y="320206"/>
                      <a:pt x="0" y="315310"/>
                    </a:cubicBezTo>
                    <a:close/>
                  </a:path>
                </a:pathLst>
              </a:custGeom>
              <a:noFill/>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3" name="Freeform: Shape 513">
                <a:extLst>
                  <a:ext uri="{FF2B5EF4-FFF2-40B4-BE49-F238E27FC236}">
                    <a16:creationId xmlns:a16="http://schemas.microsoft.com/office/drawing/2014/main" id="{AFC6DEE7-D9D9-1E95-C2E4-BE25D5413637}"/>
                  </a:ext>
                </a:extLst>
              </p:cNvPr>
              <p:cNvSpPr/>
              <p:nvPr/>
            </p:nvSpPr>
            <p:spPr>
              <a:xfrm>
                <a:off x="6542081" y="1252943"/>
                <a:ext cx="75300" cy="74678"/>
              </a:xfrm>
              <a:custGeom>
                <a:avLst/>
                <a:gdLst>
                  <a:gd name="connsiteX0" fmla="*/ 0 w 75300"/>
                  <a:gd name="connsiteY0" fmla="*/ 74679 h 74678"/>
                  <a:gd name="connsiteX1" fmla="*/ 75301 w 75300"/>
                  <a:gd name="connsiteY1" fmla="*/ 74679 h 74678"/>
                  <a:gd name="connsiteX2" fmla="*/ 0 w 75300"/>
                  <a:gd name="connsiteY2" fmla="*/ 0 h 74678"/>
                  <a:gd name="connsiteX3" fmla="*/ 0 w 75300"/>
                  <a:gd name="connsiteY3" fmla="*/ 74679 h 74678"/>
                </a:gdLst>
                <a:ahLst/>
                <a:cxnLst>
                  <a:cxn ang="0">
                    <a:pos x="connsiteX0" y="connsiteY0"/>
                  </a:cxn>
                  <a:cxn ang="0">
                    <a:pos x="connsiteX1" y="connsiteY1"/>
                  </a:cxn>
                  <a:cxn ang="0">
                    <a:pos x="connsiteX2" y="connsiteY2"/>
                  </a:cxn>
                  <a:cxn ang="0">
                    <a:pos x="connsiteX3" y="connsiteY3"/>
                  </a:cxn>
                </a:cxnLst>
                <a:rect l="l" t="t" r="r" b="b"/>
                <a:pathLst>
                  <a:path w="75300" h="74678">
                    <a:moveTo>
                      <a:pt x="0" y="74679"/>
                    </a:moveTo>
                    <a:lnTo>
                      <a:pt x="75301" y="74679"/>
                    </a:lnTo>
                    <a:lnTo>
                      <a:pt x="0" y="0"/>
                    </a:lnTo>
                    <a:lnTo>
                      <a:pt x="0" y="74679"/>
                    </a:lnTo>
                    <a:close/>
                  </a:path>
                </a:pathLst>
              </a:custGeom>
              <a:noFill/>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56" name="Freeform: Shape 503">
              <a:extLst>
                <a:ext uri="{FF2B5EF4-FFF2-40B4-BE49-F238E27FC236}">
                  <a16:creationId xmlns:a16="http://schemas.microsoft.com/office/drawing/2014/main" id="{30C7EFB9-3D88-1C7F-ED78-C5E2E263DCCB}"/>
                </a:ext>
              </a:extLst>
            </p:cNvPr>
            <p:cNvSpPr/>
            <p:nvPr/>
          </p:nvSpPr>
          <p:spPr>
            <a:xfrm>
              <a:off x="6488063" y="1435491"/>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7" name="Freeform: Shape 504">
              <a:extLst>
                <a:ext uri="{FF2B5EF4-FFF2-40B4-BE49-F238E27FC236}">
                  <a16:creationId xmlns:a16="http://schemas.microsoft.com/office/drawing/2014/main" id="{14E4ADEA-276E-0EE6-402E-EBD0FC8167AE}"/>
                </a:ext>
              </a:extLst>
            </p:cNvPr>
            <p:cNvSpPr/>
            <p:nvPr/>
          </p:nvSpPr>
          <p:spPr>
            <a:xfrm>
              <a:off x="6488063" y="1518468"/>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8" name="Freeform: Shape 505">
              <a:extLst>
                <a:ext uri="{FF2B5EF4-FFF2-40B4-BE49-F238E27FC236}">
                  <a16:creationId xmlns:a16="http://schemas.microsoft.com/office/drawing/2014/main" id="{C0EF43E7-3F02-F575-D6D4-F46FC6668051}"/>
                </a:ext>
              </a:extLst>
            </p:cNvPr>
            <p:cNvSpPr/>
            <p:nvPr/>
          </p:nvSpPr>
          <p:spPr>
            <a:xfrm>
              <a:off x="6488063" y="1394003"/>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64" name="Freeform: Shape 506">
              <a:extLst>
                <a:ext uri="{FF2B5EF4-FFF2-40B4-BE49-F238E27FC236}">
                  <a16:creationId xmlns:a16="http://schemas.microsoft.com/office/drawing/2014/main" id="{808AEE33-DD30-EDF8-301C-72905898A260}"/>
                </a:ext>
              </a:extLst>
            </p:cNvPr>
            <p:cNvSpPr/>
            <p:nvPr/>
          </p:nvSpPr>
          <p:spPr>
            <a:xfrm>
              <a:off x="6488063" y="1476980"/>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65" name="Freeform: Shape 507">
              <a:extLst>
                <a:ext uri="{FF2B5EF4-FFF2-40B4-BE49-F238E27FC236}">
                  <a16:creationId xmlns:a16="http://schemas.microsoft.com/office/drawing/2014/main" id="{9B9BB472-AA3E-4604-8346-A7262FA1A11E}"/>
                </a:ext>
              </a:extLst>
            </p:cNvPr>
            <p:cNvSpPr/>
            <p:nvPr/>
          </p:nvSpPr>
          <p:spPr>
            <a:xfrm>
              <a:off x="6488063" y="1352515"/>
              <a:ext cx="30701" cy="4148"/>
            </a:xfrm>
            <a:custGeom>
              <a:avLst/>
              <a:gdLst>
                <a:gd name="connsiteX0" fmla="*/ 0 w 30701"/>
                <a:gd name="connsiteY0" fmla="*/ 0 h 4148"/>
                <a:gd name="connsiteX1" fmla="*/ 30701 w 30701"/>
                <a:gd name="connsiteY1" fmla="*/ 0 h 4148"/>
              </a:gdLst>
              <a:ahLst/>
              <a:cxnLst>
                <a:cxn ang="0">
                  <a:pos x="connsiteX0" y="connsiteY0"/>
                </a:cxn>
                <a:cxn ang="0">
                  <a:pos x="connsiteX1" y="connsiteY1"/>
                </a:cxn>
              </a:cxnLst>
              <a:rect l="l" t="t" r="r" b="b"/>
              <a:pathLst>
                <a:path w="30701" h="4148">
                  <a:moveTo>
                    <a:pt x="0" y="0"/>
                  </a:moveTo>
                  <a:lnTo>
                    <a:pt x="30701"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66" name="Freeform: Shape 508">
              <a:extLst>
                <a:ext uri="{FF2B5EF4-FFF2-40B4-BE49-F238E27FC236}">
                  <a16:creationId xmlns:a16="http://schemas.microsoft.com/office/drawing/2014/main" id="{99AB9EA1-CCAE-87B5-0634-DB762835D8AA}"/>
                </a:ext>
              </a:extLst>
            </p:cNvPr>
            <p:cNvSpPr/>
            <p:nvPr/>
          </p:nvSpPr>
          <p:spPr>
            <a:xfrm>
              <a:off x="6429980" y="1330900"/>
              <a:ext cx="41488" cy="29498"/>
            </a:xfrm>
            <a:custGeom>
              <a:avLst/>
              <a:gdLst>
                <a:gd name="connsiteX0" fmla="*/ 0 w 41488"/>
                <a:gd name="connsiteY0" fmla="*/ 17508 h 29498"/>
                <a:gd name="connsiteX1" fmla="*/ 11990 w 41488"/>
                <a:gd name="connsiteY1" fmla="*/ 29498 h 29498"/>
                <a:gd name="connsiteX2" fmla="*/ 41488 w 41488"/>
                <a:gd name="connsiteY2" fmla="*/ 0 h 29498"/>
              </a:gdLst>
              <a:ahLst/>
              <a:cxnLst>
                <a:cxn ang="0">
                  <a:pos x="connsiteX0" y="connsiteY0"/>
                </a:cxn>
                <a:cxn ang="0">
                  <a:pos x="connsiteX1" y="connsiteY1"/>
                </a:cxn>
                <a:cxn ang="0">
                  <a:pos x="connsiteX2" y="connsiteY2"/>
                </a:cxn>
              </a:cxnLst>
              <a:rect l="l" t="t" r="r" b="b"/>
              <a:pathLst>
                <a:path w="41488" h="29498">
                  <a:moveTo>
                    <a:pt x="0" y="17508"/>
                  </a:moveTo>
                  <a:lnTo>
                    <a:pt x="11990" y="29498"/>
                  </a:lnTo>
                  <a:lnTo>
                    <a:pt x="41488" y="0"/>
                  </a:lnTo>
                </a:path>
              </a:pathLst>
            </a:custGeom>
            <a:noFill/>
            <a:ln w="12700" cap="flat">
              <a:solidFill>
                <a:srgbClr val="FF9900"/>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67" name="Freeform: Shape 509">
              <a:extLst>
                <a:ext uri="{FF2B5EF4-FFF2-40B4-BE49-F238E27FC236}">
                  <a16:creationId xmlns:a16="http://schemas.microsoft.com/office/drawing/2014/main" id="{E762CC39-58E3-27FC-621C-FF964E5EE3E8}"/>
                </a:ext>
              </a:extLst>
            </p:cNvPr>
            <p:cNvSpPr/>
            <p:nvPr/>
          </p:nvSpPr>
          <p:spPr>
            <a:xfrm>
              <a:off x="6429980" y="1505109"/>
              <a:ext cx="41488" cy="29498"/>
            </a:xfrm>
            <a:custGeom>
              <a:avLst/>
              <a:gdLst>
                <a:gd name="connsiteX0" fmla="*/ 0 w 41488"/>
                <a:gd name="connsiteY0" fmla="*/ 17508 h 29498"/>
                <a:gd name="connsiteX1" fmla="*/ 11990 w 41488"/>
                <a:gd name="connsiteY1" fmla="*/ 29498 h 29498"/>
                <a:gd name="connsiteX2" fmla="*/ 41488 w 41488"/>
                <a:gd name="connsiteY2" fmla="*/ 0 h 29498"/>
              </a:gdLst>
              <a:ahLst/>
              <a:cxnLst>
                <a:cxn ang="0">
                  <a:pos x="connsiteX0" y="connsiteY0"/>
                </a:cxn>
                <a:cxn ang="0">
                  <a:pos x="connsiteX1" y="connsiteY1"/>
                </a:cxn>
                <a:cxn ang="0">
                  <a:pos x="connsiteX2" y="connsiteY2"/>
                </a:cxn>
              </a:cxnLst>
              <a:rect l="l" t="t" r="r" b="b"/>
              <a:pathLst>
                <a:path w="41488" h="29498">
                  <a:moveTo>
                    <a:pt x="0" y="17508"/>
                  </a:moveTo>
                  <a:lnTo>
                    <a:pt x="11990" y="29498"/>
                  </a:lnTo>
                  <a:lnTo>
                    <a:pt x="41488" y="0"/>
                  </a:lnTo>
                </a:path>
              </a:pathLst>
            </a:custGeom>
            <a:noFill/>
            <a:ln w="12700" cap="rnd">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0" name="Freeform: Shape 510">
              <a:extLst>
                <a:ext uri="{FF2B5EF4-FFF2-40B4-BE49-F238E27FC236}">
                  <a16:creationId xmlns:a16="http://schemas.microsoft.com/office/drawing/2014/main" id="{577F2B1D-FCDB-02B1-A5B7-A489B161008C}"/>
                </a:ext>
              </a:extLst>
            </p:cNvPr>
            <p:cNvSpPr/>
            <p:nvPr/>
          </p:nvSpPr>
          <p:spPr>
            <a:xfrm>
              <a:off x="6431764" y="1416365"/>
              <a:ext cx="33190" cy="33190"/>
            </a:xfrm>
            <a:custGeom>
              <a:avLst/>
              <a:gdLst>
                <a:gd name="connsiteX0" fmla="*/ 0 w 33190"/>
                <a:gd name="connsiteY0" fmla="*/ 0 h 33190"/>
                <a:gd name="connsiteX1" fmla="*/ 33191 w 33190"/>
                <a:gd name="connsiteY1" fmla="*/ 33191 h 33190"/>
              </a:gdLst>
              <a:ahLst/>
              <a:cxnLst>
                <a:cxn ang="0">
                  <a:pos x="connsiteX0" y="connsiteY0"/>
                </a:cxn>
                <a:cxn ang="0">
                  <a:pos x="connsiteX1" y="connsiteY1"/>
                </a:cxn>
              </a:cxnLst>
              <a:rect l="l" t="t" r="r" b="b"/>
              <a:pathLst>
                <a:path w="33190" h="33190">
                  <a:moveTo>
                    <a:pt x="0" y="0"/>
                  </a:moveTo>
                  <a:lnTo>
                    <a:pt x="33191" y="33191"/>
                  </a:lnTo>
                </a:path>
              </a:pathLst>
            </a:custGeom>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1" name="Freeform: Shape 511">
              <a:extLst>
                <a:ext uri="{FF2B5EF4-FFF2-40B4-BE49-F238E27FC236}">
                  <a16:creationId xmlns:a16="http://schemas.microsoft.com/office/drawing/2014/main" id="{4877C465-4C68-3FA7-4E65-33923AA558DC}"/>
                </a:ext>
              </a:extLst>
            </p:cNvPr>
            <p:cNvSpPr/>
            <p:nvPr/>
          </p:nvSpPr>
          <p:spPr>
            <a:xfrm>
              <a:off x="6431888" y="1416365"/>
              <a:ext cx="33066" cy="33356"/>
            </a:xfrm>
            <a:custGeom>
              <a:avLst/>
              <a:gdLst>
                <a:gd name="connsiteX0" fmla="*/ 33066 w 33066"/>
                <a:gd name="connsiteY0" fmla="*/ 0 h 33356"/>
                <a:gd name="connsiteX1" fmla="*/ 0 w 33066"/>
                <a:gd name="connsiteY1" fmla="*/ 33356 h 33356"/>
              </a:gdLst>
              <a:ahLst/>
              <a:cxnLst>
                <a:cxn ang="0">
                  <a:pos x="connsiteX0" y="connsiteY0"/>
                </a:cxn>
                <a:cxn ang="0">
                  <a:pos x="connsiteX1" y="connsiteY1"/>
                </a:cxn>
              </a:cxnLst>
              <a:rect l="l" t="t" r="r" b="b"/>
              <a:pathLst>
                <a:path w="33066" h="33356">
                  <a:moveTo>
                    <a:pt x="33066" y="0"/>
                  </a:moveTo>
                  <a:lnTo>
                    <a:pt x="0" y="33356"/>
                  </a:lnTo>
                </a:path>
              </a:pathLst>
            </a:custGeom>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74" name="Graphic 51">
            <a:extLst>
              <a:ext uri="{FF2B5EF4-FFF2-40B4-BE49-F238E27FC236}">
                <a16:creationId xmlns:a16="http://schemas.microsoft.com/office/drawing/2014/main" id="{DA890099-6AE7-841C-4DA5-20893273745B}"/>
              </a:ext>
            </a:extLst>
          </p:cNvPr>
          <p:cNvGrpSpPr/>
          <p:nvPr/>
        </p:nvGrpSpPr>
        <p:grpSpPr>
          <a:xfrm>
            <a:off x="4759272" y="2862120"/>
            <a:ext cx="777600" cy="777600"/>
            <a:chOff x="7855106" y="2798283"/>
            <a:chExt cx="762000" cy="762000"/>
          </a:xfrm>
        </p:grpSpPr>
        <p:sp>
          <p:nvSpPr>
            <p:cNvPr id="75" name="Freeform: Shape 54">
              <a:extLst>
                <a:ext uri="{FF2B5EF4-FFF2-40B4-BE49-F238E27FC236}">
                  <a16:creationId xmlns:a16="http://schemas.microsoft.com/office/drawing/2014/main" id="{86F6D770-E004-BB35-862A-214A8F0587CC}"/>
                </a:ext>
              </a:extLst>
            </p:cNvPr>
            <p:cNvSpPr/>
            <p:nvPr/>
          </p:nvSpPr>
          <p:spPr>
            <a:xfrm>
              <a:off x="7855106" y="2798283"/>
              <a:ext cx="762000" cy="762000"/>
            </a:xfrm>
            <a:custGeom>
              <a:avLst/>
              <a:gdLst>
                <a:gd name="connsiteX0" fmla="*/ 761498 w 762000"/>
                <a:gd name="connsiteY0" fmla="*/ 380566 h 762000"/>
                <a:gd name="connsiteX1" fmla="*/ 380498 w 762000"/>
                <a:gd name="connsiteY1" fmla="*/ 761566 h 762000"/>
                <a:gd name="connsiteX2" fmla="*/ -502 w 762000"/>
                <a:gd name="connsiteY2" fmla="*/ 380566 h 762000"/>
                <a:gd name="connsiteX3" fmla="*/ 380498 w 762000"/>
                <a:gd name="connsiteY3" fmla="*/ -434 h 762000"/>
                <a:gd name="connsiteX4" fmla="*/ 761498 w 762000"/>
                <a:gd name="connsiteY4" fmla="*/ 380566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 h="762000">
                  <a:moveTo>
                    <a:pt x="761498" y="380566"/>
                  </a:moveTo>
                  <a:cubicBezTo>
                    <a:pt x="761498" y="590983"/>
                    <a:pt x="590915" y="761566"/>
                    <a:pt x="380498" y="761566"/>
                  </a:cubicBezTo>
                  <a:cubicBezTo>
                    <a:pt x="170081" y="761566"/>
                    <a:pt x="-502" y="590983"/>
                    <a:pt x="-502" y="380566"/>
                  </a:cubicBezTo>
                  <a:cubicBezTo>
                    <a:pt x="-502" y="170149"/>
                    <a:pt x="170081" y="-434"/>
                    <a:pt x="380498" y="-434"/>
                  </a:cubicBezTo>
                  <a:cubicBezTo>
                    <a:pt x="590915" y="-434"/>
                    <a:pt x="761498" y="170149"/>
                    <a:pt x="761498" y="380566"/>
                  </a:cubicBezTo>
                  <a:close/>
                </a:path>
              </a:pathLst>
            </a:custGeom>
            <a:noFill/>
            <a:ln w="1905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6" name="Freeform: Shape 55">
              <a:extLst>
                <a:ext uri="{FF2B5EF4-FFF2-40B4-BE49-F238E27FC236}">
                  <a16:creationId xmlns:a16="http://schemas.microsoft.com/office/drawing/2014/main" id="{663F52C5-7C8C-21DC-2EC1-9AE33F99CDC0}"/>
                </a:ext>
              </a:extLst>
            </p:cNvPr>
            <p:cNvSpPr/>
            <p:nvPr/>
          </p:nvSpPr>
          <p:spPr>
            <a:xfrm>
              <a:off x="8345357" y="3046218"/>
              <a:ext cx="85344" cy="85439"/>
            </a:xfrm>
            <a:custGeom>
              <a:avLst/>
              <a:gdLst>
                <a:gd name="connsiteX0" fmla="*/ -502 w 85344"/>
                <a:gd name="connsiteY0" fmla="*/ 85005 h 85439"/>
                <a:gd name="connsiteX1" fmla="*/ 84842 w 85344"/>
                <a:gd name="connsiteY1" fmla="*/ -434 h 85439"/>
              </a:gdLst>
              <a:ahLst/>
              <a:cxnLst>
                <a:cxn ang="0">
                  <a:pos x="connsiteX0" y="connsiteY0"/>
                </a:cxn>
                <a:cxn ang="0">
                  <a:pos x="connsiteX1" y="connsiteY1"/>
                </a:cxn>
              </a:cxnLst>
              <a:rect l="l" t="t" r="r" b="b"/>
              <a:pathLst>
                <a:path w="85344" h="85439">
                  <a:moveTo>
                    <a:pt x="-502" y="85005"/>
                  </a:moveTo>
                  <a:lnTo>
                    <a:pt x="84842"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7" name="Freeform: Shape 56">
              <a:extLst>
                <a:ext uri="{FF2B5EF4-FFF2-40B4-BE49-F238E27FC236}">
                  <a16:creationId xmlns:a16="http://schemas.microsoft.com/office/drawing/2014/main" id="{24EF2284-DF2D-AF18-9F82-A22BC5CD06EB}"/>
                </a:ext>
              </a:extLst>
            </p:cNvPr>
            <p:cNvSpPr/>
            <p:nvPr/>
          </p:nvSpPr>
          <p:spPr>
            <a:xfrm>
              <a:off x="8033890" y="3150708"/>
              <a:ext cx="292417" cy="177831"/>
            </a:xfrm>
            <a:custGeom>
              <a:avLst/>
              <a:gdLst>
                <a:gd name="connsiteX0" fmla="*/ -502 w 292417"/>
                <a:gd name="connsiteY0" fmla="*/ 62717 h 177831"/>
                <a:gd name="connsiteX1" fmla="*/ 114083 w 292417"/>
                <a:gd name="connsiteY1" fmla="*/ 177398 h 177831"/>
                <a:gd name="connsiteX2" fmla="*/ 291915 w 292417"/>
                <a:gd name="connsiteY2" fmla="*/ -434 h 177831"/>
              </a:gdLst>
              <a:ahLst/>
              <a:cxnLst>
                <a:cxn ang="0">
                  <a:pos x="connsiteX0" y="connsiteY0"/>
                </a:cxn>
                <a:cxn ang="0">
                  <a:pos x="connsiteX1" y="connsiteY1"/>
                </a:cxn>
                <a:cxn ang="0">
                  <a:pos x="connsiteX2" y="connsiteY2"/>
                </a:cxn>
              </a:cxnLst>
              <a:rect l="l" t="t" r="r" b="b"/>
              <a:pathLst>
                <a:path w="292417" h="177831">
                  <a:moveTo>
                    <a:pt x="-502" y="62717"/>
                  </a:moveTo>
                  <a:lnTo>
                    <a:pt x="114083" y="177398"/>
                  </a:lnTo>
                  <a:lnTo>
                    <a:pt x="291915"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Tree>
    <p:extLst>
      <p:ext uri="{BB962C8B-B14F-4D97-AF65-F5344CB8AC3E}">
        <p14:creationId xmlns:p14="http://schemas.microsoft.com/office/powerpoint/2010/main" val="2249490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a:extLst>
              <a:ext uri="{FF2B5EF4-FFF2-40B4-BE49-F238E27FC236}">
                <a16:creationId xmlns:a16="http://schemas.microsoft.com/office/drawing/2014/main" id="{B33F6150-BEC5-F288-EC78-81ECB9514525}"/>
              </a:ext>
            </a:extLst>
          </p:cNvPr>
          <p:cNvSpPr/>
          <p:nvPr/>
        </p:nvSpPr>
        <p:spPr>
          <a:xfrm>
            <a:off x="658368" y="1481328"/>
            <a:ext cx="10881360" cy="457200"/>
          </a:xfrm>
          <a:prstGeom prst="rect">
            <a:avLst/>
          </a:prstGeom>
          <a:noFill/>
          <a:ln/>
        </p:spPr>
        <p:txBody>
          <a:bodyPr wrap="square" rtlCol="0" anchor="ctr"/>
          <a:lstStyle/>
          <a:p>
            <a:pPr marL="0" indent="0">
              <a:buNone/>
            </a:pPr>
            <a:r>
              <a:rPr lang="en-US" sz="1500" dirty="0">
                <a:solidFill>
                  <a:srgbClr val="C6C6CD"/>
                </a:solidFill>
                <a:latin typeface="Amazon Ember" pitchFamily="34" charset="0"/>
                <a:ea typeface="Arial" pitchFamily="34" charset="-122"/>
                <a:cs typeface="Arial" pitchFamily="34" charset="-120"/>
              </a:rPr>
              <a:t>“Summarize claims accurately” doesn’t tell you what to measure. Turn it into a measurable threshold in four steps.</a:t>
            </a:r>
            <a:endParaRPr lang="en-US" sz="1500" dirty="0"/>
          </a:p>
        </p:txBody>
      </p:sp>
      <p:sp>
        <p:nvSpPr>
          <p:cNvPr id="29" name="Text 27">
            <a:extLst>
              <a:ext uri="{FF2B5EF4-FFF2-40B4-BE49-F238E27FC236}">
                <a16:creationId xmlns:a16="http://schemas.microsoft.com/office/drawing/2014/main" id="{D77773B2-E1A9-12FC-1588-BAF6938C05D9}"/>
              </a:ext>
            </a:extLst>
          </p:cNvPr>
          <p:cNvSpPr/>
          <p:nvPr/>
        </p:nvSpPr>
        <p:spPr>
          <a:xfrm>
            <a:off x="11430000" y="6510528"/>
            <a:ext cx="548640" cy="347472"/>
          </a:xfrm>
          <a:prstGeom prst="rect">
            <a:avLst/>
          </a:prstGeom>
          <a:noFill/>
          <a:ln/>
        </p:spPr>
        <p:txBody>
          <a:bodyPr wrap="square" rtlCol="0" anchor="ctr"/>
          <a:lstStyle/>
          <a:p>
            <a:pPr marL="0" indent="0" algn="r">
              <a:buNone/>
            </a:pPr>
            <a:endParaRPr lang="en-US" sz="1000" dirty="0"/>
          </a:p>
        </p:txBody>
      </p:sp>
      <p:sp>
        <p:nvSpPr>
          <p:cNvPr id="33" name="Title 2">
            <a:extLst>
              <a:ext uri="{FF2B5EF4-FFF2-40B4-BE49-F238E27FC236}">
                <a16:creationId xmlns:a16="http://schemas.microsoft.com/office/drawing/2014/main" id="{6D3881AA-3099-10EE-3395-9F9C6199A07F}"/>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Defining success criteria</a:t>
            </a:r>
          </a:p>
        </p:txBody>
      </p:sp>
      <p:sp>
        <p:nvSpPr>
          <p:cNvPr id="35" name="Shape 19">
            <a:extLst>
              <a:ext uri="{FF2B5EF4-FFF2-40B4-BE49-F238E27FC236}">
                <a16:creationId xmlns:a16="http://schemas.microsoft.com/office/drawing/2014/main" id="{558DD24F-8693-80CF-32F7-B213A6C52DBE}"/>
              </a:ext>
            </a:extLst>
          </p:cNvPr>
          <p:cNvSpPr/>
          <p:nvPr/>
        </p:nvSpPr>
        <p:spPr>
          <a:xfrm>
            <a:off x="9098280" y="2194560"/>
            <a:ext cx="2697480" cy="3063240"/>
          </a:xfrm>
          <a:prstGeom prst="roundRect">
            <a:avLst>
              <a:gd name="adj" fmla="val 2712"/>
            </a:avLst>
          </a:prstGeom>
          <a:noFill/>
          <a:ln w="381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36" name="Shape 20">
            <a:extLst>
              <a:ext uri="{FF2B5EF4-FFF2-40B4-BE49-F238E27FC236}">
                <a16:creationId xmlns:a16="http://schemas.microsoft.com/office/drawing/2014/main" id="{3C01FFC2-D274-D96C-8DBF-D95ADD1B2B31}"/>
              </a:ext>
            </a:extLst>
          </p:cNvPr>
          <p:cNvSpPr/>
          <p:nvPr/>
        </p:nvSpPr>
        <p:spPr>
          <a:xfrm>
            <a:off x="9372600" y="2468880"/>
            <a:ext cx="713232" cy="713232"/>
          </a:xfrm>
          <a:prstGeom prst="ellipse">
            <a:avLst/>
          </a:prstGeom>
          <a:noFill/>
          <a:ln w="19050">
            <a:solidFill>
              <a:srgbClr val="FF9900"/>
            </a:solidFill>
            <a:prstDash val="solid"/>
          </a:ln>
        </p:spPr>
        <p:txBody>
          <a:bodyPr/>
          <a:lstStyle/>
          <a:p>
            <a:endParaRPr>
              <a:ln>
                <a:solidFill>
                  <a:schemeClr val="tx1"/>
                </a:solidFill>
              </a:ln>
            </a:endParaRPr>
          </a:p>
        </p:txBody>
      </p:sp>
      <p:sp>
        <p:nvSpPr>
          <p:cNvPr id="37" name="Text 21">
            <a:extLst>
              <a:ext uri="{FF2B5EF4-FFF2-40B4-BE49-F238E27FC236}">
                <a16:creationId xmlns:a16="http://schemas.microsoft.com/office/drawing/2014/main" id="{8C3222CB-85A9-7C61-E9DE-0D32E784CB1D}"/>
              </a:ext>
            </a:extLst>
          </p:cNvPr>
          <p:cNvSpPr/>
          <p:nvPr/>
        </p:nvSpPr>
        <p:spPr>
          <a:xfrm>
            <a:off x="9372600" y="2468880"/>
            <a:ext cx="713232" cy="713232"/>
          </a:xfrm>
          <a:prstGeom prst="rect">
            <a:avLst/>
          </a:prstGeom>
          <a:noFill/>
          <a:ln/>
        </p:spPr>
        <p:txBody>
          <a:bodyPr wrap="square" rtlCol="0" anchor="ctr"/>
          <a:lstStyle/>
          <a:p>
            <a:pPr marL="0" indent="0" algn="ctr">
              <a:buNone/>
            </a:pPr>
            <a:r>
              <a:rPr lang="en-US" sz="2600" b="1" dirty="0">
                <a:solidFill>
                  <a:srgbClr val="FFFFFF"/>
                </a:solidFill>
                <a:latin typeface="Amazon Ember Display" pitchFamily="34" charset="0"/>
                <a:ea typeface="Arial" pitchFamily="34" charset="-122"/>
                <a:cs typeface="Arial" pitchFamily="34" charset="-120"/>
              </a:rPr>
              <a:t>4</a:t>
            </a:r>
            <a:endParaRPr lang="en-US" sz="2600" dirty="0"/>
          </a:p>
        </p:txBody>
      </p:sp>
      <p:sp>
        <p:nvSpPr>
          <p:cNvPr id="38" name="Text 22">
            <a:extLst>
              <a:ext uri="{FF2B5EF4-FFF2-40B4-BE49-F238E27FC236}">
                <a16:creationId xmlns:a16="http://schemas.microsoft.com/office/drawing/2014/main" id="{102D3042-4004-5567-C313-07D8D9422452}"/>
              </a:ext>
            </a:extLst>
          </p:cNvPr>
          <p:cNvSpPr/>
          <p:nvPr/>
        </p:nvSpPr>
        <p:spPr>
          <a:xfrm>
            <a:off x="9354312" y="3337560"/>
            <a:ext cx="2185416" cy="685800"/>
          </a:xfrm>
          <a:prstGeom prst="rect">
            <a:avLst/>
          </a:prstGeom>
          <a:noFill/>
          <a:ln/>
        </p:spPr>
        <p:txBody>
          <a:bodyPr wrap="square" rtlCol="0" anchor="ctr"/>
          <a:lstStyle/>
          <a:p>
            <a:pPr marL="0" indent="0">
              <a:buNone/>
            </a:pPr>
            <a:r>
              <a:rPr lang="en-US" sz="1600" b="1" dirty="0">
                <a:solidFill>
                  <a:srgbClr val="FFFFFF"/>
                </a:solidFill>
                <a:latin typeface="Amazon Ember" pitchFamily="34" charset="0"/>
                <a:ea typeface="Arial" pitchFamily="34" charset="-122"/>
                <a:cs typeface="Arial" pitchFamily="34" charset="-120"/>
              </a:rPr>
              <a:t>Include adversarial inputs</a:t>
            </a:r>
            <a:endParaRPr lang="en-US" sz="1600" dirty="0"/>
          </a:p>
        </p:txBody>
      </p:sp>
      <p:sp>
        <p:nvSpPr>
          <p:cNvPr id="39" name="Text 23">
            <a:extLst>
              <a:ext uri="{FF2B5EF4-FFF2-40B4-BE49-F238E27FC236}">
                <a16:creationId xmlns:a16="http://schemas.microsoft.com/office/drawing/2014/main" id="{F06EB102-AE88-C9DD-7151-308298B0325C}"/>
              </a:ext>
            </a:extLst>
          </p:cNvPr>
          <p:cNvSpPr/>
          <p:nvPr/>
        </p:nvSpPr>
        <p:spPr>
          <a:xfrm>
            <a:off x="9354312" y="4023360"/>
            <a:ext cx="2185416" cy="109728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Missing fields, handwriting, unusual formats. A clean-only golden set won’t predict production.</a:t>
            </a:r>
            <a:endParaRPr lang="en-US" sz="1250" dirty="0"/>
          </a:p>
        </p:txBody>
      </p:sp>
      <p:sp>
        <p:nvSpPr>
          <p:cNvPr id="50" name="Shape 19">
            <a:extLst>
              <a:ext uri="{FF2B5EF4-FFF2-40B4-BE49-F238E27FC236}">
                <a16:creationId xmlns:a16="http://schemas.microsoft.com/office/drawing/2014/main" id="{DBDE5952-08E5-E98A-80B4-AF8419B68794}"/>
              </a:ext>
            </a:extLst>
          </p:cNvPr>
          <p:cNvSpPr/>
          <p:nvPr/>
        </p:nvSpPr>
        <p:spPr>
          <a:xfrm>
            <a:off x="6242832" y="2194560"/>
            <a:ext cx="2697480" cy="3063240"/>
          </a:xfrm>
          <a:prstGeom prst="roundRect">
            <a:avLst>
              <a:gd name="adj" fmla="val 2712"/>
            </a:avLst>
          </a:prstGeom>
          <a:noFill/>
          <a:ln w="381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51" name="Shape 20">
            <a:extLst>
              <a:ext uri="{FF2B5EF4-FFF2-40B4-BE49-F238E27FC236}">
                <a16:creationId xmlns:a16="http://schemas.microsoft.com/office/drawing/2014/main" id="{7271463B-A490-A417-B3AF-11D6F66481ED}"/>
              </a:ext>
            </a:extLst>
          </p:cNvPr>
          <p:cNvSpPr/>
          <p:nvPr/>
        </p:nvSpPr>
        <p:spPr>
          <a:xfrm>
            <a:off x="6517152" y="2468880"/>
            <a:ext cx="713232" cy="713232"/>
          </a:xfrm>
          <a:prstGeom prst="ellipse">
            <a:avLst/>
          </a:prstGeom>
          <a:noFill/>
          <a:ln w="19050">
            <a:solidFill>
              <a:srgbClr val="FF9900"/>
            </a:solidFill>
            <a:prstDash val="solid"/>
          </a:ln>
        </p:spPr>
        <p:txBody>
          <a:bodyPr/>
          <a:lstStyle/>
          <a:p>
            <a:endParaRPr>
              <a:ln>
                <a:solidFill>
                  <a:schemeClr val="tx1"/>
                </a:solidFill>
              </a:ln>
            </a:endParaRPr>
          </a:p>
        </p:txBody>
      </p:sp>
      <p:sp>
        <p:nvSpPr>
          <p:cNvPr id="52" name="Text 21">
            <a:extLst>
              <a:ext uri="{FF2B5EF4-FFF2-40B4-BE49-F238E27FC236}">
                <a16:creationId xmlns:a16="http://schemas.microsoft.com/office/drawing/2014/main" id="{E98EBAA3-6B3A-31CF-CF98-12DE96AD9913}"/>
              </a:ext>
            </a:extLst>
          </p:cNvPr>
          <p:cNvSpPr/>
          <p:nvPr/>
        </p:nvSpPr>
        <p:spPr>
          <a:xfrm>
            <a:off x="6517152" y="2468880"/>
            <a:ext cx="713232" cy="713232"/>
          </a:xfrm>
          <a:prstGeom prst="rect">
            <a:avLst/>
          </a:prstGeom>
          <a:noFill/>
          <a:ln/>
        </p:spPr>
        <p:txBody>
          <a:bodyPr wrap="square" rtlCol="0" anchor="ctr"/>
          <a:lstStyle/>
          <a:p>
            <a:pPr marL="0" indent="0" algn="ctr">
              <a:buNone/>
            </a:pPr>
            <a:r>
              <a:rPr lang="en-US" sz="2600" b="1" dirty="0">
                <a:solidFill>
                  <a:srgbClr val="FFFFFF"/>
                </a:solidFill>
                <a:latin typeface="Amazon Ember Display" pitchFamily="34" charset="0"/>
                <a:ea typeface="Arial" pitchFamily="34" charset="-122"/>
                <a:cs typeface="Arial" pitchFamily="34" charset="-120"/>
              </a:rPr>
              <a:t>3</a:t>
            </a:r>
            <a:endParaRPr lang="en-US" sz="2600" dirty="0"/>
          </a:p>
        </p:txBody>
      </p:sp>
      <p:sp>
        <p:nvSpPr>
          <p:cNvPr id="53" name="Text 22">
            <a:extLst>
              <a:ext uri="{FF2B5EF4-FFF2-40B4-BE49-F238E27FC236}">
                <a16:creationId xmlns:a16="http://schemas.microsoft.com/office/drawing/2014/main" id="{408B861B-ADA1-7D30-F8CE-8521F44035BF}"/>
              </a:ext>
            </a:extLst>
          </p:cNvPr>
          <p:cNvSpPr/>
          <p:nvPr/>
        </p:nvSpPr>
        <p:spPr>
          <a:xfrm>
            <a:off x="6498864" y="3337560"/>
            <a:ext cx="2185416" cy="685800"/>
          </a:xfrm>
          <a:prstGeom prst="rect">
            <a:avLst/>
          </a:prstGeom>
          <a:noFill/>
          <a:ln/>
        </p:spPr>
        <p:txBody>
          <a:bodyPr wrap="square" rtlCol="0" anchor="ctr"/>
          <a:lstStyle/>
          <a:p>
            <a:r>
              <a:rPr lang="en-US" sz="1600" b="1" dirty="0">
                <a:solidFill>
                  <a:srgbClr val="FFFFFF"/>
                </a:solidFill>
                <a:latin typeface="Amazon Ember" pitchFamily="34" charset="0"/>
                <a:ea typeface="Arial" pitchFamily="34" charset="-122"/>
                <a:cs typeface="Arial" pitchFamily="34" charset="-120"/>
              </a:rPr>
              <a:t>Identify failure modes</a:t>
            </a:r>
            <a:endParaRPr lang="en-US" sz="1600" dirty="0"/>
          </a:p>
        </p:txBody>
      </p:sp>
      <p:sp>
        <p:nvSpPr>
          <p:cNvPr id="54" name="Text 23">
            <a:extLst>
              <a:ext uri="{FF2B5EF4-FFF2-40B4-BE49-F238E27FC236}">
                <a16:creationId xmlns:a16="http://schemas.microsoft.com/office/drawing/2014/main" id="{E4E32324-6BBA-92A9-D2CC-A5623BFFAF9E}"/>
              </a:ext>
            </a:extLst>
          </p:cNvPr>
          <p:cNvSpPr/>
          <p:nvPr/>
        </p:nvSpPr>
        <p:spPr>
          <a:xfrm>
            <a:off x="6498864" y="4023360"/>
            <a:ext cx="2185416" cy="1097280"/>
          </a:xfrm>
          <a:prstGeom prst="rect">
            <a:avLst/>
          </a:prstGeom>
          <a:noFill/>
          <a:ln/>
        </p:spPr>
        <p:txBody>
          <a:bodyPr wrap="square" rtlCol="0" anchor="ctr"/>
          <a:lstStyle/>
          <a:p>
            <a:pPr>
              <a:lnSpc>
                <a:spcPts val="1600"/>
              </a:lnSpc>
            </a:pPr>
            <a:r>
              <a:rPr lang="en-US" sz="1250" dirty="0">
                <a:latin typeface="Amazon Ember" pitchFamily="34" charset="0"/>
                <a:ea typeface="Arial" pitchFamily="34" charset="-122"/>
                <a:cs typeface="Arial" pitchFamily="34" charset="-120"/>
              </a:rPr>
              <a:t>A fake claim number, a missing date, a value from the wrong claim. Each is a category in your dataset.</a:t>
            </a:r>
            <a:endParaRPr lang="en-US" sz="1250" dirty="0"/>
          </a:p>
        </p:txBody>
      </p:sp>
      <p:sp>
        <p:nvSpPr>
          <p:cNvPr id="55" name="Shape 19">
            <a:extLst>
              <a:ext uri="{FF2B5EF4-FFF2-40B4-BE49-F238E27FC236}">
                <a16:creationId xmlns:a16="http://schemas.microsoft.com/office/drawing/2014/main" id="{C40DCF1B-4F9C-9AFA-821E-A15E324C6B44}"/>
              </a:ext>
            </a:extLst>
          </p:cNvPr>
          <p:cNvSpPr/>
          <p:nvPr/>
        </p:nvSpPr>
        <p:spPr>
          <a:xfrm>
            <a:off x="3326904" y="2194524"/>
            <a:ext cx="2697480" cy="3063240"/>
          </a:xfrm>
          <a:prstGeom prst="roundRect">
            <a:avLst>
              <a:gd name="adj" fmla="val 2712"/>
            </a:avLst>
          </a:prstGeom>
          <a:noFill/>
          <a:ln w="381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56" name="Shape 20">
            <a:extLst>
              <a:ext uri="{FF2B5EF4-FFF2-40B4-BE49-F238E27FC236}">
                <a16:creationId xmlns:a16="http://schemas.microsoft.com/office/drawing/2014/main" id="{C9B4E88F-DF04-72C4-A493-16BE61F5D040}"/>
              </a:ext>
            </a:extLst>
          </p:cNvPr>
          <p:cNvSpPr/>
          <p:nvPr/>
        </p:nvSpPr>
        <p:spPr>
          <a:xfrm>
            <a:off x="3601224" y="2468844"/>
            <a:ext cx="713232" cy="713232"/>
          </a:xfrm>
          <a:prstGeom prst="ellipse">
            <a:avLst/>
          </a:prstGeom>
          <a:noFill/>
          <a:ln w="19050">
            <a:solidFill>
              <a:srgbClr val="FF9900"/>
            </a:solidFill>
            <a:prstDash val="solid"/>
          </a:ln>
        </p:spPr>
        <p:txBody>
          <a:bodyPr/>
          <a:lstStyle/>
          <a:p>
            <a:endParaRPr dirty="0">
              <a:ln>
                <a:solidFill>
                  <a:schemeClr val="tx1"/>
                </a:solidFill>
              </a:ln>
            </a:endParaRPr>
          </a:p>
        </p:txBody>
      </p:sp>
      <p:sp>
        <p:nvSpPr>
          <p:cNvPr id="57" name="Text 21">
            <a:extLst>
              <a:ext uri="{FF2B5EF4-FFF2-40B4-BE49-F238E27FC236}">
                <a16:creationId xmlns:a16="http://schemas.microsoft.com/office/drawing/2014/main" id="{F00A8DEF-B4BC-CE92-BA04-82FAFDB8203A}"/>
              </a:ext>
            </a:extLst>
          </p:cNvPr>
          <p:cNvSpPr/>
          <p:nvPr/>
        </p:nvSpPr>
        <p:spPr>
          <a:xfrm>
            <a:off x="3601224" y="2468844"/>
            <a:ext cx="713232" cy="713232"/>
          </a:xfrm>
          <a:prstGeom prst="rect">
            <a:avLst/>
          </a:prstGeom>
          <a:noFill/>
          <a:ln/>
        </p:spPr>
        <p:txBody>
          <a:bodyPr wrap="square" rtlCol="0" anchor="ctr"/>
          <a:lstStyle/>
          <a:p>
            <a:pPr marL="0" indent="0" algn="ctr">
              <a:buNone/>
            </a:pPr>
            <a:r>
              <a:rPr lang="en-US" sz="2600" b="1" dirty="0">
                <a:solidFill>
                  <a:srgbClr val="FFFFFF"/>
                </a:solidFill>
                <a:latin typeface="Amazon Ember Display" pitchFamily="34" charset="0"/>
                <a:ea typeface="Arial" pitchFamily="34" charset="-122"/>
                <a:cs typeface="Arial" pitchFamily="34" charset="-120"/>
              </a:rPr>
              <a:t>2</a:t>
            </a:r>
            <a:endParaRPr lang="en-US" sz="2600" dirty="0"/>
          </a:p>
        </p:txBody>
      </p:sp>
      <p:sp>
        <p:nvSpPr>
          <p:cNvPr id="58" name="Text 22">
            <a:extLst>
              <a:ext uri="{FF2B5EF4-FFF2-40B4-BE49-F238E27FC236}">
                <a16:creationId xmlns:a16="http://schemas.microsoft.com/office/drawing/2014/main" id="{DB3B4200-E535-7A10-C4A9-662647A092A3}"/>
              </a:ext>
            </a:extLst>
          </p:cNvPr>
          <p:cNvSpPr/>
          <p:nvPr/>
        </p:nvSpPr>
        <p:spPr>
          <a:xfrm>
            <a:off x="3582936" y="3337524"/>
            <a:ext cx="2185416" cy="685800"/>
          </a:xfrm>
          <a:prstGeom prst="rect">
            <a:avLst/>
          </a:prstGeom>
          <a:noFill/>
          <a:ln/>
        </p:spPr>
        <p:txBody>
          <a:bodyPr wrap="square" rtlCol="0" anchor="ctr"/>
          <a:lstStyle/>
          <a:p>
            <a:r>
              <a:rPr lang="en-US" sz="1600" b="1" dirty="0">
                <a:solidFill>
                  <a:srgbClr val="FFFFFF"/>
                </a:solidFill>
                <a:latin typeface="Amazon Ember" pitchFamily="34" charset="0"/>
                <a:ea typeface="Arial" pitchFamily="34" charset="-122"/>
                <a:cs typeface="Arial" pitchFamily="34" charset="-120"/>
              </a:rPr>
              <a:t>Set the threshold</a:t>
            </a:r>
            <a:endParaRPr lang="en-US" sz="1600" dirty="0"/>
          </a:p>
        </p:txBody>
      </p:sp>
      <p:sp>
        <p:nvSpPr>
          <p:cNvPr id="59" name="Text 23">
            <a:extLst>
              <a:ext uri="{FF2B5EF4-FFF2-40B4-BE49-F238E27FC236}">
                <a16:creationId xmlns:a16="http://schemas.microsoft.com/office/drawing/2014/main" id="{1AA503C9-2009-D78B-718B-66E48D89DC57}"/>
              </a:ext>
            </a:extLst>
          </p:cNvPr>
          <p:cNvSpPr/>
          <p:nvPr/>
        </p:nvSpPr>
        <p:spPr>
          <a:xfrm>
            <a:off x="3582936" y="4023324"/>
            <a:ext cx="2185416" cy="1097280"/>
          </a:xfrm>
          <a:prstGeom prst="rect">
            <a:avLst/>
          </a:prstGeom>
          <a:noFill/>
          <a:ln/>
        </p:spPr>
        <p:txBody>
          <a:bodyPr wrap="square" rtlCol="0" anchor="ctr"/>
          <a:lstStyle/>
          <a:p>
            <a:pPr>
              <a:lnSpc>
                <a:spcPts val="1600"/>
              </a:lnSpc>
            </a:pPr>
            <a:r>
              <a:rPr lang="en-US" sz="1250" dirty="0">
                <a:latin typeface="Amazon Ember" pitchFamily="34" charset="0"/>
                <a:ea typeface="Arial" pitchFamily="34" charset="-122"/>
                <a:cs typeface="Arial" pitchFamily="34" charset="-120"/>
              </a:rPr>
              <a:t>100% on structured fields, &lt;2% hallucination, 99.5% schema-valid — from the requirement, not the prototype.</a:t>
            </a:r>
            <a:endParaRPr lang="en-US" sz="1250" dirty="0"/>
          </a:p>
        </p:txBody>
      </p:sp>
      <p:sp>
        <p:nvSpPr>
          <p:cNvPr id="60" name="Shape 19">
            <a:extLst>
              <a:ext uri="{FF2B5EF4-FFF2-40B4-BE49-F238E27FC236}">
                <a16:creationId xmlns:a16="http://schemas.microsoft.com/office/drawing/2014/main" id="{A8213BB1-3E65-1190-3DDE-B4A39BB11103}"/>
              </a:ext>
            </a:extLst>
          </p:cNvPr>
          <p:cNvSpPr/>
          <p:nvPr/>
        </p:nvSpPr>
        <p:spPr>
          <a:xfrm>
            <a:off x="410976" y="2194524"/>
            <a:ext cx="2697480" cy="3063240"/>
          </a:xfrm>
          <a:prstGeom prst="roundRect">
            <a:avLst>
              <a:gd name="adj" fmla="val 2712"/>
            </a:avLst>
          </a:prstGeom>
          <a:noFill/>
          <a:ln w="381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61" name="Shape 20">
            <a:extLst>
              <a:ext uri="{FF2B5EF4-FFF2-40B4-BE49-F238E27FC236}">
                <a16:creationId xmlns:a16="http://schemas.microsoft.com/office/drawing/2014/main" id="{B3AA9A0E-1E4B-4206-884D-63ADA7038B17}"/>
              </a:ext>
            </a:extLst>
          </p:cNvPr>
          <p:cNvSpPr/>
          <p:nvPr/>
        </p:nvSpPr>
        <p:spPr>
          <a:xfrm>
            <a:off x="685296" y="2468844"/>
            <a:ext cx="713232" cy="713232"/>
          </a:xfrm>
          <a:prstGeom prst="ellipse">
            <a:avLst/>
          </a:prstGeom>
          <a:noFill/>
          <a:ln w="19050">
            <a:solidFill>
              <a:srgbClr val="FF9900"/>
            </a:solidFill>
            <a:prstDash val="solid"/>
          </a:ln>
        </p:spPr>
        <p:txBody>
          <a:bodyPr/>
          <a:lstStyle/>
          <a:p>
            <a:endParaRPr dirty="0">
              <a:ln>
                <a:solidFill>
                  <a:schemeClr val="tx1"/>
                </a:solidFill>
              </a:ln>
            </a:endParaRPr>
          </a:p>
        </p:txBody>
      </p:sp>
      <p:sp>
        <p:nvSpPr>
          <p:cNvPr id="62" name="Text 21">
            <a:extLst>
              <a:ext uri="{FF2B5EF4-FFF2-40B4-BE49-F238E27FC236}">
                <a16:creationId xmlns:a16="http://schemas.microsoft.com/office/drawing/2014/main" id="{DA5E6BE1-8717-1943-0532-BBF9876EA6C8}"/>
              </a:ext>
            </a:extLst>
          </p:cNvPr>
          <p:cNvSpPr/>
          <p:nvPr/>
        </p:nvSpPr>
        <p:spPr>
          <a:xfrm>
            <a:off x="685296" y="2468844"/>
            <a:ext cx="713232" cy="713232"/>
          </a:xfrm>
          <a:prstGeom prst="rect">
            <a:avLst/>
          </a:prstGeom>
          <a:noFill/>
          <a:ln/>
        </p:spPr>
        <p:txBody>
          <a:bodyPr wrap="square" rtlCol="0" anchor="ctr"/>
          <a:lstStyle/>
          <a:p>
            <a:pPr marL="0" indent="0" algn="ctr">
              <a:buNone/>
            </a:pPr>
            <a:r>
              <a:rPr lang="en-US" sz="2600" b="1" dirty="0">
                <a:solidFill>
                  <a:srgbClr val="FFFFFF"/>
                </a:solidFill>
                <a:latin typeface="Amazon Ember Display" pitchFamily="34" charset="0"/>
                <a:ea typeface="Arial" pitchFamily="34" charset="-122"/>
                <a:cs typeface="Arial" pitchFamily="34" charset="-120"/>
              </a:rPr>
              <a:t>1</a:t>
            </a:r>
            <a:endParaRPr lang="en-US" sz="2600" dirty="0"/>
          </a:p>
        </p:txBody>
      </p:sp>
      <p:sp>
        <p:nvSpPr>
          <p:cNvPr id="63" name="Text 22">
            <a:extLst>
              <a:ext uri="{FF2B5EF4-FFF2-40B4-BE49-F238E27FC236}">
                <a16:creationId xmlns:a16="http://schemas.microsoft.com/office/drawing/2014/main" id="{BAE78E6C-CDD5-75E4-BBD8-7CFC08827387}"/>
              </a:ext>
            </a:extLst>
          </p:cNvPr>
          <p:cNvSpPr/>
          <p:nvPr/>
        </p:nvSpPr>
        <p:spPr>
          <a:xfrm>
            <a:off x="667008" y="3337524"/>
            <a:ext cx="2185416" cy="685800"/>
          </a:xfrm>
          <a:prstGeom prst="rect">
            <a:avLst/>
          </a:prstGeom>
          <a:noFill/>
          <a:ln/>
        </p:spPr>
        <p:txBody>
          <a:bodyPr wrap="square" rtlCol="0" anchor="ctr"/>
          <a:lstStyle/>
          <a:p>
            <a:r>
              <a:rPr lang="en-US" sz="1600" b="1" dirty="0">
                <a:solidFill>
                  <a:srgbClr val="FFFFFF"/>
                </a:solidFill>
                <a:latin typeface="Amazon Ember" pitchFamily="34" charset="0"/>
                <a:ea typeface="Arial" pitchFamily="34" charset="-122"/>
                <a:cs typeface="Arial" pitchFamily="34" charset="-120"/>
              </a:rPr>
              <a:t>Identify the behavior</a:t>
            </a:r>
            <a:endParaRPr lang="en-US" sz="1600" dirty="0"/>
          </a:p>
        </p:txBody>
      </p:sp>
      <p:sp>
        <p:nvSpPr>
          <p:cNvPr id="64" name="Text 23">
            <a:extLst>
              <a:ext uri="{FF2B5EF4-FFF2-40B4-BE49-F238E27FC236}">
                <a16:creationId xmlns:a16="http://schemas.microsoft.com/office/drawing/2014/main" id="{3BF4FD93-6F3C-E5CA-A64C-F21B5CFBC70C}"/>
              </a:ext>
            </a:extLst>
          </p:cNvPr>
          <p:cNvSpPr/>
          <p:nvPr/>
        </p:nvSpPr>
        <p:spPr>
          <a:xfrm>
            <a:off x="667008" y="4023324"/>
            <a:ext cx="2185416" cy="1097280"/>
          </a:xfrm>
          <a:prstGeom prst="rect">
            <a:avLst/>
          </a:prstGeom>
          <a:noFill/>
          <a:ln/>
        </p:spPr>
        <p:txBody>
          <a:bodyPr wrap="square" rtlCol="0" anchor="ctr"/>
          <a:lstStyle/>
          <a:p>
            <a:pPr>
              <a:lnSpc>
                <a:spcPts val="1600"/>
              </a:lnSpc>
            </a:pPr>
            <a:r>
              <a:rPr lang="en-US" sz="1250" dirty="0">
                <a:latin typeface="Amazon Ember" pitchFamily="34" charset="0"/>
                <a:ea typeface="Arial" pitchFamily="34" charset="-122"/>
                <a:cs typeface="Arial" pitchFamily="34" charset="-120"/>
              </a:rPr>
              <a:t>Be specific: "extract the filer’s name, claim number, incident date, and claimed amount."</a:t>
            </a:r>
            <a:endParaRPr lang="en-US" sz="1250" dirty="0"/>
          </a:p>
        </p:txBody>
      </p:sp>
    </p:spTree>
    <p:extLst>
      <p:ext uri="{BB962C8B-B14F-4D97-AF65-F5344CB8AC3E}">
        <p14:creationId xmlns:p14="http://schemas.microsoft.com/office/powerpoint/2010/main" val="3814538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312CEE07-BF42-F8F6-B31F-CF5EAF742E41}"/>
              </a:ext>
            </a:extLst>
          </p:cNvPr>
          <p:cNvSpPr txBox="1">
            <a:spLocks/>
          </p:cNvSpPr>
          <p:nvPr/>
        </p:nvSpPr>
        <p:spPr>
          <a:xfrm>
            <a:off x="273930" y="193657"/>
            <a:ext cx="11582400" cy="638175"/>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a:t>Evaluating models, knowledge-bases and agents</a:t>
            </a:r>
          </a:p>
        </p:txBody>
      </p:sp>
      <p:sp>
        <p:nvSpPr>
          <p:cNvPr id="3" name="Rectangle: Rounded Corners 14">
            <a:extLst>
              <a:ext uri="{FF2B5EF4-FFF2-40B4-BE49-F238E27FC236}">
                <a16:creationId xmlns:a16="http://schemas.microsoft.com/office/drawing/2014/main" id="{D19A16F1-2633-E56E-AE00-0BF1306BF092}"/>
              </a:ext>
            </a:extLst>
          </p:cNvPr>
          <p:cNvSpPr/>
          <p:nvPr/>
        </p:nvSpPr>
        <p:spPr>
          <a:xfrm>
            <a:off x="201023" y="1115405"/>
            <a:ext cx="11728214" cy="2487891"/>
          </a:xfrm>
          <a:prstGeom prst="roundRect">
            <a:avLst>
              <a:gd name="adj" fmla="val 11404"/>
            </a:avLst>
          </a:prstGeom>
          <a:noFill/>
          <a:ln>
            <a:gradFill flip="none" rotWithShape="1">
              <a:gsLst>
                <a:gs pos="0">
                  <a:schemeClr val="accent1"/>
                </a:gs>
                <a:gs pos="100000">
                  <a:schemeClr val="accent4"/>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 name="Text Placeholder 11">
            <a:extLst>
              <a:ext uri="{FF2B5EF4-FFF2-40B4-BE49-F238E27FC236}">
                <a16:creationId xmlns:a16="http://schemas.microsoft.com/office/drawing/2014/main" id="{FC6825A7-99A8-C105-17FF-5BFB59860C0B}"/>
              </a:ext>
            </a:extLst>
          </p:cNvPr>
          <p:cNvSpPr txBox="1">
            <a:spLocks/>
          </p:cNvSpPr>
          <p:nvPr/>
        </p:nvSpPr>
        <p:spPr>
          <a:xfrm>
            <a:off x="295305" y="2207441"/>
            <a:ext cx="1224960"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Accuracy </a:t>
            </a:r>
          </a:p>
        </p:txBody>
      </p:sp>
      <p:sp>
        <p:nvSpPr>
          <p:cNvPr id="5" name="Text Placeholder 11">
            <a:extLst>
              <a:ext uri="{FF2B5EF4-FFF2-40B4-BE49-F238E27FC236}">
                <a16:creationId xmlns:a16="http://schemas.microsoft.com/office/drawing/2014/main" id="{B5FE286B-9D77-BB52-9974-DA134239E407}"/>
              </a:ext>
            </a:extLst>
          </p:cNvPr>
          <p:cNvSpPr txBox="1">
            <a:spLocks/>
          </p:cNvSpPr>
          <p:nvPr/>
        </p:nvSpPr>
        <p:spPr>
          <a:xfrm>
            <a:off x="1531874" y="2212340"/>
            <a:ext cx="1117083"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Robustness </a:t>
            </a:r>
          </a:p>
        </p:txBody>
      </p:sp>
      <p:sp>
        <p:nvSpPr>
          <p:cNvPr id="6" name="Text Placeholder 11">
            <a:extLst>
              <a:ext uri="{FF2B5EF4-FFF2-40B4-BE49-F238E27FC236}">
                <a16:creationId xmlns:a16="http://schemas.microsoft.com/office/drawing/2014/main" id="{88A90C91-6C60-1B6A-5B57-543ADBF1A323}"/>
              </a:ext>
            </a:extLst>
          </p:cNvPr>
          <p:cNvSpPr txBox="1">
            <a:spLocks/>
          </p:cNvSpPr>
          <p:nvPr/>
        </p:nvSpPr>
        <p:spPr>
          <a:xfrm>
            <a:off x="2818786" y="2218670"/>
            <a:ext cx="1067534"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Toxicity </a:t>
            </a:r>
          </a:p>
        </p:txBody>
      </p:sp>
      <p:sp>
        <p:nvSpPr>
          <p:cNvPr id="7" name="Text Placeholder 11">
            <a:extLst>
              <a:ext uri="{FF2B5EF4-FFF2-40B4-BE49-F238E27FC236}">
                <a16:creationId xmlns:a16="http://schemas.microsoft.com/office/drawing/2014/main" id="{88FCB07F-783D-D7F2-1D57-7D2338F6AA1A}"/>
              </a:ext>
            </a:extLst>
          </p:cNvPr>
          <p:cNvSpPr txBox="1">
            <a:spLocks/>
          </p:cNvSpPr>
          <p:nvPr/>
        </p:nvSpPr>
        <p:spPr>
          <a:xfrm>
            <a:off x="4404986" y="1085440"/>
            <a:ext cx="3072749" cy="307777"/>
          </a:xfrm>
          <a:prstGeom prst="rect">
            <a:avLst/>
          </a:prstGeom>
          <a:noFill/>
        </p:spPr>
        <p:txBody>
          <a:bodyPr wrap="square" lIns="9144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Amazon Ember Display Heavy" panose="020F0803020204020204" pitchFamily="34" charset="0"/>
                <a:cs typeface="Amazon Ember Display Heavy" panose="020F0803020204020204" pitchFamily="34" charset="0"/>
              </a:rPr>
              <a:t>Programmatic/LLM evaluation  </a:t>
            </a:r>
          </a:p>
        </p:txBody>
      </p:sp>
      <p:grpSp>
        <p:nvGrpSpPr>
          <p:cNvPr id="8" name="Group 7">
            <a:extLst>
              <a:ext uri="{FF2B5EF4-FFF2-40B4-BE49-F238E27FC236}">
                <a16:creationId xmlns:a16="http://schemas.microsoft.com/office/drawing/2014/main" id="{E7C30B6B-CF60-3F69-8827-BC292561627C}"/>
              </a:ext>
            </a:extLst>
          </p:cNvPr>
          <p:cNvGrpSpPr/>
          <p:nvPr/>
        </p:nvGrpSpPr>
        <p:grpSpPr>
          <a:xfrm>
            <a:off x="688772" y="1636247"/>
            <a:ext cx="438912" cy="438912"/>
            <a:chOff x="1403795" y="1611926"/>
            <a:chExt cx="502921" cy="502920"/>
          </a:xfrm>
        </p:grpSpPr>
        <p:grpSp>
          <p:nvGrpSpPr>
            <p:cNvPr id="9" name="Graphic 132">
              <a:extLst>
                <a:ext uri="{FF2B5EF4-FFF2-40B4-BE49-F238E27FC236}">
                  <a16:creationId xmlns:a16="http://schemas.microsoft.com/office/drawing/2014/main" id="{FA4F63BA-C396-474B-86FC-F09B97105D13}"/>
                </a:ext>
              </a:extLst>
            </p:cNvPr>
            <p:cNvGrpSpPr>
              <a:grpSpLocks noChangeAspect="1"/>
            </p:cNvGrpSpPr>
            <p:nvPr/>
          </p:nvGrpSpPr>
          <p:grpSpPr>
            <a:xfrm>
              <a:off x="1403795" y="1611926"/>
              <a:ext cx="502921" cy="502920"/>
              <a:chOff x="8683057" y="1646606"/>
              <a:chExt cx="442537" cy="442536"/>
            </a:xfrm>
          </p:grpSpPr>
          <p:sp>
            <p:nvSpPr>
              <p:cNvPr id="11" name="Freeform: Shape 17">
                <a:extLst>
                  <a:ext uri="{FF2B5EF4-FFF2-40B4-BE49-F238E27FC236}">
                    <a16:creationId xmlns:a16="http://schemas.microsoft.com/office/drawing/2014/main" id="{905A6F4D-531E-E2E6-2A80-CCE450448EF8}"/>
                  </a:ext>
                </a:extLst>
              </p:cNvPr>
              <p:cNvSpPr/>
              <p:nvPr/>
            </p:nvSpPr>
            <p:spPr>
              <a:xfrm>
                <a:off x="8826922" y="1792723"/>
                <a:ext cx="151267" cy="151267"/>
              </a:xfrm>
              <a:custGeom>
                <a:avLst/>
                <a:gdLst>
                  <a:gd name="connsiteX0" fmla="*/ 147083 w 151266"/>
                  <a:gd name="connsiteY0" fmla="*/ 75955 h 151266"/>
                  <a:gd name="connsiteX1" fmla="*/ 75955 w 151266"/>
                  <a:gd name="connsiteY1" fmla="*/ 147083 h 151266"/>
                  <a:gd name="connsiteX2" fmla="*/ 4828 w 151266"/>
                  <a:gd name="connsiteY2" fmla="*/ 75955 h 151266"/>
                  <a:gd name="connsiteX3" fmla="*/ 75955 w 151266"/>
                  <a:gd name="connsiteY3" fmla="*/ 4828 h 151266"/>
                  <a:gd name="connsiteX4" fmla="*/ 147083 w 151266"/>
                  <a:gd name="connsiteY4" fmla="*/ 75955 h 1512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266" h="151266">
                    <a:moveTo>
                      <a:pt x="147083" y="75955"/>
                    </a:moveTo>
                    <a:cubicBezTo>
                      <a:pt x="147083" y="115238"/>
                      <a:pt x="115238" y="147083"/>
                      <a:pt x="75955" y="147083"/>
                    </a:cubicBezTo>
                    <a:cubicBezTo>
                      <a:pt x="36673" y="147083"/>
                      <a:pt x="4828" y="115238"/>
                      <a:pt x="4828" y="75955"/>
                    </a:cubicBezTo>
                    <a:cubicBezTo>
                      <a:pt x="4828" y="36673"/>
                      <a:pt x="36673" y="4828"/>
                      <a:pt x="75955" y="4828"/>
                    </a:cubicBezTo>
                    <a:cubicBezTo>
                      <a:pt x="115238" y="4828"/>
                      <a:pt x="147083" y="36673"/>
                      <a:pt x="147083" y="75955"/>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 name="Freeform: Shape 19">
                <a:extLst>
                  <a:ext uri="{FF2B5EF4-FFF2-40B4-BE49-F238E27FC236}">
                    <a16:creationId xmlns:a16="http://schemas.microsoft.com/office/drawing/2014/main" id="{AFF2434A-1BDE-82B6-AB4A-EE918D5BFF31}"/>
                  </a:ext>
                </a:extLst>
              </p:cNvPr>
              <p:cNvSpPr/>
              <p:nvPr/>
            </p:nvSpPr>
            <p:spPr>
              <a:xfrm>
                <a:off x="8772208" y="1738010"/>
                <a:ext cx="260694" cy="260694"/>
              </a:xfrm>
              <a:custGeom>
                <a:avLst/>
                <a:gdLst>
                  <a:gd name="connsiteX0" fmla="*/ 256510 w 260694"/>
                  <a:gd name="connsiteY0" fmla="*/ 130669 h 260694"/>
                  <a:gd name="connsiteX1" fmla="*/ 130669 w 260694"/>
                  <a:gd name="connsiteY1" fmla="*/ 256510 h 260694"/>
                  <a:gd name="connsiteX2" fmla="*/ 4828 w 260694"/>
                  <a:gd name="connsiteY2" fmla="*/ 130669 h 260694"/>
                  <a:gd name="connsiteX3" fmla="*/ 130669 w 260694"/>
                  <a:gd name="connsiteY3" fmla="*/ 4828 h 260694"/>
                  <a:gd name="connsiteX4" fmla="*/ 256510 w 260694"/>
                  <a:gd name="connsiteY4" fmla="*/ 130669 h 260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0694" h="260694">
                    <a:moveTo>
                      <a:pt x="256510" y="130669"/>
                    </a:moveTo>
                    <a:cubicBezTo>
                      <a:pt x="256510" y="200169"/>
                      <a:pt x="200169" y="256510"/>
                      <a:pt x="130669" y="256510"/>
                    </a:cubicBezTo>
                    <a:cubicBezTo>
                      <a:pt x="61169" y="256510"/>
                      <a:pt x="4828" y="200169"/>
                      <a:pt x="4828" y="130669"/>
                    </a:cubicBezTo>
                    <a:cubicBezTo>
                      <a:pt x="4828" y="61169"/>
                      <a:pt x="61169" y="4828"/>
                      <a:pt x="130669" y="4828"/>
                    </a:cubicBezTo>
                    <a:cubicBezTo>
                      <a:pt x="200169" y="4828"/>
                      <a:pt x="256510" y="61169"/>
                      <a:pt x="256510" y="130669"/>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 name="Freeform: Shape 20">
                <a:extLst>
                  <a:ext uri="{FF2B5EF4-FFF2-40B4-BE49-F238E27FC236}">
                    <a16:creationId xmlns:a16="http://schemas.microsoft.com/office/drawing/2014/main" id="{8C6C3406-6FBC-40A3-F683-60A6B07DA55F}"/>
                  </a:ext>
                </a:extLst>
              </p:cNvPr>
              <p:cNvSpPr/>
              <p:nvPr/>
            </p:nvSpPr>
            <p:spPr>
              <a:xfrm>
                <a:off x="8724253" y="1690055"/>
                <a:ext cx="357247" cy="354029"/>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 name="Freeform: Shape 21">
                <a:extLst>
                  <a:ext uri="{FF2B5EF4-FFF2-40B4-BE49-F238E27FC236}">
                    <a16:creationId xmlns:a16="http://schemas.microsoft.com/office/drawing/2014/main" id="{8D8E8209-8D95-A272-2ABD-7A4CA4EFECFC}"/>
                  </a:ext>
                </a:extLst>
              </p:cNvPr>
              <p:cNvSpPr/>
              <p:nvPr/>
            </p:nvSpPr>
            <p:spPr>
              <a:xfrm>
                <a:off x="8898049" y="1646606"/>
                <a:ext cx="9655" cy="189888"/>
              </a:xfrm>
              <a:custGeom>
                <a:avLst/>
                <a:gdLst>
                  <a:gd name="connsiteX0" fmla="*/ 4828 w 9655"/>
                  <a:gd name="connsiteY0" fmla="*/ 185704 h 189888"/>
                  <a:gd name="connsiteX1" fmla="*/ 4828 w 9655"/>
                  <a:gd name="connsiteY1" fmla="*/ 4828 h 189888"/>
                </a:gdLst>
                <a:ahLst/>
                <a:cxnLst>
                  <a:cxn ang="0">
                    <a:pos x="connsiteX0" y="connsiteY0"/>
                  </a:cxn>
                  <a:cxn ang="0">
                    <a:pos x="connsiteX1" y="connsiteY1"/>
                  </a:cxn>
                </a:cxnLst>
                <a:rect l="l" t="t" r="r" b="b"/>
                <a:pathLst>
                  <a:path w="9655" h="189888">
                    <a:moveTo>
                      <a:pt x="4828" y="185704"/>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 name="Freeform: Shape 22">
                <a:extLst>
                  <a:ext uri="{FF2B5EF4-FFF2-40B4-BE49-F238E27FC236}">
                    <a16:creationId xmlns:a16="http://schemas.microsoft.com/office/drawing/2014/main" id="{B1203C62-FDC9-8775-6B81-C8E7168E161F}"/>
                  </a:ext>
                </a:extLst>
              </p:cNvPr>
              <p:cNvSpPr/>
              <p:nvPr/>
            </p:nvSpPr>
            <p:spPr>
              <a:xfrm>
                <a:off x="8898049" y="1896035"/>
                <a:ext cx="9655" cy="193107"/>
              </a:xfrm>
              <a:custGeom>
                <a:avLst/>
                <a:gdLst>
                  <a:gd name="connsiteX0" fmla="*/ 4828 w 9655"/>
                  <a:gd name="connsiteY0" fmla="*/ 4828 h 193106"/>
                  <a:gd name="connsiteX1" fmla="*/ 4828 w 9655"/>
                  <a:gd name="connsiteY1" fmla="*/ 190532 h 193106"/>
                </a:gdLst>
                <a:ahLst/>
                <a:cxnLst>
                  <a:cxn ang="0">
                    <a:pos x="connsiteX0" y="connsiteY0"/>
                  </a:cxn>
                  <a:cxn ang="0">
                    <a:pos x="connsiteX1" y="connsiteY1"/>
                  </a:cxn>
                </a:cxnLst>
                <a:rect l="l" t="t" r="r" b="b"/>
                <a:pathLst>
                  <a:path w="9655" h="193106">
                    <a:moveTo>
                      <a:pt x="4828" y="4828"/>
                    </a:moveTo>
                    <a:lnTo>
                      <a:pt x="4828" y="190532"/>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 name="Freeform: Shape 23">
                <a:extLst>
                  <a:ext uri="{FF2B5EF4-FFF2-40B4-BE49-F238E27FC236}">
                    <a16:creationId xmlns:a16="http://schemas.microsoft.com/office/drawing/2014/main" id="{28F565FE-00F1-F798-60CC-7103423485D0}"/>
                  </a:ext>
                </a:extLst>
              </p:cNvPr>
              <p:cNvSpPr/>
              <p:nvPr/>
            </p:nvSpPr>
            <p:spPr>
              <a:xfrm>
                <a:off x="8683057" y="1861598"/>
                <a:ext cx="189888" cy="9655"/>
              </a:xfrm>
              <a:custGeom>
                <a:avLst/>
                <a:gdLst>
                  <a:gd name="connsiteX0" fmla="*/ 185704 w 189888"/>
                  <a:gd name="connsiteY0" fmla="*/ 4828 h 9655"/>
                  <a:gd name="connsiteX1" fmla="*/ 4828 w 189888"/>
                  <a:gd name="connsiteY1" fmla="*/ 4828 h 9655"/>
                </a:gdLst>
                <a:ahLst/>
                <a:cxnLst>
                  <a:cxn ang="0">
                    <a:pos x="connsiteX0" y="connsiteY0"/>
                  </a:cxn>
                  <a:cxn ang="0">
                    <a:pos x="connsiteX1" y="connsiteY1"/>
                  </a:cxn>
                </a:cxnLst>
                <a:rect l="l" t="t" r="r" b="b"/>
                <a:pathLst>
                  <a:path w="189888" h="9655">
                    <a:moveTo>
                      <a:pt x="185704" y="4828"/>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 name="Freeform: Shape 24">
                <a:extLst>
                  <a:ext uri="{FF2B5EF4-FFF2-40B4-BE49-F238E27FC236}">
                    <a16:creationId xmlns:a16="http://schemas.microsoft.com/office/drawing/2014/main" id="{12669548-20CA-2914-1A43-35CB5DBCEE50}"/>
                  </a:ext>
                </a:extLst>
              </p:cNvPr>
              <p:cNvSpPr/>
              <p:nvPr/>
            </p:nvSpPr>
            <p:spPr>
              <a:xfrm>
                <a:off x="8932487" y="1861598"/>
                <a:ext cx="193107" cy="9655"/>
              </a:xfrm>
              <a:custGeom>
                <a:avLst/>
                <a:gdLst>
                  <a:gd name="connsiteX0" fmla="*/ 4828 w 193106"/>
                  <a:gd name="connsiteY0" fmla="*/ 4828 h 9655"/>
                  <a:gd name="connsiteX1" fmla="*/ 190532 w 193106"/>
                  <a:gd name="connsiteY1" fmla="*/ 4828 h 9655"/>
                </a:gdLst>
                <a:ahLst/>
                <a:cxnLst>
                  <a:cxn ang="0">
                    <a:pos x="connsiteX0" y="connsiteY0"/>
                  </a:cxn>
                  <a:cxn ang="0">
                    <a:pos x="connsiteX1" y="connsiteY1"/>
                  </a:cxn>
                </a:cxnLst>
                <a:rect l="l" t="t" r="r" b="b"/>
                <a:pathLst>
                  <a:path w="193106" h="9655">
                    <a:moveTo>
                      <a:pt x="4828" y="4828"/>
                    </a:moveTo>
                    <a:lnTo>
                      <a:pt x="190532"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0" name="Freeform: Shape 27">
              <a:extLst>
                <a:ext uri="{FF2B5EF4-FFF2-40B4-BE49-F238E27FC236}">
                  <a16:creationId xmlns:a16="http://schemas.microsoft.com/office/drawing/2014/main" id="{DB076CF9-60DC-B3F9-600A-24E5C151B376}"/>
                </a:ext>
              </a:extLst>
            </p:cNvPr>
            <p:cNvSpPr/>
            <p:nvPr/>
          </p:nvSpPr>
          <p:spPr>
            <a:xfrm rot="7200000">
              <a:off x="1450612" y="1665327"/>
              <a:ext cx="405993" cy="402336"/>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8" name="Group 17">
            <a:extLst>
              <a:ext uri="{FF2B5EF4-FFF2-40B4-BE49-F238E27FC236}">
                <a16:creationId xmlns:a16="http://schemas.microsoft.com/office/drawing/2014/main" id="{ED7F087F-58F3-52D7-0953-6E6508A03604}"/>
              </a:ext>
            </a:extLst>
          </p:cNvPr>
          <p:cNvGrpSpPr/>
          <p:nvPr/>
        </p:nvGrpSpPr>
        <p:grpSpPr>
          <a:xfrm>
            <a:off x="1886872" y="1597502"/>
            <a:ext cx="438912" cy="438912"/>
            <a:chOff x="3641772" y="1633846"/>
            <a:chExt cx="535641" cy="467560"/>
          </a:xfrm>
        </p:grpSpPr>
        <p:sp>
          <p:nvSpPr>
            <p:cNvPr id="19" name="Freeform: Shape 30">
              <a:extLst>
                <a:ext uri="{FF2B5EF4-FFF2-40B4-BE49-F238E27FC236}">
                  <a16:creationId xmlns:a16="http://schemas.microsoft.com/office/drawing/2014/main" id="{893FC482-7C06-A2C1-CBA6-330F3CAD20F7}"/>
                </a:ext>
              </a:extLst>
            </p:cNvPr>
            <p:cNvSpPr/>
            <p:nvPr/>
          </p:nvSpPr>
          <p:spPr>
            <a:xfrm>
              <a:off x="3961249" y="1801117"/>
              <a:ext cx="62180" cy="76809"/>
            </a:xfrm>
            <a:custGeom>
              <a:avLst/>
              <a:gdLst>
                <a:gd name="connsiteX0" fmla="*/ 51817 w 54713"/>
                <a:gd name="connsiteY0" fmla="*/ 4828 h 67587"/>
                <a:gd name="connsiteX1" fmla="*/ 4828 w 54713"/>
                <a:gd name="connsiteY1" fmla="*/ 64691 h 67587"/>
              </a:gdLst>
              <a:ahLst/>
              <a:cxnLst>
                <a:cxn ang="0">
                  <a:pos x="connsiteX0" y="connsiteY0"/>
                </a:cxn>
                <a:cxn ang="0">
                  <a:pos x="connsiteX1" y="connsiteY1"/>
                </a:cxn>
              </a:cxnLst>
              <a:rect l="l" t="t" r="r" b="b"/>
              <a:pathLst>
                <a:path w="54713" h="67587">
                  <a:moveTo>
                    <a:pt x="51817" y="4828"/>
                  </a:moveTo>
                  <a:lnTo>
                    <a:pt x="4828" y="64691"/>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0" name="Freeform: Shape 31">
              <a:extLst>
                <a:ext uri="{FF2B5EF4-FFF2-40B4-BE49-F238E27FC236}">
                  <a16:creationId xmlns:a16="http://schemas.microsoft.com/office/drawing/2014/main" id="{F9CD55F1-68E9-F6D7-9203-92FCB05D3EF5}"/>
                </a:ext>
              </a:extLst>
            </p:cNvPr>
            <p:cNvSpPr/>
            <p:nvPr/>
          </p:nvSpPr>
          <p:spPr>
            <a:xfrm>
              <a:off x="4090362" y="1636525"/>
              <a:ext cx="62180" cy="76809"/>
            </a:xfrm>
            <a:custGeom>
              <a:avLst/>
              <a:gdLst>
                <a:gd name="connsiteX0" fmla="*/ 51495 w 54713"/>
                <a:gd name="connsiteY0" fmla="*/ 4828 h 67587"/>
                <a:gd name="connsiteX1" fmla="*/ 4828 w 54713"/>
                <a:gd name="connsiteY1" fmla="*/ 64691 h 67587"/>
              </a:gdLst>
              <a:ahLst/>
              <a:cxnLst>
                <a:cxn ang="0">
                  <a:pos x="connsiteX0" y="connsiteY0"/>
                </a:cxn>
                <a:cxn ang="0">
                  <a:pos x="connsiteX1" y="connsiteY1"/>
                </a:cxn>
              </a:cxnLst>
              <a:rect l="l" t="t" r="r" b="b"/>
              <a:pathLst>
                <a:path w="54713" h="67587">
                  <a:moveTo>
                    <a:pt x="51495" y="4828"/>
                  </a:moveTo>
                  <a:lnTo>
                    <a:pt x="4828" y="64691"/>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1" name="Freeform: Shape 32">
              <a:extLst>
                <a:ext uri="{FF2B5EF4-FFF2-40B4-BE49-F238E27FC236}">
                  <a16:creationId xmlns:a16="http://schemas.microsoft.com/office/drawing/2014/main" id="{97CE7EC1-ACB2-B677-E13D-351DA9B8748D}"/>
                </a:ext>
              </a:extLst>
            </p:cNvPr>
            <p:cNvSpPr/>
            <p:nvPr/>
          </p:nvSpPr>
          <p:spPr>
            <a:xfrm>
              <a:off x="4114502" y="1741864"/>
              <a:ext cx="54864" cy="14631"/>
            </a:xfrm>
            <a:custGeom>
              <a:avLst/>
              <a:gdLst>
                <a:gd name="connsiteX0" fmla="*/ 46346 w 48276"/>
                <a:gd name="connsiteY0" fmla="*/ 4828 h 12873"/>
                <a:gd name="connsiteX1" fmla="*/ 4828 w 48276"/>
                <a:gd name="connsiteY1" fmla="*/ 9977 h 12873"/>
              </a:gdLst>
              <a:ahLst/>
              <a:cxnLst>
                <a:cxn ang="0">
                  <a:pos x="connsiteX0" y="connsiteY0"/>
                </a:cxn>
                <a:cxn ang="0">
                  <a:pos x="connsiteX1" y="connsiteY1"/>
                </a:cxn>
              </a:cxnLst>
              <a:rect l="l" t="t" r="r" b="b"/>
              <a:pathLst>
                <a:path w="48276" h="12873">
                  <a:moveTo>
                    <a:pt x="46346" y="4828"/>
                  </a:moveTo>
                  <a:lnTo>
                    <a:pt x="4828" y="9977"/>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2" name="Freeform: Shape 33">
              <a:extLst>
                <a:ext uri="{FF2B5EF4-FFF2-40B4-BE49-F238E27FC236}">
                  <a16:creationId xmlns:a16="http://schemas.microsoft.com/office/drawing/2014/main" id="{739225CF-51D7-7126-9A10-AE08F9FE45D6}"/>
                </a:ext>
              </a:extLst>
            </p:cNvPr>
            <p:cNvSpPr/>
            <p:nvPr/>
          </p:nvSpPr>
          <p:spPr>
            <a:xfrm>
              <a:off x="4058175" y="1819405"/>
              <a:ext cx="14631" cy="58521"/>
            </a:xfrm>
            <a:custGeom>
              <a:avLst/>
              <a:gdLst>
                <a:gd name="connsiteX0" fmla="*/ 9655 w 12873"/>
                <a:gd name="connsiteY0" fmla="*/ 46667 h 51495"/>
                <a:gd name="connsiteX1" fmla="*/ 4828 w 12873"/>
                <a:gd name="connsiteY1" fmla="*/ 4828 h 51495"/>
              </a:gdLst>
              <a:ahLst/>
              <a:cxnLst>
                <a:cxn ang="0">
                  <a:pos x="connsiteX0" y="connsiteY0"/>
                </a:cxn>
                <a:cxn ang="0">
                  <a:pos x="connsiteX1" y="connsiteY1"/>
                </a:cxn>
              </a:cxnLst>
              <a:rect l="l" t="t" r="r" b="b"/>
              <a:pathLst>
                <a:path w="12873" h="51495">
                  <a:moveTo>
                    <a:pt x="9655" y="46667"/>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3" name="Freeform: Shape 34">
              <a:extLst>
                <a:ext uri="{FF2B5EF4-FFF2-40B4-BE49-F238E27FC236}">
                  <a16:creationId xmlns:a16="http://schemas.microsoft.com/office/drawing/2014/main" id="{B48237D8-043A-0EAA-3816-6D8080B2BC92}"/>
                </a:ext>
              </a:extLst>
            </p:cNvPr>
            <p:cNvSpPr/>
            <p:nvPr/>
          </p:nvSpPr>
          <p:spPr>
            <a:xfrm>
              <a:off x="4100604" y="1790875"/>
              <a:ext cx="76809" cy="62180"/>
            </a:xfrm>
            <a:custGeom>
              <a:avLst/>
              <a:gdLst>
                <a:gd name="connsiteX0" fmla="*/ 64691 w 67587"/>
                <a:gd name="connsiteY0" fmla="*/ 51817 h 54713"/>
                <a:gd name="connsiteX1" fmla="*/ 4828 w 67587"/>
                <a:gd name="connsiteY1" fmla="*/ 4828 h 54713"/>
              </a:gdLst>
              <a:ahLst/>
              <a:cxnLst>
                <a:cxn ang="0">
                  <a:pos x="connsiteX0" y="connsiteY0"/>
                </a:cxn>
                <a:cxn ang="0">
                  <a:pos x="connsiteX1" y="connsiteY1"/>
                </a:cxn>
              </a:cxnLst>
              <a:rect l="l" t="t" r="r" b="b"/>
              <a:pathLst>
                <a:path w="67587" h="54713">
                  <a:moveTo>
                    <a:pt x="64691" y="51817"/>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4" name="Freeform: Shape 35">
              <a:extLst>
                <a:ext uri="{FF2B5EF4-FFF2-40B4-BE49-F238E27FC236}">
                  <a16:creationId xmlns:a16="http://schemas.microsoft.com/office/drawing/2014/main" id="{EC0015C5-443E-0A3D-DA9D-98854452BC85}"/>
                </a:ext>
              </a:extLst>
            </p:cNvPr>
            <p:cNvSpPr/>
            <p:nvPr/>
          </p:nvSpPr>
          <p:spPr>
            <a:xfrm>
              <a:off x="3641772" y="1750276"/>
              <a:ext cx="314553" cy="351130"/>
            </a:xfrm>
            <a:custGeom>
              <a:avLst/>
              <a:gdLst>
                <a:gd name="connsiteX0" fmla="*/ 172013 w 276786"/>
                <a:gd name="connsiteY0" fmla="*/ 62438 h 308970"/>
                <a:gd name="connsiteX1" fmla="*/ 9481 w 276786"/>
                <a:gd name="connsiteY1" fmla="*/ 269062 h 308970"/>
                <a:gd name="connsiteX2" fmla="*/ 13022 w 276786"/>
                <a:gd name="connsiteY2" fmla="*/ 299637 h 308970"/>
                <a:gd name="connsiteX3" fmla="*/ 13022 w 276786"/>
                <a:gd name="connsiteY3" fmla="*/ 299637 h 308970"/>
                <a:gd name="connsiteX4" fmla="*/ 43597 w 276786"/>
                <a:gd name="connsiteY4" fmla="*/ 296097 h 308970"/>
                <a:gd name="connsiteX5" fmla="*/ 272428 w 276786"/>
                <a:gd name="connsiteY5" fmla="*/ 4828 h 308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786" h="308970">
                  <a:moveTo>
                    <a:pt x="172013" y="62438"/>
                  </a:moveTo>
                  <a:lnTo>
                    <a:pt x="9481" y="269062"/>
                  </a:lnTo>
                  <a:cubicBezTo>
                    <a:pt x="2079" y="278395"/>
                    <a:pt x="3688" y="292235"/>
                    <a:pt x="13022" y="299637"/>
                  </a:cubicBezTo>
                  <a:lnTo>
                    <a:pt x="13022" y="299637"/>
                  </a:lnTo>
                  <a:cubicBezTo>
                    <a:pt x="22355" y="307040"/>
                    <a:pt x="36195" y="305430"/>
                    <a:pt x="43597" y="296097"/>
                  </a:cubicBezTo>
                  <a:lnTo>
                    <a:pt x="272428" y="4828"/>
                  </a:ln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 name="Freeform: Shape 36">
              <a:extLst>
                <a:ext uri="{FF2B5EF4-FFF2-40B4-BE49-F238E27FC236}">
                  <a16:creationId xmlns:a16="http://schemas.microsoft.com/office/drawing/2014/main" id="{80E09A29-807E-B729-9A93-CF8CF96BA8E1}"/>
                </a:ext>
              </a:extLst>
            </p:cNvPr>
            <p:cNvSpPr/>
            <p:nvPr/>
          </p:nvSpPr>
          <p:spPr>
            <a:xfrm>
              <a:off x="3831770" y="1801117"/>
              <a:ext cx="21946" cy="25603"/>
            </a:xfrm>
            <a:custGeom>
              <a:avLst/>
              <a:gdLst>
                <a:gd name="connsiteX0" fmla="*/ 15127 w 19310"/>
                <a:gd name="connsiteY0" fmla="*/ 4828 h 22529"/>
                <a:gd name="connsiteX1" fmla="*/ 4828 w 19310"/>
                <a:gd name="connsiteY1" fmla="*/ 17701 h 22529"/>
              </a:gdLst>
              <a:ahLst/>
              <a:cxnLst>
                <a:cxn ang="0">
                  <a:pos x="connsiteX0" y="connsiteY0"/>
                </a:cxn>
                <a:cxn ang="0">
                  <a:pos x="connsiteX1" y="connsiteY1"/>
                </a:cxn>
              </a:cxnLst>
              <a:rect l="l" t="t" r="r" b="b"/>
              <a:pathLst>
                <a:path w="19310" h="22529">
                  <a:moveTo>
                    <a:pt x="15127" y="4828"/>
                  </a:moveTo>
                  <a:lnTo>
                    <a:pt x="4828" y="17701"/>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 name="Freeform: Shape 37">
              <a:extLst>
                <a:ext uri="{FF2B5EF4-FFF2-40B4-BE49-F238E27FC236}">
                  <a16:creationId xmlns:a16="http://schemas.microsoft.com/office/drawing/2014/main" id="{4E7153F4-8952-4F18-2E45-3F3A2887DBF8}"/>
                </a:ext>
              </a:extLst>
            </p:cNvPr>
            <p:cNvSpPr/>
            <p:nvPr/>
          </p:nvSpPr>
          <p:spPr>
            <a:xfrm>
              <a:off x="3857007" y="1719552"/>
              <a:ext cx="58521" cy="73152"/>
            </a:xfrm>
            <a:custGeom>
              <a:avLst/>
              <a:gdLst>
                <a:gd name="connsiteX0" fmla="*/ 49242 w 51495"/>
                <a:gd name="connsiteY0" fmla="*/ 4828 h 64368"/>
                <a:gd name="connsiteX1" fmla="*/ 4828 w 51495"/>
                <a:gd name="connsiteY1" fmla="*/ 61472 h 64368"/>
              </a:gdLst>
              <a:ahLst/>
              <a:cxnLst>
                <a:cxn ang="0">
                  <a:pos x="connsiteX0" y="connsiteY0"/>
                </a:cxn>
                <a:cxn ang="0">
                  <a:pos x="connsiteX1" y="connsiteY1"/>
                </a:cxn>
              </a:cxnLst>
              <a:rect l="l" t="t" r="r" b="b"/>
              <a:pathLst>
                <a:path w="51495" h="64368">
                  <a:moveTo>
                    <a:pt x="49242" y="4828"/>
                  </a:moveTo>
                  <a:lnTo>
                    <a:pt x="4828" y="61472"/>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 name="Freeform: Shape 38">
              <a:extLst>
                <a:ext uri="{FF2B5EF4-FFF2-40B4-BE49-F238E27FC236}">
                  <a16:creationId xmlns:a16="http://schemas.microsoft.com/office/drawing/2014/main" id="{5256C9BD-2109-F75F-33BA-56C14AD31B16}"/>
                </a:ext>
              </a:extLst>
            </p:cNvPr>
            <p:cNvSpPr/>
            <p:nvPr/>
          </p:nvSpPr>
          <p:spPr>
            <a:xfrm>
              <a:off x="4021232" y="1716479"/>
              <a:ext cx="57433" cy="74396"/>
            </a:xfrm>
            <a:custGeom>
              <a:avLst/>
              <a:gdLst>
                <a:gd name="connsiteX0" fmla="*/ 9005 w 57932"/>
                <a:gd name="connsiteY0" fmla="*/ 44545 h 61150"/>
                <a:gd name="connsiteX1" fmla="*/ 25741 w 57932"/>
                <a:gd name="connsiteY1" fmla="*/ 57740 h 61150"/>
                <a:gd name="connsiteX2" fmla="*/ 55029 w 57932"/>
                <a:gd name="connsiteY2" fmla="*/ 20406 h 61150"/>
                <a:gd name="connsiteX3" fmla="*/ 38293 w 57932"/>
                <a:gd name="connsiteY3" fmla="*/ 7211 h 61150"/>
                <a:gd name="connsiteX4" fmla="*/ 22845 w 57932"/>
                <a:gd name="connsiteY4" fmla="*/ 9142 h 61150"/>
                <a:gd name="connsiteX5" fmla="*/ 7074 w 57932"/>
                <a:gd name="connsiteY5" fmla="*/ 29096 h 61150"/>
                <a:gd name="connsiteX6" fmla="*/ 9005 w 57932"/>
                <a:gd name="connsiteY6" fmla="*/ 44545 h 6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932" h="61150">
                  <a:moveTo>
                    <a:pt x="9005" y="44545"/>
                  </a:moveTo>
                  <a:lnTo>
                    <a:pt x="25741" y="57740"/>
                  </a:lnTo>
                  <a:lnTo>
                    <a:pt x="55029" y="20406"/>
                  </a:lnTo>
                  <a:lnTo>
                    <a:pt x="38293" y="7211"/>
                  </a:lnTo>
                  <a:cubicBezTo>
                    <a:pt x="33466" y="3349"/>
                    <a:pt x="26707" y="4314"/>
                    <a:pt x="22845" y="9142"/>
                  </a:cubicBezTo>
                  <a:lnTo>
                    <a:pt x="7074" y="29096"/>
                  </a:lnTo>
                  <a:cubicBezTo>
                    <a:pt x="3534" y="33924"/>
                    <a:pt x="4178" y="40683"/>
                    <a:pt x="9005" y="44545"/>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 name="Freeform: Shape 39">
              <a:extLst>
                <a:ext uri="{FF2B5EF4-FFF2-40B4-BE49-F238E27FC236}">
                  <a16:creationId xmlns:a16="http://schemas.microsoft.com/office/drawing/2014/main" id="{24EC64B7-505C-575C-5602-BA0D31D9951B}"/>
                </a:ext>
              </a:extLst>
            </p:cNvPr>
            <p:cNvSpPr/>
            <p:nvPr/>
          </p:nvSpPr>
          <p:spPr>
            <a:xfrm>
              <a:off x="4009164" y="1691754"/>
              <a:ext cx="43891" cy="36575"/>
            </a:xfrm>
            <a:custGeom>
              <a:avLst/>
              <a:gdLst>
                <a:gd name="connsiteX0" fmla="*/ 4828 w 38621"/>
                <a:gd name="connsiteY0" fmla="*/ 4828 h 32184"/>
                <a:gd name="connsiteX1" fmla="*/ 16414 w 38621"/>
                <a:gd name="connsiteY1" fmla="*/ 21885 h 32184"/>
                <a:gd name="connsiteX2" fmla="*/ 35725 w 38621"/>
                <a:gd name="connsiteY2" fmla="*/ 29288 h 32184"/>
              </a:gdLst>
              <a:ahLst/>
              <a:cxnLst>
                <a:cxn ang="0">
                  <a:pos x="connsiteX0" y="connsiteY0"/>
                </a:cxn>
                <a:cxn ang="0">
                  <a:pos x="connsiteX1" y="connsiteY1"/>
                </a:cxn>
                <a:cxn ang="0">
                  <a:pos x="connsiteX2" y="connsiteY2"/>
                </a:cxn>
              </a:cxnLst>
              <a:rect l="l" t="t" r="r" b="b"/>
              <a:pathLst>
                <a:path w="38621" h="32184">
                  <a:moveTo>
                    <a:pt x="4828" y="4828"/>
                  </a:moveTo>
                  <a:cubicBezTo>
                    <a:pt x="6437" y="10943"/>
                    <a:pt x="10621" y="17058"/>
                    <a:pt x="16414" y="21885"/>
                  </a:cubicBezTo>
                  <a:cubicBezTo>
                    <a:pt x="22529" y="26713"/>
                    <a:pt x="29288" y="28966"/>
                    <a:pt x="35725" y="29288"/>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9" name="Freeform: Shape 40">
              <a:extLst>
                <a:ext uri="{FF2B5EF4-FFF2-40B4-BE49-F238E27FC236}">
                  <a16:creationId xmlns:a16="http://schemas.microsoft.com/office/drawing/2014/main" id="{F19914EF-2504-39B3-D26F-D0837B52EE03}"/>
                </a:ext>
              </a:extLst>
            </p:cNvPr>
            <p:cNvSpPr/>
            <p:nvPr/>
          </p:nvSpPr>
          <p:spPr>
            <a:xfrm>
              <a:off x="3980268" y="1729061"/>
              <a:ext cx="47549" cy="40234"/>
            </a:xfrm>
            <a:custGeom>
              <a:avLst/>
              <a:gdLst>
                <a:gd name="connsiteX0" fmla="*/ 37656 w 41839"/>
                <a:gd name="connsiteY0" fmla="*/ 30575 h 35402"/>
                <a:gd name="connsiteX1" fmla="*/ 25104 w 41839"/>
                <a:gd name="connsiteY1" fmla="*/ 12874 h 35402"/>
                <a:gd name="connsiteX2" fmla="*/ 4828 w 41839"/>
                <a:gd name="connsiteY2" fmla="*/ 4828 h 35402"/>
              </a:gdLst>
              <a:ahLst/>
              <a:cxnLst>
                <a:cxn ang="0">
                  <a:pos x="connsiteX0" y="connsiteY0"/>
                </a:cxn>
                <a:cxn ang="0">
                  <a:pos x="connsiteX1" y="connsiteY1"/>
                </a:cxn>
                <a:cxn ang="0">
                  <a:pos x="connsiteX2" y="connsiteY2"/>
                </a:cxn>
              </a:cxnLst>
              <a:rect l="l" t="t" r="r" b="b"/>
              <a:pathLst>
                <a:path w="41839" h="35402">
                  <a:moveTo>
                    <a:pt x="37656" y="30575"/>
                  </a:moveTo>
                  <a:cubicBezTo>
                    <a:pt x="35725" y="24138"/>
                    <a:pt x="31541" y="17701"/>
                    <a:pt x="25104" y="12874"/>
                  </a:cubicBezTo>
                  <a:cubicBezTo>
                    <a:pt x="18667" y="8046"/>
                    <a:pt x="11586" y="5150"/>
                    <a:pt x="4828" y="4828"/>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0" name="Freeform: Shape 41">
              <a:extLst>
                <a:ext uri="{FF2B5EF4-FFF2-40B4-BE49-F238E27FC236}">
                  <a16:creationId xmlns:a16="http://schemas.microsoft.com/office/drawing/2014/main" id="{56837E61-590B-22A4-EFA8-94BB5463DBB4}"/>
                </a:ext>
              </a:extLst>
            </p:cNvPr>
            <p:cNvSpPr/>
            <p:nvPr/>
          </p:nvSpPr>
          <p:spPr>
            <a:xfrm>
              <a:off x="3820065" y="1633846"/>
              <a:ext cx="201167" cy="124358"/>
            </a:xfrm>
            <a:custGeom>
              <a:avLst/>
              <a:gdLst>
                <a:gd name="connsiteX0" fmla="*/ 145796 w 177014"/>
                <a:gd name="connsiteY0" fmla="*/ 88611 h 109427"/>
                <a:gd name="connsiteX1" fmla="*/ 115864 w 177014"/>
                <a:gd name="connsiteY1" fmla="*/ 107278 h 109427"/>
                <a:gd name="connsiteX2" fmla="*/ 81749 w 177014"/>
                <a:gd name="connsiteY2" fmla="*/ 80243 h 109427"/>
                <a:gd name="connsiteX3" fmla="*/ 93979 w 177014"/>
                <a:gd name="connsiteY3" fmla="*/ 39691 h 109427"/>
                <a:gd name="connsiteX4" fmla="*/ 8046 w 177014"/>
                <a:gd name="connsiteY4" fmla="*/ 44197 h 109427"/>
                <a:gd name="connsiteX5" fmla="*/ 4828 w 177014"/>
                <a:gd name="connsiteY5" fmla="*/ 34863 h 109427"/>
                <a:gd name="connsiteX6" fmla="*/ 127129 w 177014"/>
                <a:gd name="connsiteY6" fmla="*/ 15231 h 109427"/>
                <a:gd name="connsiteX7" fmla="*/ 174118 w 177014"/>
                <a:gd name="connsiteY7" fmla="*/ 52243 h 109427"/>
                <a:gd name="connsiteX8" fmla="*/ 145796 w 177014"/>
                <a:gd name="connsiteY8" fmla="*/ 88611 h 109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7014" h="109427">
                  <a:moveTo>
                    <a:pt x="145796" y="88611"/>
                  </a:moveTo>
                  <a:lnTo>
                    <a:pt x="115864" y="107278"/>
                  </a:lnTo>
                  <a:lnTo>
                    <a:pt x="81749" y="80243"/>
                  </a:lnTo>
                  <a:cubicBezTo>
                    <a:pt x="81749" y="80243"/>
                    <a:pt x="101703" y="50956"/>
                    <a:pt x="93979" y="39691"/>
                  </a:cubicBezTo>
                  <a:cubicBezTo>
                    <a:pt x="84001" y="25208"/>
                    <a:pt x="45702" y="29392"/>
                    <a:pt x="8046" y="44197"/>
                  </a:cubicBezTo>
                  <a:lnTo>
                    <a:pt x="4828" y="34863"/>
                  </a:lnTo>
                  <a:cubicBezTo>
                    <a:pt x="4828" y="34863"/>
                    <a:pt x="86898" y="-16632"/>
                    <a:pt x="127129" y="15231"/>
                  </a:cubicBezTo>
                  <a:lnTo>
                    <a:pt x="174118" y="52243"/>
                  </a:lnTo>
                  <a:lnTo>
                    <a:pt x="145796" y="88611"/>
                  </a:ln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1" name="Freeform: Shape 42">
              <a:extLst>
                <a:ext uri="{FF2B5EF4-FFF2-40B4-BE49-F238E27FC236}">
                  <a16:creationId xmlns:a16="http://schemas.microsoft.com/office/drawing/2014/main" id="{67009BF0-E0A1-F887-5A81-08B97BE65C53}"/>
                </a:ext>
              </a:extLst>
            </p:cNvPr>
            <p:cNvSpPr/>
            <p:nvPr/>
          </p:nvSpPr>
          <p:spPr>
            <a:xfrm>
              <a:off x="3877855" y="1757225"/>
              <a:ext cx="47549" cy="40234"/>
            </a:xfrm>
            <a:custGeom>
              <a:avLst/>
              <a:gdLst>
                <a:gd name="connsiteX0" fmla="*/ 4828 w 41839"/>
                <a:gd name="connsiteY0" fmla="*/ 4828 h 35402"/>
                <a:gd name="connsiteX1" fmla="*/ 38943 w 41839"/>
                <a:gd name="connsiteY1" fmla="*/ 31863 h 35402"/>
              </a:gdLst>
              <a:ahLst/>
              <a:cxnLst>
                <a:cxn ang="0">
                  <a:pos x="connsiteX0" y="connsiteY0"/>
                </a:cxn>
                <a:cxn ang="0">
                  <a:pos x="connsiteX1" y="connsiteY1"/>
                </a:cxn>
              </a:cxnLst>
              <a:rect l="l" t="t" r="r" b="b"/>
              <a:pathLst>
                <a:path w="41839" h="35402">
                  <a:moveTo>
                    <a:pt x="4828" y="4828"/>
                  </a:moveTo>
                  <a:lnTo>
                    <a:pt x="38943" y="31863"/>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2" name="Freeform: Shape 43">
              <a:extLst>
                <a:ext uri="{FF2B5EF4-FFF2-40B4-BE49-F238E27FC236}">
                  <a16:creationId xmlns:a16="http://schemas.microsoft.com/office/drawing/2014/main" id="{200A2E52-EFCC-D84D-640A-684F03402537}"/>
                </a:ext>
              </a:extLst>
            </p:cNvPr>
            <p:cNvSpPr/>
            <p:nvPr/>
          </p:nvSpPr>
          <p:spPr>
            <a:xfrm>
              <a:off x="3696804" y="1938642"/>
              <a:ext cx="76809" cy="98755"/>
            </a:xfrm>
            <a:custGeom>
              <a:avLst/>
              <a:gdLst>
                <a:gd name="connsiteX0" fmla="*/ 65334 w 67587"/>
                <a:gd name="connsiteY0" fmla="*/ 4828 h 86898"/>
                <a:gd name="connsiteX1" fmla="*/ 4828 w 67587"/>
                <a:gd name="connsiteY1" fmla="*/ 82070 h 86898"/>
              </a:gdLst>
              <a:ahLst/>
              <a:cxnLst>
                <a:cxn ang="0">
                  <a:pos x="connsiteX0" y="connsiteY0"/>
                </a:cxn>
                <a:cxn ang="0">
                  <a:pos x="connsiteX1" y="connsiteY1"/>
                </a:cxn>
              </a:cxnLst>
              <a:rect l="l" t="t" r="r" b="b"/>
              <a:pathLst>
                <a:path w="67587" h="86898">
                  <a:moveTo>
                    <a:pt x="65334" y="4828"/>
                  </a:moveTo>
                  <a:lnTo>
                    <a:pt x="4828" y="82070"/>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3" name="Freeform: Shape 44">
              <a:extLst>
                <a:ext uri="{FF2B5EF4-FFF2-40B4-BE49-F238E27FC236}">
                  <a16:creationId xmlns:a16="http://schemas.microsoft.com/office/drawing/2014/main" id="{688DE5F0-3954-7431-FC3C-2CA19AAFEB0F}"/>
                </a:ext>
              </a:extLst>
            </p:cNvPr>
            <p:cNvSpPr/>
            <p:nvPr/>
          </p:nvSpPr>
          <p:spPr>
            <a:xfrm>
              <a:off x="3773614" y="1900969"/>
              <a:ext cx="29261" cy="36575"/>
            </a:xfrm>
            <a:custGeom>
              <a:avLst/>
              <a:gdLst>
                <a:gd name="connsiteX0" fmla="*/ 23816 w 25747"/>
                <a:gd name="connsiteY0" fmla="*/ 4828 h 32184"/>
                <a:gd name="connsiteX1" fmla="*/ 4828 w 25747"/>
                <a:gd name="connsiteY1" fmla="*/ 28966 h 32184"/>
              </a:gdLst>
              <a:ahLst/>
              <a:cxnLst>
                <a:cxn ang="0">
                  <a:pos x="connsiteX0" y="connsiteY0"/>
                </a:cxn>
                <a:cxn ang="0">
                  <a:pos x="connsiteX1" y="connsiteY1"/>
                </a:cxn>
              </a:cxnLst>
              <a:rect l="l" t="t" r="r" b="b"/>
              <a:pathLst>
                <a:path w="25747" h="32184">
                  <a:moveTo>
                    <a:pt x="23816" y="4828"/>
                  </a:moveTo>
                  <a:lnTo>
                    <a:pt x="4828" y="28966"/>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4" name="Freeform: Shape 45">
              <a:extLst>
                <a:ext uri="{FF2B5EF4-FFF2-40B4-BE49-F238E27FC236}">
                  <a16:creationId xmlns:a16="http://schemas.microsoft.com/office/drawing/2014/main" id="{B6CA14EA-7EBE-9107-ACA8-C15B9C564213}"/>
                </a:ext>
              </a:extLst>
            </p:cNvPr>
            <p:cNvSpPr/>
            <p:nvPr/>
          </p:nvSpPr>
          <p:spPr>
            <a:xfrm>
              <a:off x="3806167" y="1855615"/>
              <a:ext cx="32918" cy="40234"/>
            </a:xfrm>
            <a:custGeom>
              <a:avLst/>
              <a:gdLst>
                <a:gd name="connsiteX0" fmla="*/ 26391 w 28966"/>
                <a:gd name="connsiteY0" fmla="*/ 4828 h 35402"/>
                <a:gd name="connsiteX1" fmla="*/ 4828 w 28966"/>
                <a:gd name="connsiteY1" fmla="*/ 32506 h 35402"/>
              </a:gdLst>
              <a:ahLst/>
              <a:cxnLst>
                <a:cxn ang="0">
                  <a:pos x="connsiteX0" y="connsiteY0"/>
                </a:cxn>
                <a:cxn ang="0">
                  <a:pos x="connsiteX1" y="connsiteY1"/>
                </a:cxn>
              </a:cxnLst>
              <a:rect l="l" t="t" r="r" b="b"/>
              <a:pathLst>
                <a:path w="28966" h="35402">
                  <a:moveTo>
                    <a:pt x="26391" y="4828"/>
                  </a:moveTo>
                  <a:lnTo>
                    <a:pt x="4828" y="32506"/>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35" name="Group 34">
            <a:extLst>
              <a:ext uri="{FF2B5EF4-FFF2-40B4-BE49-F238E27FC236}">
                <a16:creationId xmlns:a16="http://schemas.microsoft.com/office/drawing/2014/main" id="{F79A6328-A172-016C-BE61-592DC4B9BF37}"/>
              </a:ext>
            </a:extLst>
          </p:cNvPr>
          <p:cNvGrpSpPr/>
          <p:nvPr/>
        </p:nvGrpSpPr>
        <p:grpSpPr>
          <a:xfrm>
            <a:off x="3085245" y="1597502"/>
            <a:ext cx="438912" cy="438912"/>
            <a:chOff x="4954464" y="1560409"/>
            <a:chExt cx="462864" cy="411480"/>
          </a:xfrm>
        </p:grpSpPr>
        <p:sp>
          <p:nvSpPr>
            <p:cNvPr id="36" name="Freeform: Shape 73">
              <a:extLst>
                <a:ext uri="{FF2B5EF4-FFF2-40B4-BE49-F238E27FC236}">
                  <a16:creationId xmlns:a16="http://schemas.microsoft.com/office/drawing/2014/main" id="{16CFC218-04CF-2D43-C6B1-D5F86DA96C68}"/>
                </a:ext>
              </a:extLst>
            </p:cNvPr>
            <p:cNvSpPr/>
            <p:nvPr/>
          </p:nvSpPr>
          <p:spPr>
            <a:xfrm>
              <a:off x="4954464" y="1560409"/>
              <a:ext cx="462864" cy="411480"/>
            </a:xfrm>
            <a:custGeom>
              <a:avLst/>
              <a:gdLst>
                <a:gd name="connsiteX0" fmla="*/ 100978 w 225291"/>
                <a:gd name="connsiteY0" fmla="*/ 11586 h 196325"/>
                <a:gd name="connsiteX1" fmla="*/ 6678 w 225291"/>
                <a:gd name="connsiteY1" fmla="*/ 171221 h 196325"/>
                <a:gd name="connsiteX2" fmla="*/ 19229 w 225291"/>
                <a:gd name="connsiteY2" fmla="*/ 193107 h 196325"/>
                <a:gd name="connsiteX3" fmla="*/ 208152 w 225291"/>
                <a:gd name="connsiteY3" fmla="*/ 193107 h 196325"/>
                <a:gd name="connsiteX4" fmla="*/ 220704 w 225291"/>
                <a:gd name="connsiteY4" fmla="*/ 171221 h 196325"/>
                <a:gd name="connsiteX5" fmla="*/ 126404 w 225291"/>
                <a:gd name="connsiteY5" fmla="*/ 11586 h 196325"/>
                <a:gd name="connsiteX6" fmla="*/ 100978 w 225291"/>
                <a:gd name="connsiteY6" fmla="*/ 11586 h 196325"/>
                <a:gd name="connsiteX7" fmla="*/ 100978 w 225291"/>
                <a:gd name="connsiteY7" fmla="*/ 11586 h 196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5291" h="196325">
                  <a:moveTo>
                    <a:pt x="100978" y="11586"/>
                  </a:moveTo>
                  <a:cubicBezTo>
                    <a:pt x="6678" y="171221"/>
                    <a:pt x="100978" y="11586"/>
                    <a:pt x="6678" y="171221"/>
                  </a:cubicBezTo>
                  <a:cubicBezTo>
                    <a:pt x="1206" y="180233"/>
                    <a:pt x="8609" y="193107"/>
                    <a:pt x="19229" y="193107"/>
                  </a:cubicBezTo>
                  <a:cubicBezTo>
                    <a:pt x="208152" y="193107"/>
                    <a:pt x="19229" y="193107"/>
                    <a:pt x="208152" y="193107"/>
                  </a:cubicBezTo>
                  <a:cubicBezTo>
                    <a:pt x="219095" y="193107"/>
                    <a:pt x="226176" y="180555"/>
                    <a:pt x="220704" y="171221"/>
                  </a:cubicBezTo>
                  <a:cubicBezTo>
                    <a:pt x="126404" y="11586"/>
                    <a:pt x="220704" y="171221"/>
                    <a:pt x="126404" y="11586"/>
                  </a:cubicBezTo>
                  <a:cubicBezTo>
                    <a:pt x="120932" y="2575"/>
                    <a:pt x="106449" y="2575"/>
                    <a:pt x="100978" y="11586"/>
                  </a:cubicBezTo>
                  <a:lnTo>
                    <a:pt x="100978" y="11586"/>
                  </a:ln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37" name="Freeform: Shape 74">
              <a:extLst>
                <a:ext uri="{FF2B5EF4-FFF2-40B4-BE49-F238E27FC236}">
                  <a16:creationId xmlns:a16="http://schemas.microsoft.com/office/drawing/2014/main" id="{B4B66D81-DA2F-B6A1-20DC-98FD21054D64}"/>
                </a:ext>
              </a:extLst>
            </p:cNvPr>
            <p:cNvSpPr/>
            <p:nvPr/>
          </p:nvSpPr>
          <p:spPr>
            <a:xfrm>
              <a:off x="5164238" y="1694984"/>
              <a:ext cx="46287" cy="215858"/>
            </a:xfrm>
            <a:custGeom>
              <a:avLst/>
              <a:gdLst>
                <a:gd name="connsiteX0" fmla="*/ 11425 w 22529"/>
                <a:gd name="connsiteY0" fmla="*/ 101864 h 102990"/>
                <a:gd name="connsiteX1" fmla="*/ 4989 w 22529"/>
                <a:gd name="connsiteY1" fmla="*/ 99289 h 102990"/>
                <a:gd name="connsiteX2" fmla="*/ 2414 w 22529"/>
                <a:gd name="connsiteY2" fmla="*/ 92852 h 102990"/>
                <a:gd name="connsiteX3" fmla="*/ 4989 w 22529"/>
                <a:gd name="connsiteY3" fmla="*/ 86415 h 102990"/>
                <a:gd name="connsiteX4" fmla="*/ 11425 w 22529"/>
                <a:gd name="connsiteY4" fmla="*/ 83840 h 102990"/>
                <a:gd name="connsiteX5" fmla="*/ 17862 w 22529"/>
                <a:gd name="connsiteY5" fmla="*/ 86415 h 102990"/>
                <a:gd name="connsiteX6" fmla="*/ 20437 w 22529"/>
                <a:gd name="connsiteY6" fmla="*/ 92852 h 102990"/>
                <a:gd name="connsiteX7" fmla="*/ 17862 w 22529"/>
                <a:gd name="connsiteY7" fmla="*/ 99289 h 102990"/>
                <a:gd name="connsiteX8" fmla="*/ 11425 w 22529"/>
                <a:gd name="connsiteY8" fmla="*/ 101864 h 102990"/>
                <a:gd name="connsiteX9" fmla="*/ 5632 w 22529"/>
                <a:gd name="connsiteY9" fmla="*/ 71289 h 102990"/>
                <a:gd name="connsiteX10" fmla="*/ 3701 w 22529"/>
                <a:gd name="connsiteY10" fmla="*/ 4345 h 102990"/>
                <a:gd name="connsiteX11" fmla="*/ 11425 w 22529"/>
                <a:gd name="connsiteY11" fmla="*/ 2414 h 102990"/>
                <a:gd name="connsiteX12" fmla="*/ 19150 w 22529"/>
                <a:gd name="connsiteY12" fmla="*/ 4345 h 102990"/>
                <a:gd name="connsiteX13" fmla="*/ 17219 w 22529"/>
                <a:gd name="connsiteY13" fmla="*/ 71289 h 102990"/>
                <a:gd name="connsiteX14" fmla="*/ 5632 w 22529"/>
                <a:gd name="connsiteY14" fmla="*/ 71289 h 102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9" h="102990">
                  <a:moveTo>
                    <a:pt x="11425" y="101864"/>
                  </a:moveTo>
                  <a:cubicBezTo>
                    <a:pt x="8851" y="101864"/>
                    <a:pt x="6598" y="100898"/>
                    <a:pt x="4989" y="99289"/>
                  </a:cubicBezTo>
                  <a:cubicBezTo>
                    <a:pt x="3379" y="97680"/>
                    <a:pt x="2414" y="95427"/>
                    <a:pt x="2414" y="92852"/>
                  </a:cubicBezTo>
                  <a:cubicBezTo>
                    <a:pt x="2414" y="90277"/>
                    <a:pt x="3379" y="88024"/>
                    <a:pt x="4989" y="86415"/>
                  </a:cubicBezTo>
                  <a:cubicBezTo>
                    <a:pt x="6598" y="84806"/>
                    <a:pt x="8851" y="83840"/>
                    <a:pt x="11425" y="83840"/>
                  </a:cubicBezTo>
                  <a:cubicBezTo>
                    <a:pt x="14000" y="83840"/>
                    <a:pt x="16253" y="84806"/>
                    <a:pt x="17862" y="86415"/>
                  </a:cubicBezTo>
                  <a:cubicBezTo>
                    <a:pt x="19472" y="88024"/>
                    <a:pt x="20437" y="90277"/>
                    <a:pt x="20437" y="92852"/>
                  </a:cubicBezTo>
                  <a:cubicBezTo>
                    <a:pt x="20437" y="95427"/>
                    <a:pt x="19472" y="97680"/>
                    <a:pt x="17862" y="99289"/>
                  </a:cubicBezTo>
                  <a:cubicBezTo>
                    <a:pt x="16253" y="100898"/>
                    <a:pt x="14000" y="101864"/>
                    <a:pt x="11425" y="101864"/>
                  </a:cubicBezTo>
                  <a:close/>
                  <a:moveTo>
                    <a:pt x="5632" y="71289"/>
                  </a:moveTo>
                  <a:lnTo>
                    <a:pt x="3701" y="4345"/>
                  </a:lnTo>
                  <a:cubicBezTo>
                    <a:pt x="5954" y="3058"/>
                    <a:pt x="8529" y="2414"/>
                    <a:pt x="11425" y="2414"/>
                  </a:cubicBezTo>
                  <a:cubicBezTo>
                    <a:pt x="14000" y="2414"/>
                    <a:pt x="16575" y="3058"/>
                    <a:pt x="19150" y="4345"/>
                  </a:cubicBezTo>
                  <a:lnTo>
                    <a:pt x="17219" y="71289"/>
                  </a:lnTo>
                  <a:lnTo>
                    <a:pt x="5632" y="71289"/>
                  </a:lnTo>
                  <a:close/>
                </a:path>
              </a:pathLst>
            </a:custGeom>
            <a:solidFill>
              <a:schemeClr val="tx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38" name="Text Placeholder 11">
            <a:extLst>
              <a:ext uri="{FF2B5EF4-FFF2-40B4-BE49-F238E27FC236}">
                <a16:creationId xmlns:a16="http://schemas.microsoft.com/office/drawing/2014/main" id="{DD7AAB05-4469-BB52-572F-458C2CDA91D1}"/>
              </a:ext>
            </a:extLst>
          </p:cNvPr>
          <p:cNvSpPr txBox="1">
            <a:spLocks/>
          </p:cNvSpPr>
          <p:nvPr/>
        </p:nvSpPr>
        <p:spPr>
          <a:xfrm>
            <a:off x="9464954" y="2101178"/>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Style </a:t>
            </a:r>
          </a:p>
        </p:txBody>
      </p:sp>
      <p:sp>
        <p:nvSpPr>
          <p:cNvPr id="39" name="Text Placeholder 11">
            <a:extLst>
              <a:ext uri="{FF2B5EF4-FFF2-40B4-BE49-F238E27FC236}">
                <a16:creationId xmlns:a16="http://schemas.microsoft.com/office/drawing/2014/main" id="{C2652372-8EE7-3797-D6F7-D1AE31494D43}"/>
              </a:ext>
            </a:extLst>
          </p:cNvPr>
          <p:cNvSpPr txBox="1">
            <a:spLocks/>
          </p:cNvSpPr>
          <p:nvPr/>
        </p:nvSpPr>
        <p:spPr>
          <a:xfrm>
            <a:off x="10860527" y="2101178"/>
            <a:ext cx="1196946"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Tone</a:t>
            </a:r>
          </a:p>
        </p:txBody>
      </p:sp>
      <p:grpSp>
        <p:nvGrpSpPr>
          <p:cNvPr id="40" name="Graphic 142">
            <a:extLst>
              <a:ext uri="{FF2B5EF4-FFF2-40B4-BE49-F238E27FC236}">
                <a16:creationId xmlns:a16="http://schemas.microsoft.com/office/drawing/2014/main" id="{DDA21F1B-EE43-AE05-49BA-C2624C58D29D}"/>
              </a:ext>
            </a:extLst>
          </p:cNvPr>
          <p:cNvGrpSpPr>
            <a:grpSpLocks noChangeAspect="1"/>
          </p:cNvGrpSpPr>
          <p:nvPr/>
        </p:nvGrpSpPr>
        <p:grpSpPr>
          <a:xfrm>
            <a:off x="9801328" y="1405937"/>
            <a:ext cx="731520" cy="731520"/>
            <a:chOff x="342824" y="7468279"/>
            <a:chExt cx="643689" cy="643689"/>
          </a:xfrm>
        </p:grpSpPr>
        <p:sp>
          <p:nvSpPr>
            <p:cNvPr id="41" name="Freeform: Shape 117">
              <a:extLst>
                <a:ext uri="{FF2B5EF4-FFF2-40B4-BE49-F238E27FC236}">
                  <a16:creationId xmlns:a16="http://schemas.microsoft.com/office/drawing/2014/main" id="{59BC5C4E-DA1D-DFBB-4D6C-AE2321F1CFEC}"/>
                </a:ext>
              </a:extLst>
            </p:cNvPr>
            <p:cNvSpPr/>
            <p:nvPr/>
          </p:nvSpPr>
          <p:spPr>
            <a:xfrm>
              <a:off x="599012" y="7877665"/>
              <a:ext cx="61150" cy="61150"/>
            </a:xfrm>
            <a:custGeom>
              <a:avLst/>
              <a:gdLst>
                <a:gd name="connsiteX0" fmla="*/ 4828 w 61150"/>
                <a:gd name="connsiteY0" fmla="*/ 57932 h 61150"/>
                <a:gd name="connsiteX1" fmla="*/ 56966 w 61150"/>
                <a:gd name="connsiteY1" fmla="*/ 40874 h 61150"/>
                <a:gd name="connsiteX2" fmla="*/ 19954 w 61150"/>
                <a:gd name="connsiteY2" fmla="*/ 4828 h 61150"/>
                <a:gd name="connsiteX3" fmla="*/ 4828 w 61150"/>
                <a:gd name="connsiteY3" fmla="*/ 57932 h 61150"/>
              </a:gdLst>
              <a:ahLst/>
              <a:cxnLst>
                <a:cxn ang="0">
                  <a:pos x="connsiteX0" y="connsiteY0"/>
                </a:cxn>
                <a:cxn ang="0">
                  <a:pos x="connsiteX1" y="connsiteY1"/>
                </a:cxn>
                <a:cxn ang="0">
                  <a:pos x="connsiteX2" y="connsiteY2"/>
                </a:cxn>
                <a:cxn ang="0">
                  <a:pos x="connsiteX3" y="connsiteY3"/>
                </a:cxn>
              </a:cxnLst>
              <a:rect l="l" t="t" r="r" b="b"/>
              <a:pathLst>
                <a:path w="61150" h="61150">
                  <a:moveTo>
                    <a:pt x="4828" y="57932"/>
                  </a:moveTo>
                  <a:cubicBezTo>
                    <a:pt x="4828" y="57932"/>
                    <a:pt x="46667" y="44415"/>
                    <a:pt x="56966" y="40874"/>
                  </a:cubicBezTo>
                  <a:lnTo>
                    <a:pt x="19954" y="4828"/>
                  </a:lnTo>
                  <a:lnTo>
                    <a:pt x="4828" y="57932"/>
                  </a:ln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2" name="Freeform: Shape 118">
              <a:extLst>
                <a:ext uri="{FF2B5EF4-FFF2-40B4-BE49-F238E27FC236}">
                  <a16:creationId xmlns:a16="http://schemas.microsoft.com/office/drawing/2014/main" id="{66823FD7-4217-2677-B2F6-39DBDE47A64B}"/>
                </a:ext>
              </a:extLst>
            </p:cNvPr>
            <p:cNvSpPr/>
            <p:nvPr/>
          </p:nvSpPr>
          <p:spPr>
            <a:xfrm>
              <a:off x="614139" y="7623408"/>
              <a:ext cx="292878" cy="299315"/>
            </a:xfrm>
            <a:custGeom>
              <a:avLst/>
              <a:gdLst>
                <a:gd name="connsiteX0" fmla="*/ 5471 w 292878"/>
                <a:gd name="connsiteY0" fmla="*/ 256832 h 299315"/>
                <a:gd name="connsiteX1" fmla="*/ 4828 w 292878"/>
                <a:gd name="connsiteY1" fmla="*/ 259407 h 299315"/>
                <a:gd name="connsiteX2" fmla="*/ 41840 w 292878"/>
                <a:gd name="connsiteY2" fmla="*/ 295453 h 299315"/>
                <a:gd name="connsiteX3" fmla="*/ 44093 w 292878"/>
                <a:gd name="connsiteY3" fmla="*/ 294488 h 299315"/>
                <a:gd name="connsiteX4" fmla="*/ 288695 w 292878"/>
                <a:gd name="connsiteY4" fmla="*/ 42483 h 299315"/>
                <a:gd name="connsiteX5" fmla="*/ 250073 w 292878"/>
                <a:gd name="connsiteY5" fmla="*/ 4828 h 299315"/>
                <a:gd name="connsiteX6" fmla="*/ 5471 w 292878"/>
                <a:gd name="connsiteY6" fmla="*/ 256832 h 299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2878" h="299315">
                  <a:moveTo>
                    <a:pt x="5471" y="256832"/>
                  </a:moveTo>
                  <a:lnTo>
                    <a:pt x="4828" y="259407"/>
                  </a:lnTo>
                  <a:lnTo>
                    <a:pt x="41840" y="295453"/>
                  </a:lnTo>
                  <a:cubicBezTo>
                    <a:pt x="43449" y="294810"/>
                    <a:pt x="44093" y="294810"/>
                    <a:pt x="44093" y="294488"/>
                  </a:cubicBezTo>
                  <a:lnTo>
                    <a:pt x="288695" y="42483"/>
                  </a:lnTo>
                  <a:lnTo>
                    <a:pt x="250073" y="4828"/>
                  </a:lnTo>
                  <a:lnTo>
                    <a:pt x="5471" y="256832"/>
                  </a:ln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3" name="Freeform: Shape 119">
              <a:extLst>
                <a:ext uri="{FF2B5EF4-FFF2-40B4-BE49-F238E27FC236}">
                  <a16:creationId xmlns:a16="http://schemas.microsoft.com/office/drawing/2014/main" id="{F850530F-499E-C997-2716-7BF98E4E1E1C}"/>
                </a:ext>
              </a:extLst>
            </p:cNvPr>
            <p:cNvSpPr/>
            <p:nvPr/>
          </p:nvSpPr>
          <p:spPr>
            <a:xfrm>
              <a:off x="857313" y="7598055"/>
              <a:ext cx="74024" cy="74024"/>
            </a:xfrm>
            <a:custGeom>
              <a:avLst/>
              <a:gdLst>
                <a:gd name="connsiteX0" fmla="*/ 6827 w 74024"/>
                <a:gd name="connsiteY0" fmla="*/ 29929 h 74024"/>
                <a:gd name="connsiteX1" fmla="*/ 29237 w 74024"/>
                <a:gd name="connsiteY1" fmla="*/ 6827 h 74024"/>
                <a:gd name="connsiteX2" fmla="*/ 67817 w 74024"/>
                <a:gd name="connsiteY2" fmla="*/ 44252 h 74024"/>
                <a:gd name="connsiteX3" fmla="*/ 45407 w 74024"/>
                <a:gd name="connsiteY3" fmla="*/ 67354 h 74024"/>
              </a:gdLst>
              <a:ahLst/>
              <a:cxnLst>
                <a:cxn ang="0">
                  <a:pos x="connsiteX0" y="connsiteY0"/>
                </a:cxn>
                <a:cxn ang="0">
                  <a:pos x="connsiteX1" y="connsiteY1"/>
                </a:cxn>
                <a:cxn ang="0">
                  <a:pos x="connsiteX2" y="connsiteY2"/>
                </a:cxn>
                <a:cxn ang="0">
                  <a:pos x="connsiteX3" y="connsiteY3"/>
                </a:cxn>
              </a:cxnLst>
              <a:rect l="l" t="t" r="r" b="b"/>
              <a:pathLst>
                <a:path w="74024" h="74024">
                  <a:moveTo>
                    <a:pt x="6827" y="29929"/>
                  </a:moveTo>
                  <a:lnTo>
                    <a:pt x="29237" y="6827"/>
                  </a:lnTo>
                  <a:lnTo>
                    <a:pt x="67817" y="44252"/>
                  </a:lnTo>
                  <a:lnTo>
                    <a:pt x="45407" y="67354"/>
                  </a:ln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4" name="Freeform: Shape 120">
              <a:extLst>
                <a:ext uri="{FF2B5EF4-FFF2-40B4-BE49-F238E27FC236}">
                  <a16:creationId xmlns:a16="http://schemas.microsoft.com/office/drawing/2014/main" id="{E65EEF67-DE6C-7D63-3FF4-29036FBF487E}"/>
                </a:ext>
              </a:extLst>
            </p:cNvPr>
            <p:cNvSpPr/>
            <p:nvPr/>
          </p:nvSpPr>
          <p:spPr>
            <a:xfrm>
              <a:off x="806280" y="7660742"/>
              <a:ext cx="119082" cy="148048"/>
            </a:xfrm>
            <a:custGeom>
              <a:avLst/>
              <a:gdLst>
                <a:gd name="connsiteX0" fmla="*/ 96231 w 119082"/>
                <a:gd name="connsiteY0" fmla="*/ 4828 h 148048"/>
                <a:gd name="connsiteX1" fmla="*/ 115542 w 119082"/>
                <a:gd name="connsiteY1" fmla="*/ 25104 h 148048"/>
                <a:gd name="connsiteX2" fmla="*/ 4828 w 119082"/>
                <a:gd name="connsiteY2" fmla="*/ 145152 h 148048"/>
              </a:gdLst>
              <a:ahLst/>
              <a:cxnLst>
                <a:cxn ang="0">
                  <a:pos x="connsiteX0" y="connsiteY0"/>
                </a:cxn>
                <a:cxn ang="0">
                  <a:pos x="connsiteX1" y="connsiteY1"/>
                </a:cxn>
                <a:cxn ang="0">
                  <a:pos x="connsiteX2" y="connsiteY2"/>
                </a:cxn>
              </a:cxnLst>
              <a:rect l="l" t="t" r="r" b="b"/>
              <a:pathLst>
                <a:path w="119082" h="148048">
                  <a:moveTo>
                    <a:pt x="96231" y="4828"/>
                  </a:moveTo>
                  <a:lnTo>
                    <a:pt x="115542" y="25104"/>
                  </a:lnTo>
                  <a:lnTo>
                    <a:pt x="4828" y="145152"/>
                  </a:ln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5" name="Freeform: Shape 121">
              <a:extLst>
                <a:ext uri="{FF2B5EF4-FFF2-40B4-BE49-F238E27FC236}">
                  <a16:creationId xmlns:a16="http://schemas.microsoft.com/office/drawing/2014/main" id="{681AF952-AE40-7A55-7C55-B5B099C5EE9D}"/>
                </a:ext>
              </a:extLst>
            </p:cNvPr>
            <p:cNvSpPr/>
            <p:nvPr/>
          </p:nvSpPr>
          <p:spPr>
            <a:xfrm>
              <a:off x="456113" y="7970356"/>
              <a:ext cx="222073" cy="9655"/>
            </a:xfrm>
            <a:custGeom>
              <a:avLst/>
              <a:gdLst>
                <a:gd name="connsiteX0" fmla="*/ 220142 w 222072"/>
                <a:gd name="connsiteY0" fmla="*/ 4828 h 9655"/>
                <a:gd name="connsiteX1" fmla="*/ 4828 w 222072"/>
                <a:gd name="connsiteY1" fmla="*/ 4828 h 9655"/>
              </a:gdLst>
              <a:ahLst/>
              <a:cxnLst>
                <a:cxn ang="0">
                  <a:pos x="connsiteX0" y="connsiteY0"/>
                </a:cxn>
                <a:cxn ang="0">
                  <a:pos x="connsiteX1" y="connsiteY1"/>
                </a:cxn>
              </a:cxnLst>
              <a:rect l="l" t="t" r="r" b="b"/>
              <a:pathLst>
                <a:path w="222072" h="9655">
                  <a:moveTo>
                    <a:pt x="220142" y="4828"/>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46" name="Freeform: Shape 122">
              <a:extLst>
                <a:ext uri="{FF2B5EF4-FFF2-40B4-BE49-F238E27FC236}">
                  <a16:creationId xmlns:a16="http://schemas.microsoft.com/office/drawing/2014/main" id="{E709CB69-4199-E83D-BDA0-8BF6D9D1D995}"/>
                </a:ext>
              </a:extLst>
            </p:cNvPr>
            <p:cNvSpPr/>
            <p:nvPr/>
          </p:nvSpPr>
          <p:spPr>
            <a:xfrm>
              <a:off x="399147" y="7970356"/>
              <a:ext cx="51495" cy="9655"/>
            </a:xfrm>
            <a:custGeom>
              <a:avLst/>
              <a:gdLst>
                <a:gd name="connsiteX0" fmla="*/ 49564 w 51495"/>
                <a:gd name="connsiteY0" fmla="*/ 4828 h 9655"/>
                <a:gd name="connsiteX1" fmla="*/ 4828 w 51495"/>
                <a:gd name="connsiteY1" fmla="*/ 4828 h 9655"/>
              </a:gdLst>
              <a:ahLst/>
              <a:cxnLst>
                <a:cxn ang="0">
                  <a:pos x="connsiteX0" y="connsiteY0"/>
                </a:cxn>
                <a:cxn ang="0">
                  <a:pos x="connsiteX1" y="connsiteY1"/>
                </a:cxn>
              </a:cxnLst>
              <a:rect l="l" t="t" r="r" b="b"/>
              <a:pathLst>
                <a:path w="51495" h="9655">
                  <a:moveTo>
                    <a:pt x="49564" y="4828"/>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grpSp>
      <p:grpSp>
        <p:nvGrpSpPr>
          <p:cNvPr id="47" name="Graphic 240">
            <a:extLst>
              <a:ext uri="{FF2B5EF4-FFF2-40B4-BE49-F238E27FC236}">
                <a16:creationId xmlns:a16="http://schemas.microsoft.com/office/drawing/2014/main" id="{2258E43F-8F08-8BDE-B320-AFB6E012B7CA}"/>
              </a:ext>
            </a:extLst>
          </p:cNvPr>
          <p:cNvGrpSpPr>
            <a:grpSpLocks noChangeAspect="1"/>
          </p:cNvGrpSpPr>
          <p:nvPr/>
        </p:nvGrpSpPr>
        <p:grpSpPr>
          <a:xfrm>
            <a:off x="8487414" y="1379464"/>
            <a:ext cx="731520" cy="731520"/>
            <a:chOff x="6079338" y="322847"/>
            <a:chExt cx="643689" cy="643689"/>
          </a:xfrm>
        </p:grpSpPr>
        <p:sp>
          <p:nvSpPr>
            <p:cNvPr id="48" name="Freeform: Shape 124">
              <a:extLst>
                <a:ext uri="{FF2B5EF4-FFF2-40B4-BE49-F238E27FC236}">
                  <a16:creationId xmlns:a16="http://schemas.microsoft.com/office/drawing/2014/main" id="{EA94BAB5-8BEF-A54A-E55F-78E8AED10812}"/>
                </a:ext>
              </a:extLst>
            </p:cNvPr>
            <p:cNvSpPr/>
            <p:nvPr/>
          </p:nvSpPr>
          <p:spPr>
            <a:xfrm>
              <a:off x="6272445" y="480229"/>
              <a:ext cx="270349" cy="308971"/>
            </a:xfrm>
            <a:custGeom>
              <a:avLst/>
              <a:gdLst>
                <a:gd name="connsiteX0" fmla="*/ 265522 w 270349"/>
                <a:gd name="connsiteY0" fmla="*/ 135175 h 308970"/>
                <a:gd name="connsiteX1" fmla="*/ 135175 w 270349"/>
                <a:gd name="connsiteY1" fmla="*/ 4828 h 308970"/>
                <a:gd name="connsiteX2" fmla="*/ 4828 w 270349"/>
                <a:gd name="connsiteY2" fmla="*/ 135175 h 308970"/>
                <a:gd name="connsiteX3" fmla="*/ 78852 w 270349"/>
                <a:gd name="connsiteY3" fmla="*/ 252648 h 308970"/>
                <a:gd name="connsiteX4" fmla="*/ 78852 w 270349"/>
                <a:gd name="connsiteY4" fmla="*/ 305109 h 308970"/>
                <a:gd name="connsiteX5" fmla="*/ 191497 w 270349"/>
                <a:gd name="connsiteY5" fmla="*/ 305109 h 308970"/>
                <a:gd name="connsiteX6" fmla="*/ 191497 w 270349"/>
                <a:gd name="connsiteY6" fmla="*/ 252648 h 308970"/>
                <a:gd name="connsiteX7" fmla="*/ 265522 w 270349"/>
                <a:gd name="connsiteY7" fmla="*/ 135175 h 308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0349" h="308970">
                  <a:moveTo>
                    <a:pt x="265522" y="135175"/>
                  </a:moveTo>
                  <a:cubicBezTo>
                    <a:pt x="265522" y="63082"/>
                    <a:pt x="207268" y="4828"/>
                    <a:pt x="135175" y="4828"/>
                  </a:cubicBezTo>
                  <a:cubicBezTo>
                    <a:pt x="63082" y="4828"/>
                    <a:pt x="4828" y="63082"/>
                    <a:pt x="4828" y="135175"/>
                  </a:cubicBezTo>
                  <a:cubicBezTo>
                    <a:pt x="4828" y="186992"/>
                    <a:pt x="35081" y="231728"/>
                    <a:pt x="78852" y="252648"/>
                  </a:cubicBezTo>
                  <a:lnTo>
                    <a:pt x="78852" y="305109"/>
                  </a:lnTo>
                  <a:lnTo>
                    <a:pt x="191497" y="305109"/>
                  </a:lnTo>
                  <a:lnTo>
                    <a:pt x="191497" y="252648"/>
                  </a:lnTo>
                  <a:cubicBezTo>
                    <a:pt x="235268" y="231728"/>
                    <a:pt x="265522" y="186992"/>
                    <a:pt x="265522" y="135175"/>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49" name="Freeform: Shape 125">
              <a:extLst>
                <a:ext uri="{FF2B5EF4-FFF2-40B4-BE49-F238E27FC236}">
                  <a16:creationId xmlns:a16="http://schemas.microsoft.com/office/drawing/2014/main" id="{193CCF00-A039-2A23-F8C1-CBC598BD46D4}"/>
                </a:ext>
              </a:extLst>
            </p:cNvPr>
            <p:cNvSpPr/>
            <p:nvPr/>
          </p:nvSpPr>
          <p:spPr>
            <a:xfrm>
              <a:off x="6402792" y="664324"/>
              <a:ext cx="9655" cy="125519"/>
            </a:xfrm>
            <a:custGeom>
              <a:avLst/>
              <a:gdLst>
                <a:gd name="connsiteX0" fmla="*/ 4828 w 9655"/>
                <a:gd name="connsiteY0" fmla="*/ 121014 h 125519"/>
                <a:gd name="connsiteX1" fmla="*/ 4828 w 9655"/>
                <a:gd name="connsiteY1" fmla="*/ 4828 h 125519"/>
              </a:gdLst>
              <a:ahLst/>
              <a:cxnLst>
                <a:cxn ang="0">
                  <a:pos x="connsiteX0" y="connsiteY0"/>
                </a:cxn>
                <a:cxn ang="0">
                  <a:pos x="connsiteX1" y="connsiteY1"/>
                </a:cxn>
              </a:cxnLst>
              <a:rect l="l" t="t" r="r" b="b"/>
              <a:pathLst>
                <a:path w="9655" h="125519">
                  <a:moveTo>
                    <a:pt x="4828" y="121014"/>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0" name="Freeform: Shape 126">
              <a:extLst>
                <a:ext uri="{FF2B5EF4-FFF2-40B4-BE49-F238E27FC236}">
                  <a16:creationId xmlns:a16="http://schemas.microsoft.com/office/drawing/2014/main" id="{29DC0E62-012B-4349-E4AC-AD92DCEA8215}"/>
                </a:ext>
              </a:extLst>
            </p:cNvPr>
            <p:cNvSpPr/>
            <p:nvPr/>
          </p:nvSpPr>
          <p:spPr>
            <a:xfrm>
              <a:off x="6373826" y="663358"/>
              <a:ext cx="67587" cy="9655"/>
            </a:xfrm>
            <a:custGeom>
              <a:avLst/>
              <a:gdLst>
                <a:gd name="connsiteX0" fmla="*/ 4828 w 67587"/>
                <a:gd name="connsiteY0" fmla="*/ 4828 h 9655"/>
                <a:gd name="connsiteX1" fmla="*/ 62760 w 67587"/>
                <a:gd name="connsiteY1" fmla="*/ 4828 h 9655"/>
              </a:gdLst>
              <a:ahLst/>
              <a:cxnLst>
                <a:cxn ang="0">
                  <a:pos x="connsiteX0" y="connsiteY0"/>
                </a:cxn>
                <a:cxn ang="0">
                  <a:pos x="connsiteX1" y="connsiteY1"/>
                </a:cxn>
              </a:cxnLst>
              <a:rect l="l" t="t" r="r" b="b"/>
              <a:pathLst>
                <a:path w="67587" h="9655">
                  <a:moveTo>
                    <a:pt x="4828" y="4828"/>
                  </a:moveTo>
                  <a:lnTo>
                    <a:pt x="62760"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1" name="Freeform: Shape 127">
              <a:extLst>
                <a:ext uri="{FF2B5EF4-FFF2-40B4-BE49-F238E27FC236}">
                  <a16:creationId xmlns:a16="http://schemas.microsoft.com/office/drawing/2014/main" id="{5A0BCFEE-E42F-56F3-6FA0-EBE93DB81C5F}"/>
                </a:ext>
              </a:extLst>
            </p:cNvPr>
            <p:cNvSpPr/>
            <p:nvPr/>
          </p:nvSpPr>
          <p:spPr>
            <a:xfrm>
              <a:off x="6318147" y="404917"/>
              <a:ext cx="28966" cy="61150"/>
            </a:xfrm>
            <a:custGeom>
              <a:avLst/>
              <a:gdLst>
                <a:gd name="connsiteX0" fmla="*/ 26713 w 28966"/>
                <a:gd name="connsiteY0" fmla="*/ 57610 h 61150"/>
                <a:gd name="connsiteX1" fmla="*/ 4828 w 28966"/>
                <a:gd name="connsiteY1" fmla="*/ 4828 h 61150"/>
              </a:gdLst>
              <a:ahLst/>
              <a:cxnLst>
                <a:cxn ang="0">
                  <a:pos x="connsiteX0" y="connsiteY0"/>
                </a:cxn>
                <a:cxn ang="0">
                  <a:pos x="connsiteX1" y="connsiteY1"/>
                </a:cxn>
              </a:cxnLst>
              <a:rect l="l" t="t" r="r" b="b"/>
              <a:pathLst>
                <a:path w="28966" h="61150">
                  <a:moveTo>
                    <a:pt x="26713" y="57610"/>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2" name="Freeform: Shape 128">
              <a:extLst>
                <a:ext uri="{FF2B5EF4-FFF2-40B4-BE49-F238E27FC236}">
                  <a16:creationId xmlns:a16="http://schemas.microsoft.com/office/drawing/2014/main" id="{9C99B244-8A15-8761-1439-5E15C3F674C2}"/>
                </a:ext>
              </a:extLst>
            </p:cNvPr>
            <p:cNvSpPr/>
            <p:nvPr/>
          </p:nvSpPr>
          <p:spPr>
            <a:xfrm>
              <a:off x="6198099" y="672048"/>
              <a:ext cx="61150" cy="28966"/>
            </a:xfrm>
            <a:custGeom>
              <a:avLst/>
              <a:gdLst>
                <a:gd name="connsiteX0" fmla="*/ 4828 w 61150"/>
                <a:gd name="connsiteY0" fmla="*/ 27035 h 28966"/>
                <a:gd name="connsiteX1" fmla="*/ 57932 w 61150"/>
                <a:gd name="connsiteY1" fmla="*/ 4828 h 28966"/>
              </a:gdLst>
              <a:ahLst/>
              <a:cxnLst>
                <a:cxn ang="0">
                  <a:pos x="connsiteX0" y="connsiteY0"/>
                </a:cxn>
                <a:cxn ang="0">
                  <a:pos x="connsiteX1" y="connsiteY1"/>
                </a:cxn>
              </a:cxnLst>
              <a:rect l="l" t="t" r="r" b="b"/>
              <a:pathLst>
                <a:path w="61150" h="28966">
                  <a:moveTo>
                    <a:pt x="4828" y="27035"/>
                  </a:moveTo>
                  <a:lnTo>
                    <a:pt x="57932"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3" name="Freeform: Shape 129">
              <a:extLst>
                <a:ext uri="{FF2B5EF4-FFF2-40B4-BE49-F238E27FC236}">
                  <a16:creationId xmlns:a16="http://schemas.microsoft.com/office/drawing/2014/main" id="{A2B5656D-5063-8AA6-0C62-02733FE5B3E3}"/>
                </a:ext>
              </a:extLst>
            </p:cNvPr>
            <p:cNvSpPr/>
            <p:nvPr/>
          </p:nvSpPr>
          <p:spPr>
            <a:xfrm>
              <a:off x="6554380" y="524644"/>
              <a:ext cx="61150" cy="28966"/>
            </a:xfrm>
            <a:custGeom>
              <a:avLst/>
              <a:gdLst>
                <a:gd name="connsiteX0" fmla="*/ 4828 w 61150"/>
                <a:gd name="connsiteY0" fmla="*/ 26713 h 28966"/>
                <a:gd name="connsiteX1" fmla="*/ 57932 w 61150"/>
                <a:gd name="connsiteY1" fmla="*/ 4828 h 28966"/>
              </a:gdLst>
              <a:ahLst/>
              <a:cxnLst>
                <a:cxn ang="0">
                  <a:pos x="connsiteX0" y="connsiteY0"/>
                </a:cxn>
                <a:cxn ang="0">
                  <a:pos x="connsiteX1" y="connsiteY1"/>
                </a:cxn>
              </a:cxnLst>
              <a:rect l="l" t="t" r="r" b="b"/>
              <a:pathLst>
                <a:path w="61150" h="28966">
                  <a:moveTo>
                    <a:pt x="4828" y="26713"/>
                  </a:moveTo>
                  <a:lnTo>
                    <a:pt x="57932"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4" name="Freeform: Shape 130">
              <a:extLst>
                <a:ext uri="{FF2B5EF4-FFF2-40B4-BE49-F238E27FC236}">
                  <a16:creationId xmlns:a16="http://schemas.microsoft.com/office/drawing/2014/main" id="{D18FDF7A-DEDF-CDE2-4AD2-F4D8A985697F}"/>
                </a:ext>
              </a:extLst>
            </p:cNvPr>
            <p:cNvSpPr/>
            <p:nvPr/>
          </p:nvSpPr>
          <p:spPr>
            <a:xfrm>
              <a:off x="6198099" y="524644"/>
              <a:ext cx="61150" cy="28966"/>
            </a:xfrm>
            <a:custGeom>
              <a:avLst/>
              <a:gdLst>
                <a:gd name="connsiteX0" fmla="*/ 4828 w 61150"/>
                <a:gd name="connsiteY0" fmla="*/ 4828 h 28966"/>
                <a:gd name="connsiteX1" fmla="*/ 57932 w 61150"/>
                <a:gd name="connsiteY1" fmla="*/ 27035 h 28966"/>
              </a:gdLst>
              <a:ahLst/>
              <a:cxnLst>
                <a:cxn ang="0">
                  <a:pos x="connsiteX0" y="connsiteY0"/>
                </a:cxn>
                <a:cxn ang="0">
                  <a:pos x="connsiteX1" y="connsiteY1"/>
                </a:cxn>
              </a:cxnLst>
              <a:rect l="l" t="t" r="r" b="b"/>
              <a:pathLst>
                <a:path w="61150" h="28966">
                  <a:moveTo>
                    <a:pt x="4828" y="4828"/>
                  </a:moveTo>
                  <a:lnTo>
                    <a:pt x="57932" y="27035"/>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5" name="Freeform: Shape 131">
              <a:extLst>
                <a:ext uri="{FF2B5EF4-FFF2-40B4-BE49-F238E27FC236}">
                  <a16:creationId xmlns:a16="http://schemas.microsoft.com/office/drawing/2014/main" id="{C3B4361D-42AF-E72C-36AC-4A9D5F2CE0C7}"/>
                </a:ext>
              </a:extLst>
            </p:cNvPr>
            <p:cNvSpPr/>
            <p:nvPr/>
          </p:nvSpPr>
          <p:spPr>
            <a:xfrm>
              <a:off x="6554380" y="672370"/>
              <a:ext cx="61150" cy="28966"/>
            </a:xfrm>
            <a:custGeom>
              <a:avLst/>
              <a:gdLst>
                <a:gd name="connsiteX0" fmla="*/ 4828 w 61150"/>
                <a:gd name="connsiteY0" fmla="*/ 4828 h 28966"/>
                <a:gd name="connsiteX1" fmla="*/ 57932 w 61150"/>
                <a:gd name="connsiteY1" fmla="*/ 26713 h 28966"/>
              </a:gdLst>
              <a:ahLst/>
              <a:cxnLst>
                <a:cxn ang="0">
                  <a:pos x="connsiteX0" y="connsiteY0"/>
                </a:cxn>
                <a:cxn ang="0">
                  <a:pos x="connsiteX1" y="connsiteY1"/>
                </a:cxn>
              </a:cxnLst>
              <a:rect l="l" t="t" r="r" b="b"/>
              <a:pathLst>
                <a:path w="61150" h="28966">
                  <a:moveTo>
                    <a:pt x="4828" y="4828"/>
                  </a:moveTo>
                  <a:lnTo>
                    <a:pt x="57932" y="26713"/>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6" name="Freeform: Shape 132">
              <a:extLst>
                <a:ext uri="{FF2B5EF4-FFF2-40B4-BE49-F238E27FC236}">
                  <a16:creationId xmlns:a16="http://schemas.microsoft.com/office/drawing/2014/main" id="{6F393216-A0E9-3D89-C446-BEFBC844D258}"/>
                </a:ext>
              </a:extLst>
            </p:cNvPr>
            <p:cNvSpPr/>
            <p:nvPr/>
          </p:nvSpPr>
          <p:spPr>
            <a:xfrm>
              <a:off x="6465551" y="404917"/>
              <a:ext cx="28966" cy="61150"/>
            </a:xfrm>
            <a:custGeom>
              <a:avLst/>
              <a:gdLst>
                <a:gd name="connsiteX0" fmla="*/ 4828 w 28966"/>
                <a:gd name="connsiteY0" fmla="*/ 57610 h 61150"/>
                <a:gd name="connsiteX1" fmla="*/ 26713 w 28966"/>
                <a:gd name="connsiteY1" fmla="*/ 4828 h 61150"/>
              </a:gdLst>
              <a:ahLst/>
              <a:cxnLst>
                <a:cxn ang="0">
                  <a:pos x="connsiteX0" y="connsiteY0"/>
                </a:cxn>
                <a:cxn ang="0">
                  <a:pos x="connsiteX1" y="connsiteY1"/>
                </a:cxn>
              </a:cxnLst>
              <a:rect l="l" t="t" r="r" b="b"/>
              <a:pathLst>
                <a:path w="28966" h="61150">
                  <a:moveTo>
                    <a:pt x="4828" y="57610"/>
                  </a:moveTo>
                  <a:lnTo>
                    <a:pt x="26713"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57" name="Freeform: Shape 133">
              <a:extLst>
                <a:ext uri="{FF2B5EF4-FFF2-40B4-BE49-F238E27FC236}">
                  <a16:creationId xmlns:a16="http://schemas.microsoft.com/office/drawing/2014/main" id="{389D0447-C9D2-96CC-60F4-688A6E20EFA1}"/>
                </a:ext>
              </a:extLst>
            </p:cNvPr>
            <p:cNvSpPr/>
            <p:nvPr/>
          </p:nvSpPr>
          <p:spPr>
            <a:xfrm>
              <a:off x="6346469" y="794027"/>
              <a:ext cx="119082" cy="25748"/>
            </a:xfrm>
            <a:custGeom>
              <a:avLst/>
              <a:gdLst>
                <a:gd name="connsiteX0" fmla="*/ 111358 w 119082"/>
                <a:gd name="connsiteY0" fmla="*/ 21564 h 25747"/>
                <a:gd name="connsiteX1" fmla="*/ 10943 w 119082"/>
                <a:gd name="connsiteY1" fmla="*/ 21564 h 25747"/>
                <a:gd name="connsiteX2" fmla="*/ 4828 w 119082"/>
                <a:gd name="connsiteY2" fmla="*/ 15449 h 25747"/>
                <a:gd name="connsiteX3" fmla="*/ 4828 w 119082"/>
                <a:gd name="connsiteY3" fmla="*/ 10943 h 25747"/>
                <a:gd name="connsiteX4" fmla="*/ 10943 w 119082"/>
                <a:gd name="connsiteY4" fmla="*/ 4828 h 25747"/>
                <a:gd name="connsiteX5" fmla="*/ 111036 w 119082"/>
                <a:gd name="connsiteY5" fmla="*/ 4828 h 25747"/>
                <a:gd name="connsiteX6" fmla="*/ 117151 w 119082"/>
                <a:gd name="connsiteY6" fmla="*/ 10943 h 25747"/>
                <a:gd name="connsiteX7" fmla="*/ 117151 w 119082"/>
                <a:gd name="connsiteY7" fmla="*/ 15449 h 25747"/>
                <a:gd name="connsiteX8" fmla="*/ 111358 w 119082"/>
                <a:gd name="connsiteY8" fmla="*/ 21564 h 25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82" h="25747">
                  <a:moveTo>
                    <a:pt x="111358" y="21564"/>
                  </a:moveTo>
                  <a:lnTo>
                    <a:pt x="10943" y="21564"/>
                  </a:lnTo>
                  <a:cubicBezTo>
                    <a:pt x="7402" y="21564"/>
                    <a:pt x="4828" y="18667"/>
                    <a:pt x="4828" y="15449"/>
                  </a:cubicBezTo>
                  <a:lnTo>
                    <a:pt x="4828" y="10943"/>
                  </a:lnTo>
                  <a:cubicBezTo>
                    <a:pt x="4828" y="7402"/>
                    <a:pt x="7724" y="4828"/>
                    <a:pt x="10943" y="4828"/>
                  </a:cubicBezTo>
                  <a:lnTo>
                    <a:pt x="111036" y="4828"/>
                  </a:lnTo>
                  <a:cubicBezTo>
                    <a:pt x="114577" y="4828"/>
                    <a:pt x="117151" y="7724"/>
                    <a:pt x="117151" y="10943"/>
                  </a:cubicBezTo>
                  <a:lnTo>
                    <a:pt x="117151" y="15449"/>
                  </a:lnTo>
                  <a:cubicBezTo>
                    <a:pt x="117473" y="18667"/>
                    <a:pt x="114577" y="21564"/>
                    <a:pt x="111358" y="21564"/>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8" name="Freeform: Shape 134">
              <a:extLst>
                <a:ext uri="{FF2B5EF4-FFF2-40B4-BE49-F238E27FC236}">
                  <a16:creationId xmlns:a16="http://schemas.microsoft.com/office/drawing/2014/main" id="{A7C6C9A7-8F21-E519-EBEF-9CB72B075808}"/>
                </a:ext>
              </a:extLst>
            </p:cNvPr>
            <p:cNvSpPr/>
            <p:nvPr/>
          </p:nvSpPr>
          <p:spPr>
            <a:xfrm>
              <a:off x="6346469" y="824281"/>
              <a:ext cx="119082" cy="25748"/>
            </a:xfrm>
            <a:custGeom>
              <a:avLst/>
              <a:gdLst>
                <a:gd name="connsiteX0" fmla="*/ 111358 w 119082"/>
                <a:gd name="connsiteY0" fmla="*/ 21564 h 25747"/>
                <a:gd name="connsiteX1" fmla="*/ 10943 w 119082"/>
                <a:gd name="connsiteY1" fmla="*/ 21564 h 25747"/>
                <a:gd name="connsiteX2" fmla="*/ 4828 w 119082"/>
                <a:gd name="connsiteY2" fmla="*/ 15449 h 25747"/>
                <a:gd name="connsiteX3" fmla="*/ 4828 w 119082"/>
                <a:gd name="connsiteY3" fmla="*/ 10943 h 25747"/>
                <a:gd name="connsiteX4" fmla="*/ 10943 w 119082"/>
                <a:gd name="connsiteY4" fmla="*/ 4828 h 25747"/>
                <a:gd name="connsiteX5" fmla="*/ 111036 w 119082"/>
                <a:gd name="connsiteY5" fmla="*/ 4828 h 25747"/>
                <a:gd name="connsiteX6" fmla="*/ 117151 w 119082"/>
                <a:gd name="connsiteY6" fmla="*/ 10943 h 25747"/>
                <a:gd name="connsiteX7" fmla="*/ 117151 w 119082"/>
                <a:gd name="connsiteY7" fmla="*/ 15449 h 25747"/>
                <a:gd name="connsiteX8" fmla="*/ 111358 w 119082"/>
                <a:gd name="connsiteY8" fmla="*/ 21564 h 25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82" h="25747">
                  <a:moveTo>
                    <a:pt x="111358" y="21564"/>
                  </a:moveTo>
                  <a:lnTo>
                    <a:pt x="10943" y="21564"/>
                  </a:lnTo>
                  <a:cubicBezTo>
                    <a:pt x="7402" y="21564"/>
                    <a:pt x="4828" y="18667"/>
                    <a:pt x="4828" y="15449"/>
                  </a:cubicBezTo>
                  <a:lnTo>
                    <a:pt x="4828" y="10943"/>
                  </a:lnTo>
                  <a:cubicBezTo>
                    <a:pt x="4828" y="7402"/>
                    <a:pt x="7724" y="4828"/>
                    <a:pt x="10943" y="4828"/>
                  </a:cubicBezTo>
                  <a:lnTo>
                    <a:pt x="111036" y="4828"/>
                  </a:lnTo>
                  <a:cubicBezTo>
                    <a:pt x="114577" y="4828"/>
                    <a:pt x="117151" y="7724"/>
                    <a:pt x="117151" y="10943"/>
                  </a:cubicBezTo>
                  <a:lnTo>
                    <a:pt x="117151" y="15449"/>
                  </a:lnTo>
                  <a:cubicBezTo>
                    <a:pt x="117473" y="18667"/>
                    <a:pt x="114577" y="21564"/>
                    <a:pt x="111358" y="21564"/>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9" name="Freeform: Shape 135">
              <a:extLst>
                <a:ext uri="{FF2B5EF4-FFF2-40B4-BE49-F238E27FC236}">
                  <a16:creationId xmlns:a16="http://schemas.microsoft.com/office/drawing/2014/main" id="{732C2F23-7525-E6D6-F7A8-2E0674D034C3}"/>
                </a:ext>
              </a:extLst>
            </p:cNvPr>
            <p:cNvSpPr/>
            <p:nvPr/>
          </p:nvSpPr>
          <p:spPr>
            <a:xfrm>
              <a:off x="6376079" y="854212"/>
              <a:ext cx="61150" cy="25748"/>
            </a:xfrm>
            <a:custGeom>
              <a:avLst/>
              <a:gdLst>
                <a:gd name="connsiteX0" fmla="*/ 49242 w 61150"/>
                <a:gd name="connsiteY0" fmla="*/ 21885 h 25747"/>
                <a:gd name="connsiteX1" fmla="*/ 13839 w 61150"/>
                <a:gd name="connsiteY1" fmla="*/ 21885 h 25747"/>
                <a:gd name="connsiteX2" fmla="*/ 4828 w 61150"/>
                <a:gd name="connsiteY2" fmla="*/ 4828 h 25747"/>
                <a:gd name="connsiteX3" fmla="*/ 58254 w 61150"/>
                <a:gd name="connsiteY3" fmla="*/ 4828 h 25747"/>
              </a:gdLst>
              <a:ahLst/>
              <a:cxnLst>
                <a:cxn ang="0">
                  <a:pos x="connsiteX0" y="connsiteY0"/>
                </a:cxn>
                <a:cxn ang="0">
                  <a:pos x="connsiteX1" y="connsiteY1"/>
                </a:cxn>
                <a:cxn ang="0">
                  <a:pos x="connsiteX2" y="connsiteY2"/>
                </a:cxn>
                <a:cxn ang="0">
                  <a:pos x="connsiteX3" y="connsiteY3"/>
                </a:cxn>
              </a:cxnLst>
              <a:rect l="l" t="t" r="r" b="b"/>
              <a:pathLst>
                <a:path w="61150" h="25747">
                  <a:moveTo>
                    <a:pt x="49242" y="21885"/>
                  </a:moveTo>
                  <a:lnTo>
                    <a:pt x="13839" y="21885"/>
                  </a:lnTo>
                  <a:lnTo>
                    <a:pt x="4828" y="4828"/>
                  </a:lnTo>
                  <a:lnTo>
                    <a:pt x="58254" y="4828"/>
                  </a:ln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60" name="Graphic 74">
            <a:extLst>
              <a:ext uri="{FF2B5EF4-FFF2-40B4-BE49-F238E27FC236}">
                <a16:creationId xmlns:a16="http://schemas.microsoft.com/office/drawing/2014/main" id="{06F7796D-F0FA-5B31-0066-2A302644EC4D}"/>
              </a:ext>
            </a:extLst>
          </p:cNvPr>
          <p:cNvGrpSpPr>
            <a:grpSpLocks noChangeAspect="1"/>
          </p:cNvGrpSpPr>
          <p:nvPr/>
        </p:nvGrpSpPr>
        <p:grpSpPr>
          <a:xfrm>
            <a:off x="11092224" y="1417683"/>
            <a:ext cx="733550" cy="733550"/>
            <a:chOff x="7154038" y="2890588"/>
            <a:chExt cx="643689" cy="643689"/>
          </a:xfrm>
        </p:grpSpPr>
        <p:sp>
          <p:nvSpPr>
            <p:cNvPr id="61" name="Freeform: Shape 137">
              <a:extLst>
                <a:ext uri="{FF2B5EF4-FFF2-40B4-BE49-F238E27FC236}">
                  <a16:creationId xmlns:a16="http://schemas.microsoft.com/office/drawing/2014/main" id="{D65B4CC5-921C-F59A-FF8E-532ADE8AAFE8}"/>
                </a:ext>
              </a:extLst>
            </p:cNvPr>
            <p:cNvSpPr/>
            <p:nvPr/>
          </p:nvSpPr>
          <p:spPr>
            <a:xfrm>
              <a:off x="7279557" y="3049257"/>
              <a:ext cx="392650" cy="325063"/>
            </a:xfrm>
            <a:custGeom>
              <a:avLst/>
              <a:gdLst>
                <a:gd name="connsiteX0" fmla="*/ 92048 w 392650"/>
                <a:gd name="connsiteY0" fmla="*/ 258763 h 325062"/>
                <a:gd name="connsiteX1" fmla="*/ 287407 w 392650"/>
                <a:gd name="connsiteY1" fmla="*/ 258763 h 325062"/>
                <a:gd name="connsiteX2" fmla="*/ 287407 w 392650"/>
                <a:gd name="connsiteY2" fmla="*/ 321523 h 325062"/>
                <a:gd name="connsiteX3" fmla="*/ 350167 w 392650"/>
                <a:gd name="connsiteY3" fmla="*/ 258763 h 325062"/>
                <a:gd name="connsiteX4" fmla="*/ 387823 w 392650"/>
                <a:gd name="connsiteY4" fmla="*/ 221107 h 325062"/>
                <a:gd name="connsiteX5" fmla="*/ 387823 w 392650"/>
                <a:gd name="connsiteY5" fmla="*/ 42483 h 325062"/>
                <a:gd name="connsiteX6" fmla="*/ 350167 w 392650"/>
                <a:gd name="connsiteY6" fmla="*/ 4828 h 325062"/>
                <a:gd name="connsiteX7" fmla="*/ 42483 w 392650"/>
                <a:gd name="connsiteY7" fmla="*/ 4828 h 325062"/>
                <a:gd name="connsiteX8" fmla="*/ 4828 w 392650"/>
                <a:gd name="connsiteY8" fmla="*/ 42483 h 325062"/>
                <a:gd name="connsiteX9" fmla="*/ 4828 w 392650"/>
                <a:gd name="connsiteY9" fmla="*/ 65978 h 325062"/>
                <a:gd name="connsiteX10" fmla="*/ 5793 w 392650"/>
                <a:gd name="connsiteY10" fmla="*/ 232050 h 325062"/>
                <a:gd name="connsiteX11" fmla="*/ 32828 w 392650"/>
                <a:gd name="connsiteY11" fmla="*/ 259085 h 325062"/>
                <a:gd name="connsiteX12" fmla="*/ 92048 w 392650"/>
                <a:gd name="connsiteY12" fmla="*/ 258763 h 325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92650" h="325062">
                  <a:moveTo>
                    <a:pt x="92048" y="258763"/>
                  </a:moveTo>
                  <a:lnTo>
                    <a:pt x="287407" y="258763"/>
                  </a:lnTo>
                  <a:lnTo>
                    <a:pt x="287407" y="321523"/>
                  </a:lnTo>
                  <a:lnTo>
                    <a:pt x="350167" y="258763"/>
                  </a:lnTo>
                  <a:cubicBezTo>
                    <a:pt x="370765" y="258763"/>
                    <a:pt x="387823" y="241705"/>
                    <a:pt x="387823" y="221107"/>
                  </a:cubicBezTo>
                  <a:lnTo>
                    <a:pt x="387823" y="42483"/>
                  </a:lnTo>
                  <a:cubicBezTo>
                    <a:pt x="387823" y="21885"/>
                    <a:pt x="370765" y="4828"/>
                    <a:pt x="350167" y="4828"/>
                  </a:cubicBezTo>
                  <a:lnTo>
                    <a:pt x="42483" y="4828"/>
                  </a:lnTo>
                  <a:cubicBezTo>
                    <a:pt x="21564" y="4828"/>
                    <a:pt x="4828" y="21564"/>
                    <a:pt x="4828" y="42483"/>
                  </a:cubicBezTo>
                  <a:lnTo>
                    <a:pt x="4828" y="65978"/>
                  </a:lnTo>
                  <a:lnTo>
                    <a:pt x="5793" y="232050"/>
                  </a:lnTo>
                  <a:cubicBezTo>
                    <a:pt x="5793" y="246855"/>
                    <a:pt x="18023" y="258763"/>
                    <a:pt x="32828" y="259085"/>
                  </a:cubicBezTo>
                  <a:lnTo>
                    <a:pt x="92048" y="258763"/>
                  </a:ln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62" name="Freeform: Shape 138">
              <a:extLst>
                <a:ext uri="{FF2B5EF4-FFF2-40B4-BE49-F238E27FC236}">
                  <a16:creationId xmlns:a16="http://schemas.microsoft.com/office/drawing/2014/main" id="{03F21B51-2356-6046-EA6F-3DF264CABC2F}"/>
                </a:ext>
              </a:extLst>
            </p:cNvPr>
            <p:cNvSpPr/>
            <p:nvPr/>
          </p:nvSpPr>
          <p:spPr>
            <a:xfrm>
              <a:off x="7444020" y="3138730"/>
              <a:ext cx="74024" cy="74024"/>
            </a:xfrm>
            <a:custGeom>
              <a:avLst/>
              <a:gdLst>
                <a:gd name="connsiteX0" fmla="*/ 71771 w 74024"/>
                <a:gd name="connsiteY0" fmla="*/ 38299 h 74024"/>
                <a:gd name="connsiteX1" fmla="*/ 38299 w 74024"/>
                <a:gd name="connsiteY1" fmla="*/ 71771 h 74024"/>
                <a:gd name="connsiteX2" fmla="*/ 4828 w 74024"/>
                <a:gd name="connsiteY2" fmla="*/ 38299 h 74024"/>
                <a:gd name="connsiteX3" fmla="*/ 38299 w 74024"/>
                <a:gd name="connsiteY3" fmla="*/ 4828 h 74024"/>
                <a:gd name="connsiteX4" fmla="*/ 71771 w 74024"/>
                <a:gd name="connsiteY4" fmla="*/ 38299 h 74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024" h="74024">
                  <a:moveTo>
                    <a:pt x="71771" y="38299"/>
                  </a:moveTo>
                  <a:cubicBezTo>
                    <a:pt x="71771" y="56785"/>
                    <a:pt x="56785" y="71771"/>
                    <a:pt x="38299" y="71771"/>
                  </a:cubicBezTo>
                  <a:cubicBezTo>
                    <a:pt x="19814" y="71771"/>
                    <a:pt x="4828" y="56785"/>
                    <a:pt x="4828" y="38299"/>
                  </a:cubicBezTo>
                  <a:cubicBezTo>
                    <a:pt x="4828" y="19814"/>
                    <a:pt x="19814" y="4828"/>
                    <a:pt x="38299" y="4828"/>
                  </a:cubicBezTo>
                  <a:cubicBezTo>
                    <a:pt x="56785" y="4828"/>
                    <a:pt x="71771" y="19814"/>
                    <a:pt x="71771" y="38299"/>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63" name="Freeform: Shape 139">
              <a:extLst>
                <a:ext uri="{FF2B5EF4-FFF2-40B4-BE49-F238E27FC236}">
                  <a16:creationId xmlns:a16="http://schemas.microsoft.com/office/drawing/2014/main" id="{F7D6E821-BAD7-0469-128C-BA46BD41F5B4}"/>
                </a:ext>
              </a:extLst>
            </p:cNvPr>
            <p:cNvSpPr/>
            <p:nvPr/>
          </p:nvSpPr>
          <p:spPr>
            <a:xfrm>
              <a:off x="7326868" y="3138730"/>
              <a:ext cx="74024" cy="74024"/>
            </a:xfrm>
            <a:custGeom>
              <a:avLst/>
              <a:gdLst>
                <a:gd name="connsiteX0" fmla="*/ 71771 w 74024"/>
                <a:gd name="connsiteY0" fmla="*/ 38299 h 74024"/>
                <a:gd name="connsiteX1" fmla="*/ 38299 w 74024"/>
                <a:gd name="connsiteY1" fmla="*/ 71771 h 74024"/>
                <a:gd name="connsiteX2" fmla="*/ 4828 w 74024"/>
                <a:gd name="connsiteY2" fmla="*/ 38299 h 74024"/>
                <a:gd name="connsiteX3" fmla="*/ 38299 w 74024"/>
                <a:gd name="connsiteY3" fmla="*/ 4828 h 74024"/>
                <a:gd name="connsiteX4" fmla="*/ 71771 w 74024"/>
                <a:gd name="connsiteY4" fmla="*/ 38299 h 74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024" h="74024">
                  <a:moveTo>
                    <a:pt x="71771" y="38299"/>
                  </a:moveTo>
                  <a:cubicBezTo>
                    <a:pt x="71771" y="56785"/>
                    <a:pt x="56785" y="71771"/>
                    <a:pt x="38299" y="71771"/>
                  </a:cubicBezTo>
                  <a:cubicBezTo>
                    <a:pt x="19814" y="71771"/>
                    <a:pt x="4828" y="56785"/>
                    <a:pt x="4828" y="38299"/>
                  </a:cubicBezTo>
                  <a:cubicBezTo>
                    <a:pt x="4828" y="19814"/>
                    <a:pt x="19814" y="4828"/>
                    <a:pt x="38299" y="4828"/>
                  </a:cubicBezTo>
                  <a:cubicBezTo>
                    <a:pt x="56785" y="4828"/>
                    <a:pt x="71771" y="19814"/>
                    <a:pt x="71771" y="38299"/>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64" name="Freeform: Shape 140">
              <a:extLst>
                <a:ext uri="{FF2B5EF4-FFF2-40B4-BE49-F238E27FC236}">
                  <a16:creationId xmlns:a16="http://schemas.microsoft.com/office/drawing/2014/main" id="{32CCAD9A-162C-826F-E391-4B0413AF90CA}"/>
                </a:ext>
              </a:extLst>
            </p:cNvPr>
            <p:cNvSpPr/>
            <p:nvPr/>
          </p:nvSpPr>
          <p:spPr>
            <a:xfrm>
              <a:off x="7556665" y="3138730"/>
              <a:ext cx="74024" cy="74024"/>
            </a:xfrm>
            <a:custGeom>
              <a:avLst/>
              <a:gdLst>
                <a:gd name="connsiteX0" fmla="*/ 71771 w 74024"/>
                <a:gd name="connsiteY0" fmla="*/ 38299 h 74024"/>
                <a:gd name="connsiteX1" fmla="*/ 38299 w 74024"/>
                <a:gd name="connsiteY1" fmla="*/ 71771 h 74024"/>
                <a:gd name="connsiteX2" fmla="*/ 4828 w 74024"/>
                <a:gd name="connsiteY2" fmla="*/ 38299 h 74024"/>
                <a:gd name="connsiteX3" fmla="*/ 38299 w 74024"/>
                <a:gd name="connsiteY3" fmla="*/ 4828 h 74024"/>
                <a:gd name="connsiteX4" fmla="*/ 71771 w 74024"/>
                <a:gd name="connsiteY4" fmla="*/ 38299 h 74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024" h="74024">
                  <a:moveTo>
                    <a:pt x="71771" y="38299"/>
                  </a:moveTo>
                  <a:cubicBezTo>
                    <a:pt x="71771" y="56785"/>
                    <a:pt x="56785" y="71771"/>
                    <a:pt x="38299" y="71771"/>
                  </a:cubicBezTo>
                  <a:cubicBezTo>
                    <a:pt x="19814" y="71771"/>
                    <a:pt x="4828" y="56785"/>
                    <a:pt x="4828" y="38299"/>
                  </a:cubicBezTo>
                  <a:cubicBezTo>
                    <a:pt x="4828" y="19814"/>
                    <a:pt x="19814" y="4828"/>
                    <a:pt x="38299" y="4828"/>
                  </a:cubicBezTo>
                  <a:cubicBezTo>
                    <a:pt x="56785" y="4828"/>
                    <a:pt x="71771" y="19814"/>
                    <a:pt x="71771" y="38299"/>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grpSp>
      <p:sp>
        <p:nvSpPr>
          <p:cNvPr id="65" name="Text Placeholder 11">
            <a:extLst>
              <a:ext uri="{FF2B5EF4-FFF2-40B4-BE49-F238E27FC236}">
                <a16:creationId xmlns:a16="http://schemas.microsoft.com/office/drawing/2014/main" id="{AAFFD6EF-B40B-3907-C7F3-AFC11ECC2938}"/>
              </a:ext>
            </a:extLst>
          </p:cNvPr>
          <p:cNvSpPr txBox="1">
            <a:spLocks/>
          </p:cNvSpPr>
          <p:nvPr/>
        </p:nvSpPr>
        <p:spPr>
          <a:xfrm>
            <a:off x="6370447" y="324161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Accuracy</a:t>
            </a:r>
          </a:p>
        </p:txBody>
      </p:sp>
      <p:sp>
        <p:nvSpPr>
          <p:cNvPr id="66" name="Text Placeholder 11">
            <a:extLst>
              <a:ext uri="{FF2B5EF4-FFF2-40B4-BE49-F238E27FC236}">
                <a16:creationId xmlns:a16="http://schemas.microsoft.com/office/drawing/2014/main" id="{7F209C93-67DF-45AC-0576-367626AAB42D}"/>
              </a:ext>
            </a:extLst>
          </p:cNvPr>
          <p:cNvSpPr txBox="1">
            <a:spLocks/>
          </p:cNvSpPr>
          <p:nvPr/>
        </p:nvSpPr>
        <p:spPr>
          <a:xfrm>
            <a:off x="7735877" y="324161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Consistency</a:t>
            </a:r>
          </a:p>
        </p:txBody>
      </p:sp>
      <p:sp>
        <p:nvSpPr>
          <p:cNvPr id="67" name="Text Placeholder 11">
            <a:extLst>
              <a:ext uri="{FF2B5EF4-FFF2-40B4-BE49-F238E27FC236}">
                <a16:creationId xmlns:a16="http://schemas.microsoft.com/office/drawing/2014/main" id="{24959305-F679-21B8-3A34-74570064A935}"/>
              </a:ext>
            </a:extLst>
          </p:cNvPr>
          <p:cNvSpPr txBox="1">
            <a:spLocks/>
          </p:cNvSpPr>
          <p:nvPr/>
        </p:nvSpPr>
        <p:spPr>
          <a:xfrm>
            <a:off x="8989151" y="324161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Brand voice</a:t>
            </a:r>
          </a:p>
        </p:txBody>
      </p:sp>
      <p:grpSp>
        <p:nvGrpSpPr>
          <p:cNvPr id="68" name="Graphic 47">
            <a:extLst>
              <a:ext uri="{FF2B5EF4-FFF2-40B4-BE49-F238E27FC236}">
                <a16:creationId xmlns:a16="http://schemas.microsoft.com/office/drawing/2014/main" id="{C7DBD4A7-A798-89FD-9FE3-148AF6B30EE4}"/>
              </a:ext>
            </a:extLst>
          </p:cNvPr>
          <p:cNvGrpSpPr/>
          <p:nvPr/>
        </p:nvGrpSpPr>
        <p:grpSpPr>
          <a:xfrm>
            <a:off x="9488346" y="2805448"/>
            <a:ext cx="405626" cy="291220"/>
            <a:chOff x="10601520" y="2863735"/>
            <a:chExt cx="742949" cy="533400"/>
          </a:xfrm>
        </p:grpSpPr>
        <p:sp>
          <p:nvSpPr>
            <p:cNvPr id="69" name="Freeform: Shape 88">
              <a:extLst>
                <a:ext uri="{FF2B5EF4-FFF2-40B4-BE49-F238E27FC236}">
                  <a16:creationId xmlns:a16="http://schemas.microsoft.com/office/drawing/2014/main" id="{17B99B91-0875-6613-0400-CB99A3187BE7}"/>
                </a:ext>
              </a:extLst>
            </p:cNvPr>
            <p:cNvSpPr/>
            <p:nvPr/>
          </p:nvSpPr>
          <p:spPr>
            <a:xfrm>
              <a:off x="10734870" y="2978035"/>
              <a:ext cx="9525" cy="76200"/>
            </a:xfrm>
            <a:custGeom>
              <a:avLst/>
              <a:gdLst>
                <a:gd name="connsiteX0" fmla="*/ -580 w 9525"/>
                <a:gd name="connsiteY0" fmla="*/ -300 h 76200"/>
                <a:gd name="connsiteX1" fmla="*/ -580 w 9525"/>
                <a:gd name="connsiteY1" fmla="*/ 75900 h 76200"/>
              </a:gdLst>
              <a:ahLst/>
              <a:cxnLst>
                <a:cxn ang="0">
                  <a:pos x="connsiteX0" y="connsiteY0"/>
                </a:cxn>
                <a:cxn ang="0">
                  <a:pos x="connsiteX1" y="connsiteY1"/>
                </a:cxn>
              </a:cxnLst>
              <a:rect l="l" t="t" r="r" b="b"/>
              <a:pathLst>
                <a:path w="9525" h="76200">
                  <a:moveTo>
                    <a:pt x="-580" y="-300"/>
                  </a:moveTo>
                  <a:lnTo>
                    <a:pt x="-580" y="75900"/>
                  </a:lnTo>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0" name="Freeform: Shape 89">
              <a:extLst>
                <a:ext uri="{FF2B5EF4-FFF2-40B4-BE49-F238E27FC236}">
                  <a16:creationId xmlns:a16="http://schemas.microsoft.com/office/drawing/2014/main" id="{0B3E54AD-8346-C80A-5125-B35B29AEA02A}"/>
                </a:ext>
              </a:extLst>
            </p:cNvPr>
            <p:cNvSpPr/>
            <p:nvPr/>
          </p:nvSpPr>
          <p:spPr>
            <a:xfrm>
              <a:off x="10734870" y="3168535"/>
              <a:ext cx="9525" cy="114300"/>
            </a:xfrm>
            <a:custGeom>
              <a:avLst/>
              <a:gdLst>
                <a:gd name="connsiteX0" fmla="*/ -580 w 9525"/>
                <a:gd name="connsiteY0" fmla="*/ -300 h 114300"/>
                <a:gd name="connsiteX1" fmla="*/ -580 w 9525"/>
                <a:gd name="connsiteY1" fmla="*/ 114000 h 114300"/>
              </a:gdLst>
              <a:ahLst/>
              <a:cxnLst>
                <a:cxn ang="0">
                  <a:pos x="connsiteX0" y="connsiteY0"/>
                </a:cxn>
                <a:cxn ang="0">
                  <a:pos x="connsiteX1" y="connsiteY1"/>
                </a:cxn>
              </a:cxnLst>
              <a:rect l="l" t="t" r="r" b="b"/>
              <a:pathLst>
                <a:path w="9525" h="114300">
                  <a:moveTo>
                    <a:pt x="-580" y="-300"/>
                  </a:moveTo>
                  <a:lnTo>
                    <a:pt x="-580" y="114000"/>
                  </a:lnTo>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1" name="Freeform: Shape 90">
              <a:extLst>
                <a:ext uri="{FF2B5EF4-FFF2-40B4-BE49-F238E27FC236}">
                  <a16:creationId xmlns:a16="http://schemas.microsoft.com/office/drawing/2014/main" id="{057F2D64-565F-7FFC-9B7C-9CAC177ED626}"/>
                </a:ext>
              </a:extLst>
            </p:cNvPr>
            <p:cNvSpPr/>
            <p:nvPr/>
          </p:nvSpPr>
          <p:spPr>
            <a:xfrm>
              <a:off x="10734870" y="3073285"/>
              <a:ext cx="9525" cy="76200"/>
            </a:xfrm>
            <a:custGeom>
              <a:avLst/>
              <a:gdLst>
                <a:gd name="connsiteX0" fmla="*/ -580 w 9525"/>
                <a:gd name="connsiteY0" fmla="*/ -300 h 76200"/>
                <a:gd name="connsiteX1" fmla="*/ -580 w 9525"/>
                <a:gd name="connsiteY1" fmla="*/ 75900 h 76200"/>
              </a:gdLst>
              <a:ahLst/>
              <a:cxnLst>
                <a:cxn ang="0">
                  <a:pos x="connsiteX0" y="connsiteY0"/>
                </a:cxn>
                <a:cxn ang="0">
                  <a:pos x="connsiteX1" y="connsiteY1"/>
                </a:cxn>
              </a:cxnLst>
              <a:rect l="l" t="t" r="r" b="b"/>
              <a:pathLst>
                <a:path w="9525" h="76200">
                  <a:moveTo>
                    <a:pt x="-580" y="-300"/>
                  </a:moveTo>
                  <a:lnTo>
                    <a:pt x="-580" y="75900"/>
                  </a:lnTo>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2" name="Freeform: Shape 91">
              <a:extLst>
                <a:ext uri="{FF2B5EF4-FFF2-40B4-BE49-F238E27FC236}">
                  <a16:creationId xmlns:a16="http://schemas.microsoft.com/office/drawing/2014/main" id="{C97FCE32-81F6-0403-B7FD-88BCDA5846CB}"/>
                </a:ext>
              </a:extLst>
            </p:cNvPr>
            <p:cNvSpPr/>
            <p:nvPr/>
          </p:nvSpPr>
          <p:spPr>
            <a:xfrm>
              <a:off x="10601520" y="2863735"/>
              <a:ext cx="419100" cy="533400"/>
            </a:xfrm>
            <a:custGeom>
              <a:avLst/>
              <a:gdLst>
                <a:gd name="connsiteX0" fmla="*/ 132770 w 419100"/>
                <a:gd name="connsiteY0" fmla="*/ 94950 h 533400"/>
                <a:gd name="connsiteX1" fmla="*/ 418520 w 419100"/>
                <a:gd name="connsiteY1" fmla="*/ -300 h 533400"/>
                <a:gd name="connsiteX2" fmla="*/ 418520 w 419100"/>
                <a:gd name="connsiteY2" fmla="*/ 533100 h 533400"/>
                <a:gd name="connsiteX3" fmla="*/ 132770 w 419100"/>
                <a:gd name="connsiteY3" fmla="*/ 437850 h 533400"/>
                <a:gd name="connsiteX4" fmla="*/ -580 w 419100"/>
                <a:gd name="connsiteY4" fmla="*/ 437850 h 533400"/>
                <a:gd name="connsiteX5" fmla="*/ -580 w 419100"/>
                <a:gd name="connsiteY5" fmla="*/ 94950 h 533400"/>
                <a:gd name="connsiteX6" fmla="*/ 132770 w 419100"/>
                <a:gd name="connsiteY6" fmla="*/ 94950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100" h="533400">
                  <a:moveTo>
                    <a:pt x="132770" y="94950"/>
                  </a:moveTo>
                  <a:lnTo>
                    <a:pt x="418520" y="-300"/>
                  </a:lnTo>
                  <a:lnTo>
                    <a:pt x="418520" y="533100"/>
                  </a:lnTo>
                  <a:lnTo>
                    <a:pt x="132770" y="437850"/>
                  </a:lnTo>
                  <a:lnTo>
                    <a:pt x="-580" y="437850"/>
                  </a:lnTo>
                  <a:lnTo>
                    <a:pt x="-580" y="94950"/>
                  </a:lnTo>
                  <a:lnTo>
                    <a:pt x="132770" y="94950"/>
                  </a:lnTo>
                  <a:close/>
                </a:path>
              </a:pathLst>
            </a:custGeom>
            <a:noFill/>
            <a:ln w="1905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3" name="Freeform: Shape 92">
              <a:extLst>
                <a:ext uri="{FF2B5EF4-FFF2-40B4-BE49-F238E27FC236}">
                  <a16:creationId xmlns:a16="http://schemas.microsoft.com/office/drawing/2014/main" id="{3745A7B9-827D-496D-BC1B-9AE8DD7809F3}"/>
                </a:ext>
              </a:extLst>
            </p:cNvPr>
            <p:cNvSpPr/>
            <p:nvPr/>
          </p:nvSpPr>
          <p:spPr>
            <a:xfrm>
              <a:off x="11120537" y="3049472"/>
              <a:ext cx="34671" cy="163449"/>
            </a:xfrm>
            <a:custGeom>
              <a:avLst/>
              <a:gdLst>
                <a:gd name="connsiteX0" fmla="*/ 1039 w 34671"/>
                <a:gd name="connsiteY0" fmla="*/ -300 h 163449"/>
                <a:gd name="connsiteX1" fmla="*/ 34091 w 34671"/>
                <a:gd name="connsiteY1" fmla="*/ 80663 h 163449"/>
                <a:gd name="connsiteX2" fmla="*/ -580 w 34671"/>
                <a:gd name="connsiteY2" fmla="*/ 163149 h 163449"/>
              </a:gdLst>
              <a:ahLst/>
              <a:cxnLst>
                <a:cxn ang="0">
                  <a:pos x="connsiteX0" y="connsiteY0"/>
                </a:cxn>
                <a:cxn ang="0">
                  <a:pos x="connsiteX1" y="connsiteY1"/>
                </a:cxn>
                <a:cxn ang="0">
                  <a:pos x="connsiteX2" y="connsiteY2"/>
                </a:cxn>
              </a:cxnLst>
              <a:rect l="l" t="t" r="r" b="b"/>
              <a:pathLst>
                <a:path w="34671" h="163449">
                  <a:moveTo>
                    <a:pt x="1039" y="-300"/>
                  </a:moveTo>
                  <a:cubicBezTo>
                    <a:pt x="21518" y="20560"/>
                    <a:pt x="34091" y="49135"/>
                    <a:pt x="34091" y="80663"/>
                  </a:cubicBezTo>
                  <a:cubicBezTo>
                    <a:pt x="34091" y="112190"/>
                    <a:pt x="20851" y="142194"/>
                    <a:pt x="-580" y="163149"/>
                  </a:cubicBezTo>
                </a:path>
              </a:pathLst>
            </a:custGeom>
            <a:noFill/>
            <a:ln w="19050" cap="flat">
              <a:solidFill>
                <a:schemeClr val="accent4"/>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4" name="Freeform: Shape 93">
              <a:extLst>
                <a:ext uri="{FF2B5EF4-FFF2-40B4-BE49-F238E27FC236}">
                  <a16:creationId xmlns:a16="http://schemas.microsoft.com/office/drawing/2014/main" id="{963B34DF-3494-1184-F6FC-61CECBCD8AE1}"/>
                </a:ext>
              </a:extLst>
            </p:cNvPr>
            <p:cNvSpPr/>
            <p:nvPr/>
          </p:nvSpPr>
          <p:spPr>
            <a:xfrm>
              <a:off x="11189307" y="2982797"/>
              <a:ext cx="60578" cy="295275"/>
            </a:xfrm>
            <a:custGeom>
              <a:avLst/>
              <a:gdLst>
                <a:gd name="connsiteX0" fmla="*/ -580 w 60578"/>
                <a:gd name="connsiteY0" fmla="*/ -300 h 295275"/>
                <a:gd name="connsiteX1" fmla="*/ 59999 w 60578"/>
                <a:gd name="connsiteY1" fmla="*/ 147338 h 295275"/>
                <a:gd name="connsiteX2" fmla="*/ -580 w 60578"/>
                <a:gd name="connsiteY2" fmla="*/ 294975 h 295275"/>
              </a:gdLst>
              <a:ahLst/>
              <a:cxnLst>
                <a:cxn ang="0">
                  <a:pos x="connsiteX0" y="connsiteY0"/>
                </a:cxn>
                <a:cxn ang="0">
                  <a:pos x="connsiteX1" y="connsiteY1"/>
                </a:cxn>
                <a:cxn ang="0">
                  <a:pos x="connsiteX2" y="connsiteY2"/>
                </a:cxn>
              </a:cxnLst>
              <a:rect l="l" t="t" r="r" b="b"/>
              <a:pathLst>
                <a:path w="60578" h="295275">
                  <a:moveTo>
                    <a:pt x="-580" y="-300"/>
                  </a:moveTo>
                  <a:cubicBezTo>
                    <a:pt x="36853" y="37705"/>
                    <a:pt x="59999" y="89806"/>
                    <a:pt x="59999" y="147338"/>
                  </a:cubicBezTo>
                  <a:cubicBezTo>
                    <a:pt x="59999" y="204869"/>
                    <a:pt x="36853" y="257065"/>
                    <a:pt x="-580" y="294975"/>
                  </a:cubicBezTo>
                </a:path>
              </a:pathLst>
            </a:custGeom>
            <a:noFill/>
            <a:ln w="19050" cap="flat">
              <a:solidFill>
                <a:schemeClr val="accent4"/>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5" name="Freeform: Shape 94">
              <a:extLst>
                <a:ext uri="{FF2B5EF4-FFF2-40B4-BE49-F238E27FC236}">
                  <a16:creationId xmlns:a16="http://schemas.microsoft.com/office/drawing/2014/main" id="{E9B110D1-DA11-23E1-F773-0B2D180B5C21}"/>
                </a:ext>
              </a:extLst>
            </p:cNvPr>
            <p:cNvSpPr/>
            <p:nvPr/>
          </p:nvSpPr>
          <p:spPr>
            <a:xfrm>
              <a:off x="11253982" y="2913741"/>
              <a:ext cx="90487" cy="433387"/>
            </a:xfrm>
            <a:custGeom>
              <a:avLst/>
              <a:gdLst>
                <a:gd name="connsiteX0" fmla="*/ -580 w 90487"/>
                <a:gd name="connsiteY0" fmla="*/ -300 h 433387"/>
                <a:gd name="connsiteX1" fmla="*/ 89908 w 90487"/>
                <a:gd name="connsiteY1" fmla="*/ 216394 h 433387"/>
                <a:gd name="connsiteX2" fmla="*/ -580 w 90487"/>
                <a:gd name="connsiteY2" fmla="*/ 433088 h 433387"/>
              </a:gdLst>
              <a:ahLst/>
              <a:cxnLst>
                <a:cxn ang="0">
                  <a:pos x="connsiteX0" y="connsiteY0"/>
                </a:cxn>
                <a:cxn ang="0">
                  <a:pos x="connsiteX1" y="connsiteY1"/>
                </a:cxn>
                <a:cxn ang="0">
                  <a:pos x="connsiteX2" y="connsiteY2"/>
                </a:cxn>
              </a:cxnLst>
              <a:rect l="l" t="t" r="r" b="b"/>
              <a:pathLst>
                <a:path w="90487" h="433387">
                  <a:moveTo>
                    <a:pt x="-580" y="-300"/>
                  </a:moveTo>
                  <a:cubicBezTo>
                    <a:pt x="55332" y="54945"/>
                    <a:pt x="89908" y="131621"/>
                    <a:pt x="89908" y="216394"/>
                  </a:cubicBezTo>
                  <a:cubicBezTo>
                    <a:pt x="89908" y="301166"/>
                    <a:pt x="55332" y="377843"/>
                    <a:pt x="-580" y="433088"/>
                  </a:cubicBezTo>
                </a:path>
              </a:pathLst>
            </a:custGeom>
            <a:noFill/>
            <a:ln w="19050" cap="flat">
              <a:solidFill>
                <a:schemeClr val="accent4"/>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76" name="Graphic 49">
            <a:extLst>
              <a:ext uri="{FF2B5EF4-FFF2-40B4-BE49-F238E27FC236}">
                <a16:creationId xmlns:a16="http://schemas.microsoft.com/office/drawing/2014/main" id="{DE89CC49-C4B6-1BC7-C44F-49697A8BBABC}"/>
              </a:ext>
            </a:extLst>
          </p:cNvPr>
          <p:cNvGrpSpPr/>
          <p:nvPr/>
        </p:nvGrpSpPr>
        <p:grpSpPr>
          <a:xfrm>
            <a:off x="8233567" y="2660885"/>
            <a:ext cx="408636" cy="530704"/>
            <a:chOff x="8893796" y="2686788"/>
            <a:chExt cx="621618" cy="807309"/>
          </a:xfrm>
          <a:noFill/>
        </p:grpSpPr>
        <p:sp>
          <p:nvSpPr>
            <p:cNvPr id="77" name="Freeform: Shape 58">
              <a:extLst>
                <a:ext uri="{FF2B5EF4-FFF2-40B4-BE49-F238E27FC236}">
                  <a16:creationId xmlns:a16="http://schemas.microsoft.com/office/drawing/2014/main" id="{372050F1-8DE1-31AE-6F0A-1B1255D1F138}"/>
                </a:ext>
              </a:extLst>
            </p:cNvPr>
            <p:cNvSpPr/>
            <p:nvPr/>
          </p:nvSpPr>
          <p:spPr>
            <a:xfrm>
              <a:off x="9119527" y="2815777"/>
              <a:ext cx="41276" cy="41276"/>
            </a:xfrm>
            <a:custGeom>
              <a:avLst/>
              <a:gdLst>
                <a:gd name="connsiteX0" fmla="*/ 40002 w 41276"/>
                <a:gd name="connsiteY0" fmla="*/ 40694 h 41276"/>
                <a:gd name="connsiteX1" fmla="*/ -1274 w 41276"/>
                <a:gd name="connsiteY1" fmla="*/ 40694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4"/>
                  </a:moveTo>
                  <a:lnTo>
                    <a:pt x="-1274" y="40694"/>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8" name="Freeform: Shape 59">
              <a:extLst>
                <a:ext uri="{FF2B5EF4-FFF2-40B4-BE49-F238E27FC236}">
                  <a16:creationId xmlns:a16="http://schemas.microsoft.com/office/drawing/2014/main" id="{9B53FC04-9E13-8AAC-B7F3-6CEE35835585}"/>
                </a:ext>
              </a:extLst>
            </p:cNvPr>
            <p:cNvSpPr/>
            <p:nvPr/>
          </p:nvSpPr>
          <p:spPr>
            <a:xfrm>
              <a:off x="9200145" y="2727097"/>
              <a:ext cx="41276" cy="41276"/>
            </a:xfrm>
            <a:custGeom>
              <a:avLst/>
              <a:gdLst>
                <a:gd name="connsiteX0" fmla="*/ 40002 w 41276"/>
                <a:gd name="connsiteY0" fmla="*/ 40694 h 41276"/>
                <a:gd name="connsiteX1" fmla="*/ -1274 w 41276"/>
                <a:gd name="connsiteY1" fmla="*/ 40694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4"/>
                  </a:moveTo>
                  <a:lnTo>
                    <a:pt x="-1274" y="40694"/>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79" name="Freeform: Shape 60">
              <a:extLst>
                <a:ext uri="{FF2B5EF4-FFF2-40B4-BE49-F238E27FC236}">
                  <a16:creationId xmlns:a16="http://schemas.microsoft.com/office/drawing/2014/main" id="{0187BAF3-13BD-3A0E-C546-68225ECE4C6A}"/>
                </a:ext>
              </a:extLst>
            </p:cNvPr>
            <p:cNvSpPr/>
            <p:nvPr/>
          </p:nvSpPr>
          <p:spPr>
            <a:xfrm>
              <a:off x="8893796" y="2686788"/>
              <a:ext cx="41276" cy="41276"/>
            </a:xfrm>
            <a:custGeom>
              <a:avLst/>
              <a:gdLst>
                <a:gd name="connsiteX0" fmla="*/ 40002 w 41276"/>
                <a:gd name="connsiteY0" fmla="*/ 40694 h 41276"/>
                <a:gd name="connsiteX1" fmla="*/ -1274 w 41276"/>
                <a:gd name="connsiteY1" fmla="*/ 40694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4"/>
                  </a:moveTo>
                  <a:lnTo>
                    <a:pt x="-1274" y="40694"/>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0" name="Freeform: Shape 61">
              <a:extLst>
                <a:ext uri="{FF2B5EF4-FFF2-40B4-BE49-F238E27FC236}">
                  <a16:creationId xmlns:a16="http://schemas.microsoft.com/office/drawing/2014/main" id="{6F153B62-EADA-8D3E-7CE1-BFA69E577DC4}"/>
                </a:ext>
              </a:extLst>
            </p:cNvPr>
            <p:cNvSpPr/>
            <p:nvPr/>
          </p:nvSpPr>
          <p:spPr>
            <a:xfrm>
              <a:off x="9265015" y="2862052"/>
              <a:ext cx="41276" cy="41276"/>
            </a:xfrm>
            <a:custGeom>
              <a:avLst/>
              <a:gdLst>
                <a:gd name="connsiteX0" fmla="*/ 40003 w 41276"/>
                <a:gd name="connsiteY0" fmla="*/ 40693 h 41276"/>
                <a:gd name="connsiteX1" fmla="*/ -1274 w 41276"/>
                <a:gd name="connsiteY1" fmla="*/ 40693 h 41276"/>
                <a:gd name="connsiteX2" fmla="*/ -1274 w 41276"/>
                <a:gd name="connsiteY2" fmla="*/ -583 h 41276"/>
                <a:gd name="connsiteX3" fmla="*/ 40003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3" y="40693"/>
                  </a:moveTo>
                  <a:lnTo>
                    <a:pt x="-1274" y="40693"/>
                  </a:lnTo>
                  <a:lnTo>
                    <a:pt x="-1274" y="-583"/>
                  </a:lnTo>
                  <a:lnTo>
                    <a:pt x="40003"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1" name="Freeform: Shape 62">
              <a:extLst>
                <a:ext uri="{FF2B5EF4-FFF2-40B4-BE49-F238E27FC236}">
                  <a16:creationId xmlns:a16="http://schemas.microsoft.com/office/drawing/2014/main" id="{73EF5981-A6F8-43E5-8A4B-D0760014AA93}"/>
                </a:ext>
              </a:extLst>
            </p:cNvPr>
            <p:cNvSpPr/>
            <p:nvPr/>
          </p:nvSpPr>
          <p:spPr>
            <a:xfrm>
              <a:off x="9064330" y="2905371"/>
              <a:ext cx="41276" cy="41276"/>
            </a:xfrm>
            <a:custGeom>
              <a:avLst/>
              <a:gdLst>
                <a:gd name="connsiteX0" fmla="*/ 40002 w 41276"/>
                <a:gd name="connsiteY0" fmla="*/ 40693 h 41276"/>
                <a:gd name="connsiteX1" fmla="*/ -1274 w 41276"/>
                <a:gd name="connsiteY1" fmla="*/ 40693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3"/>
                  </a:moveTo>
                  <a:lnTo>
                    <a:pt x="-1274" y="40693"/>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2" name="Freeform: Shape 63">
              <a:extLst>
                <a:ext uri="{FF2B5EF4-FFF2-40B4-BE49-F238E27FC236}">
                  <a16:creationId xmlns:a16="http://schemas.microsoft.com/office/drawing/2014/main" id="{D67E69CA-362D-92E1-D777-183BE40BA41D}"/>
                </a:ext>
              </a:extLst>
            </p:cNvPr>
            <p:cNvSpPr/>
            <p:nvPr/>
          </p:nvSpPr>
          <p:spPr>
            <a:xfrm>
              <a:off x="9177356" y="2897040"/>
              <a:ext cx="41276" cy="41276"/>
            </a:xfrm>
            <a:custGeom>
              <a:avLst/>
              <a:gdLst>
                <a:gd name="connsiteX0" fmla="*/ 40003 w 41276"/>
                <a:gd name="connsiteY0" fmla="*/ 40693 h 41276"/>
                <a:gd name="connsiteX1" fmla="*/ -1274 w 41276"/>
                <a:gd name="connsiteY1" fmla="*/ 40693 h 41276"/>
                <a:gd name="connsiteX2" fmla="*/ -1274 w 41276"/>
                <a:gd name="connsiteY2" fmla="*/ -583 h 41276"/>
                <a:gd name="connsiteX3" fmla="*/ 40003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3" y="40693"/>
                  </a:moveTo>
                  <a:lnTo>
                    <a:pt x="-1274" y="40693"/>
                  </a:lnTo>
                  <a:lnTo>
                    <a:pt x="-1274" y="-583"/>
                  </a:lnTo>
                  <a:lnTo>
                    <a:pt x="40003"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3" name="Freeform: Shape 64">
              <a:extLst>
                <a:ext uri="{FF2B5EF4-FFF2-40B4-BE49-F238E27FC236}">
                  <a16:creationId xmlns:a16="http://schemas.microsoft.com/office/drawing/2014/main" id="{A3018404-2066-CF5B-6978-8DBBE105BE4B}"/>
                </a:ext>
              </a:extLst>
            </p:cNvPr>
            <p:cNvSpPr/>
            <p:nvPr/>
          </p:nvSpPr>
          <p:spPr>
            <a:xfrm>
              <a:off x="9050840" y="3040003"/>
              <a:ext cx="41276" cy="41276"/>
            </a:xfrm>
            <a:custGeom>
              <a:avLst/>
              <a:gdLst>
                <a:gd name="connsiteX0" fmla="*/ 40002 w 41276"/>
                <a:gd name="connsiteY0" fmla="*/ 40693 h 41276"/>
                <a:gd name="connsiteX1" fmla="*/ -1274 w 41276"/>
                <a:gd name="connsiteY1" fmla="*/ 40693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3"/>
                  </a:moveTo>
                  <a:lnTo>
                    <a:pt x="-1274" y="40693"/>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4" name="Freeform: Shape 65">
              <a:extLst>
                <a:ext uri="{FF2B5EF4-FFF2-40B4-BE49-F238E27FC236}">
                  <a16:creationId xmlns:a16="http://schemas.microsoft.com/office/drawing/2014/main" id="{B7F3CC25-FD54-67DB-8149-53AC125220DB}"/>
                </a:ext>
              </a:extLst>
            </p:cNvPr>
            <p:cNvSpPr/>
            <p:nvPr/>
          </p:nvSpPr>
          <p:spPr>
            <a:xfrm>
              <a:off x="8962160" y="2959385"/>
              <a:ext cx="41276" cy="41276"/>
            </a:xfrm>
            <a:custGeom>
              <a:avLst/>
              <a:gdLst>
                <a:gd name="connsiteX0" fmla="*/ 40002 w 41276"/>
                <a:gd name="connsiteY0" fmla="*/ 40693 h 41276"/>
                <a:gd name="connsiteX1" fmla="*/ -1274 w 41276"/>
                <a:gd name="connsiteY1" fmla="*/ 40693 h 41276"/>
                <a:gd name="connsiteX2" fmla="*/ -1274 w 41276"/>
                <a:gd name="connsiteY2" fmla="*/ -583 h 41276"/>
                <a:gd name="connsiteX3" fmla="*/ 40002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2" y="40693"/>
                  </a:moveTo>
                  <a:lnTo>
                    <a:pt x="-1274" y="40693"/>
                  </a:lnTo>
                  <a:lnTo>
                    <a:pt x="-1274" y="-583"/>
                  </a:lnTo>
                  <a:lnTo>
                    <a:pt x="40002"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5" name="Freeform: Shape 66">
              <a:extLst>
                <a:ext uri="{FF2B5EF4-FFF2-40B4-BE49-F238E27FC236}">
                  <a16:creationId xmlns:a16="http://schemas.microsoft.com/office/drawing/2014/main" id="{A11BE001-1351-FA14-D25C-79089B6E1252}"/>
                </a:ext>
              </a:extLst>
            </p:cNvPr>
            <p:cNvSpPr/>
            <p:nvPr/>
          </p:nvSpPr>
          <p:spPr>
            <a:xfrm>
              <a:off x="9009563" y="2807823"/>
              <a:ext cx="41276" cy="41276"/>
            </a:xfrm>
            <a:custGeom>
              <a:avLst/>
              <a:gdLst>
                <a:gd name="connsiteX0" fmla="*/ 40003 w 41276"/>
                <a:gd name="connsiteY0" fmla="*/ 40693 h 41276"/>
                <a:gd name="connsiteX1" fmla="*/ -1274 w 41276"/>
                <a:gd name="connsiteY1" fmla="*/ 40693 h 41276"/>
                <a:gd name="connsiteX2" fmla="*/ -1274 w 41276"/>
                <a:gd name="connsiteY2" fmla="*/ -583 h 41276"/>
                <a:gd name="connsiteX3" fmla="*/ 40003 w 41276"/>
                <a:gd name="connsiteY3" fmla="*/ -583 h 41276"/>
              </a:gdLst>
              <a:ahLst/>
              <a:cxnLst>
                <a:cxn ang="0">
                  <a:pos x="connsiteX0" y="connsiteY0"/>
                </a:cxn>
                <a:cxn ang="0">
                  <a:pos x="connsiteX1" y="connsiteY1"/>
                </a:cxn>
                <a:cxn ang="0">
                  <a:pos x="connsiteX2" y="connsiteY2"/>
                </a:cxn>
                <a:cxn ang="0">
                  <a:pos x="connsiteX3" y="connsiteY3"/>
                </a:cxn>
              </a:cxnLst>
              <a:rect l="l" t="t" r="r" b="b"/>
              <a:pathLst>
                <a:path w="41276" h="41276">
                  <a:moveTo>
                    <a:pt x="40003" y="40693"/>
                  </a:moveTo>
                  <a:lnTo>
                    <a:pt x="-1274" y="40693"/>
                  </a:lnTo>
                  <a:lnTo>
                    <a:pt x="-1274" y="-583"/>
                  </a:lnTo>
                  <a:lnTo>
                    <a:pt x="40003" y="-583"/>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6" name="Freeform: Shape 67">
              <a:extLst>
                <a:ext uri="{FF2B5EF4-FFF2-40B4-BE49-F238E27FC236}">
                  <a16:creationId xmlns:a16="http://schemas.microsoft.com/office/drawing/2014/main" id="{7827A2CC-AB3C-5058-8D15-B323222F9AF1}"/>
                </a:ext>
              </a:extLst>
            </p:cNvPr>
            <p:cNvSpPr/>
            <p:nvPr/>
          </p:nvSpPr>
          <p:spPr>
            <a:xfrm>
              <a:off x="9129308" y="2939875"/>
              <a:ext cx="386106" cy="554223"/>
            </a:xfrm>
            <a:custGeom>
              <a:avLst/>
              <a:gdLst>
                <a:gd name="connsiteX0" fmla="*/ -1274 w 386106"/>
                <a:gd name="connsiteY0" fmla="*/ 538376 h 554223"/>
                <a:gd name="connsiteX1" fmla="*/ -1274 w 386106"/>
                <a:gd name="connsiteY1" fmla="*/ 14466 h 554223"/>
                <a:gd name="connsiteX2" fmla="*/ 13882 w 386106"/>
                <a:gd name="connsiteY2" fmla="*/ -583 h 554223"/>
                <a:gd name="connsiteX3" fmla="*/ 13989 w 386106"/>
                <a:gd name="connsiteY3" fmla="*/ -583 h 554223"/>
                <a:gd name="connsiteX4" fmla="*/ 255844 w 386106"/>
                <a:gd name="connsiteY4" fmla="*/ -583 h 554223"/>
                <a:gd name="connsiteX5" fmla="*/ 384832 w 386106"/>
                <a:gd name="connsiteY5" fmla="*/ 128406 h 554223"/>
                <a:gd name="connsiteX6" fmla="*/ 384832 w 386106"/>
                <a:gd name="connsiteY6" fmla="*/ 538537 h 554223"/>
                <a:gd name="connsiteX7" fmla="*/ 369730 w 386106"/>
                <a:gd name="connsiteY7" fmla="*/ 553639 h 554223"/>
                <a:gd name="connsiteX8" fmla="*/ 13989 w 386106"/>
                <a:gd name="connsiteY8" fmla="*/ 553639 h 554223"/>
                <a:gd name="connsiteX9" fmla="*/ -1274 w 386106"/>
                <a:gd name="connsiteY9" fmla="*/ 538698 h 554223"/>
                <a:gd name="connsiteX10" fmla="*/ -1274 w 386106"/>
                <a:gd name="connsiteY10" fmla="*/ 538376 h 55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6106" h="554223">
                  <a:moveTo>
                    <a:pt x="-1274" y="538376"/>
                  </a:moveTo>
                  <a:lnTo>
                    <a:pt x="-1274" y="14466"/>
                  </a:lnTo>
                  <a:cubicBezTo>
                    <a:pt x="-1220" y="6124"/>
                    <a:pt x="5552" y="-615"/>
                    <a:pt x="13882" y="-583"/>
                  </a:cubicBezTo>
                  <a:cubicBezTo>
                    <a:pt x="13936" y="-583"/>
                    <a:pt x="13936" y="-583"/>
                    <a:pt x="13989" y="-583"/>
                  </a:cubicBezTo>
                  <a:lnTo>
                    <a:pt x="255844" y="-583"/>
                  </a:lnTo>
                  <a:lnTo>
                    <a:pt x="384832" y="128406"/>
                  </a:lnTo>
                  <a:lnTo>
                    <a:pt x="384832" y="538537"/>
                  </a:lnTo>
                  <a:cubicBezTo>
                    <a:pt x="384832" y="546878"/>
                    <a:pt x="378060" y="553639"/>
                    <a:pt x="369730" y="553639"/>
                  </a:cubicBezTo>
                  <a:lnTo>
                    <a:pt x="13989" y="553639"/>
                  </a:lnTo>
                  <a:cubicBezTo>
                    <a:pt x="5659" y="553731"/>
                    <a:pt x="-1166" y="547039"/>
                    <a:pt x="-1274" y="538698"/>
                  </a:cubicBezTo>
                  <a:cubicBezTo>
                    <a:pt x="-1274" y="538591"/>
                    <a:pt x="-1274" y="538483"/>
                    <a:pt x="-1274" y="538376"/>
                  </a:cubicBez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7" name="Freeform: Shape 68">
              <a:extLst>
                <a:ext uri="{FF2B5EF4-FFF2-40B4-BE49-F238E27FC236}">
                  <a16:creationId xmlns:a16="http://schemas.microsoft.com/office/drawing/2014/main" id="{7D761B4E-8D91-8CA2-2B34-2BC63A0227F5}"/>
                </a:ext>
              </a:extLst>
            </p:cNvPr>
            <p:cNvSpPr/>
            <p:nvPr/>
          </p:nvSpPr>
          <p:spPr>
            <a:xfrm>
              <a:off x="9386533" y="2939821"/>
              <a:ext cx="128881" cy="128881"/>
            </a:xfrm>
            <a:custGeom>
              <a:avLst/>
              <a:gdLst>
                <a:gd name="connsiteX0" fmla="*/ -1274 w 128881"/>
                <a:gd name="connsiteY0" fmla="*/ 128298 h 128881"/>
                <a:gd name="connsiteX1" fmla="*/ 127607 w 128881"/>
                <a:gd name="connsiteY1" fmla="*/ 128298 h 128881"/>
                <a:gd name="connsiteX2" fmla="*/ -1274 w 128881"/>
                <a:gd name="connsiteY2" fmla="*/ -583 h 128881"/>
                <a:gd name="connsiteX3" fmla="*/ -1274 w 128881"/>
                <a:gd name="connsiteY3" fmla="*/ 128298 h 128881"/>
              </a:gdLst>
              <a:ahLst/>
              <a:cxnLst>
                <a:cxn ang="0">
                  <a:pos x="connsiteX0" y="connsiteY0"/>
                </a:cxn>
                <a:cxn ang="0">
                  <a:pos x="connsiteX1" y="connsiteY1"/>
                </a:cxn>
                <a:cxn ang="0">
                  <a:pos x="connsiteX2" y="connsiteY2"/>
                </a:cxn>
                <a:cxn ang="0">
                  <a:pos x="connsiteX3" y="connsiteY3"/>
                </a:cxn>
              </a:cxnLst>
              <a:rect l="l" t="t" r="r" b="b"/>
              <a:pathLst>
                <a:path w="128881" h="128881">
                  <a:moveTo>
                    <a:pt x="-1274" y="128298"/>
                  </a:moveTo>
                  <a:lnTo>
                    <a:pt x="127607" y="128298"/>
                  </a:lnTo>
                  <a:lnTo>
                    <a:pt x="-1274" y="-583"/>
                  </a:lnTo>
                  <a:lnTo>
                    <a:pt x="-1274" y="128298"/>
                  </a:lnTo>
                  <a:close/>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8" name="Freeform: Shape 69">
              <a:extLst>
                <a:ext uri="{FF2B5EF4-FFF2-40B4-BE49-F238E27FC236}">
                  <a16:creationId xmlns:a16="http://schemas.microsoft.com/office/drawing/2014/main" id="{9BA44ED3-36E8-C253-7CD5-035841DA1B4B}"/>
                </a:ext>
              </a:extLst>
            </p:cNvPr>
            <p:cNvSpPr/>
            <p:nvPr/>
          </p:nvSpPr>
          <p:spPr>
            <a:xfrm>
              <a:off x="9298230" y="3248212"/>
              <a:ext cx="160644" cy="5374"/>
            </a:xfrm>
            <a:custGeom>
              <a:avLst/>
              <a:gdLst>
                <a:gd name="connsiteX0" fmla="*/ -1274 w 160644"/>
                <a:gd name="connsiteY0" fmla="*/ -583 h 5374"/>
                <a:gd name="connsiteX1" fmla="*/ 159370 w 160644"/>
                <a:gd name="connsiteY1" fmla="*/ -583 h 5374"/>
              </a:gdLst>
              <a:ahLst/>
              <a:cxnLst>
                <a:cxn ang="0">
                  <a:pos x="connsiteX0" y="connsiteY0"/>
                </a:cxn>
                <a:cxn ang="0">
                  <a:pos x="connsiteX1" y="connsiteY1"/>
                </a:cxn>
              </a:cxnLst>
              <a:rect l="l" t="t" r="r" b="b"/>
              <a:pathLst>
                <a:path w="160644" h="5374">
                  <a:moveTo>
                    <a:pt x="-1274" y="-583"/>
                  </a:moveTo>
                  <a:lnTo>
                    <a:pt x="159370" y="-583"/>
                  </a:lnTo>
                </a:path>
              </a:pathLst>
            </a:custGeom>
            <a:noFill/>
            <a:ln w="10668"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9" name="Freeform: Shape 70">
              <a:extLst>
                <a:ext uri="{FF2B5EF4-FFF2-40B4-BE49-F238E27FC236}">
                  <a16:creationId xmlns:a16="http://schemas.microsoft.com/office/drawing/2014/main" id="{A8C91A8B-1D3E-2834-9190-49C318B62AE3}"/>
                </a:ext>
              </a:extLst>
            </p:cNvPr>
            <p:cNvSpPr/>
            <p:nvPr/>
          </p:nvSpPr>
          <p:spPr>
            <a:xfrm>
              <a:off x="9298230" y="3399236"/>
              <a:ext cx="160644" cy="5374"/>
            </a:xfrm>
            <a:custGeom>
              <a:avLst/>
              <a:gdLst>
                <a:gd name="connsiteX0" fmla="*/ -1274 w 160644"/>
                <a:gd name="connsiteY0" fmla="*/ -583 h 5374"/>
                <a:gd name="connsiteX1" fmla="*/ 159370 w 160644"/>
                <a:gd name="connsiteY1" fmla="*/ -583 h 5374"/>
              </a:gdLst>
              <a:ahLst/>
              <a:cxnLst>
                <a:cxn ang="0">
                  <a:pos x="connsiteX0" y="connsiteY0"/>
                </a:cxn>
                <a:cxn ang="0">
                  <a:pos x="connsiteX1" y="connsiteY1"/>
                </a:cxn>
              </a:cxnLst>
              <a:rect l="l" t="t" r="r" b="b"/>
              <a:pathLst>
                <a:path w="160644" h="5374">
                  <a:moveTo>
                    <a:pt x="-1274" y="-583"/>
                  </a:moveTo>
                  <a:lnTo>
                    <a:pt x="159370"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0" name="Freeform: Shape 71">
              <a:extLst>
                <a:ext uri="{FF2B5EF4-FFF2-40B4-BE49-F238E27FC236}">
                  <a16:creationId xmlns:a16="http://schemas.microsoft.com/office/drawing/2014/main" id="{BAE9DABC-D435-7C5B-890D-94D5501EB2BE}"/>
                </a:ext>
              </a:extLst>
            </p:cNvPr>
            <p:cNvSpPr/>
            <p:nvPr/>
          </p:nvSpPr>
          <p:spPr>
            <a:xfrm>
              <a:off x="9298230" y="3175656"/>
              <a:ext cx="160644" cy="5374"/>
            </a:xfrm>
            <a:custGeom>
              <a:avLst/>
              <a:gdLst>
                <a:gd name="connsiteX0" fmla="*/ -1274 w 160644"/>
                <a:gd name="connsiteY0" fmla="*/ -583 h 5374"/>
                <a:gd name="connsiteX1" fmla="*/ 159370 w 160644"/>
                <a:gd name="connsiteY1" fmla="*/ -583 h 5374"/>
              </a:gdLst>
              <a:ahLst/>
              <a:cxnLst>
                <a:cxn ang="0">
                  <a:pos x="connsiteX0" y="connsiteY0"/>
                </a:cxn>
                <a:cxn ang="0">
                  <a:pos x="connsiteX1" y="connsiteY1"/>
                </a:cxn>
              </a:cxnLst>
              <a:rect l="l" t="t" r="r" b="b"/>
              <a:pathLst>
                <a:path w="160644" h="5374">
                  <a:moveTo>
                    <a:pt x="-1274" y="-583"/>
                  </a:moveTo>
                  <a:lnTo>
                    <a:pt x="159370"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1" name="Freeform: Shape 72">
              <a:extLst>
                <a:ext uri="{FF2B5EF4-FFF2-40B4-BE49-F238E27FC236}">
                  <a16:creationId xmlns:a16="http://schemas.microsoft.com/office/drawing/2014/main" id="{FCB9836C-B421-6733-5944-65E3FEDE36D7}"/>
                </a:ext>
              </a:extLst>
            </p:cNvPr>
            <p:cNvSpPr/>
            <p:nvPr/>
          </p:nvSpPr>
          <p:spPr>
            <a:xfrm>
              <a:off x="9298230" y="3326680"/>
              <a:ext cx="160644" cy="5374"/>
            </a:xfrm>
            <a:custGeom>
              <a:avLst/>
              <a:gdLst>
                <a:gd name="connsiteX0" fmla="*/ -1274 w 160644"/>
                <a:gd name="connsiteY0" fmla="*/ -583 h 5374"/>
                <a:gd name="connsiteX1" fmla="*/ 159370 w 160644"/>
                <a:gd name="connsiteY1" fmla="*/ -583 h 5374"/>
              </a:gdLst>
              <a:ahLst/>
              <a:cxnLst>
                <a:cxn ang="0">
                  <a:pos x="connsiteX0" y="connsiteY0"/>
                </a:cxn>
                <a:cxn ang="0">
                  <a:pos x="connsiteX1" y="connsiteY1"/>
                </a:cxn>
              </a:cxnLst>
              <a:rect l="l" t="t" r="r" b="b"/>
              <a:pathLst>
                <a:path w="160644" h="5374">
                  <a:moveTo>
                    <a:pt x="-1274" y="-583"/>
                  </a:moveTo>
                  <a:lnTo>
                    <a:pt x="159370"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2" name="Freeform: Shape 76">
              <a:extLst>
                <a:ext uri="{FF2B5EF4-FFF2-40B4-BE49-F238E27FC236}">
                  <a16:creationId xmlns:a16="http://schemas.microsoft.com/office/drawing/2014/main" id="{CBBE3B45-0AD9-8CEB-B76E-326DF9C51013}"/>
                </a:ext>
              </a:extLst>
            </p:cNvPr>
            <p:cNvSpPr/>
            <p:nvPr/>
          </p:nvSpPr>
          <p:spPr>
            <a:xfrm>
              <a:off x="9298230" y="3097134"/>
              <a:ext cx="52562" cy="5374"/>
            </a:xfrm>
            <a:custGeom>
              <a:avLst/>
              <a:gdLst>
                <a:gd name="connsiteX0" fmla="*/ -1274 w 52562"/>
                <a:gd name="connsiteY0" fmla="*/ -583 h 5374"/>
                <a:gd name="connsiteX1" fmla="*/ 51288 w 52562"/>
                <a:gd name="connsiteY1" fmla="*/ -583 h 5374"/>
              </a:gdLst>
              <a:ahLst/>
              <a:cxnLst>
                <a:cxn ang="0">
                  <a:pos x="connsiteX0" y="connsiteY0"/>
                </a:cxn>
                <a:cxn ang="0">
                  <a:pos x="connsiteX1" y="connsiteY1"/>
                </a:cxn>
              </a:cxnLst>
              <a:rect l="l" t="t" r="r" b="b"/>
              <a:pathLst>
                <a:path w="52562" h="5374">
                  <a:moveTo>
                    <a:pt x="-1274" y="-583"/>
                  </a:moveTo>
                  <a:lnTo>
                    <a:pt x="51288"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3" name="Freeform: Shape 78">
              <a:extLst>
                <a:ext uri="{FF2B5EF4-FFF2-40B4-BE49-F238E27FC236}">
                  <a16:creationId xmlns:a16="http://schemas.microsoft.com/office/drawing/2014/main" id="{69E534D8-A4A9-30EA-C544-C0803AA2DF37}"/>
                </a:ext>
              </a:extLst>
            </p:cNvPr>
            <p:cNvSpPr/>
            <p:nvPr/>
          </p:nvSpPr>
          <p:spPr>
            <a:xfrm>
              <a:off x="9184397" y="3068702"/>
              <a:ext cx="84004" cy="59711"/>
            </a:xfrm>
            <a:custGeom>
              <a:avLst/>
              <a:gdLst>
                <a:gd name="connsiteX0" fmla="*/ -1274 w 84004"/>
                <a:gd name="connsiteY0" fmla="*/ 34889 h 59711"/>
                <a:gd name="connsiteX1" fmla="*/ 22965 w 84004"/>
                <a:gd name="connsiteY1" fmla="*/ 59128 h 59711"/>
                <a:gd name="connsiteX2" fmla="*/ 82730 w 84004"/>
                <a:gd name="connsiteY2" fmla="*/ -583 h 59711"/>
              </a:gdLst>
              <a:ahLst/>
              <a:cxnLst>
                <a:cxn ang="0">
                  <a:pos x="connsiteX0" y="connsiteY0"/>
                </a:cxn>
                <a:cxn ang="0">
                  <a:pos x="connsiteX1" y="connsiteY1"/>
                </a:cxn>
                <a:cxn ang="0">
                  <a:pos x="connsiteX2" y="connsiteY2"/>
                </a:cxn>
              </a:cxnLst>
              <a:rect l="l" t="t" r="r" b="b"/>
              <a:pathLst>
                <a:path w="84004" h="59711">
                  <a:moveTo>
                    <a:pt x="-1274" y="34889"/>
                  </a:moveTo>
                  <a:lnTo>
                    <a:pt x="22965" y="59128"/>
                  </a:lnTo>
                  <a:lnTo>
                    <a:pt x="82730"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4" name="Freeform: Shape 82">
              <a:extLst>
                <a:ext uri="{FF2B5EF4-FFF2-40B4-BE49-F238E27FC236}">
                  <a16:creationId xmlns:a16="http://schemas.microsoft.com/office/drawing/2014/main" id="{D6F45ADE-5BBF-8269-388D-375754C75457}"/>
                </a:ext>
              </a:extLst>
            </p:cNvPr>
            <p:cNvSpPr/>
            <p:nvPr/>
          </p:nvSpPr>
          <p:spPr>
            <a:xfrm>
              <a:off x="9184397" y="3366989"/>
              <a:ext cx="84004" cy="59711"/>
            </a:xfrm>
            <a:custGeom>
              <a:avLst/>
              <a:gdLst>
                <a:gd name="connsiteX0" fmla="*/ -1274 w 84004"/>
                <a:gd name="connsiteY0" fmla="*/ 34889 h 59711"/>
                <a:gd name="connsiteX1" fmla="*/ 22965 w 84004"/>
                <a:gd name="connsiteY1" fmla="*/ 59128 h 59711"/>
                <a:gd name="connsiteX2" fmla="*/ 82730 w 84004"/>
                <a:gd name="connsiteY2" fmla="*/ -583 h 59711"/>
              </a:gdLst>
              <a:ahLst/>
              <a:cxnLst>
                <a:cxn ang="0">
                  <a:pos x="connsiteX0" y="connsiteY0"/>
                </a:cxn>
                <a:cxn ang="0">
                  <a:pos x="connsiteX1" y="connsiteY1"/>
                </a:cxn>
                <a:cxn ang="0">
                  <a:pos x="connsiteX2" y="connsiteY2"/>
                </a:cxn>
              </a:cxnLst>
              <a:rect l="l" t="t" r="r" b="b"/>
              <a:pathLst>
                <a:path w="84004" h="59711">
                  <a:moveTo>
                    <a:pt x="-1274" y="34889"/>
                  </a:moveTo>
                  <a:lnTo>
                    <a:pt x="22965" y="59128"/>
                  </a:lnTo>
                  <a:lnTo>
                    <a:pt x="82730" y="-583"/>
                  </a:lnTo>
                </a:path>
              </a:pathLst>
            </a:custGeom>
            <a:noFill/>
            <a:ln w="10668"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5" name="Freeform: Shape 83">
              <a:extLst>
                <a:ext uri="{FF2B5EF4-FFF2-40B4-BE49-F238E27FC236}">
                  <a16:creationId xmlns:a16="http://schemas.microsoft.com/office/drawing/2014/main" id="{66F93D3C-910F-9B9C-3992-19C9F95B9FE6}"/>
                </a:ext>
              </a:extLst>
            </p:cNvPr>
            <p:cNvSpPr/>
            <p:nvPr/>
          </p:nvSpPr>
          <p:spPr>
            <a:xfrm>
              <a:off x="9196275" y="3217900"/>
              <a:ext cx="60248" cy="60302"/>
            </a:xfrm>
            <a:custGeom>
              <a:avLst/>
              <a:gdLst>
                <a:gd name="connsiteX0" fmla="*/ -1274 w 60248"/>
                <a:gd name="connsiteY0" fmla="*/ -583 h 60302"/>
                <a:gd name="connsiteX1" fmla="*/ 58975 w 60248"/>
                <a:gd name="connsiteY1" fmla="*/ 59719 h 60302"/>
              </a:gdLst>
              <a:ahLst/>
              <a:cxnLst>
                <a:cxn ang="0">
                  <a:pos x="connsiteX0" y="connsiteY0"/>
                </a:cxn>
                <a:cxn ang="0">
                  <a:pos x="connsiteX1" y="connsiteY1"/>
                </a:cxn>
              </a:cxnLst>
              <a:rect l="l" t="t" r="r" b="b"/>
              <a:pathLst>
                <a:path w="60248" h="60302">
                  <a:moveTo>
                    <a:pt x="-1274" y="-583"/>
                  </a:moveTo>
                  <a:lnTo>
                    <a:pt x="58975" y="59719"/>
                  </a:lnTo>
                </a:path>
              </a:pathLst>
            </a:custGeom>
            <a:noFill/>
            <a:ln w="10668"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6" name="Freeform: Shape 84">
              <a:extLst>
                <a:ext uri="{FF2B5EF4-FFF2-40B4-BE49-F238E27FC236}">
                  <a16:creationId xmlns:a16="http://schemas.microsoft.com/office/drawing/2014/main" id="{104E0EC9-59C2-7856-81CD-44B7029A2E7C}"/>
                </a:ext>
              </a:extLst>
            </p:cNvPr>
            <p:cNvSpPr/>
            <p:nvPr/>
          </p:nvSpPr>
          <p:spPr>
            <a:xfrm>
              <a:off x="9196490" y="3217900"/>
              <a:ext cx="60033" cy="60571"/>
            </a:xfrm>
            <a:custGeom>
              <a:avLst/>
              <a:gdLst>
                <a:gd name="connsiteX0" fmla="*/ 58760 w 60033"/>
                <a:gd name="connsiteY0" fmla="*/ -583 h 60571"/>
                <a:gd name="connsiteX1" fmla="*/ -1274 w 60033"/>
                <a:gd name="connsiteY1" fmla="*/ 59988 h 60571"/>
              </a:gdLst>
              <a:ahLst/>
              <a:cxnLst>
                <a:cxn ang="0">
                  <a:pos x="connsiteX0" y="connsiteY0"/>
                </a:cxn>
                <a:cxn ang="0">
                  <a:pos x="connsiteX1" y="connsiteY1"/>
                </a:cxn>
              </a:cxnLst>
              <a:rect l="l" t="t" r="r" b="b"/>
              <a:pathLst>
                <a:path w="60033" h="60571">
                  <a:moveTo>
                    <a:pt x="58760" y="-583"/>
                  </a:moveTo>
                  <a:lnTo>
                    <a:pt x="-1274" y="59988"/>
                  </a:lnTo>
                </a:path>
              </a:pathLst>
            </a:custGeom>
            <a:noFill/>
            <a:ln w="10668"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97" name="Graphic 51">
            <a:extLst>
              <a:ext uri="{FF2B5EF4-FFF2-40B4-BE49-F238E27FC236}">
                <a16:creationId xmlns:a16="http://schemas.microsoft.com/office/drawing/2014/main" id="{08553BFE-1A9D-F7C4-CCDB-67C601B9BD02}"/>
              </a:ext>
            </a:extLst>
          </p:cNvPr>
          <p:cNvGrpSpPr/>
          <p:nvPr/>
        </p:nvGrpSpPr>
        <p:grpSpPr>
          <a:xfrm>
            <a:off x="6838109" y="2754017"/>
            <a:ext cx="468692" cy="468690"/>
            <a:chOff x="7855106" y="2798283"/>
            <a:chExt cx="762000" cy="762000"/>
          </a:xfrm>
        </p:grpSpPr>
        <p:sp>
          <p:nvSpPr>
            <p:cNvPr id="98" name="Freeform: Shape 54">
              <a:extLst>
                <a:ext uri="{FF2B5EF4-FFF2-40B4-BE49-F238E27FC236}">
                  <a16:creationId xmlns:a16="http://schemas.microsoft.com/office/drawing/2014/main" id="{9A0E7A83-9ECF-DA35-5BA9-3FF7DDF4F381}"/>
                </a:ext>
              </a:extLst>
            </p:cNvPr>
            <p:cNvSpPr/>
            <p:nvPr/>
          </p:nvSpPr>
          <p:spPr>
            <a:xfrm>
              <a:off x="7855106" y="2798283"/>
              <a:ext cx="762000" cy="762000"/>
            </a:xfrm>
            <a:custGeom>
              <a:avLst/>
              <a:gdLst>
                <a:gd name="connsiteX0" fmla="*/ 761498 w 762000"/>
                <a:gd name="connsiteY0" fmla="*/ 380566 h 762000"/>
                <a:gd name="connsiteX1" fmla="*/ 380498 w 762000"/>
                <a:gd name="connsiteY1" fmla="*/ 761566 h 762000"/>
                <a:gd name="connsiteX2" fmla="*/ -502 w 762000"/>
                <a:gd name="connsiteY2" fmla="*/ 380566 h 762000"/>
                <a:gd name="connsiteX3" fmla="*/ 380498 w 762000"/>
                <a:gd name="connsiteY3" fmla="*/ -434 h 762000"/>
                <a:gd name="connsiteX4" fmla="*/ 761498 w 762000"/>
                <a:gd name="connsiteY4" fmla="*/ 380566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 h="762000">
                  <a:moveTo>
                    <a:pt x="761498" y="380566"/>
                  </a:moveTo>
                  <a:cubicBezTo>
                    <a:pt x="761498" y="590983"/>
                    <a:pt x="590915" y="761566"/>
                    <a:pt x="380498" y="761566"/>
                  </a:cubicBezTo>
                  <a:cubicBezTo>
                    <a:pt x="170081" y="761566"/>
                    <a:pt x="-502" y="590983"/>
                    <a:pt x="-502" y="380566"/>
                  </a:cubicBezTo>
                  <a:cubicBezTo>
                    <a:pt x="-502" y="170149"/>
                    <a:pt x="170081" y="-434"/>
                    <a:pt x="380498" y="-434"/>
                  </a:cubicBezTo>
                  <a:cubicBezTo>
                    <a:pt x="590915" y="-434"/>
                    <a:pt x="761498" y="170149"/>
                    <a:pt x="761498" y="380566"/>
                  </a:cubicBezTo>
                  <a:close/>
                </a:path>
              </a:pathLst>
            </a:custGeom>
            <a:noFill/>
            <a:ln w="1905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9" name="Freeform: Shape 55">
              <a:extLst>
                <a:ext uri="{FF2B5EF4-FFF2-40B4-BE49-F238E27FC236}">
                  <a16:creationId xmlns:a16="http://schemas.microsoft.com/office/drawing/2014/main" id="{E0F9768E-08DC-737A-E292-E62124254B9F}"/>
                </a:ext>
              </a:extLst>
            </p:cNvPr>
            <p:cNvSpPr/>
            <p:nvPr/>
          </p:nvSpPr>
          <p:spPr>
            <a:xfrm>
              <a:off x="8345357" y="3046218"/>
              <a:ext cx="85344" cy="85439"/>
            </a:xfrm>
            <a:custGeom>
              <a:avLst/>
              <a:gdLst>
                <a:gd name="connsiteX0" fmla="*/ -502 w 85344"/>
                <a:gd name="connsiteY0" fmla="*/ 85005 h 85439"/>
                <a:gd name="connsiteX1" fmla="*/ 84842 w 85344"/>
                <a:gd name="connsiteY1" fmla="*/ -434 h 85439"/>
              </a:gdLst>
              <a:ahLst/>
              <a:cxnLst>
                <a:cxn ang="0">
                  <a:pos x="connsiteX0" y="connsiteY0"/>
                </a:cxn>
                <a:cxn ang="0">
                  <a:pos x="connsiteX1" y="connsiteY1"/>
                </a:cxn>
              </a:cxnLst>
              <a:rect l="l" t="t" r="r" b="b"/>
              <a:pathLst>
                <a:path w="85344" h="85439">
                  <a:moveTo>
                    <a:pt x="-502" y="85005"/>
                  </a:moveTo>
                  <a:lnTo>
                    <a:pt x="84842"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0" name="Freeform: Shape 56">
              <a:extLst>
                <a:ext uri="{FF2B5EF4-FFF2-40B4-BE49-F238E27FC236}">
                  <a16:creationId xmlns:a16="http://schemas.microsoft.com/office/drawing/2014/main" id="{E7628983-AEB8-52EC-B0CA-22AA048F6BC6}"/>
                </a:ext>
              </a:extLst>
            </p:cNvPr>
            <p:cNvSpPr/>
            <p:nvPr/>
          </p:nvSpPr>
          <p:spPr>
            <a:xfrm>
              <a:off x="8033890" y="3150708"/>
              <a:ext cx="292417" cy="177831"/>
            </a:xfrm>
            <a:custGeom>
              <a:avLst/>
              <a:gdLst>
                <a:gd name="connsiteX0" fmla="*/ -502 w 292417"/>
                <a:gd name="connsiteY0" fmla="*/ 62717 h 177831"/>
                <a:gd name="connsiteX1" fmla="*/ 114083 w 292417"/>
                <a:gd name="connsiteY1" fmla="*/ 177398 h 177831"/>
                <a:gd name="connsiteX2" fmla="*/ 291915 w 292417"/>
                <a:gd name="connsiteY2" fmla="*/ -434 h 177831"/>
              </a:gdLst>
              <a:ahLst/>
              <a:cxnLst>
                <a:cxn ang="0">
                  <a:pos x="connsiteX0" y="connsiteY0"/>
                </a:cxn>
                <a:cxn ang="0">
                  <a:pos x="connsiteX1" y="connsiteY1"/>
                </a:cxn>
                <a:cxn ang="0">
                  <a:pos x="connsiteX2" y="connsiteY2"/>
                </a:cxn>
              </a:cxnLst>
              <a:rect l="l" t="t" r="r" b="b"/>
              <a:pathLst>
                <a:path w="292417" h="177831">
                  <a:moveTo>
                    <a:pt x="-502" y="62717"/>
                  </a:moveTo>
                  <a:lnTo>
                    <a:pt x="114083" y="177398"/>
                  </a:lnTo>
                  <a:lnTo>
                    <a:pt x="291915"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01" name="Text Placeholder 11">
            <a:extLst>
              <a:ext uri="{FF2B5EF4-FFF2-40B4-BE49-F238E27FC236}">
                <a16:creationId xmlns:a16="http://schemas.microsoft.com/office/drawing/2014/main" id="{A119D680-FB00-2AA7-210C-C9C7C0A576F7}"/>
              </a:ext>
            </a:extLst>
          </p:cNvPr>
          <p:cNvSpPr txBox="1">
            <a:spLocks/>
          </p:cNvSpPr>
          <p:nvPr/>
        </p:nvSpPr>
        <p:spPr>
          <a:xfrm>
            <a:off x="5452971" y="2146453"/>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Completeness </a:t>
            </a:r>
          </a:p>
        </p:txBody>
      </p:sp>
      <p:sp>
        <p:nvSpPr>
          <p:cNvPr id="102" name="Text Placeholder 11">
            <a:extLst>
              <a:ext uri="{FF2B5EF4-FFF2-40B4-BE49-F238E27FC236}">
                <a16:creationId xmlns:a16="http://schemas.microsoft.com/office/drawing/2014/main" id="{D385CE4F-7958-FED9-5BA4-5C8D99934727}"/>
              </a:ext>
            </a:extLst>
          </p:cNvPr>
          <p:cNvSpPr txBox="1">
            <a:spLocks/>
          </p:cNvSpPr>
          <p:nvPr/>
        </p:nvSpPr>
        <p:spPr>
          <a:xfrm>
            <a:off x="6970836" y="2120695"/>
            <a:ext cx="1196946"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Helpfulness</a:t>
            </a:r>
          </a:p>
        </p:txBody>
      </p:sp>
      <p:sp>
        <p:nvSpPr>
          <p:cNvPr id="103" name="Text Placeholder 11">
            <a:extLst>
              <a:ext uri="{FF2B5EF4-FFF2-40B4-BE49-F238E27FC236}">
                <a16:creationId xmlns:a16="http://schemas.microsoft.com/office/drawing/2014/main" id="{555AAB86-CA90-0C5B-CEF0-156956DEE135}"/>
              </a:ext>
            </a:extLst>
          </p:cNvPr>
          <p:cNvSpPr txBox="1">
            <a:spLocks/>
          </p:cNvSpPr>
          <p:nvPr/>
        </p:nvSpPr>
        <p:spPr>
          <a:xfrm>
            <a:off x="2422085" y="324463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Relevance</a:t>
            </a:r>
          </a:p>
        </p:txBody>
      </p:sp>
      <p:sp>
        <p:nvSpPr>
          <p:cNvPr id="104" name="Text Placeholder 11">
            <a:extLst>
              <a:ext uri="{FF2B5EF4-FFF2-40B4-BE49-F238E27FC236}">
                <a16:creationId xmlns:a16="http://schemas.microsoft.com/office/drawing/2014/main" id="{5BFF3D5D-82E2-DF68-E4C7-44569477A4BE}"/>
              </a:ext>
            </a:extLst>
          </p:cNvPr>
          <p:cNvSpPr txBox="1">
            <a:spLocks/>
          </p:cNvSpPr>
          <p:nvPr/>
        </p:nvSpPr>
        <p:spPr>
          <a:xfrm>
            <a:off x="3653703" y="324463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Coherence</a:t>
            </a:r>
          </a:p>
        </p:txBody>
      </p:sp>
      <p:sp>
        <p:nvSpPr>
          <p:cNvPr id="105" name="Text Placeholder 11">
            <a:extLst>
              <a:ext uri="{FF2B5EF4-FFF2-40B4-BE49-F238E27FC236}">
                <a16:creationId xmlns:a16="http://schemas.microsoft.com/office/drawing/2014/main" id="{8FDA0698-342F-C46A-1573-FB1A3B6615BD}"/>
              </a:ext>
            </a:extLst>
          </p:cNvPr>
          <p:cNvSpPr txBox="1">
            <a:spLocks/>
          </p:cNvSpPr>
          <p:nvPr/>
        </p:nvSpPr>
        <p:spPr>
          <a:xfrm>
            <a:off x="4906977" y="3244636"/>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Readability</a:t>
            </a:r>
          </a:p>
        </p:txBody>
      </p:sp>
      <p:sp>
        <p:nvSpPr>
          <p:cNvPr id="106" name="Text Placeholder 11">
            <a:extLst>
              <a:ext uri="{FF2B5EF4-FFF2-40B4-BE49-F238E27FC236}">
                <a16:creationId xmlns:a16="http://schemas.microsoft.com/office/drawing/2014/main" id="{AEE951C3-AAD9-EEEE-9FC8-684EA506E6A6}"/>
              </a:ext>
            </a:extLst>
          </p:cNvPr>
          <p:cNvSpPr txBox="1">
            <a:spLocks/>
          </p:cNvSpPr>
          <p:nvPr/>
        </p:nvSpPr>
        <p:spPr>
          <a:xfrm>
            <a:off x="8143985" y="2101178"/>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Creativity </a:t>
            </a:r>
          </a:p>
        </p:txBody>
      </p:sp>
      <p:sp>
        <p:nvSpPr>
          <p:cNvPr id="107" name="Text Placeholder 11">
            <a:extLst>
              <a:ext uri="{FF2B5EF4-FFF2-40B4-BE49-F238E27FC236}">
                <a16:creationId xmlns:a16="http://schemas.microsoft.com/office/drawing/2014/main" id="{D63CBC9D-B214-585A-F136-4E40C1A91940}"/>
              </a:ext>
            </a:extLst>
          </p:cNvPr>
          <p:cNvSpPr txBox="1">
            <a:spLocks/>
          </p:cNvSpPr>
          <p:nvPr/>
        </p:nvSpPr>
        <p:spPr>
          <a:xfrm>
            <a:off x="4006928" y="2185090"/>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Correctness </a:t>
            </a:r>
          </a:p>
        </p:txBody>
      </p:sp>
      <p:grpSp>
        <p:nvGrpSpPr>
          <p:cNvPr id="108" name="Graphic 2">
            <a:extLst>
              <a:ext uri="{FF2B5EF4-FFF2-40B4-BE49-F238E27FC236}">
                <a16:creationId xmlns:a16="http://schemas.microsoft.com/office/drawing/2014/main" id="{F1A5F40E-B3D3-06DB-9794-599AB6EB3AE2}"/>
              </a:ext>
              <a:ext uri="{C183D7F6-B498-43B3-948B-1728B52AA6E4}">
                <adec:decorative xmlns:adec="http://schemas.microsoft.com/office/drawing/2017/decorative" val="1"/>
              </a:ext>
            </a:extLst>
          </p:cNvPr>
          <p:cNvGrpSpPr/>
          <p:nvPr/>
        </p:nvGrpSpPr>
        <p:grpSpPr>
          <a:xfrm>
            <a:off x="4437160" y="1647111"/>
            <a:ext cx="441115" cy="438912"/>
            <a:chOff x="5214347" y="5428462"/>
            <a:chExt cx="497504" cy="497504"/>
          </a:xfrm>
          <a:noFill/>
        </p:grpSpPr>
        <p:sp>
          <p:nvSpPr>
            <p:cNvPr id="109" name="Freeform: Shape 466">
              <a:extLst>
                <a:ext uri="{FF2B5EF4-FFF2-40B4-BE49-F238E27FC236}">
                  <a16:creationId xmlns:a16="http://schemas.microsoft.com/office/drawing/2014/main" id="{C3E26192-4D43-D2C9-1074-5D0DAC8F0301}"/>
                </a:ext>
              </a:extLst>
            </p:cNvPr>
            <p:cNvSpPr/>
            <p:nvPr/>
          </p:nvSpPr>
          <p:spPr>
            <a:xfrm>
              <a:off x="5214347" y="5434760"/>
              <a:ext cx="491206" cy="491206"/>
            </a:xfrm>
            <a:custGeom>
              <a:avLst/>
              <a:gdLst>
                <a:gd name="connsiteX0" fmla="*/ 452603 w 491206"/>
                <a:gd name="connsiteY0" fmla="*/ 113355 h 491206"/>
                <a:gd name="connsiteX1" fmla="*/ 491207 w 491206"/>
                <a:gd name="connsiteY1" fmla="*/ 245603 h 491206"/>
                <a:gd name="connsiteX2" fmla="*/ 245603 w 491206"/>
                <a:gd name="connsiteY2" fmla="*/ 491207 h 491206"/>
                <a:gd name="connsiteX3" fmla="*/ 0 w 491206"/>
                <a:gd name="connsiteY3" fmla="*/ 245603 h 491206"/>
                <a:gd name="connsiteX4" fmla="*/ 245603 w 491206"/>
                <a:gd name="connsiteY4" fmla="*/ 0 h 491206"/>
                <a:gd name="connsiteX5" fmla="*/ 377851 w 491206"/>
                <a:gd name="connsiteY5" fmla="*/ 38604 h 491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1206" h="491206">
                  <a:moveTo>
                    <a:pt x="452603" y="113355"/>
                  </a:moveTo>
                  <a:cubicBezTo>
                    <a:pt x="477037" y="151518"/>
                    <a:pt x="491207" y="196924"/>
                    <a:pt x="491207" y="245603"/>
                  </a:cubicBezTo>
                  <a:cubicBezTo>
                    <a:pt x="491207" y="381252"/>
                    <a:pt x="381252" y="491207"/>
                    <a:pt x="245603" y="491207"/>
                  </a:cubicBezTo>
                  <a:cubicBezTo>
                    <a:pt x="109955" y="491207"/>
                    <a:pt x="0" y="381252"/>
                    <a:pt x="0" y="245603"/>
                  </a:cubicBezTo>
                  <a:cubicBezTo>
                    <a:pt x="0" y="109955"/>
                    <a:pt x="109955" y="0"/>
                    <a:pt x="245603" y="0"/>
                  </a:cubicBezTo>
                  <a:cubicBezTo>
                    <a:pt x="294283" y="0"/>
                    <a:pt x="339688" y="14169"/>
                    <a:pt x="377851" y="38604"/>
                  </a:cubicBez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0" name="Freeform: Shape 467">
              <a:extLst>
                <a:ext uri="{FF2B5EF4-FFF2-40B4-BE49-F238E27FC236}">
                  <a16:creationId xmlns:a16="http://schemas.microsoft.com/office/drawing/2014/main" id="{D8297540-5515-9DBB-FFD3-03022A304AA7}"/>
                </a:ext>
              </a:extLst>
            </p:cNvPr>
            <p:cNvSpPr/>
            <p:nvPr/>
          </p:nvSpPr>
          <p:spPr>
            <a:xfrm>
              <a:off x="5365487" y="5585900"/>
              <a:ext cx="188925" cy="188925"/>
            </a:xfrm>
            <a:custGeom>
              <a:avLst/>
              <a:gdLst>
                <a:gd name="connsiteX0" fmla="*/ 178031 w 188925"/>
                <a:gd name="connsiteY0" fmla="*/ 50380 h 188925"/>
                <a:gd name="connsiteX1" fmla="*/ 188926 w 188925"/>
                <a:gd name="connsiteY1" fmla="*/ 94463 h 188925"/>
                <a:gd name="connsiteX2" fmla="*/ 94463 w 188925"/>
                <a:gd name="connsiteY2" fmla="*/ 188926 h 188925"/>
                <a:gd name="connsiteX3" fmla="*/ 0 w 188925"/>
                <a:gd name="connsiteY3" fmla="*/ 94463 h 188925"/>
                <a:gd name="connsiteX4" fmla="*/ 94463 w 188925"/>
                <a:gd name="connsiteY4" fmla="*/ 0 h 188925"/>
                <a:gd name="connsiteX5" fmla="*/ 138545 w 188925"/>
                <a:gd name="connsiteY5" fmla="*/ 10895 h 188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8925" h="188925">
                  <a:moveTo>
                    <a:pt x="178031" y="50380"/>
                  </a:moveTo>
                  <a:cubicBezTo>
                    <a:pt x="184958" y="63542"/>
                    <a:pt x="188926" y="78530"/>
                    <a:pt x="188926" y="94463"/>
                  </a:cubicBezTo>
                  <a:cubicBezTo>
                    <a:pt x="188926" y="146606"/>
                    <a:pt x="146606" y="188926"/>
                    <a:pt x="94463" y="188926"/>
                  </a:cubicBezTo>
                  <a:cubicBezTo>
                    <a:pt x="42319" y="188926"/>
                    <a:pt x="0" y="146606"/>
                    <a:pt x="0" y="94463"/>
                  </a:cubicBezTo>
                  <a:cubicBezTo>
                    <a:pt x="0" y="42319"/>
                    <a:pt x="42319" y="0"/>
                    <a:pt x="94463" y="0"/>
                  </a:cubicBezTo>
                  <a:cubicBezTo>
                    <a:pt x="110396" y="0"/>
                    <a:pt x="125384" y="3967"/>
                    <a:pt x="138545" y="10895"/>
                  </a:cubicBez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1" name="Freeform: Shape 468">
              <a:extLst>
                <a:ext uri="{FF2B5EF4-FFF2-40B4-BE49-F238E27FC236}">
                  <a16:creationId xmlns:a16="http://schemas.microsoft.com/office/drawing/2014/main" id="{7955D7AE-2388-3C0C-AB70-88E051898DAB}"/>
                </a:ext>
              </a:extLst>
            </p:cNvPr>
            <p:cNvSpPr/>
            <p:nvPr/>
          </p:nvSpPr>
          <p:spPr>
            <a:xfrm>
              <a:off x="5289917" y="5510330"/>
              <a:ext cx="340066" cy="340066"/>
            </a:xfrm>
            <a:custGeom>
              <a:avLst/>
              <a:gdLst>
                <a:gd name="connsiteX0" fmla="*/ 307004 w 340066"/>
                <a:gd name="connsiteY0" fmla="*/ 69273 h 340066"/>
                <a:gd name="connsiteX1" fmla="*/ 340066 w 340066"/>
                <a:gd name="connsiteY1" fmla="*/ 170033 h 340066"/>
                <a:gd name="connsiteX2" fmla="*/ 170033 w 340066"/>
                <a:gd name="connsiteY2" fmla="*/ 340066 h 340066"/>
                <a:gd name="connsiteX3" fmla="*/ 0 w 340066"/>
                <a:gd name="connsiteY3" fmla="*/ 170033 h 340066"/>
                <a:gd name="connsiteX4" fmla="*/ 170033 w 340066"/>
                <a:gd name="connsiteY4" fmla="*/ 0 h 340066"/>
                <a:gd name="connsiteX5" fmla="*/ 268652 w 340066"/>
                <a:gd name="connsiteY5" fmla="*/ 31488 h 340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066" h="340066">
                  <a:moveTo>
                    <a:pt x="307004" y="69273"/>
                  </a:moveTo>
                  <a:cubicBezTo>
                    <a:pt x="327786" y="97486"/>
                    <a:pt x="340066" y="132311"/>
                    <a:pt x="340066" y="170033"/>
                  </a:cubicBezTo>
                  <a:cubicBezTo>
                    <a:pt x="340066" y="263929"/>
                    <a:pt x="263929" y="340066"/>
                    <a:pt x="170033" y="340066"/>
                  </a:cubicBezTo>
                  <a:cubicBezTo>
                    <a:pt x="76137" y="340066"/>
                    <a:pt x="0" y="263929"/>
                    <a:pt x="0" y="170033"/>
                  </a:cubicBezTo>
                  <a:cubicBezTo>
                    <a:pt x="0" y="76137"/>
                    <a:pt x="76137" y="0"/>
                    <a:pt x="170033" y="0"/>
                  </a:cubicBezTo>
                  <a:cubicBezTo>
                    <a:pt x="206811" y="0"/>
                    <a:pt x="240817" y="11650"/>
                    <a:pt x="268652" y="31488"/>
                  </a:cubicBez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2" name="Freeform: Shape 469">
              <a:extLst>
                <a:ext uri="{FF2B5EF4-FFF2-40B4-BE49-F238E27FC236}">
                  <a16:creationId xmlns:a16="http://schemas.microsoft.com/office/drawing/2014/main" id="{CF17DDF3-559B-99C1-6E1B-3507D16EC2BC}"/>
                </a:ext>
              </a:extLst>
            </p:cNvPr>
            <p:cNvSpPr/>
            <p:nvPr/>
          </p:nvSpPr>
          <p:spPr>
            <a:xfrm>
              <a:off x="5459950" y="5478842"/>
              <a:ext cx="201520" cy="201520"/>
            </a:xfrm>
            <a:custGeom>
              <a:avLst/>
              <a:gdLst>
                <a:gd name="connsiteX0" fmla="*/ 201521 w 201520"/>
                <a:gd name="connsiteY0" fmla="*/ 0 h 201520"/>
                <a:gd name="connsiteX1" fmla="*/ 62975 w 201520"/>
                <a:gd name="connsiteY1" fmla="*/ 138545 h 201520"/>
                <a:gd name="connsiteX2" fmla="*/ 0 w 201520"/>
                <a:gd name="connsiteY2" fmla="*/ 201521 h 201520"/>
              </a:gdLst>
              <a:ahLst/>
              <a:cxnLst>
                <a:cxn ang="0">
                  <a:pos x="connsiteX0" y="connsiteY0"/>
                </a:cxn>
                <a:cxn ang="0">
                  <a:pos x="connsiteX1" y="connsiteY1"/>
                </a:cxn>
                <a:cxn ang="0">
                  <a:pos x="connsiteX2" y="connsiteY2"/>
                </a:cxn>
              </a:cxnLst>
              <a:rect l="l" t="t" r="r" b="b"/>
              <a:pathLst>
                <a:path w="201520" h="201520">
                  <a:moveTo>
                    <a:pt x="201521" y="0"/>
                  </a:moveTo>
                  <a:lnTo>
                    <a:pt x="62975" y="138545"/>
                  </a:lnTo>
                  <a:lnTo>
                    <a:pt x="0" y="201521"/>
                  </a:lnTo>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100000" t="100000"/>
              </a:path>
              <a:tileRect r="-100000" b="-100000"/>
            </a:gradFill>
            <a:ln w="12700" cap="flat">
              <a:solidFill>
                <a:srgbClr val="D930F6"/>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3" name="Freeform: Shape 470">
              <a:extLst>
                <a:ext uri="{FF2B5EF4-FFF2-40B4-BE49-F238E27FC236}">
                  <a16:creationId xmlns:a16="http://schemas.microsoft.com/office/drawing/2014/main" id="{CD880921-148B-C869-CEB4-521C37103C9A}"/>
                </a:ext>
              </a:extLst>
            </p:cNvPr>
            <p:cNvSpPr/>
            <p:nvPr/>
          </p:nvSpPr>
          <p:spPr>
            <a:xfrm>
              <a:off x="5661471" y="5428462"/>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12700" cap="flat">
              <a:solidFill>
                <a:srgbClr val="09EEAF"/>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4" name="Freeform: Shape 471">
              <a:extLst>
                <a:ext uri="{FF2B5EF4-FFF2-40B4-BE49-F238E27FC236}">
                  <a16:creationId xmlns:a16="http://schemas.microsoft.com/office/drawing/2014/main" id="{E2176222-B107-02C2-A4D6-BC29D2044549}"/>
                </a:ext>
              </a:extLst>
            </p:cNvPr>
            <p:cNvSpPr/>
            <p:nvPr/>
          </p:nvSpPr>
          <p:spPr>
            <a:xfrm>
              <a:off x="5629983" y="5459950"/>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12700" cap="flat">
              <a:solidFill>
                <a:srgbClr val="09EEAF"/>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5" name="Freeform: Shape 472">
              <a:extLst>
                <a:ext uri="{FF2B5EF4-FFF2-40B4-BE49-F238E27FC236}">
                  <a16:creationId xmlns:a16="http://schemas.microsoft.com/office/drawing/2014/main" id="{A6B49F67-8120-D002-7E4D-F686231D51D3}"/>
                </a:ext>
              </a:extLst>
            </p:cNvPr>
            <p:cNvSpPr/>
            <p:nvPr/>
          </p:nvSpPr>
          <p:spPr>
            <a:xfrm>
              <a:off x="5598495" y="5491438"/>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12700" cap="flat">
              <a:solidFill>
                <a:srgbClr val="09EEAF"/>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16" name="Graphic 51">
            <a:extLst>
              <a:ext uri="{FF2B5EF4-FFF2-40B4-BE49-F238E27FC236}">
                <a16:creationId xmlns:a16="http://schemas.microsoft.com/office/drawing/2014/main" id="{E4E26F9A-D562-BB5B-B0EB-7D34CCC504F6}"/>
              </a:ext>
              <a:ext uri="{C183D7F6-B498-43B3-948B-1728B52AA6E4}">
                <adec:decorative xmlns:adec="http://schemas.microsoft.com/office/drawing/2017/decorative" val="1"/>
              </a:ext>
            </a:extLst>
          </p:cNvPr>
          <p:cNvGrpSpPr/>
          <p:nvPr/>
        </p:nvGrpSpPr>
        <p:grpSpPr>
          <a:xfrm>
            <a:off x="5953186" y="1641967"/>
            <a:ext cx="390446" cy="390444"/>
            <a:chOff x="7855106" y="2798283"/>
            <a:chExt cx="762000" cy="762000"/>
          </a:xfrm>
        </p:grpSpPr>
        <p:sp>
          <p:nvSpPr>
            <p:cNvPr id="117" name="Freeform: Shape 475">
              <a:extLst>
                <a:ext uri="{FF2B5EF4-FFF2-40B4-BE49-F238E27FC236}">
                  <a16:creationId xmlns:a16="http://schemas.microsoft.com/office/drawing/2014/main" id="{17611129-5A91-BF47-70B1-09E45595FAC4}"/>
                </a:ext>
              </a:extLst>
            </p:cNvPr>
            <p:cNvSpPr/>
            <p:nvPr/>
          </p:nvSpPr>
          <p:spPr>
            <a:xfrm>
              <a:off x="7855106" y="2798283"/>
              <a:ext cx="762000" cy="762000"/>
            </a:xfrm>
            <a:custGeom>
              <a:avLst/>
              <a:gdLst>
                <a:gd name="connsiteX0" fmla="*/ 761498 w 762000"/>
                <a:gd name="connsiteY0" fmla="*/ 380566 h 762000"/>
                <a:gd name="connsiteX1" fmla="*/ 380498 w 762000"/>
                <a:gd name="connsiteY1" fmla="*/ 761566 h 762000"/>
                <a:gd name="connsiteX2" fmla="*/ -502 w 762000"/>
                <a:gd name="connsiteY2" fmla="*/ 380566 h 762000"/>
                <a:gd name="connsiteX3" fmla="*/ 380498 w 762000"/>
                <a:gd name="connsiteY3" fmla="*/ -434 h 762000"/>
                <a:gd name="connsiteX4" fmla="*/ 761498 w 762000"/>
                <a:gd name="connsiteY4" fmla="*/ 380566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 h="762000">
                  <a:moveTo>
                    <a:pt x="761498" y="380566"/>
                  </a:moveTo>
                  <a:cubicBezTo>
                    <a:pt x="761498" y="590983"/>
                    <a:pt x="590915" y="761566"/>
                    <a:pt x="380498" y="761566"/>
                  </a:cubicBezTo>
                  <a:cubicBezTo>
                    <a:pt x="170081" y="761566"/>
                    <a:pt x="-502" y="590983"/>
                    <a:pt x="-502" y="380566"/>
                  </a:cubicBezTo>
                  <a:cubicBezTo>
                    <a:pt x="-502" y="170149"/>
                    <a:pt x="170081" y="-434"/>
                    <a:pt x="380498" y="-434"/>
                  </a:cubicBezTo>
                  <a:cubicBezTo>
                    <a:pt x="590915" y="-434"/>
                    <a:pt x="761498" y="170149"/>
                    <a:pt x="761498" y="380566"/>
                  </a:cubicBez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8" name="Freeform: Shape 476">
              <a:extLst>
                <a:ext uri="{FF2B5EF4-FFF2-40B4-BE49-F238E27FC236}">
                  <a16:creationId xmlns:a16="http://schemas.microsoft.com/office/drawing/2014/main" id="{22F43C07-A170-D3A9-09A0-2A8540FDF43D}"/>
                </a:ext>
              </a:extLst>
            </p:cNvPr>
            <p:cNvSpPr/>
            <p:nvPr/>
          </p:nvSpPr>
          <p:spPr>
            <a:xfrm>
              <a:off x="8345357" y="3046218"/>
              <a:ext cx="85344" cy="85439"/>
            </a:xfrm>
            <a:custGeom>
              <a:avLst/>
              <a:gdLst>
                <a:gd name="connsiteX0" fmla="*/ -502 w 85344"/>
                <a:gd name="connsiteY0" fmla="*/ 85005 h 85439"/>
                <a:gd name="connsiteX1" fmla="*/ 84842 w 85344"/>
                <a:gd name="connsiteY1" fmla="*/ -434 h 85439"/>
              </a:gdLst>
              <a:ahLst/>
              <a:cxnLst>
                <a:cxn ang="0">
                  <a:pos x="connsiteX0" y="connsiteY0"/>
                </a:cxn>
                <a:cxn ang="0">
                  <a:pos x="connsiteX1" y="connsiteY1"/>
                </a:cxn>
              </a:cxnLst>
              <a:rect l="l" t="t" r="r" b="b"/>
              <a:pathLst>
                <a:path w="85344" h="85439">
                  <a:moveTo>
                    <a:pt x="-502" y="85005"/>
                  </a:moveTo>
                  <a:lnTo>
                    <a:pt x="84842" y="-434"/>
                  </a:lnTo>
                </a:path>
              </a:pathLst>
            </a:custGeom>
            <a:noFill/>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9" name="Freeform: Shape 477">
              <a:extLst>
                <a:ext uri="{FF2B5EF4-FFF2-40B4-BE49-F238E27FC236}">
                  <a16:creationId xmlns:a16="http://schemas.microsoft.com/office/drawing/2014/main" id="{DDF29541-0651-53EF-8AE2-2A991F087BCA}"/>
                </a:ext>
              </a:extLst>
            </p:cNvPr>
            <p:cNvSpPr/>
            <p:nvPr/>
          </p:nvSpPr>
          <p:spPr>
            <a:xfrm>
              <a:off x="8033890" y="3150708"/>
              <a:ext cx="292417" cy="177831"/>
            </a:xfrm>
            <a:custGeom>
              <a:avLst/>
              <a:gdLst>
                <a:gd name="connsiteX0" fmla="*/ -502 w 292417"/>
                <a:gd name="connsiteY0" fmla="*/ 62717 h 177831"/>
                <a:gd name="connsiteX1" fmla="*/ 114083 w 292417"/>
                <a:gd name="connsiteY1" fmla="*/ 177398 h 177831"/>
                <a:gd name="connsiteX2" fmla="*/ 291915 w 292417"/>
                <a:gd name="connsiteY2" fmla="*/ -434 h 177831"/>
              </a:gdLst>
              <a:ahLst/>
              <a:cxnLst>
                <a:cxn ang="0">
                  <a:pos x="connsiteX0" y="connsiteY0"/>
                </a:cxn>
                <a:cxn ang="0">
                  <a:pos x="connsiteX1" y="connsiteY1"/>
                </a:cxn>
                <a:cxn ang="0">
                  <a:pos x="connsiteX2" y="connsiteY2"/>
                </a:cxn>
              </a:cxnLst>
              <a:rect l="l" t="t" r="r" b="b"/>
              <a:pathLst>
                <a:path w="292417" h="177831">
                  <a:moveTo>
                    <a:pt x="-502" y="62717"/>
                  </a:moveTo>
                  <a:lnTo>
                    <a:pt x="114083" y="177398"/>
                  </a:lnTo>
                  <a:lnTo>
                    <a:pt x="291915" y="-434"/>
                  </a:lnTo>
                </a:path>
              </a:pathLst>
            </a:custGeom>
            <a:noFill/>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20" name="Graphic 2">
            <a:extLst>
              <a:ext uri="{FF2B5EF4-FFF2-40B4-BE49-F238E27FC236}">
                <a16:creationId xmlns:a16="http://schemas.microsoft.com/office/drawing/2014/main" id="{D8548784-E622-EF29-CBBB-0B59BDF1A11E}"/>
              </a:ext>
              <a:ext uri="{C183D7F6-B498-43B3-948B-1728B52AA6E4}">
                <adec:decorative xmlns:adec="http://schemas.microsoft.com/office/drawing/2017/decorative" val="1"/>
              </a:ext>
            </a:extLst>
          </p:cNvPr>
          <p:cNvGrpSpPr/>
          <p:nvPr/>
        </p:nvGrpSpPr>
        <p:grpSpPr>
          <a:xfrm>
            <a:off x="7362778" y="1687733"/>
            <a:ext cx="368050" cy="359871"/>
            <a:chOff x="4697409" y="2363699"/>
            <a:chExt cx="368050" cy="359871"/>
          </a:xfrm>
          <a:noFill/>
        </p:grpSpPr>
        <p:sp>
          <p:nvSpPr>
            <p:cNvPr id="121" name="Freeform: Shape 480">
              <a:extLst>
                <a:ext uri="{FF2B5EF4-FFF2-40B4-BE49-F238E27FC236}">
                  <a16:creationId xmlns:a16="http://schemas.microsoft.com/office/drawing/2014/main" id="{5CC763D7-5806-DA2C-EEB0-6E233E80B43A}"/>
                </a:ext>
              </a:extLst>
            </p:cNvPr>
            <p:cNvSpPr/>
            <p:nvPr/>
          </p:nvSpPr>
          <p:spPr>
            <a:xfrm>
              <a:off x="4926418" y="2547724"/>
              <a:ext cx="30793" cy="4089"/>
            </a:xfrm>
            <a:custGeom>
              <a:avLst/>
              <a:gdLst>
                <a:gd name="connsiteX0" fmla="*/ 0 w 30793"/>
                <a:gd name="connsiteY0" fmla="*/ 0 h 4089"/>
                <a:gd name="connsiteX1" fmla="*/ 30794 w 30793"/>
                <a:gd name="connsiteY1" fmla="*/ 0 h 4089"/>
              </a:gdLst>
              <a:ahLst/>
              <a:cxnLst>
                <a:cxn ang="0">
                  <a:pos x="connsiteX0" y="connsiteY0"/>
                </a:cxn>
                <a:cxn ang="0">
                  <a:pos x="connsiteX1" y="connsiteY1"/>
                </a:cxn>
              </a:cxnLst>
              <a:rect l="l" t="t" r="r" b="b"/>
              <a:pathLst>
                <a:path w="30793" h="4089">
                  <a:moveTo>
                    <a:pt x="0" y="0"/>
                  </a:moveTo>
                  <a:lnTo>
                    <a:pt x="30794"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2" name="Freeform: Shape 481">
              <a:extLst>
                <a:ext uri="{FF2B5EF4-FFF2-40B4-BE49-F238E27FC236}">
                  <a16:creationId xmlns:a16="http://schemas.microsoft.com/office/drawing/2014/main" id="{0FBB4E32-FFD1-D3BC-D2CE-932EB510CC12}"/>
                </a:ext>
              </a:extLst>
            </p:cNvPr>
            <p:cNvSpPr/>
            <p:nvPr/>
          </p:nvSpPr>
          <p:spPr>
            <a:xfrm>
              <a:off x="4928340" y="2523187"/>
              <a:ext cx="30793" cy="4089"/>
            </a:xfrm>
            <a:custGeom>
              <a:avLst/>
              <a:gdLst>
                <a:gd name="connsiteX0" fmla="*/ 0 w 30793"/>
                <a:gd name="connsiteY0" fmla="*/ 0 h 4089"/>
                <a:gd name="connsiteX1" fmla="*/ 30794 w 30793"/>
                <a:gd name="connsiteY1" fmla="*/ 0 h 4089"/>
              </a:gdLst>
              <a:ahLst/>
              <a:cxnLst>
                <a:cxn ang="0">
                  <a:pos x="connsiteX0" y="connsiteY0"/>
                </a:cxn>
                <a:cxn ang="0">
                  <a:pos x="connsiteX1" y="connsiteY1"/>
                </a:cxn>
              </a:cxnLst>
              <a:rect l="l" t="t" r="r" b="b"/>
              <a:pathLst>
                <a:path w="30793" h="4089">
                  <a:moveTo>
                    <a:pt x="0" y="0"/>
                  </a:moveTo>
                  <a:lnTo>
                    <a:pt x="30794"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3" name="Freeform: Shape 482">
              <a:extLst>
                <a:ext uri="{FF2B5EF4-FFF2-40B4-BE49-F238E27FC236}">
                  <a16:creationId xmlns:a16="http://schemas.microsoft.com/office/drawing/2014/main" id="{AEB51D98-90D1-2AE0-5680-D6D9A6B91E83}"/>
                </a:ext>
              </a:extLst>
            </p:cNvPr>
            <p:cNvSpPr/>
            <p:nvPr/>
          </p:nvSpPr>
          <p:spPr>
            <a:xfrm>
              <a:off x="4987759" y="2416862"/>
              <a:ext cx="4089" cy="40444"/>
            </a:xfrm>
            <a:custGeom>
              <a:avLst/>
              <a:gdLst>
                <a:gd name="connsiteX0" fmla="*/ 0 w 4089"/>
                <a:gd name="connsiteY0" fmla="*/ 0 h 40444"/>
                <a:gd name="connsiteX1" fmla="*/ 0 w 4089"/>
                <a:gd name="connsiteY1" fmla="*/ 40445 h 40444"/>
              </a:gdLst>
              <a:ahLst/>
              <a:cxnLst>
                <a:cxn ang="0">
                  <a:pos x="connsiteX0" y="connsiteY0"/>
                </a:cxn>
                <a:cxn ang="0">
                  <a:pos x="connsiteX1" y="connsiteY1"/>
                </a:cxn>
              </a:cxnLst>
              <a:rect l="l" t="t" r="r" b="b"/>
              <a:pathLst>
                <a:path w="4089" h="40444">
                  <a:moveTo>
                    <a:pt x="0" y="0"/>
                  </a:moveTo>
                  <a:lnTo>
                    <a:pt x="0" y="40445"/>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4" name="Freeform: Shape 483">
              <a:extLst>
                <a:ext uri="{FF2B5EF4-FFF2-40B4-BE49-F238E27FC236}">
                  <a16:creationId xmlns:a16="http://schemas.microsoft.com/office/drawing/2014/main" id="{7315CC7A-197B-C31F-381B-443EA03457C8}"/>
                </a:ext>
              </a:extLst>
            </p:cNvPr>
            <p:cNvSpPr/>
            <p:nvPr/>
          </p:nvSpPr>
          <p:spPr>
            <a:xfrm>
              <a:off x="4987759" y="2379321"/>
              <a:ext cx="4089" cy="21183"/>
            </a:xfrm>
            <a:custGeom>
              <a:avLst/>
              <a:gdLst>
                <a:gd name="connsiteX0" fmla="*/ 0 w 4089"/>
                <a:gd name="connsiteY0" fmla="*/ 0 h 21183"/>
                <a:gd name="connsiteX1" fmla="*/ 0 w 4089"/>
                <a:gd name="connsiteY1" fmla="*/ 21183 h 21183"/>
              </a:gdLst>
              <a:ahLst/>
              <a:cxnLst>
                <a:cxn ang="0">
                  <a:pos x="connsiteX0" y="connsiteY0"/>
                </a:cxn>
                <a:cxn ang="0">
                  <a:pos x="connsiteX1" y="connsiteY1"/>
                </a:cxn>
              </a:cxnLst>
              <a:rect l="l" t="t" r="r" b="b"/>
              <a:pathLst>
                <a:path w="4089" h="21183">
                  <a:moveTo>
                    <a:pt x="0" y="0"/>
                  </a:moveTo>
                  <a:lnTo>
                    <a:pt x="0" y="21183"/>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5" name="Freeform: Shape 484">
              <a:extLst>
                <a:ext uri="{FF2B5EF4-FFF2-40B4-BE49-F238E27FC236}">
                  <a16:creationId xmlns:a16="http://schemas.microsoft.com/office/drawing/2014/main" id="{2B555B51-6F8F-8970-9117-B0879778CC11}"/>
                </a:ext>
              </a:extLst>
            </p:cNvPr>
            <p:cNvSpPr/>
            <p:nvPr/>
          </p:nvSpPr>
          <p:spPr>
            <a:xfrm>
              <a:off x="4897792" y="2379321"/>
              <a:ext cx="4089" cy="41630"/>
            </a:xfrm>
            <a:custGeom>
              <a:avLst/>
              <a:gdLst>
                <a:gd name="connsiteX0" fmla="*/ 0 w 4089"/>
                <a:gd name="connsiteY0" fmla="*/ 41631 h 41630"/>
                <a:gd name="connsiteX1" fmla="*/ 0 w 4089"/>
                <a:gd name="connsiteY1" fmla="*/ 0 h 41630"/>
              </a:gdLst>
              <a:ahLst/>
              <a:cxnLst>
                <a:cxn ang="0">
                  <a:pos x="connsiteX0" y="connsiteY0"/>
                </a:cxn>
                <a:cxn ang="0">
                  <a:pos x="connsiteX1" y="connsiteY1"/>
                </a:cxn>
              </a:cxnLst>
              <a:rect l="l" t="t" r="r" b="b"/>
              <a:pathLst>
                <a:path w="4089" h="41630">
                  <a:moveTo>
                    <a:pt x="0" y="41631"/>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6" name="Freeform: Shape 485">
              <a:extLst>
                <a:ext uri="{FF2B5EF4-FFF2-40B4-BE49-F238E27FC236}">
                  <a16:creationId xmlns:a16="http://schemas.microsoft.com/office/drawing/2014/main" id="{9EDFB28D-4459-C7B4-A044-D42B729A36F0}"/>
                </a:ext>
              </a:extLst>
            </p:cNvPr>
            <p:cNvSpPr/>
            <p:nvPr/>
          </p:nvSpPr>
          <p:spPr>
            <a:xfrm>
              <a:off x="4897792" y="2437309"/>
              <a:ext cx="4089" cy="19997"/>
            </a:xfrm>
            <a:custGeom>
              <a:avLst/>
              <a:gdLst>
                <a:gd name="connsiteX0" fmla="*/ 0 w 4089"/>
                <a:gd name="connsiteY0" fmla="*/ 19997 h 19997"/>
                <a:gd name="connsiteX1" fmla="*/ 0 w 4089"/>
                <a:gd name="connsiteY1" fmla="*/ 0 h 19997"/>
              </a:gdLst>
              <a:ahLst/>
              <a:cxnLst>
                <a:cxn ang="0">
                  <a:pos x="connsiteX0" y="connsiteY0"/>
                </a:cxn>
                <a:cxn ang="0">
                  <a:pos x="connsiteX1" y="connsiteY1"/>
                </a:cxn>
              </a:cxnLst>
              <a:rect l="l" t="t" r="r" b="b"/>
              <a:pathLst>
                <a:path w="4089" h="19997">
                  <a:moveTo>
                    <a:pt x="0" y="19997"/>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7" name="Freeform: Shape 486">
              <a:extLst>
                <a:ext uri="{FF2B5EF4-FFF2-40B4-BE49-F238E27FC236}">
                  <a16:creationId xmlns:a16="http://schemas.microsoft.com/office/drawing/2014/main" id="{2CBD5A09-9381-98A3-B470-AE51C74431E5}"/>
                </a:ext>
              </a:extLst>
            </p:cNvPr>
            <p:cNvSpPr/>
            <p:nvPr/>
          </p:nvSpPr>
          <p:spPr>
            <a:xfrm>
              <a:off x="4877631" y="2375967"/>
              <a:ext cx="130862" cy="81788"/>
            </a:xfrm>
            <a:custGeom>
              <a:avLst/>
              <a:gdLst>
                <a:gd name="connsiteX0" fmla="*/ 130862 w 130862"/>
                <a:gd name="connsiteY0" fmla="*/ 81789 h 81788"/>
                <a:gd name="connsiteX1" fmla="*/ 0 w 130862"/>
                <a:gd name="connsiteY1" fmla="*/ 81789 h 81788"/>
                <a:gd name="connsiteX2" fmla="*/ 0 w 130862"/>
                <a:gd name="connsiteY2" fmla="*/ 0 h 81788"/>
                <a:gd name="connsiteX3" fmla="*/ 68948 w 130862"/>
                <a:gd name="connsiteY3" fmla="*/ 0 h 81788"/>
                <a:gd name="connsiteX4" fmla="*/ 93648 w 130862"/>
                <a:gd name="connsiteY4" fmla="*/ 0 h 81788"/>
                <a:gd name="connsiteX5" fmla="*/ 130862 w 130862"/>
                <a:gd name="connsiteY5" fmla="*/ 0 h 81788"/>
                <a:gd name="connsiteX6" fmla="*/ 130862 w 130862"/>
                <a:gd name="connsiteY6" fmla="*/ 81789 h 81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0862" h="81788">
                  <a:moveTo>
                    <a:pt x="130862" y="81789"/>
                  </a:moveTo>
                  <a:lnTo>
                    <a:pt x="0" y="81789"/>
                  </a:lnTo>
                  <a:lnTo>
                    <a:pt x="0" y="0"/>
                  </a:lnTo>
                  <a:lnTo>
                    <a:pt x="68948" y="0"/>
                  </a:lnTo>
                  <a:lnTo>
                    <a:pt x="93648" y="0"/>
                  </a:lnTo>
                  <a:lnTo>
                    <a:pt x="130862" y="0"/>
                  </a:lnTo>
                  <a:lnTo>
                    <a:pt x="130862" y="81789"/>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8" name="Freeform: Shape 487">
              <a:extLst>
                <a:ext uri="{FF2B5EF4-FFF2-40B4-BE49-F238E27FC236}">
                  <a16:creationId xmlns:a16="http://schemas.microsoft.com/office/drawing/2014/main" id="{EFEB23CA-32B9-59C5-7AC7-3B6574692B19}"/>
                </a:ext>
              </a:extLst>
            </p:cNvPr>
            <p:cNvSpPr/>
            <p:nvPr/>
          </p:nvSpPr>
          <p:spPr>
            <a:xfrm>
              <a:off x="5008207" y="2363699"/>
              <a:ext cx="32715" cy="106325"/>
            </a:xfrm>
            <a:custGeom>
              <a:avLst/>
              <a:gdLst>
                <a:gd name="connsiteX0" fmla="*/ 0 w 32715"/>
                <a:gd name="connsiteY0" fmla="*/ 106326 h 106325"/>
                <a:gd name="connsiteX1" fmla="*/ 32716 w 32715"/>
                <a:gd name="connsiteY1" fmla="*/ 106326 h 106325"/>
                <a:gd name="connsiteX2" fmla="*/ 32716 w 32715"/>
                <a:gd name="connsiteY2" fmla="*/ 44779 h 106325"/>
                <a:gd name="connsiteX3" fmla="*/ 32716 w 32715"/>
                <a:gd name="connsiteY3" fmla="*/ 21919 h 106325"/>
                <a:gd name="connsiteX4" fmla="*/ 32716 w 32715"/>
                <a:gd name="connsiteY4" fmla="*/ 0 h 106325"/>
                <a:gd name="connsiteX5" fmla="*/ 0 w 32715"/>
                <a:gd name="connsiteY5" fmla="*/ 0 h 106325"/>
                <a:gd name="connsiteX6" fmla="*/ 0 w 32715"/>
                <a:gd name="connsiteY6" fmla="*/ 106326 h 106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715" h="106325">
                  <a:moveTo>
                    <a:pt x="0" y="106326"/>
                  </a:moveTo>
                  <a:lnTo>
                    <a:pt x="32716" y="106326"/>
                  </a:lnTo>
                  <a:lnTo>
                    <a:pt x="32716" y="44779"/>
                  </a:lnTo>
                  <a:lnTo>
                    <a:pt x="32716" y="21919"/>
                  </a:lnTo>
                  <a:lnTo>
                    <a:pt x="32716" y="0"/>
                  </a:lnTo>
                  <a:lnTo>
                    <a:pt x="0" y="0"/>
                  </a:lnTo>
                  <a:lnTo>
                    <a:pt x="0" y="106326"/>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29" name="Freeform: Shape 488">
              <a:extLst>
                <a:ext uri="{FF2B5EF4-FFF2-40B4-BE49-F238E27FC236}">
                  <a16:creationId xmlns:a16="http://schemas.microsoft.com/office/drawing/2014/main" id="{C32D6DCE-E905-F070-8CD0-FE4059FCDA3D}"/>
                </a:ext>
              </a:extLst>
            </p:cNvPr>
            <p:cNvSpPr/>
            <p:nvPr/>
          </p:nvSpPr>
          <p:spPr>
            <a:xfrm>
              <a:off x="4844629" y="2363699"/>
              <a:ext cx="32715" cy="106325"/>
            </a:xfrm>
            <a:custGeom>
              <a:avLst/>
              <a:gdLst>
                <a:gd name="connsiteX0" fmla="*/ 0 w 32715"/>
                <a:gd name="connsiteY0" fmla="*/ 106326 h 106325"/>
                <a:gd name="connsiteX1" fmla="*/ 32716 w 32715"/>
                <a:gd name="connsiteY1" fmla="*/ 106326 h 106325"/>
                <a:gd name="connsiteX2" fmla="*/ 32716 w 32715"/>
                <a:gd name="connsiteY2" fmla="*/ 44779 h 106325"/>
                <a:gd name="connsiteX3" fmla="*/ 32716 w 32715"/>
                <a:gd name="connsiteY3" fmla="*/ 21919 h 106325"/>
                <a:gd name="connsiteX4" fmla="*/ 32716 w 32715"/>
                <a:gd name="connsiteY4" fmla="*/ 0 h 106325"/>
                <a:gd name="connsiteX5" fmla="*/ 0 w 32715"/>
                <a:gd name="connsiteY5" fmla="*/ 0 h 106325"/>
                <a:gd name="connsiteX6" fmla="*/ 0 w 32715"/>
                <a:gd name="connsiteY6" fmla="*/ 106326 h 106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715" h="106325">
                  <a:moveTo>
                    <a:pt x="0" y="106326"/>
                  </a:moveTo>
                  <a:lnTo>
                    <a:pt x="32716" y="106326"/>
                  </a:lnTo>
                  <a:lnTo>
                    <a:pt x="32716" y="44779"/>
                  </a:lnTo>
                  <a:lnTo>
                    <a:pt x="32716" y="21919"/>
                  </a:lnTo>
                  <a:lnTo>
                    <a:pt x="32716" y="0"/>
                  </a:lnTo>
                  <a:lnTo>
                    <a:pt x="0" y="0"/>
                  </a:lnTo>
                  <a:lnTo>
                    <a:pt x="0" y="106326"/>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130" name="Graphic 2">
              <a:extLst>
                <a:ext uri="{FF2B5EF4-FFF2-40B4-BE49-F238E27FC236}">
                  <a16:creationId xmlns:a16="http://schemas.microsoft.com/office/drawing/2014/main" id="{6A15A938-A56D-5489-0856-A4DDE9F12DAB}"/>
                </a:ext>
              </a:extLst>
            </p:cNvPr>
            <p:cNvGrpSpPr/>
            <p:nvPr/>
          </p:nvGrpSpPr>
          <p:grpSpPr>
            <a:xfrm>
              <a:off x="4926418" y="2458288"/>
              <a:ext cx="32715" cy="265282"/>
              <a:chOff x="4926418" y="2458288"/>
              <a:chExt cx="32715" cy="265282"/>
            </a:xfrm>
            <a:noFill/>
          </p:grpSpPr>
          <p:sp>
            <p:nvSpPr>
              <p:cNvPr id="138" name="Freeform: Shape 497">
                <a:extLst>
                  <a:ext uri="{FF2B5EF4-FFF2-40B4-BE49-F238E27FC236}">
                    <a16:creationId xmlns:a16="http://schemas.microsoft.com/office/drawing/2014/main" id="{1BEBBB5D-7066-0D7E-AD18-F0FDD2786712}"/>
                  </a:ext>
                </a:extLst>
              </p:cNvPr>
              <p:cNvSpPr/>
              <p:nvPr/>
            </p:nvSpPr>
            <p:spPr>
              <a:xfrm>
                <a:off x="4926418" y="2458288"/>
                <a:ext cx="4089" cy="248924"/>
              </a:xfrm>
              <a:custGeom>
                <a:avLst/>
                <a:gdLst>
                  <a:gd name="connsiteX0" fmla="*/ 0 w 4089"/>
                  <a:gd name="connsiteY0" fmla="*/ 0 h 248924"/>
                  <a:gd name="connsiteX1" fmla="*/ 0 w 4089"/>
                  <a:gd name="connsiteY1" fmla="*/ 248925 h 248924"/>
                </a:gdLst>
                <a:ahLst/>
                <a:cxnLst>
                  <a:cxn ang="0">
                    <a:pos x="connsiteX0" y="connsiteY0"/>
                  </a:cxn>
                  <a:cxn ang="0">
                    <a:pos x="connsiteX1" y="connsiteY1"/>
                  </a:cxn>
                </a:cxnLst>
                <a:rect l="l" t="t" r="r" b="b"/>
                <a:pathLst>
                  <a:path w="4089" h="248924">
                    <a:moveTo>
                      <a:pt x="0" y="0"/>
                    </a:moveTo>
                    <a:lnTo>
                      <a:pt x="0" y="248925"/>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9" name="Freeform: Shape 498">
                <a:extLst>
                  <a:ext uri="{FF2B5EF4-FFF2-40B4-BE49-F238E27FC236}">
                    <a16:creationId xmlns:a16="http://schemas.microsoft.com/office/drawing/2014/main" id="{301CE779-86C0-367A-378D-B1A991C31043}"/>
                  </a:ext>
                </a:extLst>
              </p:cNvPr>
              <p:cNvSpPr/>
              <p:nvPr/>
            </p:nvSpPr>
            <p:spPr>
              <a:xfrm>
                <a:off x="4959133" y="2458288"/>
                <a:ext cx="4089" cy="248924"/>
              </a:xfrm>
              <a:custGeom>
                <a:avLst/>
                <a:gdLst>
                  <a:gd name="connsiteX0" fmla="*/ 0 w 4089"/>
                  <a:gd name="connsiteY0" fmla="*/ 248925 h 248924"/>
                  <a:gd name="connsiteX1" fmla="*/ 0 w 4089"/>
                  <a:gd name="connsiteY1" fmla="*/ 0 h 248924"/>
                </a:gdLst>
                <a:ahLst/>
                <a:cxnLst>
                  <a:cxn ang="0">
                    <a:pos x="connsiteX0" y="connsiteY0"/>
                  </a:cxn>
                  <a:cxn ang="0">
                    <a:pos x="connsiteX1" y="connsiteY1"/>
                  </a:cxn>
                </a:cxnLst>
                <a:rect l="l" t="t" r="r" b="b"/>
                <a:pathLst>
                  <a:path w="4089" h="248924">
                    <a:moveTo>
                      <a:pt x="0" y="248925"/>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0" name="Freeform: Shape 499">
                <a:extLst>
                  <a:ext uri="{FF2B5EF4-FFF2-40B4-BE49-F238E27FC236}">
                    <a16:creationId xmlns:a16="http://schemas.microsoft.com/office/drawing/2014/main" id="{116DFAB1-6E24-5E83-4B2A-07344E6611C3}"/>
                  </a:ext>
                </a:extLst>
              </p:cNvPr>
              <p:cNvSpPr/>
              <p:nvPr/>
            </p:nvSpPr>
            <p:spPr>
              <a:xfrm>
                <a:off x="4926418" y="2707212"/>
                <a:ext cx="32715" cy="16357"/>
              </a:xfrm>
              <a:custGeom>
                <a:avLst/>
                <a:gdLst>
                  <a:gd name="connsiteX0" fmla="*/ 32716 w 32715"/>
                  <a:gd name="connsiteY0" fmla="*/ 0 h 16357"/>
                  <a:gd name="connsiteX1" fmla="*/ 16358 w 32715"/>
                  <a:gd name="connsiteY1" fmla="*/ 16358 h 16357"/>
                  <a:gd name="connsiteX2" fmla="*/ 0 w 32715"/>
                  <a:gd name="connsiteY2" fmla="*/ 0 h 16357"/>
                </a:gdLst>
                <a:ahLst/>
                <a:cxnLst>
                  <a:cxn ang="0">
                    <a:pos x="connsiteX0" y="connsiteY0"/>
                  </a:cxn>
                  <a:cxn ang="0">
                    <a:pos x="connsiteX1" y="connsiteY1"/>
                  </a:cxn>
                  <a:cxn ang="0">
                    <a:pos x="connsiteX2" y="connsiteY2"/>
                  </a:cxn>
                </a:cxnLst>
                <a:rect l="l" t="t" r="r" b="b"/>
                <a:pathLst>
                  <a:path w="32715" h="16357">
                    <a:moveTo>
                      <a:pt x="32716" y="0"/>
                    </a:moveTo>
                    <a:cubicBezTo>
                      <a:pt x="32716" y="9038"/>
                      <a:pt x="25395" y="16358"/>
                      <a:pt x="16358" y="16358"/>
                    </a:cubicBezTo>
                    <a:cubicBezTo>
                      <a:pt x="7320" y="16358"/>
                      <a:pt x="0" y="9038"/>
                      <a:pt x="0" y="0"/>
                    </a:cubicBez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31" name="Graphic 2">
              <a:extLst>
                <a:ext uri="{FF2B5EF4-FFF2-40B4-BE49-F238E27FC236}">
                  <a16:creationId xmlns:a16="http://schemas.microsoft.com/office/drawing/2014/main" id="{FC3C7D9B-1C6A-0688-7EA7-F15A092D9D36}"/>
                </a:ext>
              </a:extLst>
            </p:cNvPr>
            <p:cNvGrpSpPr/>
            <p:nvPr/>
          </p:nvGrpSpPr>
          <p:grpSpPr>
            <a:xfrm>
              <a:off x="4721945" y="2633602"/>
              <a:ext cx="171756" cy="57252"/>
              <a:chOff x="4721945" y="2633602"/>
              <a:chExt cx="171756" cy="57252"/>
            </a:xfrm>
            <a:noFill/>
          </p:grpSpPr>
          <p:sp>
            <p:nvSpPr>
              <p:cNvPr id="135" name="Freeform: Shape 494">
                <a:extLst>
                  <a:ext uri="{FF2B5EF4-FFF2-40B4-BE49-F238E27FC236}">
                    <a16:creationId xmlns:a16="http://schemas.microsoft.com/office/drawing/2014/main" id="{107BF7D1-CF74-9C76-6E9C-C9B2E1F3DD33}"/>
                  </a:ext>
                </a:extLst>
              </p:cNvPr>
              <p:cNvSpPr/>
              <p:nvPr/>
            </p:nvSpPr>
            <p:spPr>
              <a:xfrm>
                <a:off x="4852808" y="2633602"/>
                <a:ext cx="28626" cy="24536"/>
              </a:xfrm>
              <a:custGeom>
                <a:avLst/>
                <a:gdLst>
                  <a:gd name="connsiteX0" fmla="*/ 0 w 28626"/>
                  <a:gd name="connsiteY0" fmla="*/ 0 h 24536"/>
                  <a:gd name="connsiteX1" fmla="*/ 28626 w 28626"/>
                  <a:gd name="connsiteY1" fmla="*/ 0 h 24536"/>
                  <a:gd name="connsiteX2" fmla="*/ 28626 w 28626"/>
                  <a:gd name="connsiteY2" fmla="*/ 24537 h 24536"/>
                </a:gdLst>
                <a:ahLst/>
                <a:cxnLst>
                  <a:cxn ang="0">
                    <a:pos x="connsiteX0" y="connsiteY0"/>
                  </a:cxn>
                  <a:cxn ang="0">
                    <a:pos x="connsiteX1" y="connsiteY1"/>
                  </a:cxn>
                  <a:cxn ang="0">
                    <a:pos x="connsiteX2" y="connsiteY2"/>
                  </a:cxn>
                </a:cxnLst>
                <a:rect l="l" t="t" r="r" b="b"/>
                <a:pathLst>
                  <a:path w="28626" h="24536">
                    <a:moveTo>
                      <a:pt x="0" y="0"/>
                    </a:moveTo>
                    <a:lnTo>
                      <a:pt x="28626" y="0"/>
                    </a:lnTo>
                    <a:lnTo>
                      <a:pt x="28626" y="24537"/>
                    </a:lnTo>
                  </a:path>
                </a:pathLst>
              </a:custGeom>
              <a:noFill/>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6" name="Freeform: Shape 495">
                <a:extLst>
                  <a:ext uri="{FF2B5EF4-FFF2-40B4-BE49-F238E27FC236}">
                    <a16:creationId xmlns:a16="http://schemas.microsoft.com/office/drawing/2014/main" id="{73C20E26-6A41-5938-1298-4249062753BB}"/>
                  </a:ext>
                </a:extLst>
              </p:cNvPr>
              <p:cNvSpPr/>
              <p:nvPr/>
            </p:nvSpPr>
            <p:spPr>
              <a:xfrm>
                <a:off x="4734214" y="2633602"/>
                <a:ext cx="98146" cy="24536"/>
              </a:xfrm>
              <a:custGeom>
                <a:avLst/>
                <a:gdLst>
                  <a:gd name="connsiteX0" fmla="*/ 0 w 98146"/>
                  <a:gd name="connsiteY0" fmla="*/ 24537 h 24536"/>
                  <a:gd name="connsiteX1" fmla="*/ 0 w 98146"/>
                  <a:gd name="connsiteY1" fmla="*/ 0 h 24536"/>
                  <a:gd name="connsiteX2" fmla="*/ 98147 w 98146"/>
                  <a:gd name="connsiteY2" fmla="*/ 0 h 24536"/>
                </a:gdLst>
                <a:ahLst/>
                <a:cxnLst>
                  <a:cxn ang="0">
                    <a:pos x="connsiteX0" y="connsiteY0"/>
                  </a:cxn>
                  <a:cxn ang="0">
                    <a:pos x="connsiteX1" y="connsiteY1"/>
                  </a:cxn>
                  <a:cxn ang="0">
                    <a:pos x="connsiteX2" y="connsiteY2"/>
                  </a:cxn>
                </a:cxnLst>
                <a:rect l="l" t="t" r="r" b="b"/>
                <a:pathLst>
                  <a:path w="98146" h="24536">
                    <a:moveTo>
                      <a:pt x="0" y="24537"/>
                    </a:moveTo>
                    <a:lnTo>
                      <a:pt x="0" y="0"/>
                    </a:lnTo>
                    <a:lnTo>
                      <a:pt x="98147" y="0"/>
                    </a:lnTo>
                  </a:path>
                </a:pathLst>
              </a:custGeom>
              <a:noFill/>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7" name="Freeform: Shape 496">
                <a:extLst>
                  <a:ext uri="{FF2B5EF4-FFF2-40B4-BE49-F238E27FC236}">
                    <a16:creationId xmlns:a16="http://schemas.microsoft.com/office/drawing/2014/main" id="{AFC24B46-27DE-0A3E-BF16-8C3C8DF35AD4}"/>
                  </a:ext>
                </a:extLst>
              </p:cNvPr>
              <p:cNvSpPr/>
              <p:nvPr/>
            </p:nvSpPr>
            <p:spPr>
              <a:xfrm>
                <a:off x="4721945" y="2658139"/>
                <a:ext cx="171756" cy="32715"/>
              </a:xfrm>
              <a:custGeom>
                <a:avLst/>
                <a:gdLst>
                  <a:gd name="connsiteX0" fmla="*/ 0 w 171756"/>
                  <a:gd name="connsiteY0" fmla="*/ 0 h 32715"/>
                  <a:gd name="connsiteX1" fmla="*/ 171757 w 171756"/>
                  <a:gd name="connsiteY1" fmla="*/ 0 h 32715"/>
                  <a:gd name="connsiteX2" fmla="*/ 171757 w 171756"/>
                  <a:gd name="connsiteY2" fmla="*/ 32716 h 32715"/>
                  <a:gd name="connsiteX3" fmla="*/ 0 w 171756"/>
                  <a:gd name="connsiteY3" fmla="*/ 32716 h 32715"/>
                </a:gdLst>
                <a:ahLst/>
                <a:cxnLst>
                  <a:cxn ang="0">
                    <a:pos x="connsiteX0" y="connsiteY0"/>
                  </a:cxn>
                  <a:cxn ang="0">
                    <a:pos x="connsiteX1" y="connsiteY1"/>
                  </a:cxn>
                  <a:cxn ang="0">
                    <a:pos x="connsiteX2" y="connsiteY2"/>
                  </a:cxn>
                  <a:cxn ang="0">
                    <a:pos x="connsiteX3" y="connsiteY3"/>
                  </a:cxn>
                </a:cxnLst>
                <a:rect l="l" t="t" r="r" b="b"/>
                <a:pathLst>
                  <a:path w="171756" h="32715">
                    <a:moveTo>
                      <a:pt x="0" y="0"/>
                    </a:moveTo>
                    <a:lnTo>
                      <a:pt x="171757" y="0"/>
                    </a:lnTo>
                    <a:lnTo>
                      <a:pt x="171757" y="32716"/>
                    </a:lnTo>
                    <a:lnTo>
                      <a:pt x="0" y="32716"/>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32" name="Freeform: Shape 491">
              <a:extLst>
                <a:ext uri="{FF2B5EF4-FFF2-40B4-BE49-F238E27FC236}">
                  <a16:creationId xmlns:a16="http://schemas.microsoft.com/office/drawing/2014/main" id="{076BA9C8-A1DA-0433-ACF4-3B851DBDD8B6}"/>
                </a:ext>
              </a:extLst>
            </p:cNvPr>
            <p:cNvSpPr/>
            <p:nvPr/>
          </p:nvSpPr>
          <p:spPr>
            <a:xfrm>
              <a:off x="4959133" y="2674497"/>
              <a:ext cx="106325" cy="4089"/>
            </a:xfrm>
            <a:custGeom>
              <a:avLst/>
              <a:gdLst>
                <a:gd name="connsiteX0" fmla="*/ 0 w 106325"/>
                <a:gd name="connsiteY0" fmla="*/ 0 h 4089"/>
                <a:gd name="connsiteX1" fmla="*/ 106326 w 106325"/>
                <a:gd name="connsiteY1" fmla="*/ 0 h 4089"/>
              </a:gdLst>
              <a:ahLst/>
              <a:cxnLst>
                <a:cxn ang="0">
                  <a:pos x="connsiteX0" y="connsiteY0"/>
                </a:cxn>
                <a:cxn ang="0">
                  <a:pos x="connsiteX1" y="connsiteY1"/>
                </a:cxn>
              </a:cxnLst>
              <a:rect l="l" t="t" r="r" b="b"/>
              <a:pathLst>
                <a:path w="106325" h="4089">
                  <a:moveTo>
                    <a:pt x="0" y="0"/>
                  </a:moveTo>
                  <a:lnTo>
                    <a:pt x="106326"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3" name="Freeform: Shape 492">
              <a:extLst>
                <a:ext uri="{FF2B5EF4-FFF2-40B4-BE49-F238E27FC236}">
                  <a16:creationId xmlns:a16="http://schemas.microsoft.com/office/drawing/2014/main" id="{60967D0D-9069-D568-8B3F-30BD6C06B2AD}"/>
                </a:ext>
              </a:extLst>
            </p:cNvPr>
            <p:cNvSpPr/>
            <p:nvPr/>
          </p:nvSpPr>
          <p:spPr>
            <a:xfrm>
              <a:off x="4893702" y="2674497"/>
              <a:ext cx="32715" cy="4089"/>
            </a:xfrm>
            <a:custGeom>
              <a:avLst/>
              <a:gdLst>
                <a:gd name="connsiteX0" fmla="*/ 0 w 32715"/>
                <a:gd name="connsiteY0" fmla="*/ 0 h 4089"/>
                <a:gd name="connsiteX1" fmla="*/ 32716 w 32715"/>
                <a:gd name="connsiteY1" fmla="*/ 0 h 4089"/>
              </a:gdLst>
              <a:ahLst/>
              <a:cxnLst>
                <a:cxn ang="0">
                  <a:pos x="connsiteX0" y="connsiteY0"/>
                </a:cxn>
                <a:cxn ang="0">
                  <a:pos x="connsiteX1" y="connsiteY1"/>
                </a:cxn>
              </a:cxnLst>
              <a:rect l="l" t="t" r="r" b="b"/>
              <a:pathLst>
                <a:path w="32715" h="4089">
                  <a:moveTo>
                    <a:pt x="0" y="0"/>
                  </a:moveTo>
                  <a:lnTo>
                    <a:pt x="32716"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34" name="Freeform: Shape 493">
              <a:extLst>
                <a:ext uri="{FF2B5EF4-FFF2-40B4-BE49-F238E27FC236}">
                  <a16:creationId xmlns:a16="http://schemas.microsoft.com/office/drawing/2014/main" id="{CB83EC5A-0F87-4291-969A-CFAC866A74DB}"/>
                </a:ext>
              </a:extLst>
            </p:cNvPr>
            <p:cNvSpPr/>
            <p:nvPr/>
          </p:nvSpPr>
          <p:spPr>
            <a:xfrm>
              <a:off x="4697409" y="2674497"/>
              <a:ext cx="24536" cy="4089"/>
            </a:xfrm>
            <a:custGeom>
              <a:avLst/>
              <a:gdLst>
                <a:gd name="connsiteX0" fmla="*/ 0 w 24536"/>
                <a:gd name="connsiteY0" fmla="*/ 0 h 4089"/>
                <a:gd name="connsiteX1" fmla="*/ 24537 w 24536"/>
                <a:gd name="connsiteY1" fmla="*/ 0 h 4089"/>
              </a:gdLst>
              <a:ahLst/>
              <a:cxnLst>
                <a:cxn ang="0">
                  <a:pos x="connsiteX0" y="connsiteY0"/>
                </a:cxn>
                <a:cxn ang="0">
                  <a:pos x="connsiteX1" y="connsiteY1"/>
                </a:cxn>
              </a:cxnLst>
              <a:rect l="l" t="t" r="r" b="b"/>
              <a:pathLst>
                <a:path w="24536" h="4089">
                  <a:moveTo>
                    <a:pt x="0" y="0"/>
                  </a:moveTo>
                  <a:lnTo>
                    <a:pt x="24537"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41" name="Graphic 2">
            <a:extLst>
              <a:ext uri="{FF2B5EF4-FFF2-40B4-BE49-F238E27FC236}">
                <a16:creationId xmlns:a16="http://schemas.microsoft.com/office/drawing/2014/main" id="{065AF132-16B1-5764-20FD-E3DAFC0D3CB1}"/>
              </a:ext>
              <a:ext uri="{C183D7F6-B498-43B3-948B-1728B52AA6E4}">
                <adec:decorative xmlns:adec="http://schemas.microsoft.com/office/drawing/2017/decorative" val="1"/>
              </a:ext>
            </a:extLst>
          </p:cNvPr>
          <p:cNvGrpSpPr/>
          <p:nvPr/>
        </p:nvGrpSpPr>
        <p:grpSpPr>
          <a:xfrm>
            <a:off x="2966469" y="2751988"/>
            <a:ext cx="285130" cy="410558"/>
            <a:chOff x="6392640" y="1252943"/>
            <a:chExt cx="224741" cy="323607"/>
          </a:xfrm>
          <a:noFill/>
        </p:grpSpPr>
        <p:grpSp>
          <p:nvGrpSpPr>
            <p:cNvPr id="142" name="Graphic 2">
              <a:extLst>
                <a:ext uri="{FF2B5EF4-FFF2-40B4-BE49-F238E27FC236}">
                  <a16:creationId xmlns:a16="http://schemas.microsoft.com/office/drawing/2014/main" id="{C592AFC2-D007-51C8-48BC-8C0BD965CF43}"/>
                </a:ext>
              </a:extLst>
            </p:cNvPr>
            <p:cNvGrpSpPr/>
            <p:nvPr/>
          </p:nvGrpSpPr>
          <p:grpSpPr>
            <a:xfrm>
              <a:off x="6392640" y="1252943"/>
              <a:ext cx="224741" cy="323607"/>
              <a:chOff x="6392640" y="1252943"/>
              <a:chExt cx="224741" cy="323607"/>
            </a:xfrm>
            <a:noFill/>
          </p:grpSpPr>
          <p:sp>
            <p:nvSpPr>
              <p:cNvPr id="152" name="Freeform: Shape 512">
                <a:extLst>
                  <a:ext uri="{FF2B5EF4-FFF2-40B4-BE49-F238E27FC236}">
                    <a16:creationId xmlns:a16="http://schemas.microsoft.com/office/drawing/2014/main" id="{97E40D48-1B76-1A85-A713-9A12F2873CB3}"/>
                  </a:ext>
                </a:extLst>
              </p:cNvPr>
              <p:cNvSpPr/>
              <p:nvPr/>
            </p:nvSpPr>
            <p:spPr>
              <a:xfrm>
                <a:off x="6392640" y="1252943"/>
                <a:ext cx="224036" cy="323607"/>
              </a:xfrm>
              <a:custGeom>
                <a:avLst/>
                <a:gdLst>
                  <a:gd name="connsiteX0" fmla="*/ 0 w 224036"/>
                  <a:gd name="connsiteY0" fmla="*/ 315310 h 323607"/>
                  <a:gd name="connsiteX1" fmla="*/ 0 w 224036"/>
                  <a:gd name="connsiteY1" fmla="*/ 8298 h 323607"/>
                  <a:gd name="connsiteX2" fmla="*/ 8298 w 224036"/>
                  <a:gd name="connsiteY2" fmla="*/ 0 h 323607"/>
                  <a:gd name="connsiteX3" fmla="*/ 149358 w 224036"/>
                  <a:gd name="connsiteY3" fmla="*/ 0 h 323607"/>
                  <a:gd name="connsiteX4" fmla="*/ 224036 w 224036"/>
                  <a:gd name="connsiteY4" fmla="*/ 74679 h 323607"/>
                  <a:gd name="connsiteX5" fmla="*/ 224036 w 224036"/>
                  <a:gd name="connsiteY5" fmla="*/ 315310 h 323607"/>
                  <a:gd name="connsiteX6" fmla="*/ 215739 w 224036"/>
                  <a:gd name="connsiteY6" fmla="*/ 323608 h 323607"/>
                  <a:gd name="connsiteX7" fmla="*/ 8298 w 224036"/>
                  <a:gd name="connsiteY7" fmla="*/ 323608 h 323607"/>
                  <a:gd name="connsiteX8" fmla="*/ 0 w 224036"/>
                  <a:gd name="connsiteY8" fmla="*/ 315310 h 323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36" h="323607">
                    <a:moveTo>
                      <a:pt x="0" y="315310"/>
                    </a:moveTo>
                    <a:lnTo>
                      <a:pt x="0" y="8298"/>
                    </a:lnTo>
                    <a:cubicBezTo>
                      <a:pt x="0" y="3402"/>
                      <a:pt x="3402" y="0"/>
                      <a:pt x="8298" y="0"/>
                    </a:cubicBezTo>
                    <a:lnTo>
                      <a:pt x="149358" y="0"/>
                    </a:lnTo>
                    <a:lnTo>
                      <a:pt x="224036" y="74679"/>
                    </a:lnTo>
                    <a:lnTo>
                      <a:pt x="224036" y="315310"/>
                    </a:lnTo>
                    <a:cubicBezTo>
                      <a:pt x="224036" y="320206"/>
                      <a:pt x="220634" y="323608"/>
                      <a:pt x="215739" y="323608"/>
                    </a:cubicBezTo>
                    <a:lnTo>
                      <a:pt x="8298" y="323608"/>
                    </a:lnTo>
                    <a:cubicBezTo>
                      <a:pt x="3402" y="323608"/>
                      <a:pt x="0" y="320206"/>
                      <a:pt x="0" y="315310"/>
                    </a:cubicBezTo>
                    <a:close/>
                  </a:path>
                </a:pathLst>
              </a:custGeom>
              <a:noFill/>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3" name="Freeform: Shape 513">
                <a:extLst>
                  <a:ext uri="{FF2B5EF4-FFF2-40B4-BE49-F238E27FC236}">
                    <a16:creationId xmlns:a16="http://schemas.microsoft.com/office/drawing/2014/main" id="{06ED69DC-9D72-8EA1-A80A-23DD4442B31F}"/>
                  </a:ext>
                </a:extLst>
              </p:cNvPr>
              <p:cNvSpPr/>
              <p:nvPr/>
            </p:nvSpPr>
            <p:spPr>
              <a:xfrm>
                <a:off x="6542081" y="1252943"/>
                <a:ext cx="75300" cy="74678"/>
              </a:xfrm>
              <a:custGeom>
                <a:avLst/>
                <a:gdLst>
                  <a:gd name="connsiteX0" fmla="*/ 0 w 75300"/>
                  <a:gd name="connsiteY0" fmla="*/ 74679 h 74678"/>
                  <a:gd name="connsiteX1" fmla="*/ 75301 w 75300"/>
                  <a:gd name="connsiteY1" fmla="*/ 74679 h 74678"/>
                  <a:gd name="connsiteX2" fmla="*/ 0 w 75300"/>
                  <a:gd name="connsiteY2" fmla="*/ 0 h 74678"/>
                  <a:gd name="connsiteX3" fmla="*/ 0 w 75300"/>
                  <a:gd name="connsiteY3" fmla="*/ 74679 h 74678"/>
                </a:gdLst>
                <a:ahLst/>
                <a:cxnLst>
                  <a:cxn ang="0">
                    <a:pos x="connsiteX0" y="connsiteY0"/>
                  </a:cxn>
                  <a:cxn ang="0">
                    <a:pos x="connsiteX1" y="connsiteY1"/>
                  </a:cxn>
                  <a:cxn ang="0">
                    <a:pos x="connsiteX2" y="connsiteY2"/>
                  </a:cxn>
                  <a:cxn ang="0">
                    <a:pos x="connsiteX3" y="connsiteY3"/>
                  </a:cxn>
                </a:cxnLst>
                <a:rect l="l" t="t" r="r" b="b"/>
                <a:pathLst>
                  <a:path w="75300" h="74678">
                    <a:moveTo>
                      <a:pt x="0" y="74679"/>
                    </a:moveTo>
                    <a:lnTo>
                      <a:pt x="75301" y="74679"/>
                    </a:lnTo>
                    <a:lnTo>
                      <a:pt x="0" y="0"/>
                    </a:lnTo>
                    <a:lnTo>
                      <a:pt x="0" y="74679"/>
                    </a:lnTo>
                    <a:close/>
                  </a:path>
                </a:pathLst>
              </a:custGeom>
              <a:noFill/>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43" name="Freeform: Shape 503">
              <a:extLst>
                <a:ext uri="{FF2B5EF4-FFF2-40B4-BE49-F238E27FC236}">
                  <a16:creationId xmlns:a16="http://schemas.microsoft.com/office/drawing/2014/main" id="{F93BC172-070D-EEC0-BAAB-78F77153D4A7}"/>
                </a:ext>
              </a:extLst>
            </p:cNvPr>
            <p:cNvSpPr/>
            <p:nvPr/>
          </p:nvSpPr>
          <p:spPr>
            <a:xfrm>
              <a:off x="6488063" y="1435491"/>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4" name="Freeform: Shape 504">
              <a:extLst>
                <a:ext uri="{FF2B5EF4-FFF2-40B4-BE49-F238E27FC236}">
                  <a16:creationId xmlns:a16="http://schemas.microsoft.com/office/drawing/2014/main" id="{8EF791FE-F31B-E3BF-08A1-C3D9803B7E58}"/>
                </a:ext>
              </a:extLst>
            </p:cNvPr>
            <p:cNvSpPr/>
            <p:nvPr/>
          </p:nvSpPr>
          <p:spPr>
            <a:xfrm>
              <a:off x="6488063" y="1518468"/>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5" name="Freeform: Shape 505">
              <a:extLst>
                <a:ext uri="{FF2B5EF4-FFF2-40B4-BE49-F238E27FC236}">
                  <a16:creationId xmlns:a16="http://schemas.microsoft.com/office/drawing/2014/main" id="{C75D474C-D74B-EE3F-C0B6-C5479BDE08C8}"/>
                </a:ext>
              </a:extLst>
            </p:cNvPr>
            <p:cNvSpPr/>
            <p:nvPr/>
          </p:nvSpPr>
          <p:spPr>
            <a:xfrm>
              <a:off x="6488063" y="1394003"/>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6" name="Freeform: Shape 506">
              <a:extLst>
                <a:ext uri="{FF2B5EF4-FFF2-40B4-BE49-F238E27FC236}">
                  <a16:creationId xmlns:a16="http://schemas.microsoft.com/office/drawing/2014/main" id="{844B9EC0-9BBE-7EE8-A170-A36CB4FE4CDB}"/>
                </a:ext>
              </a:extLst>
            </p:cNvPr>
            <p:cNvSpPr/>
            <p:nvPr/>
          </p:nvSpPr>
          <p:spPr>
            <a:xfrm>
              <a:off x="6488063" y="1476980"/>
              <a:ext cx="93804" cy="4148"/>
            </a:xfrm>
            <a:custGeom>
              <a:avLst/>
              <a:gdLst>
                <a:gd name="connsiteX0" fmla="*/ 0 w 93804"/>
                <a:gd name="connsiteY0" fmla="*/ 0 h 4148"/>
                <a:gd name="connsiteX1" fmla="*/ 93805 w 93804"/>
                <a:gd name="connsiteY1" fmla="*/ 0 h 4148"/>
              </a:gdLst>
              <a:ahLst/>
              <a:cxnLst>
                <a:cxn ang="0">
                  <a:pos x="connsiteX0" y="connsiteY0"/>
                </a:cxn>
                <a:cxn ang="0">
                  <a:pos x="connsiteX1" y="connsiteY1"/>
                </a:cxn>
              </a:cxnLst>
              <a:rect l="l" t="t" r="r" b="b"/>
              <a:pathLst>
                <a:path w="93804" h="4148">
                  <a:moveTo>
                    <a:pt x="0" y="0"/>
                  </a:moveTo>
                  <a:lnTo>
                    <a:pt x="9380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7" name="Freeform: Shape 507">
              <a:extLst>
                <a:ext uri="{FF2B5EF4-FFF2-40B4-BE49-F238E27FC236}">
                  <a16:creationId xmlns:a16="http://schemas.microsoft.com/office/drawing/2014/main" id="{0337DE5F-E669-6C14-52C5-ECEED9508CD4}"/>
                </a:ext>
              </a:extLst>
            </p:cNvPr>
            <p:cNvSpPr/>
            <p:nvPr/>
          </p:nvSpPr>
          <p:spPr>
            <a:xfrm>
              <a:off x="6488063" y="1352515"/>
              <a:ext cx="30701" cy="4148"/>
            </a:xfrm>
            <a:custGeom>
              <a:avLst/>
              <a:gdLst>
                <a:gd name="connsiteX0" fmla="*/ 0 w 30701"/>
                <a:gd name="connsiteY0" fmla="*/ 0 h 4148"/>
                <a:gd name="connsiteX1" fmla="*/ 30701 w 30701"/>
                <a:gd name="connsiteY1" fmla="*/ 0 h 4148"/>
              </a:gdLst>
              <a:ahLst/>
              <a:cxnLst>
                <a:cxn ang="0">
                  <a:pos x="connsiteX0" y="connsiteY0"/>
                </a:cxn>
                <a:cxn ang="0">
                  <a:pos x="connsiteX1" y="connsiteY1"/>
                </a:cxn>
              </a:cxnLst>
              <a:rect l="l" t="t" r="r" b="b"/>
              <a:pathLst>
                <a:path w="30701" h="4148">
                  <a:moveTo>
                    <a:pt x="0" y="0"/>
                  </a:moveTo>
                  <a:lnTo>
                    <a:pt x="30701"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8" name="Freeform: Shape 508">
              <a:extLst>
                <a:ext uri="{FF2B5EF4-FFF2-40B4-BE49-F238E27FC236}">
                  <a16:creationId xmlns:a16="http://schemas.microsoft.com/office/drawing/2014/main" id="{577BE19A-8ECF-EAE6-27B9-6ECF1D51C4BD}"/>
                </a:ext>
              </a:extLst>
            </p:cNvPr>
            <p:cNvSpPr/>
            <p:nvPr/>
          </p:nvSpPr>
          <p:spPr>
            <a:xfrm>
              <a:off x="6429980" y="1330900"/>
              <a:ext cx="41488" cy="29498"/>
            </a:xfrm>
            <a:custGeom>
              <a:avLst/>
              <a:gdLst>
                <a:gd name="connsiteX0" fmla="*/ 0 w 41488"/>
                <a:gd name="connsiteY0" fmla="*/ 17508 h 29498"/>
                <a:gd name="connsiteX1" fmla="*/ 11990 w 41488"/>
                <a:gd name="connsiteY1" fmla="*/ 29498 h 29498"/>
                <a:gd name="connsiteX2" fmla="*/ 41488 w 41488"/>
                <a:gd name="connsiteY2" fmla="*/ 0 h 29498"/>
              </a:gdLst>
              <a:ahLst/>
              <a:cxnLst>
                <a:cxn ang="0">
                  <a:pos x="connsiteX0" y="connsiteY0"/>
                </a:cxn>
                <a:cxn ang="0">
                  <a:pos x="connsiteX1" y="connsiteY1"/>
                </a:cxn>
                <a:cxn ang="0">
                  <a:pos x="connsiteX2" y="connsiteY2"/>
                </a:cxn>
              </a:cxnLst>
              <a:rect l="l" t="t" r="r" b="b"/>
              <a:pathLst>
                <a:path w="41488" h="29498">
                  <a:moveTo>
                    <a:pt x="0" y="17508"/>
                  </a:moveTo>
                  <a:lnTo>
                    <a:pt x="11990" y="29498"/>
                  </a:lnTo>
                  <a:lnTo>
                    <a:pt x="41488" y="0"/>
                  </a:lnTo>
                </a:path>
              </a:pathLst>
            </a:custGeom>
            <a:noFill/>
            <a:ln w="12700" cap="flat">
              <a:solidFill>
                <a:srgbClr val="D930F6"/>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49" name="Freeform: Shape 509">
              <a:extLst>
                <a:ext uri="{FF2B5EF4-FFF2-40B4-BE49-F238E27FC236}">
                  <a16:creationId xmlns:a16="http://schemas.microsoft.com/office/drawing/2014/main" id="{0516CC91-F48B-759A-EB69-DE3C937E7722}"/>
                </a:ext>
              </a:extLst>
            </p:cNvPr>
            <p:cNvSpPr/>
            <p:nvPr/>
          </p:nvSpPr>
          <p:spPr>
            <a:xfrm>
              <a:off x="6429980" y="1505109"/>
              <a:ext cx="41488" cy="29498"/>
            </a:xfrm>
            <a:custGeom>
              <a:avLst/>
              <a:gdLst>
                <a:gd name="connsiteX0" fmla="*/ 0 w 41488"/>
                <a:gd name="connsiteY0" fmla="*/ 17508 h 29498"/>
                <a:gd name="connsiteX1" fmla="*/ 11990 w 41488"/>
                <a:gd name="connsiteY1" fmla="*/ 29498 h 29498"/>
                <a:gd name="connsiteX2" fmla="*/ 41488 w 41488"/>
                <a:gd name="connsiteY2" fmla="*/ 0 h 29498"/>
              </a:gdLst>
              <a:ahLst/>
              <a:cxnLst>
                <a:cxn ang="0">
                  <a:pos x="connsiteX0" y="connsiteY0"/>
                </a:cxn>
                <a:cxn ang="0">
                  <a:pos x="connsiteX1" y="connsiteY1"/>
                </a:cxn>
                <a:cxn ang="0">
                  <a:pos x="connsiteX2" y="connsiteY2"/>
                </a:cxn>
              </a:cxnLst>
              <a:rect l="l" t="t" r="r" b="b"/>
              <a:pathLst>
                <a:path w="41488" h="29498">
                  <a:moveTo>
                    <a:pt x="0" y="17508"/>
                  </a:moveTo>
                  <a:lnTo>
                    <a:pt x="11990" y="29498"/>
                  </a:lnTo>
                  <a:lnTo>
                    <a:pt x="41488" y="0"/>
                  </a:lnTo>
                </a:path>
              </a:pathLst>
            </a:custGeom>
            <a:noFill/>
            <a:ln w="12700" cap="rnd">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0" name="Freeform: Shape 510">
              <a:extLst>
                <a:ext uri="{FF2B5EF4-FFF2-40B4-BE49-F238E27FC236}">
                  <a16:creationId xmlns:a16="http://schemas.microsoft.com/office/drawing/2014/main" id="{40269943-B921-8B3D-1F87-32EB4DDB8D28}"/>
                </a:ext>
              </a:extLst>
            </p:cNvPr>
            <p:cNvSpPr/>
            <p:nvPr/>
          </p:nvSpPr>
          <p:spPr>
            <a:xfrm>
              <a:off x="6431764" y="1416365"/>
              <a:ext cx="33190" cy="33190"/>
            </a:xfrm>
            <a:custGeom>
              <a:avLst/>
              <a:gdLst>
                <a:gd name="connsiteX0" fmla="*/ 0 w 33190"/>
                <a:gd name="connsiteY0" fmla="*/ 0 h 33190"/>
                <a:gd name="connsiteX1" fmla="*/ 33191 w 33190"/>
                <a:gd name="connsiteY1" fmla="*/ 33191 h 33190"/>
              </a:gdLst>
              <a:ahLst/>
              <a:cxnLst>
                <a:cxn ang="0">
                  <a:pos x="connsiteX0" y="connsiteY0"/>
                </a:cxn>
                <a:cxn ang="0">
                  <a:pos x="connsiteX1" y="connsiteY1"/>
                </a:cxn>
              </a:cxnLst>
              <a:rect l="l" t="t" r="r" b="b"/>
              <a:pathLst>
                <a:path w="33190" h="33190">
                  <a:moveTo>
                    <a:pt x="0" y="0"/>
                  </a:moveTo>
                  <a:lnTo>
                    <a:pt x="33191" y="33191"/>
                  </a:lnTo>
                </a:path>
              </a:pathLst>
            </a:custGeom>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1" name="Freeform: Shape 511">
              <a:extLst>
                <a:ext uri="{FF2B5EF4-FFF2-40B4-BE49-F238E27FC236}">
                  <a16:creationId xmlns:a16="http://schemas.microsoft.com/office/drawing/2014/main" id="{8F32C3C6-1DA1-05B7-E19C-26C67574FA2F}"/>
                </a:ext>
              </a:extLst>
            </p:cNvPr>
            <p:cNvSpPr/>
            <p:nvPr/>
          </p:nvSpPr>
          <p:spPr>
            <a:xfrm>
              <a:off x="6431888" y="1416365"/>
              <a:ext cx="33066" cy="33356"/>
            </a:xfrm>
            <a:custGeom>
              <a:avLst/>
              <a:gdLst>
                <a:gd name="connsiteX0" fmla="*/ 33066 w 33066"/>
                <a:gd name="connsiteY0" fmla="*/ 0 h 33356"/>
                <a:gd name="connsiteX1" fmla="*/ 0 w 33066"/>
                <a:gd name="connsiteY1" fmla="*/ 33356 h 33356"/>
              </a:gdLst>
              <a:ahLst/>
              <a:cxnLst>
                <a:cxn ang="0">
                  <a:pos x="connsiteX0" y="connsiteY0"/>
                </a:cxn>
                <a:cxn ang="0">
                  <a:pos x="connsiteX1" y="connsiteY1"/>
                </a:cxn>
              </a:cxnLst>
              <a:rect l="l" t="t" r="r" b="b"/>
              <a:pathLst>
                <a:path w="33066" h="33356">
                  <a:moveTo>
                    <a:pt x="33066" y="0"/>
                  </a:moveTo>
                  <a:lnTo>
                    <a:pt x="0" y="33356"/>
                  </a:lnTo>
                </a:path>
              </a:pathLst>
            </a:custGeom>
            <a:ln w="12700" cap="rnd">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54" name="Graphic 2">
            <a:extLst>
              <a:ext uri="{FF2B5EF4-FFF2-40B4-BE49-F238E27FC236}">
                <a16:creationId xmlns:a16="http://schemas.microsoft.com/office/drawing/2014/main" id="{4719E430-4BDD-5CA3-8331-D6146D3FC93C}"/>
              </a:ext>
              <a:ext uri="{C183D7F6-B498-43B3-948B-1728B52AA6E4}">
                <adec:decorative xmlns:adec="http://schemas.microsoft.com/office/drawing/2017/decorative" val="1"/>
              </a:ext>
            </a:extLst>
          </p:cNvPr>
          <p:cNvGrpSpPr/>
          <p:nvPr/>
        </p:nvGrpSpPr>
        <p:grpSpPr>
          <a:xfrm>
            <a:off x="4187211" y="2795463"/>
            <a:ext cx="323608" cy="323607"/>
            <a:chOff x="1548892" y="1244646"/>
            <a:chExt cx="323608" cy="323607"/>
          </a:xfrm>
          <a:noFill/>
        </p:grpSpPr>
        <p:sp>
          <p:nvSpPr>
            <p:cNvPr id="155" name="Freeform: Shape 516">
              <a:extLst>
                <a:ext uri="{FF2B5EF4-FFF2-40B4-BE49-F238E27FC236}">
                  <a16:creationId xmlns:a16="http://schemas.microsoft.com/office/drawing/2014/main" id="{69467AD8-7521-4240-AC06-E207C0CEF3F5}"/>
                </a:ext>
              </a:extLst>
            </p:cNvPr>
            <p:cNvSpPr/>
            <p:nvPr/>
          </p:nvSpPr>
          <p:spPr>
            <a:xfrm>
              <a:off x="1548892" y="1244646"/>
              <a:ext cx="323608" cy="323607"/>
            </a:xfrm>
            <a:custGeom>
              <a:avLst/>
              <a:gdLst>
                <a:gd name="connsiteX0" fmla="*/ 315310 w 323608"/>
                <a:gd name="connsiteY0" fmla="*/ 0 h 323607"/>
                <a:gd name="connsiteX1" fmla="*/ 323608 w 323608"/>
                <a:gd name="connsiteY1" fmla="*/ 8298 h 323607"/>
                <a:gd name="connsiteX2" fmla="*/ 323608 w 323608"/>
                <a:gd name="connsiteY2" fmla="*/ 315310 h 323607"/>
                <a:gd name="connsiteX3" fmla="*/ 315310 w 323608"/>
                <a:gd name="connsiteY3" fmla="*/ 323608 h 323607"/>
                <a:gd name="connsiteX4" fmla="*/ 8298 w 323608"/>
                <a:gd name="connsiteY4" fmla="*/ 323608 h 323607"/>
                <a:gd name="connsiteX5" fmla="*/ 0 w 323608"/>
                <a:gd name="connsiteY5" fmla="*/ 315310 h 323607"/>
                <a:gd name="connsiteX6" fmla="*/ 0 w 323608"/>
                <a:gd name="connsiteY6" fmla="*/ 8298 h 323607"/>
                <a:gd name="connsiteX7" fmla="*/ 8298 w 323608"/>
                <a:gd name="connsiteY7" fmla="*/ 0 h 323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3608" h="323607">
                  <a:moveTo>
                    <a:pt x="315310" y="0"/>
                  </a:moveTo>
                  <a:cubicBezTo>
                    <a:pt x="319893" y="0"/>
                    <a:pt x="323608" y="3715"/>
                    <a:pt x="323608" y="8298"/>
                  </a:cubicBezTo>
                  <a:lnTo>
                    <a:pt x="323608" y="315310"/>
                  </a:lnTo>
                  <a:cubicBezTo>
                    <a:pt x="323608" y="319893"/>
                    <a:pt x="319893" y="323608"/>
                    <a:pt x="315310" y="323608"/>
                  </a:cubicBezTo>
                  <a:lnTo>
                    <a:pt x="8298" y="323608"/>
                  </a:lnTo>
                  <a:cubicBezTo>
                    <a:pt x="3715" y="323608"/>
                    <a:pt x="0" y="319893"/>
                    <a:pt x="0" y="315310"/>
                  </a:cubicBezTo>
                  <a:lnTo>
                    <a:pt x="0" y="8298"/>
                  </a:lnTo>
                  <a:cubicBezTo>
                    <a:pt x="0" y="3715"/>
                    <a:pt x="3715" y="0"/>
                    <a:pt x="8298" y="0"/>
                  </a:cubicBezTo>
                  <a:close/>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6" name="Freeform: Shape 517">
              <a:extLst>
                <a:ext uri="{FF2B5EF4-FFF2-40B4-BE49-F238E27FC236}">
                  <a16:creationId xmlns:a16="http://schemas.microsoft.com/office/drawing/2014/main" id="{6055085A-8F8D-9476-2664-2128C2DA9964}"/>
                </a:ext>
              </a:extLst>
            </p:cNvPr>
            <p:cNvSpPr/>
            <p:nvPr/>
          </p:nvSpPr>
          <p:spPr>
            <a:xfrm>
              <a:off x="1548892" y="1406450"/>
              <a:ext cx="161762" cy="54138"/>
            </a:xfrm>
            <a:custGeom>
              <a:avLst/>
              <a:gdLst>
                <a:gd name="connsiteX0" fmla="*/ 0 w 161762"/>
                <a:gd name="connsiteY0" fmla="*/ 0 h 54138"/>
                <a:gd name="connsiteX1" fmla="*/ 59245 w 161762"/>
                <a:gd name="connsiteY1" fmla="*/ 0 h 54138"/>
                <a:gd name="connsiteX2" fmla="*/ 52939 w 161762"/>
                <a:gd name="connsiteY2" fmla="*/ 37630 h 54138"/>
                <a:gd name="connsiteX3" fmla="*/ 65925 w 161762"/>
                <a:gd name="connsiteY3" fmla="*/ 50657 h 54138"/>
                <a:gd name="connsiteX4" fmla="*/ 112309 w 161762"/>
                <a:gd name="connsiteY4" fmla="*/ 22694 h 54138"/>
                <a:gd name="connsiteX5" fmla="*/ 102517 w 161762"/>
                <a:gd name="connsiteY5" fmla="*/ 0 h 54138"/>
                <a:gd name="connsiteX6" fmla="*/ 161763 w 161762"/>
                <a:gd name="connsiteY6" fmla="*/ 0 h 5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762" h="54138">
                  <a:moveTo>
                    <a:pt x="0" y="0"/>
                  </a:moveTo>
                  <a:lnTo>
                    <a:pt x="59245" y="0"/>
                  </a:lnTo>
                  <a:cubicBezTo>
                    <a:pt x="50035" y="8795"/>
                    <a:pt x="46052" y="22985"/>
                    <a:pt x="52939" y="37630"/>
                  </a:cubicBezTo>
                  <a:cubicBezTo>
                    <a:pt x="55594" y="43314"/>
                    <a:pt x="60241" y="47960"/>
                    <a:pt x="65925" y="50657"/>
                  </a:cubicBezTo>
                  <a:cubicBezTo>
                    <a:pt x="89366" y="61693"/>
                    <a:pt x="112309" y="44890"/>
                    <a:pt x="112309" y="22694"/>
                  </a:cubicBezTo>
                  <a:cubicBezTo>
                    <a:pt x="112309" y="13733"/>
                    <a:pt x="108533" y="5725"/>
                    <a:pt x="102517" y="0"/>
                  </a:cubicBezTo>
                  <a:lnTo>
                    <a:pt x="161763"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7" name="Freeform: Shape 518">
              <a:extLst>
                <a:ext uri="{FF2B5EF4-FFF2-40B4-BE49-F238E27FC236}">
                  <a16:creationId xmlns:a16="http://schemas.microsoft.com/office/drawing/2014/main" id="{150BDD65-6399-227A-65F4-BD227591B9CA}"/>
                </a:ext>
              </a:extLst>
            </p:cNvPr>
            <p:cNvSpPr/>
            <p:nvPr/>
          </p:nvSpPr>
          <p:spPr>
            <a:xfrm>
              <a:off x="1710696" y="1352311"/>
              <a:ext cx="161762" cy="54138"/>
            </a:xfrm>
            <a:custGeom>
              <a:avLst/>
              <a:gdLst>
                <a:gd name="connsiteX0" fmla="*/ 0 w 161762"/>
                <a:gd name="connsiteY0" fmla="*/ 54138 h 54138"/>
                <a:gd name="connsiteX1" fmla="*/ 59245 w 161762"/>
                <a:gd name="connsiteY1" fmla="*/ 54138 h 54138"/>
                <a:gd name="connsiteX2" fmla="*/ 52939 w 161762"/>
                <a:gd name="connsiteY2" fmla="*/ 16508 h 54138"/>
                <a:gd name="connsiteX3" fmla="*/ 65925 w 161762"/>
                <a:gd name="connsiteY3" fmla="*/ 3481 h 54138"/>
                <a:gd name="connsiteX4" fmla="*/ 112309 w 161762"/>
                <a:gd name="connsiteY4" fmla="*/ 31444 h 54138"/>
                <a:gd name="connsiteX5" fmla="*/ 102517 w 161762"/>
                <a:gd name="connsiteY5" fmla="*/ 54138 h 54138"/>
                <a:gd name="connsiteX6" fmla="*/ 161763 w 161762"/>
                <a:gd name="connsiteY6" fmla="*/ 54138 h 5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762" h="54138">
                  <a:moveTo>
                    <a:pt x="0" y="54138"/>
                  </a:moveTo>
                  <a:lnTo>
                    <a:pt x="59245" y="54138"/>
                  </a:lnTo>
                  <a:cubicBezTo>
                    <a:pt x="50035" y="45343"/>
                    <a:pt x="46052" y="31154"/>
                    <a:pt x="52939" y="16508"/>
                  </a:cubicBezTo>
                  <a:cubicBezTo>
                    <a:pt x="55594" y="10824"/>
                    <a:pt x="60241" y="6178"/>
                    <a:pt x="65925" y="3481"/>
                  </a:cubicBezTo>
                  <a:cubicBezTo>
                    <a:pt x="89366" y="-7555"/>
                    <a:pt x="112309" y="9248"/>
                    <a:pt x="112309" y="31444"/>
                  </a:cubicBezTo>
                  <a:cubicBezTo>
                    <a:pt x="112309" y="40406"/>
                    <a:pt x="108533" y="48413"/>
                    <a:pt x="102517" y="54138"/>
                  </a:cubicBezTo>
                  <a:lnTo>
                    <a:pt x="161763" y="54138"/>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8" name="Freeform: Shape 519">
              <a:extLst>
                <a:ext uri="{FF2B5EF4-FFF2-40B4-BE49-F238E27FC236}">
                  <a16:creationId xmlns:a16="http://schemas.microsoft.com/office/drawing/2014/main" id="{538C4FA3-59ED-04A6-B921-FA2923CFE3BC}"/>
                </a:ext>
              </a:extLst>
            </p:cNvPr>
            <p:cNvSpPr/>
            <p:nvPr/>
          </p:nvSpPr>
          <p:spPr>
            <a:xfrm>
              <a:off x="1710696" y="1406491"/>
              <a:ext cx="54138" cy="161762"/>
            </a:xfrm>
            <a:custGeom>
              <a:avLst/>
              <a:gdLst>
                <a:gd name="connsiteX0" fmla="*/ 0 w 54138"/>
                <a:gd name="connsiteY0" fmla="*/ 161762 h 161762"/>
                <a:gd name="connsiteX1" fmla="*/ 0 w 54138"/>
                <a:gd name="connsiteY1" fmla="*/ 96792 h 161762"/>
                <a:gd name="connsiteX2" fmla="*/ 37630 w 54138"/>
                <a:gd name="connsiteY2" fmla="*/ 103098 h 161762"/>
                <a:gd name="connsiteX3" fmla="*/ 50657 w 54138"/>
                <a:gd name="connsiteY3" fmla="*/ 90112 h 161762"/>
                <a:gd name="connsiteX4" fmla="*/ 22694 w 54138"/>
                <a:gd name="connsiteY4" fmla="*/ 43728 h 161762"/>
                <a:gd name="connsiteX5" fmla="*/ 0 w 54138"/>
                <a:gd name="connsiteY5" fmla="*/ 53520 h 161762"/>
                <a:gd name="connsiteX6" fmla="*/ 0 w 54138"/>
                <a:gd name="connsiteY6" fmla="*/ 0 h 161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138" h="161762">
                  <a:moveTo>
                    <a:pt x="0" y="161762"/>
                  </a:moveTo>
                  <a:lnTo>
                    <a:pt x="0" y="96792"/>
                  </a:lnTo>
                  <a:cubicBezTo>
                    <a:pt x="8796" y="106002"/>
                    <a:pt x="22984" y="109985"/>
                    <a:pt x="37630" y="103098"/>
                  </a:cubicBezTo>
                  <a:cubicBezTo>
                    <a:pt x="43314" y="100443"/>
                    <a:pt x="47960" y="95796"/>
                    <a:pt x="50657" y="90112"/>
                  </a:cubicBezTo>
                  <a:cubicBezTo>
                    <a:pt x="61693" y="66671"/>
                    <a:pt x="44890" y="43728"/>
                    <a:pt x="22694" y="43728"/>
                  </a:cubicBezTo>
                  <a:cubicBezTo>
                    <a:pt x="13733" y="43728"/>
                    <a:pt x="5725" y="47504"/>
                    <a:pt x="0" y="53520"/>
                  </a:cubicBezTo>
                  <a:lnTo>
                    <a:pt x="0"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59" name="Freeform: Shape 520">
              <a:extLst>
                <a:ext uri="{FF2B5EF4-FFF2-40B4-BE49-F238E27FC236}">
                  <a16:creationId xmlns:a16="http://schemas.microsoft.com/office/drawing/2014/main" id="{5E395B23-AA1C-A975-FA7C-5C783B819A57}"/>
                </a:ext>
              </a:extLst>
            </p:cNvPr>
            <p:cNvSpPr/>
            <p:nvPr/>
          </p:nvSpPr>
          <p:spPr>
            <a:xfrm>
              <a:off x="1656558" y="1244687"/>
              <a:ext cx="54138" cy="161762"/>
            </a:xfrm>
            <a:custGeom>
              <a:avLst/>
              <a:gdLst>
                <a:gd name="connsiteX0" fmla="*/ 54138 w 54138"/>
                <a:gd name="connsiteY0" fmla="*/ 161762 h 161762"/>
                <a:gd name="connsiteX1" fmla="*/ 54138 w 54138"/>
                <a:gd name="connsiteY1" fmla="*/ 96792 h 161762"/>
                <a:gd name="connsiteX2" fmla="*/ 16508 w 54138"/>
                <a:gd name="connsiteY2" fmla="*/ 103098 h 161762"/>
                <a:gd name="connsiteX3" fmla="*/ 3481 w 54138"/>
                <a:gd name="connsiteY3" fmla="*/ 90112 h 161762"/>
                <a:gd name="connsiteX4" fmla="*/ 31444 w 54138"/>
                <a:gd name="connsiteY4" fmla="*/ 43728 h 161762"/>
                <a:gd name="connsiteX5" fmla="*/ 54138 w 54138"/>
                <a:gd name="connsiteY5" fmla="*/ 53520 h 161762"/>
                <a:gd name="connsiteX6" fmla="*/ 54138 w 54138"/>
                <a:gd name="connsiteY6" fmla="*/ 0 h 161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138" h="161762">
                  <a:moveTo>
                    <a:pt x="54138" y="161762"/>
                  </a:moveTo>
                  <a:lnTo>
                    <a:pt x="54138" y="96792"/>
                  </a:lnTo>
                  <a:cubicBezTo>
                    <a:pt x="45343" y="106002"/>
                    <a:pt x="31154" y="109985"/>
                    <a:pt x="16508" y="103098"/>
                  </a:cubicBezTo>
                  <a:cubicBezTo>
                    <a:pt x="10824" y="100443"/>
                    <a:pt x="6178" y="95796"/>
                    <a:pt x="3481" y="90112"/>
                  </a:cubicBezTo>
                  <a:cubicBezTo>
                    <a:pt x="-7555" y="66671"/>
                    <a:pt x="9248" y="43728"/>
                    <a:pt x="31444" y="43728"/>
                  </a:cubicBezTo>
                  <a:cubicBezTo>
                    <a:pt x="40406" y="43728"/>
                    <a:pt x="48413" y="47504"/>
                    <a:pt x="54138" y="53520"/>
                  </a:cubicBezTo>
                  <a:lnTo>
                    <a:pt x="54138"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60" name="Graphic 535">
            <a:extLst>
              <a:ext uri="{FF2B5EF4-FFF2-40B4-BE49-F238E27FC236}">
                <a16:creationId xmlns:a16="http://schemas.microsoft.com/office/drawing/2014/main" id="{9FD29E82-D6A8-5D09-5C7E-F6F7BAF3410F}"/>
              </a:ext>
              <a:ext uri="{C183D7F6-B498-43B3-948B-1728B52AA6E4}">
                <adec:decorative xmlns:adec="http://schemas.microsoft.com/office/drawing/2017/decorative" val="1"/>
              </a:ext>
            </a:extLst>
          </p:cNvPr>
          <p:cNvGrpSpPr/>
          <p:nvPr/>
        </p:nvGrpSpPr>
        <p:grpSpPr>
          <a:xfrm>
            <a:off x="5346310" y="2712097"/>
            <a:ext cx="480340" cy="474382"/>
            <a:chOff x="7095695" y="2365536"/>
            <a:chExt cx="385274" cy="380501"/>
          </a:xfrm>
          <a:noFill/>
        </p:grpSpPr>
        <p:sp>
          <p:nvSpPr>
            <p:cNvPr id="161" name="Freeform: Shape 523">
              <a:extLst>
                <a:ext uri="{FF2B5EF4-FFF2-40B4-BE49-F238E27FC236}">
                  <a16:creationId xmlns:a16="http://schemas.microsoft.com/office/drawing/2014/main" id="{E1A09EBC-537A-C443-9308-09F12AB97E2E}"/>
                </a:ext>
              </a:extLst>
            </p:cNvPr>
            <p:cNvSpPr/>
            <p:nvPr/>
          </p:nvSpPr>
          <p:spPr>
            <a:xfrm>
              <a:off x="7199697" y="2479041"/>
              <a:ext cx="177271" cy="153492"/>
            </a:xfrm>
            <a:custGeom>
              <a:avLst/>
              <a:gdLst>
                <a:gd name="connsiteX0" fmla="*/ 132964 w 177271"/>
                <a:gd name="connsiteY0" fmla="*/ 0 h 153492"/>
                <a:gd name="connsiteX1" fmla="*/ 44349 w 177271"/>
                <a:gd name="connsiteY1" fmla="*/ 0 h 153492"/>
                <a:gd name="connsiteX2" fmla="*/ 0 w 177271"/>
                <a:gd name="connsiteY2" fmla="*/ 76726 h 153492"/>
                <a:gd name="connsiteX3" fmla="*/ 44349 w 177271"/>
                <a:gd name="connsiteY3" fmla="*/ 153492 h 153492"/>
                <a:gd name="connsiteX4" fmla="*/ 132964 w 177271"/>
                <a:gd name="connsiteY4" fmla="*/ 153492 h 153492"/>
                <a:gd name="connsiteX5" fmla="*/ 177271 w 177271"/>
                <a:gd name="connsiteY5" fmla="*/ 76726 h 153492"/>
                <a:gd name="connsiteX6" fmla="*/ 132964 w 177271"/>
                <a:gd name="connsiteY6" fmla="*/ 0 h 153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271" h="153492">
                  <a:moveTo>
                    <a:pt x="132964" y="0"/>
                  </a:moveTo>
                  <a:lnTo>
                    <a:pt x="44349" y="0"/>
                  </a:lnTo>
                  <a:lnTo>
                    <a:pt x="0" y="76726"/>
                  </a:lnTo>
                  <a:lnTo>
                    <a:pt x="44349" y="153492"/>
                  </a:lnTo>
                  <a:lnTo>
                    <a:pt x="132964" y="153492"/>
                  </a:lnTo>
                  <a:lnTo>
                    <a:pt x="177271" y="76726"/>
                  </a:lnTo>
                  <a:lnTo>
                    <a:pt x="132964" y="0"/>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162" name="Graphic 535">
              <a:extLst>
                <a:ext uri="{FF2B5EF4-FFF2-40B4-BE49-F238E27FC236}">
                  <a16:creationId xmlns:a16="http://schemas.microsoft.com/office/drawing/2014/main" id="{6F9DBFCA-54F7-1187-28C4-8C0AE8B01A52}"/>
                </a:ext>
              </a:extLst>
            </p:cNvPr>
            <p:cNvGrpSpPr/>
            <p:nvPr/>
          </p:nvGrpSpPr>
          <p:grpSpPr>
            <a:xfrm>
              <a:off x="7095695" y="2365536"/>
              <a:ext cx="385274" cy="380501"/>
              <a:chOff x="7095695" y="2365536"/>
              <a:chExt cx="385274" cy="380501"/>
            </a:xfrm>
          </p:grpSpPr>
          <p:sp>
            <p:nvSpPr>
              <p:cNvPr id="163" name="Freeform: Shape 525">
                <a:extLst>
                  <a:ext uri="{FF2B5EF4-FFF2-40B4-BE49-F238E27FC236}">
                    <a16:creationId xmlns:a16="http://schemas.microsoft.com/office/drawing/2014/main" id="{B677FEB7-E7F4-59B9-EFBF-F8321710E370}"/>
                  </a:ext>
                </a:extLst>
              </p:cNvPr>
              <p:cNvSpPr/>
              <p:nvPr/>
            </p:nvSpPr>
            <p:spPr>
              <a:xfrm>
                <a:off x="7266343" y="2381992"/>
                <a:ext cx="5800" cy="45870"/>
              </a:xfrm>
              <a:custGeom>
                <a:avLst/>
                <a:gdLst>
                  <a:gd name="connsiteX0" fmla="*/ 0 w 5800"/>
                  <a:gd name="connsiteY0" fmla="*/ 0 h 45870"/>
                  <a:gd name="connsiteX1" fmla="*/ 5801 w 5800"/>
                  <a:gd name="connsiteY1" fmla="*/ 45871 h 45870"/>
                </a:gdLst>
                <a:ahLst/>
                <a:cxnLst>
                  <a:cxn ang="0">
                    <a:pos x="connsiteX0" y="connsiteY0"/>
                  </a:cxn>
                  <a:cxn ang="0">
                    <a:pos x="connsiteX1" y="connsiteY1"/>
                  </a:cxn>
                </a:cxnLst>
                <a:rect l="l" t="t" r="r" b="b"/>
                <a:pathLst>
                  <a:path w="5800" h="45870">
                    <a:moveTo>
                      <a:pt x="0" y="0"/>
                    </a:moveTo>
                    <a:lnTo>
                      <a:pt x="5801" y="45871"/>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4" name="Freeform: Shape 526">
                <a:extLst>
                  <a:ext uri="{FF2B5EF4-FFF2-40B4-BE49-F238E27FC236}">
                    <a16:creationId xmlns:a16="http://schemas.microsoft.com/office/drawing/2014/main" id="{C28F41A4-D2FD-01BD-0004-CC7C3D385A55}"/>
                  </a:ext>
                </a:extLst>
              </p:cNvPr>
              <p:cNvSpPr/>
              <p:nvPr/>
            </p:nvSpPr>
            <p:spPr>
              <a:xfrm>
                <a:off x="7264245" y="2365536"/>
                <a:ext cx="1563" cy="12341"/>
              </a:xfrm>
              <a:custGeom>
                <a:avLst/>
                <a:gdLst>
                  <a:gd name="connsiteX0" fmla="*/ 0 w 1563"/>
                  <a:gd name="connsiteY0" fmla="*/ 0 h 12341"/>
                  <a:gd name="connsiteX1" fmla="*/ 1563 w 1563"/>
                  <a:gd name="connsiteY1" fmla="*/ 12342 h 12341"/>
                </a:gdLst>
                <a:ahLst/>
                <a:cxnLst>
                  <a:cxn ang="0">
                    <a:pos x="connsiteX0" y="connsiteY0"/>
                  </a:cxn>
                  <a:cxn ang="0">
                    <a:pos x="connsiteX1" y="connsiteY1"/>
                  </a:cxn>
                </a:cxnLst>
                <a:rect l="l" t="t" r="r" b="b"/>
                <a:pathLst>
                  <a:path w="1563" h="12341">
                    <a:moveTo>
                      <a:pt x="0" y="0"/>
                    </a:moveTo>
                    <a:lnTo>
                      <a:pt x="1563" y="12342"/>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5" name="Freeform: Shape 527">
                <a:extLst>
                  <a:ext uri="{FF2B5EF4-FFF2-40B4-BE49-F238E27FC236}">
                    <a16:creationId xmlns:a16="http://schemas.microsoft.com/office/drawing/2014/main" id="{48A0F4BE-9CE8-44BF-8DAD-6AEF2B96237E}"/>
                  </a:ext>
                </a:extLst>
              </p:cNvPr>
              <p:cNvSpPr/>
              <p:nvPr/>
            </p:nvSpPr>
            <p:spPr>
              <a:xfrm>
                <a:off x="7171146" y="2403220"/>
                <a:ext cx="38424" cy="49984"/>
              </a:xfrm>
              <a:custGeom>
                <a:avLst/>
                <a:gdLst>
                  <a:gd name="connsiteX0" fmla="*/ 0 w 38424"/>
                  <a:gd name="connsiteY0" fmla="*/ 0 h 49984"/>
                  <a:gd name="connsiteX1" fmla="*/ 38425 w 38424"/>
                  <a:gd name="connsiteY1" fmla="*/ 49985 h 49984"/>
                </a:gdLst>
                <a:ahLst/>
                <a:cxnLst>
                  <a:cxn ang="0">
                    <a:pos x="connsiteX0" y="connsiteY0"/>
                  </a:cxn>
                  <a:cxn ang="0">
                    <a:pos x="connsiteX1" y="connsiteY1"/>
                  </a:cxn>
                </a:cxnLst>
                <a:rect l="l" t="t" r="r" b="b"/>
                <a:pathLst>
                  <a:path w="38424" h="49984">
                    <a:moveTo>
                      <a:pt x="0" y="0"/>
                    </a:moveTo>
                    <a:lnTo>
                      <a:pt x="38425" y="49985"/>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6" name="Freeform: Shape 528">
                <a:extLst>
                  <a:ext uri="{FF2B5EF4-FFF2-40B4-BE49-F238E27FC236}">
                    <a16:creationId xmlns:a16="http://schemas.microsoft.com/office/drawing/2014/main" id="{13C02BC7-A246-3880-49E6-C992209277C6}"/>
                  </a:ext>
                </a:extLst>
              </p:cNvPr>
              <p:cNvSpPr/>
              <p:nvPr/>
            </p:nvSpPr>
            <p:spPr>
              <a:xfrm>
                <a:off x="7109477" y="2481756"/>
                <a:ext cx="58583" cy="24272"/>
              </a:xfrm>
              <a:custGeom>
                <a:avLst/>
                <a:gdLst>
                  <a:gd name="connsiteX0" fmla="*/ 0 w 58583"/>
                  <a:gd name="connsiteY0" fmla="*/ 0 h 24272"/>
                  <a:gd name="connsiteX1" fmla="*/ 58583 w 58583"/>
                  <a:gd name="connsiteY1" fmla="*/ 24273 h 24272"/>
                </a:gdLst>
                <a:ahLst/>
                <a:cxnLst>
                  <a:cxn ang="0">
                    <a:pos x="connsiteX0" y="connsiteY0"/>
                  </a:cxn>
                  <a:cxn ang="0">
                    <a:pos x="connsiteX1" y="connsiteY1"/>
                  </a:cxn>
                </a:cxnLst>
                <a:rect l="l" t="t" r="r" b="b"/>
                <a:pathLst>
                  <a:path w="58583" h="24272">
                    <a:moveTo>
                      <a:pt x="0" y="0"/>
                    </a:moveTo>
                    <a:lnTo>
                      <a:pt x="58583" y="24273"/>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7" name="Freeform: Shape 529">
                <a:extLst>
                  <a:ext uri="{FF2B5EF4-FFF2-40B4-BE49-F238E27FC236}">
                    <a16:creationId xmlns:a16="http://schemas.microsoft.com/office/drawing/2014/main" id="{D2CB7DD9-0A6D-4BC9-8EA4-9C1718403509}"/>
                  </a:ext>
                </a:extLst>
              </p:cNvPr>
              <p:cNvSpPr/>
              <p:nvPr/>
            </p:nvSpPr>
            <p:spPr>
              <a:xfrm>
                <a:off x="7120379" y="2572181"/>
                <a:ext cx="38424" cy="4854"/>
              </a:xfrm>
              <a:custGeom>
                <a:avLst/>
                <a:gdLst>
                  <a:gd name="connsiteX0" fmla="*/ 0 w 38424"/>
                  <a:gd name="connsiteY0" fmla="*/ 4854 h 4854"/>
                  <a:gd name="connsiteX1" fmla="*/ 38425 w 38424"/>
                  <a:gd name="connsiteY1" fmla="*/ 0 h 4854"/>
                </a:gdLst>
                <a:ahLst/>
                <a:cxnLst>
                  <a:cxn ang="0">
                    <a:pos x="connsiteX0" y="connsiteY0"/>
                  </a:cxn>
                  <a:cxn ang="0">
                    <a:pos x="connsiteX1" y="connsiteY1"/>
                  </a:cxn>
                </a:cxnLst>
                <a:rect l="l" t="t" r="r" b="b"/>
                <a:pathLst>
                  <a:path w="38424" h="4854">
                    <a:moveTo>
                      <a:pt x="0" y="4854"/>
                    </a:moveTo>
                    <a:lnTo>
                      <a:pt x="3842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8" name="Freeform: Shape 530">
                <a:extLst>
                  <a:ext uri="{FF2B5EF4-FFF2-40B4-BE49-F238E27FC236}">
                    <a16:creationId xmlns:a16="http://schemas.microsoft.com/office/drawing/2014/main" id="{3F1B65C1-73E5-605E-8E4D-99D9E637B8BC}"/>
                  </a:ext>
                </a:extLst>
              </p:cNvPr>
              <p:cNvSpPr/>
              <p:nvPr/>
            </p:nvSpPr>
            <p:spPr>
              <a:xfrm>
                <a:off x="7095695" y="2578064"/>
                <a:ext cx="16455" cy="2098"/>
              </a:xfrm>
              <a:custGeom>
                <a:avLst/>
                <a:gdLst>
                  <a:gd name="connsiteX0" fmla="*/ 0 w 16455"/>
                  <a:gd name="connsiteY0" fmla="*/ 2098 h 2098"/>
                  <a:gd name="connsiteX1" fmla="*/ 16456 w 16455"/>
                  <a:gd name="connsiteY1" fmla="*/ 0 h 2098"/>
                </a:gdLst>
                <a:ahLst/>
                <a:cxnLst>
                  <a:cxn ang="0">
                    <a:pos x="connsiteX0" y="connsiteY0"/>
                  </a:cxn>
                  <a:cxn ang="0">
                    <a:pos x="connsiteX1" y="connsiteY1"/>
                  </a:cxn>
                </a:cxnLst>
                <a:rect l="l" t="t" r="r" b="b"/>
                <a:pathLst>
                  <a:path w="16455" h="2098">
                    <a:moveTo>
                      <a:pt x="0" y="2098"/>
                    </a:moveTo>
                    <a:lnTo>
                      <a:pt x="16456"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69" name="Freeform: Shape 531">
                <a:extLst>
                  <a:ext uri="{FF2B5EF4-FFF2-40B4-BE49-F238E27FC236}">
                    <a16:creationId xmlns:a16="http://schemas.microsoft.com/office/drawing/2014/main" id="{599B5676-1238-5E9D-2599-B3B00962A6FF}"/>
                  </a:ext>
                </a:extLst>
              </p:cNvPr>
              <p:cNvSpPr/>
              <p:nvPr/>
            </p:nvSpPr>
            <p:spPr>
              <a:xfrm>
                <a:off x="7133544" y="2633932"/>
                <a:ext cx="50725" cy="38095"/>
              </a:xfrm>
              <a:custGeom>
                <a:avLst/>
                <a:gdLst>
                  <a:gd name="connsiteX0" fmla="*/ 0 w 50725"/>
                  <a:gd name="connsiteY0" fmla="*/ 38095 h 38095"/>
                  <a:gd name="connsiteX1" fmla="*/ 50725 w 50725"/>
                  <a:gd name="connsiteY1" fmla="*/ 0 h 38095"/>
                </a:gdLst>
                <a:ahLst/>
                <a:cxnLst>
                  <a:cxn ang="0">
                    <a:pos x="connsiteX0" y="connsiteY0"/>
                  </a:cxn>
                  <a:cxn ang="0">
                    <a:pos x="connsiteX1" y="connsiteY1"/>
                  </a:cxn>
                </a:cxnLst>
                <a:rect l="l" t="t" r="r" b="b"/>
                <a:pathLst>
                  <a:path w="50725" h="38095">
                    <a:moveTo>
                      <a:pt x="0" y="38095"/>
                    </a:moveTo>
                    <a:lnTo>
                      <a:pt x="50725"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0" name="Freeform: Shape 532">
                <a:extLst>
                  <a:ext uri="{FF2B5EF4-FFF2-40B4-BE49-F238E27FC236}">
                    <a16:creationId xmlns:a16="http://schemas.microsoft.com/office/drawing/2014/main" id="{C05D0F3C-A6F4-8366-46A5-EDC75D47E9B3}"/>
                  </a:ext>
                </a:extLst>
              </p:cNvPr>
              <p:cNvSpPr/>
              <p:nvPr/>
            </p:nvSpPr>
            <p:spPr>
              <a:xfrm>
                <a:off x="7212861" y="2674784"/>
                <a:ext cx="24725" cy="57965"/>
              </a:xfrm>
              <a:custGeom>
                <a:avLst/>
                <a:gdLst>
                  <a:gd name="connsiteX0" fmla="*/ 0 w 24725"/>
                  <a:gd name="connsiteY0" fmla="*/ 57966 h 57965"/>
                  <a:gd name="connsiteX1" fmla="*/ 24725 w 24725"/>
                  <a:gd name="connsiteY1" fmla="*/ 0 h 57965"/>
                </a:gdLst>
                <a:ahLst/>
                <a:cxnLst>
                  <a:cxn ang="0">
                    <a:pos x="connsiteX0" y="connsiteY0"/>
                  </a:cxn>
                  <a:cxn ang="0">
                    <a:pos x="connsiteX1" y="connsiteY1"/>
                  </a:cxn>
                </a:cxnLst>
                <a:rect l="l" t="t" r="r" b="b"/>
                <a:pathLst>
                  <a:path w="24725" h="57965">
                    <a:moveTo>
                      <a:pt x="0" y="57966"/>
                    </a:moveTo>
                    <a:lnTo>
                      <a:pt x="2472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1" name="Freeform: Shape 533">
                <a:extLst>
                  <a:ext uri="{FF2B5EF4-FFF2-40B4-BE49-F238E27FC236}">
                    <a16:creationId xmlns:a16="http://schemas.microsoft.com/office/drawing/2014/main" id="{DE48C56C-6815-5426-29DD-60F4858B9907}"/>
                  </a:ext>
                </a:extLst>
              </p:cNvPr>
              <p:cNvSpPr/>
              <p:nvPr/>
            </p:nvSpPr>
            <p:spPr>
              <a:xfrm>
                <a:off x="7304521" y="2683711"/>
                <a:ext cx="5019" cy="39741"/>
              </a:xfrm>
              <a:custGeom>
                <a:avLst/>
                <a:gdLst>
                  <a:gd name="connsiteX0" fmla="*/ 5019 w 5019"/>
                  <a:gd name="connsiteY0" fmla="*/ 39741 h 39741"/>
                  <a:gd name="connsiteX1" fmla="*/ 0 w 5019"/>
                  <a:gd name="connsiteY1" fmla="*/ 0 h 39741"/>
                </a:gdLst>
                <a:ahLst/>
                <a:cxnLst>
                  <a:cxn ang="0">
                    <a:pos x="connsiteX0" y="connsiteY0"/>
                  </a:cxn>
                  <a:cxn ang="0">
                    <a:pos x="connsiteX1" y="connsiteY1"/>
                  </a:cxn>
                </a:cxnLst>
                <a:rect l="l" t="t" r="r" b="b"/>
                <a:pathLst>
                  <a:path w="5019" h="39741">
                    <a:moveTo>
                      <a:pt x="5019" y="39741"/>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2" name="Freeform: Shape 534">
                <a:extLst>
                  <a:ext uri="{FF2B5EF4-FFF2-40B4-BE49-F238E27FC236}">
                    <a16:creationId xmlns:a16="http://schemas.microsoft.com/office/drawing/2014/main" id="{68BE794E-1258-583D-638C-A7519B089C72}"/>
                  </a:ext>
                </a:extLst>
              </p:cNvPr>
              <p:cNvSpPr/>
              <p:nvPr/>
            </p:nvSpPr>
            <p:spPr>
              <a:xfrm>
                <a:off x="7310075" y="2727566"/>
                <a:ext cx="2344" cy="18471"/>
              </a:xfrm>
              <a:custGeom>
                <a:avLst/>
                <a:gdLst>
                  <a:gd name="connsiteX0" fmla="*/ 2345 w 2344"/>
                  <a:gd name="connsiteY0" fmla="*/ 18472 h 18471"/>
                  <a:gd name="connsiteX1" fmla="*/ 0 w 2344"/>
                  <a:gd name="connsiteY1" fmla="*/ 0 h 18471"/>
                </a:gdLst>
                <a:ahLst/>
                <a:cxnLst>
                  <a:cxn ang="0">
                    <a:pos x="connsiteX0" y="connsiteY0"/>
                  </a:cxn>
                  <a:cxn ang="0">
                    <a:pos x="connsiteX1" y="connsiteY1"/>
                  </a:cxn>
                </a:cxnLst>
                <a:rect l="l" t="t" r="r" b="b"/>
                <a:pathLst>
                  <a:path w="2344" h="18471">
                    <a:moveTo>
                      <a:pt x="2345" y="18472"/>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3" name="Freeform: Shape 535">
                <a:extLst>
                  <a:ext uri="{FF2B5EF4-FFF2-40B4-BE49-F238E27FC236}">
                    <a16:creationId xmlns:a16="http://schemas.microsoft.com/office/drawing/2014/main" id="{6E2EB00E-70A8-CAA8-B9F0-A3DD9F2E1279}"/>
                  </a:ext>
                </a:extLst>
              </p:cNvPr>
              <p:cNvSpPr/>
              <p:nvPr/>
            </p:nvSpPr>
            <p:spPr>
              <a:xfrm>
                <a:off x="7367136" y="2658369"/>
                <a:ext cx="38383" cy="49984"/>
              </a:xfrm>
              <a:custGeom>
                <a:avLst/>
                <a:gdLst>
                  <a:gd name="connsiteX0" fmla="*/ 38383 w 38383"/>
                  <a:gd name="connsiteY0" fmla="*/ 49985 h 49984"/>
                  <a:gd name="connsiteX1" fmla="*/ 0 w 38383"/>
                  <a:gd name="connsiteY1" fmla="*/ 0 h 49984"/>
                </a:gdLst>
                <a:ahLst/>
                <a:cxnLst>
                  <a:cxn ang="0">
                    <a:pos x="connsiteX0" y="connsiteY0"/>
                  </a:cxn>
                  <a:cxn ang="0">
                    <a:pos x="connsiteX1" y="connsiteY1"/>
                  </a:cxn>
                </a:cxnLst>
                <a:rect l="l" t="t" r="r" b="b"/>
                <a:pathLst>
                  <a:path w="38383" h="49984">
                    <a:moveTo>
                      <a:pt x="38383" y="49985"/>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4" name="Freeform: Shape 536">
                <a:extLst>
                  <a:ext uri="{FF2B5EF4-FFF2-40B4-BE49-F238E27FC236}">
                    <a16:creationId xmlns:a16="http://schemas.microsoft.com/office/drawing/2014/main" id="{68FA9096-0375-01F5-D58C-E90D3CCBC807}"/>
                  </a:ext>
                </a:extLst>
              </p:cNvPr>
              <p:cNvSpPr/>
              <p:nvPr/>
            </p:nvSpPr>
            <p:spPr>
              <a:xfrm>
                <a:off x="7408604" y="2605546"/>
                <a:ext cx="40892" cy="16908"/>
              </a:xfrm>
              <a:custGeom>
                <a:avLst/>
                <a:gdLst>
                  <a:gd name="connsiteX0" fmla="*/ 40893 w 40892"/>
                  <a:gd name="connsiteY0" fmla="*/ 16908 h 16908"/>
                  <a:gd name="connsiteX1" fmla="*/ 0 w 40892"/>
                  <a:gd name="connsiteY1" fmla="*/ 0 h 16908"/>
                </a:gdLst>
                <a:ahLst/>
                <a:cxnLst>
                  <a:cxn ang="0">
                    <a:pos x="connsiteX0" y="connsiteY0"/>
                  </a:cxn>
                  <a:cxn ang="0">
                    <a:pos x="connsiteX1" y="connsiteY1"/>
                  </a:cxn>
                </a:cxnLst>
                <a:rect l="l" t="t" r="r" b="b"/>
                <a:pathLst>
                  <a:path w="40892" h="16908">
                    <a:moveTo>
                      <a:pt x="40893" y="16908"/>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5" name="Freeform: Shape 537">
                <a:extLst>
                  <a:ext uri="{FF2B5EF4-FFF2-40B4-BE49-F238E27FC236}">
                    <a16:creationId xmlns:a16="http://schemas.microsoft.com/office/drawing/2014/main" id="{C4869E5D-829C-73A8-DBCE-77334C851343}"/>
                  </a:ext>
                </a:extLst>
              </p:cNvPr>
              <p:cNvSpPr/>
              <p:nvPr/>
            </p:nvSpPr>
            <p:spPr>
              <a:xfrm>
                <a:off x="7454928" y="2624717"/>
                <a:ext cx="12259" cy="5101"/>
              </a:xfrm>
              <a:custGeom>
                <a:avLst/>
                <a:gdLst>
                  <a:gd name="connsiteX0" fmla="*/ 12260 w 12259"/>
                  <a:gd name="connsiteY0" fmla="*/ 5101 h 5101"/>
                  <a:gd name="connsiteX1" fmla="*/ 0 w 12259"/>
                  <a:gd name="connsiteY1" fmla="*/ 0 h 5101"/>
                </a:gdLst>
                <a:ahLst/>
                <a:cxnLst>
                  <a:cxn ang="0">
                    <a:pos x="connsiteX0" y="connsiteY0"/>
                  </a:cxn>
                  <a:cxn ang="0">
                    <a:pos x="connsiteX1" y="connsiteY1"/>
                  </a:cxn>
                </a:cxnLst>
                <a:rect l="l" t="t" r="r" b="b"/>
                <a:pathLst>
                  <a:path w="12259" h="5101">
                    <a:moveTo>
                      <a:pt x="12260" y="5101"/>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6" name="Freeform: Shape 538">
                <a:extLst>
                  <a:ext uri="{FF2B5EF4-FFF2-40B4-BE49-F238E27FC236}">
                    <a16:creationId xmlns:a16="http://schemas.microsoft.com/office/drawing/2014/main" id="{75D180F8-1082-6153-B60C-E7E411E91A5E}"/>
                  </a:ext>
                </a:extLst>
              </p:cNvPr>
              <p:cNvSpPr/>
              <p:nvPr/>
            </p:nvSpPr>
            <p:spPr>
              <a:xfrm>
                <a:off x="7417861" y="2531412"/>
                <a:ext cx="63108" cy="7981"/>
              </a:xfrm>
              <a:custGeom>
                <a:avLst/>
                <a:gdLst>
                  <a:gd name="connsiteX0" fmla="*/ 63109 w 63108"/>
                  <a:gd name="connsiteY0" fmla="*/ 0 h 7981"/>
                  <a:gd name="connsiteX1" fmla="*/ 0 w 63108"/>
                  <a:gd name="connsiteY1" fmla="*/ 7981 h 7981"/>
                </a:gdLst>
                <a:ahLst/>
                <a:cxnLst>
                  <a:cxn ang="0">
                    <a:pos x="connsiteX0" y="connsiteY0"/>
                  </a:cxn>
                  <a:cxn ang="0">
                    <a:pos x="connsiteX1" y="connsiteY1"/>
                  </a:cxn>
                </a:cxnLst>
                <a:rect l="l" t="t" r="r" b="b"/>
                <a:pathLst>
                  <a:path w="63108" h="7981">
                    <a:moveTo>
                      <a:pt x="63109" y="0"/>
                    </a:moveTo>
                    <a:lnTo>
                      <a:pt x="0" y="7981"/>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7" name="Freeform: Shape 539">
                <a:extLst>
                  <a:ext uri="{FF2B5EF4-FFF2-40B4-BE49-F238E27FC236}">
                    <a16:creationId xmlns:a16="http://schemas.microsoft.com/office/drawing/2014/main" id="{F2D9C457-8A4F-219A-C8DD-A5F1B9CC04A0}"/>
                  </a:ext>
                </a:extLst>
              </p:cNvPr>
              <p:cNvSpPr/>
              <p:nvPr/>
            </p:nvSpPr>
            <p:spPr>
              <a:xfrm>
                <a:off x="7392437" y="2451930"/>
                <a:ext cx="34187" cy="25712"/>
              </a:xfrm>
              <a:custGeom>
                <a:avLst/>
                <a:gdLst>
                  <a:gd name="connsiteX0" fmla="*/ 34187 w 34187"/>
                  <a:gd name="connsiteY0" fmla="*/ 0 h 25712"/>
                  <a:gd name="connsiteX1" fmla="*/ 0 w 34187"/>
                  <a:gd name="connsiteY1" fmla="*/ 25712 h 25712"/>
                </a:gdLst>
                <a:ahLst/>
                <a:cxnLst>
                  <a:cxn ang="0">
                    <a:pos x="connsiteX0" y="connsiteY0"/>
                  </a:cxn>
                  <a:cxn ang="0">
                    <a:pos x="connsiteX1" y="connsiteY1"/>
                  </a:cxn>
                </a:cxnLst>
                <a:rect l="l" t="t" r="r" b="b"/>
                <a:pathLst>
                  <a:path w="34187" h="25712">
                    <a:moveTo>
                      <a:pt x="34187" y="0"/>
                    </a:moveTo>
                    <a:lnTo>
                      <a:pt x="0" y="25712"/>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8" name="Freeform: Shape 540">
                <a:extLst>
                  <a:ext uri="{FF2B5EF4-FFF2-40B4-BE49-F238E27FC236}">
                    <a16:creationId xmlns:a16="http://schemas.microsoft.com/office/drawing/2014/main" id="{9A2EE2CB-6402-09E8-A160-DBFF3F2F4B82}"/>
                  </a:ext>
                </a:extLst>
              </p:cNvPr>
              <p:cNvSpPr/>
              <p:nvPr/>
            </p:nvSpPr>
            <p:spPr>
              <a:xfrm>
                <a:off x="7432136" y="2439547"/>
                <a:ext cx="10984" cy="8269"/>
              </a:xfrm>
              <a:custGeom>
                <a:avLst/>
                <a:gdLst>
                  <a:gd name="connsiteX0" fmla="*/ 10984 w 10984"/>
                  <a:gd name="connsiteY0" fmla="*/ 0 h 8269"/>
                  <a:gd name="connsiteX1" fmla="*/ 0 w 10984"/>
                  <a:gd name="connsiteY1" fmla="*/ 8269 h 8269"/>
                </a:gdLst>
                <a:ahLst/>
                <a:cxnLst>
                  <a:cxn ang="0">
                    <a:pos x="connsiteX0" y="connsiteY0"/>
                  </a:cxn>
                  <a:cxn ang="0">
                    <a:pos x="connsiteX1" y="connsiteY1"/>
                  </a:cxn>
                </a:cxnLst>
                <a:rect l="l" t="t" r="r" b="b"/>
                <a:pathLst>
                  <a:path w="10984" h="8269">
                    <a:moveTo>
                      <a:pt x="10984" y="0"/>
                    </a:moveTo>
                    <a:lnTo>
                      <a:pt x="0" y="8269"/>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79" name="Freeform: Shape 541">
                <a:extLst>
                  <a:ext uri="{FF2B5EF4-FFF2-40B4-BE49-F238E27FC236}">
                    <a16:creationId xmlns:a16="http://schemas.microsoft.com/office/drawing/2014/main" id="{BE9B819B-D17E-5165-1367-E837ABF9A751}"/>
                  </a:ext>
                </a:extLst>
              </p:cNvPr>
              <p:cNvSpPr/>
              <p:nvPr/>
            </p:nvSpPr>
            <p:spPr>
              <a:xfrm>
                <a:off x="7339078" y="2378825"/>
                <a:ext cx="24725" cy="57965"/>
              </a:xfrm>
              <a:custGeom>
                <a:avLst/>
                <a:gdLst>
                  <a:gd name="connsiteX0" fmla="*/ 24725 w 24725"/>
                  <a:gd name="connsiteY0" fmla="*/ 0 h 57965"/>
                  <a:gd name="connsiteX1" fmla="*/ 0 w 24725"/>
                  <a:gd name="connsiteY1" fmla="*/ 57966 h 57965"/>
                </a:gdLst>
                <a:ahLst/>
                <a:cxnLst>
                  <a:cxn ang="0">
                    <a:pos x="connsiteX0" y="connsiteY0"/>
                  </a:cxn>
                  <a:cxn ang="0">
                    <a:pos x="connsiteX1" y="connsiteY1"/>
                  </a:cxn>
                </a:cxnLst>
                <a:rect l="l" t="t" r="r" b="b"/>
                <a:pathLst>
                  <a:path w="24725" h="57965">
                    <a:moveTo>
                      <a:pt x="24725" y="0"/>
                    </a:moveTo>
                    <a:lnTo>
                      <a:pt x="0" y="57966"/>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sp>
        <p:nvSpPr>
          <p:cNvPr id="180" name="Rectangle: Rounded Corners 14">
            <a:extLst>
              <a:ext uri="{FF2B5EF4-FFF2-40B4-BE49-F238E27FC236}">
                <a16:creationId xmlns:a16="http://schemas.microsoft.com/office/drawing/2014/main" id="{889F356E-266B-E0B3-0563-576ECCCDFBAC}"/>
              </a:ext>
            </a:extLst>
          </p:cNvPr>
          <p:cNvSpPr/>
          <p:nvPr/>
        </p:nvSpPr>
        <p:spPr>
          <a:xfrm>
            <a:off x="201023" y="3874864"/>
            <a:ext cx="7809636" cy="2487891"/>
          </a:xfrm>
          <a:prstGeom prst="roundRect">
            <a:avLst>
              <a:gd name="adj" fmla="val 11404"/>
            </a:avLst>
          </a:prstGeom>
          <a:noFill/>
          <a:ln>
            <a:gradFill flip="none" rotWithShape="1">
              <a:gsLst>
                <a:gs pos="0">
                  <a:schemeClr val="accent1"/>
                </a:gs>
                <a:gs pos="100000">
                  <a:schemeClr val="accent4"/>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81" name="Rectangle: Rounded Corners 14">
            <a:extLst>
              <a:ext uri="{FF2B5EF4-FFF2-40B4-BE49-F238E27FC236}">
                <a16:creationId xmlns:a16="http://schemas.microsoft.com/office/drawing/2014/main" id="{D8BB0737-6C7A-9A33-76D9-74302877F3C9}"/>
              </a:ext>
            </a:extLst>
          </p:cNvPr>
          <p:cNvSpPr/>
          <p:nvPr/>
        </p:nvSpPr>
        <p:spPr>
          <a:xfrm>
            <a:off x="8229882" y="3874865"/>
            <a:ext cx="3699355" cy="1684546"/>
          </a:xfrm>
          <a:prstGeom prst="roundRect">
            <a:avLst>
              <a:gd name="adj" fmla="val 11404"/>
            </a:avLst>
          </a:prstGeom>
          <a:noFill/>
          <a:ln>
            <a:gradFill flip="none" rotWithShape="1">
              <a:gsLst>
                <a:gs pos="0">
                  <a:schemeClr val="accent1"/>
                </a:gs>
                <a:gs pos="100000">
                  <a:schemeClr val="accent4"/>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82" name="Text Placeholder 11">
            <a:extLst>
              <a:ext uri="{FF2B5EF4-FFF2-40B4-BE49-F238E27FC236}">
                <a16:creationId xmlns:a16="http://schemas.microsoft.com/office/drawing/2014/main" id="{E5538FBD-35C4-A695-73D0-B3D409DBDD00}"/>
              </a:ext>
            </a:extLst>
          </p:cNvPr>
          <p:cNvSpPr txBox="1">
            <a:spLocks/>
          </p:cNvSpPr>
          <p:nvPr/>
        </p:nvSpPr>
        <p:spPr>
          <a:xfrm>
            <a:off x="420246" y="4903916"/>
            <a:ext cx="15611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Context Coverage</a:t>
            </a:r>
          </a:p>
        </p:txBody>
      </p:sp>
      <p:sp>
        <p:nvSpPr>
          <p:cNvPr id="183" name="Text Placeholder 11">
            <a:extLst>
              <a:ext uri="{FF2B5EF4-FFF2-40B4-BE49-F238E27FC236}">
                <a16:creationId xmlns:a16="http://schemas.microsoft.com/office/drawing/2014/main" id="{897EDEFE-E123-A97F-8507-0D5E74EAA0FE}"/>
              </a:ext>
            </a:extLst>
          </p:cNvPr>
          <p:cNvSpPr txBox="1">
            <a:spLocks/>
          </p:cNvSpPr>
          <p:nvPr/>
        </p:nvSpPr>
        <p:spPr>
          <a:xfrm>
            <a:off x="2318198" y="4900490"/>
            <a:ext cx="1561170"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Context Relevance </a:t>
            </a:r>
          </a:p>
        </p:txBody>
      </p:sp>
      <p:grpSp>
        <p:nvGrpSpPr>
          <p:cNvPr id="184" name="Group 183">
            <a:extLst>
              <a:ext uri="{FF2B5EF4-FFF2-40B4-BE49-F238E27FC236}">
                <a16:creationId xmlns:a16="http://schemas.microsoft.com/office/drawing/2014/main" id="{485EAE5D-430D-FBC8-1CBD-ECAA07CFF575}"/>
              </a:ext>
            </a:extLst>
          </p:cNvPr>
          <p:cNvGrpSpPr/>
          <p:nvPr/>
        </p:nvGrpSpPr>
        <p:grpSpPr>
          <a:xfrm>
            <a:off x="4364345" y="4312092"/>
            <a:ext cx="438912" cy="438912"/>
            <a:chOff x="1403795" y="1611926"/>
            <a:chExt cx="502921" cy="502920"/>
          </a:xfrm>
        </p:grpSpPr>
        <p:grpSp>
          <p:nvGrpSpPr>
            <p:cNvPr id="185" name="Graphic 132">
              <a:extLst>
                <a:ext uri="{FF2B5EF4-FFF2-40B4-BE49-F238E27FC236}">
                  <a16:creationId xmlns:a16="http://schemas.microsoft.com/office/drawing/2014/main" id="{39C28A1A-B8DC-E569-7058-26AD56660DE9}"/>
                </a:ext>
              </a:extLst>
            </p:cNvPr>
            <p:cNvGrpSpPr>
              <a:grpSpLocks noChangeAspect="1"/>
            </p:cNvGrpSpPr>
            <p:nvPr/>
          </p:nvGrpSpPr>
          <p:grpSpPr>
            <a:xfrm>
              <a:off x="1403795" y="1611926"/>
              <a:ext cx="502921" cy="502920"/>
              <a:chOff x="8683057" y="1646606"/>
              <a:chExt cx="442537" cy="442536"/>
            </a:xfrm>
          </p:grpSpPr>
          <p:sp>
            <p:nvSpPr>
              <p:cNvPr id="187" name="Freeform: Shape 17">
                <a:extLst>
                  <a:ext uri="{FF2B5EF4-FFF2-40B4-BE49-F238E27FC236}">
                    <a16:creationId xmlns:a16="http://schemas.microsoft.com/office/drawing/2014/main" id="{2ABB067F-9840-1F84-09D7-8353CA2A18D1}"/>
                  </a:ext>
                </a:extLst>
              </p:cNvPr>
              <p:cNvSpPr/>
              <p:nvPr/>
            </p:nvSpPr>
            <p:spPr>
              <a:xfrm>
                <a:off x="8826922" y="1792723"/>
                <a:ext cx="151267" cy="151267"/>
              </a:xfrm>
              <a:custGeom>
                <a:avLst/>
                <a:gdLst>
                  <a:gd name="connsiteX0" fmla="*/ 147083 w 151266"/>
                  <a:gd name="connsiteY0" fmla="*/ 75955 h 151266"/>
                  <a:gd name="connsiteX1" fmla="*/ 75955 w 151266"/>
                  <a:gd name="connsiteY1" fmla="*/ 147083 h 151266"/>
                  <a:gd name="connsiteX2" fmla="*/ 4828 w 151266"/>
                  <a:gd name="connsiteY2" fmla="*/ 75955 h 151266"/>
                  <a:gd name="connsiteX3" fmla="*/ 75955 w 151266"/>
                  <a:gd name="connsiteY3" fmla="*/ 4828 h 151266"/>
                  <a:gd name="connsiteX4" fmla="*/ 147083 w 151266"/>
                  <a:gd name="connsiteY4" fmla="*/ 75955 h 1512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266" h="151266">
                    <a:moveTo>
                      <a:pt x="147083" y="75955"/>
                    </a:moveTo>
                    <a:cubicBezTo>
                      <a:pt x="147083" y="115238"/>
                      <a:pt x="115238" y="147083"/>
                      <a:pt x="75955" y="147083"/>
                    </a:cubicBezTo>
                    <a:cubicBezTo>
                      <a:pt x="36673" y="147083"/>
                      <a:pt x="4828" y="115238"/>
                      <a:pt x="4828" y="75955"/>
                    </a:cubicBezTo>
                    <a:cubicBezTo>
                      <a:pt x="4828" y="36673"/>
                      <a:pt x="36673" y="4828"/>
                      <a:pt x="75955" y="4828"/>
                    </a:cubicBezTo>
                    <a:cubicBezTo>
                      <a:pt x="115238" y="4828"/>
                      <a:pt x="147083" y="36673"/>
                      <a:pt x="147083" y="75955"/>
                    </a:cubicBezTo>
                    <a:close/>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88" name="Freeform: Shape 19">
                <a:extLst>
                  <a:ext uri="{FF2B5EF4-FFF2-40B4-BE49-F238E27FC236}">
                    <a16:creationId xmlns:a16="http://schemas.microsoft.com/office/drawing/2014/main" id="{2B7EBAC0-4482-02F2-02B9-7197A2D55475}"/>
                  </a:ext>
                </a:extLst>
              </p:cNvPr>
              <p:cNvSpPr/>
              <p:nvPr/>
            </p:nvSpPr>
            <p:spPr>
              <a:xfrm>
                <a:off x="8772208" y="1738010"/>
                <a:ext cx="260694" cy="260694"/>
              </a:xfrm>
              <a:custGeom>
                <a:avLst/>
                <a:gdLst>
                  <a:gd name="connsiteX0" fmla="*/ 256510 w 260694"/>
                  <a:gd name="connsiteY0" fmla="*/ 130669 h 260694"/>
                  <a:gd name="connsiteX1" fmla="*/ 130669 w 260694"/>
                  <a:gd name="connsiteY1" fmla="*/ 256510 h 260694"/>
                  <a:gd name="connsiteX2" fmla="*/ 4828 w 260694"/>
                  <a:gd name="connsiteY2" fmla="*/ 130669 h 260694"/>
                  <a:gd name="connsiteX3" fmla="*/ 130669 w 260694"/>
                  <a:gd name="connsiteY3" fmla="*/ 4828 h 260694"/>
                  <a:gd name="connsiteX4" fmla="*/ 256510 w 260694"/>
                  <a:gd name="connsiteY4" fmla="*/ 130669 h 260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0694" h="260694">
                    <a:moveTo>
                      <a:pt x="256510" y="130669"/>
                    </a:moveTo>
                    <a:cubicBezTo>
                      <a:pt x="256510" y="200169"/>
                      <a:pt x="200169" y="256510"/>
                      <a:pt x="130669" y="256510"/>
                    </a:cubicBezTo>
                    <a:cubicBezTo>
                      <a:pt x="61169" y="256510"/>
                      <a:pt x="4828" y="200169"/>
                      <a:pt x="4828" y="130669"/>
                    </a:cubicBezTo>
                    <a:cubicBezTo>
                      <a:pt x="4828" y="61169"/>
                      <a:pt x="61169" y="4828"/>
                      <a:pt x="130669" y="4828"/>
                    </a:cubicBezTo>
                    <a:cubicBezTo>
                      <a:pt x="200169" y="4828"/>
                      <a:pt x="256510" y="61169"/>
                      <a:pt x="256510" y="130669"/>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89" name="Freeform: Shape 20">
                <a:extLst>
                  <a:ext uri="{FF2B5EF4-FFF2-40B4-BE49-F238E27FC236}">
                    <a16:creationId xmlns:a16="http://schemas.microsoft.com/office/drawing/2014/main" id="{53CFC6D6-2475-654F-7463-540ADD75EFC9}"/>
                  </a:ext>
                </a:extLst>
              </p:cNvPr>
              <p:cNvSpPr/>
              <p:nvPr/>
            </p:nvSpPr>
            <p:spPr>
              <a:xfrm>
                <a:off x="8724253" y="1690055"/>
                <a:ext cx="357247" cy="354029"/>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90" name="Freeform: Shape 21">
                <a:extLst>
                  <a:ext uri="{FF2B5EF4-FFF2-40B4-BE49-F238E27FC236}">
                    <a16:creationId xmlns:a16="http://schemas.microsoft.com/office/drawing/2014/main" id="{6EE37D9F-FCC7-BDE0-387A-7604DB46B9BE}"/>
                  </a:ext>
                </a:extLst>
              </p:cNvPr>
              <p:cNvSpPr/>
              <p:nvPr/>
            </p:nvSpPr>
            <p:spPr>
              <a:xfrm>
                <a:off x="8898049" y="1646606"/>
                <a:ext cx="9655" cy="189888"/>
              </a:xfrm>
              <a:custGeom>
                <a:avLst/>
                <a:gdLst>
                  <a:gd name="connsiteX0" fmla="*/ 4828 w 9655"/>
                  <a:gd name="connsiteY0" fmla="*/ 185704 h 189888"/>
                  <a:gd name="connsiteX1" fmla="*/ 4828 w 9655"/>
                  <a:gd name="connsiteY1" fmla="*/ 4828 h 189888"/>
                </a:gdLst>
                <a:ahLst/>
                <a:cxnLst>
                  <a:cxn ang="0">
                    <a:pos x="connsiteX0" y="connsiteY0"/>
                  </a:cxn>
                  <a:cxn ang="0">
                    <a:pos x="connsiteX1" y="connsiteY1"/>
                  </a:cxn>
                </a:cxnLst>
                <a:rect l="l" t="t" r="r" b="b"/>
                <a:pathLst>
                  <a:path w="9655" h="189888">
                    <a:moveTo>
                      <a:pt x="4828" y="185704"/>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91" name="Freeform: Shape 22">
                <a:extLst>
                  <a:ext uri="{FF2B5EF4-FFF2-40B4-BE49-F238E27FC236}">
                    <a16:creationId xmlns:a16="http://schemas.microsoft.com/office/drawing/2014/main" id="{1A65FB51-F5DF-12DD-E16B-516045CF004F}"/>
                  </a:ext>
                </a:extLst>
              </p:cNvPr>
              <p:cNvSpPr/>
              <p:nvPr/>
            </p:nvSpPr>
            <p:spPr>
              <a:xfrm>
                <a:off x="8898049" y="1896035"/>
                <a:ext cx="9655" cy="193107"/>
              </a:xfrm>
              <a:custGeom>
                <a:avLst/>
                <a:gdLst>
                  <a:gd name="connsiteX0" fmla="*/ 4828 w 9655"/>
                  <a:gd name="connsiteY0" fmla="*/ 4828 h 193106"/>
                  <a:gd name="connsiteX1" fmla="*/ 4828 w 9655"/>
                  <a:gd name="connsiteY1" fmla="*/ 190532 h 193106"/>
                </a:gdLst>
                <a:ahLst/>
                <a:cxnLst>
                  <a:cxn ang="0">
                    <a:pos x="connsiteX0" y="connsiteY0"/>
                  </a:cxn>
                  <a:cxn ang="0">
                    <a:pos x="connsiteX1" y="connsiteY1"/>
                  </a:cxn>
                </a:cxnLst>
                <a:rect l="l" t="t" r="r" b="b"/>
                <a:pathLst>
                  <a:path w="9655" h="193106">
                    <a:moveTo>
                      <a:pt x="4828" y="4828"/>
                    </a:moveTo>
                    <a:lnTo>
                      <a:pt x="4828" y="190532"/>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92" name="Freeform: Shape 23">
                <a:extLst>
                  <a:ext uri="{FF2B5EF4-FFF2-40B4-BE49-F238E27FC236}">
                    <a16:creationId xmlns:a16="http://schemas.microsoft.com/office/drawing/2014/main" id="{FB4FE99C-AFF2-07B5-4984-7296126F885F}"/>
                  </a:ext>
                </a:extLst>
              </p:cNvPr>
              <p:cNvSpPr/>
              <p:nvPr/>
            </p:nvSpPr>
            <p:spPr>
              <a:xfrm>
                <a:off x="8683057" y="1861598"/>
                <a:ext cx="189888" cy="9655"/>
              </a:xfrm>
              <a:custGeom>
                <a:avLst/>
                <a:gdLst>
                  <a:gd name="connsiteX0" fmla="*/ 185704 w 189888"/>
                  <a:gd name="connsiteY0" fmla="*/ 4828 h 9655"/>
                  <a:gd name="connsiteX1" fmla="*/ 4828 w 189888"/>
                  <a:gd name="connsiteY1" fmla="*/ 4828 h 9655"/>
                </a:gdLst>
                <a:ahLst/>
                <a:cxnLst>
                  <a:cxn ang="0">
                    <a:pos x="connsiteX0" y="connsiteY0"/>
                  </a:cxn>
                  <a:cxn ang="0">
                    <a:pos x="connsiteX1" y="connsiteY1"/>
                  </a:cxn>
                </a:cxnLst>
                <a:rect l="l" t="t" r="r" b="b"/>
                <a:pathLst>
                  <a:path w="189888" h="9655">
                    <a:moveTo>
                      <a:pt x="185704" y="4828"/>
                    </a:moveTo>
                    <a:lnTo>
                      <a:pt x="4828"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93" name="Freeform: Shape 24">
                <a:extLst>
                  <a:ext uri="{FF2B5EF4-FFF2-40B4-BE49-F238E27FC236}">
                    <a16:creationId xmlns:a16="http://schemas.microsoft.com/office/drawing/2014/main" id="{2C62D43B-CFB5-7618-6FCF-A9C2F0F65E48}"/>
                  </a:ext>
                </a:extLst>
              </p:cNvPr>
              <p:cNvSpPr/>
              <p:nvPr/>
            </p:nvSpPr>
            <p:spPr>
              <a:xfrm>
                <a:off x="8932487" y="1861598"/>
                <a:ext cx="193107" cy="9655"/>
              </a:xfrm>
              <a:custGeom>
                <a:avLst/>
                <a:gdLst>
                  <a:gd name="connsiteX0" fmla="*/ 4828 w 193106"/>
                  <a:gd name="connsiteY0" fmla="*/ 4828 h 9655"/>
                  <a:gd name="connsiteX1" fmla="*/ 190532 w 193106"/>
                  <a:gd name="connsiteY1" fmla="*/ 4828 h 9655"/>
                </a:gdLst>
                <a:ahLst/>
                <a:cxnLst>
                  <a:cxn ang="0">
                    <a:pos x="connsiteX0" y="connsiteY0"/>
                  </a:cxn>
                  <a:cxn ang="0">
                    <a:pos x="connsiteX1" y="connsiteY1"/>
                  </a:cxn>
                </a:cxnLst>
                <a:rect l="l" t="t" r="r" b="b"/>
                <a:pathLst>
                  <a:path w="193106" h="9655">
                    <a:moveTo>
                      <a:pt x="4828" y="4828"/>
                    </a:moveTo>
                    <a:lnTo>
                      <a:pt x="190532" y="4828"/>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86" name="Freeform: Shape 27">
              <a:extLst>
                <a:ext uri="{FF2B5EF4-FFF2-40B4-BE49-F238E27FC236}">
                  <a16:creationId xmlns:a16="http://schemas.microsoft.com/office/drawing/2014/main" id="{B8372B4C-A503-0277-F6D6-E6EA0147E94E}"/>
                </a:ext>
              </a:extLst>
            </p:cNvPr>
            <p:cNvSpPr/>
            <p:nvPr/>
          </p:nvSpPr>
          <p:spPr>
            <a:xfrm rot="7200000">
              <a:off x="1450612" y="1665327"/>
              <a:ext cx="405993" cy="402336"/>
            </a:xfrm>
            <a:custGeom>
              <a:avLst/>
              <a:gdLst>
                <a:gd name="connsiteX0" fmla="*/ 225613 w 357247"/>
                <a:gd name="connsiteY0" fmla="*/ 345983 h 354028"/>
                <a:gd name="connsiteX1" fmla="*/ 178624 w 357247"/>
                <a:gd name="connsiteY1" fmla="*/ 352420 h 354028"/>
                <a:gd name="connsiteX2" fmla="*/ 4828 w 357247"/>
                <a:gd name="connsiteY2" fmla="*/ 178624 h 354028"/>
                <a:gd name="connsiteX3" fmla="*/ 178624 w 357247"/>
                <a:gd name="connsiteY3" fmla="*/ 4828 h 354028"/>
                <a:gd name="connsiteX4" fmla="*/ 352420 w 357247"/>
                <a:gd name="connsiteY4" fmla="*/ 178624 h 354028"/>
                <a:gd name="connsiteX5" fmla="*/ 351454 w 357247"/>
                <a:gd name="connsiteY5" fmla="*/ 197613 h 35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247" h="354028">
                  <a:moveTo>
                    <a:pt x="225613" y="345983"/>
                  </a:moveTo>
                  <a:cubicBezTo>
                    <a:pt x="210808" y="350167"/>
                    <a:pt x="195038" y="352420"/>
                    <a:pt x="178624" y="352420"/>
                  </a:cubicBezTo>
                  <a:cubicBezTo>
                    <a:pt x="82714" y="352420"/>
                    <a:pt x="4828" y="274533"/>
                    <a:pt x="4828" y="178624"/>
                  </a:cubicBezTo>
                  <a:cubicBezTo>
                    <a:pt x="4828" y="82714"/>
                    <a:pt x="82714" y="4828"/>
                    <a:pt x="178624" y="4828"/>
                  </a:cubicBezTo>
                  <a:cubicBezTo>
                    <a:pt x="274533" y="4828"/>
                    <a:pt x="352420" y="82714"/>
                    <a:pt x="352420" y="178624"/>
                  </a:cubicBezTo>
                  <a:cubicBezTo>
                    <a:pt x="352420" y="185061"/>
                    <a:pt x="352098" y="191497"/>
                    <a:pt x="351454" y="197613"/>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194" name="Group 193">
            <a:extLst>
              <a:ext uri="{FF2B5EF4-FFF2-40B4-BE49-F238E27FC236}">
                <a16:creationId xmlns:a16="http://schemas.microsoft.com/office/drawing/2014/main" id="{0D043EFA-1406-FDB9-2D5E-8157006EF74D}"/>
              </a:ext>
            </a:extLst>
          </p:cNvPr>
          <p:cNvGrpSpPr/>
          <p:nvPr/>
        </p:nvGrpSpPr>
        <p:grpSpPr>
          <a:xfrm>
            <a:off x="7014843" y="4339868"/>
            <a:ext cx="438912" cy="438912"/>
            <a:chOff x="3641772" y="1633846"/>
            <a:chExt cx="535641" cy="467560"/>
          </a:xfrm>
        </p:grpSpPr>
        <p:sp>
          <p:nvSpPr>
            <p:cNvPr id="195" name="Freeform: Shape 30">
              <a:extLst>
                <a:ext uri="{FF2B5EF4-FFF2-40B4-BE49-F238E27FC236}">
                  <a16:creationId xmlns:a16="http://schemas.microsoft.com/office/drawing/2014/main" id="{E1B41EAC-C01D-76C1-1F59-EEF6DD8074F3}"/>
                </a:ext>
              </a:extLst>
            </p:cNvPr>
            <p:cNvSpPr/>
            <p:nvPr/>
          </p:nvSpPr>
          <p:spPr>
            <a:xfrm>
              <a:off x="3961249" y="1801117"/>
              <a:ext cx="62180" cy="76809"/>
            </a:xfrm>
            <a:custGeom>
              <a:avLst/>
              <a:gdLst>
                <a:gd name="connsiteX0" fmla="*/ 51817 w 54713"/>
                <a:gd name="connsiteY0" fmla="*/ 4828 h 67587"/>
                <a:gd name="connsiteX1" fmla="*/ 4828 w 54713"/>
                <a:gd name="connsiteY1" fmla="*/ 64691 h 67587"/>
              </a:gdLst>
              <a:ahLst/>
              <a:cxnLst>
                <a:cxn ang="0">
                  <a:pos x="connsiteX0" y="connsiteY0"/>
                </a:cxn>
                <a:cxn ang="0">
                  <a:pos x="connsiteX1" y="connsiteY1"/>
                </a:cxn>
              </a:cxnLst>
              <a:rect l="l" t="t" r="r" b="b"/>
              <a:pathLst>
                <a:path w="54713" h="67587">
                  <a:moveTo>
                    <a:pt x="51817" y="4828"/>
                  </a:moveTo>
                  <a:lnTo>
                    <a:pt x="4828" y="64691"/>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196" name="Freeform: Shape 31">
              <a:extLst>
                <a:ext uri="{FF2B5EF4-FFF2-40B4-BE49-F238E27FC236}">
                  <a16:creationId xmlns:a16="http://schemas.microsoft.com/office/drawing/2014/main" id="{DA47FD5C-BB9D-2B6F-8A3A-2700D05257F0}"/>
                </a:ext>
              </a:extLst>
            </p:cNvPr>
            <p:cNvSpPr/>
            <p:nvPr/>
          </p:nvSpPr>
          <p:spPr>
            <a:xfrm>
              <a:off x="4090362" y="1636525"/>
              <a:ext cx="62180" cy="76809"/>
            </a:xfrm>
            <a:custGeom>
              <a:avLst/>
              <a:gdLst>
                <a:gd name="connsiteX0" fmla="*/ 51495 w 54713"/>
                <a:gd name="connsiteY0" fmla="*/ 4828 h 67587"/>
                <a:gd name="connsiteX1" fmla="*/ 4828 w 54713"/>
                <a:gd name="connsiteY1" fmla="*/ 64691 h 67587"/>
              </a:gdLst>
              <a:ahLst/>
              <a:cxnLst>
                <a:cxn ang="0">
                  <a:pos x="connsiteX0" y="connsiteY0"/>
                </a:cxn>
                <a:cxn ang="0">
                  <a:pos x="connsiteX1" y="connsiteY1"/>
                </a:cxn>
              </a:cxnLst>
              <a:rect l="l" t="t" r="r" b="b"/>
              <a:pathLst>
                <a:path w="54713" h="67587">
                  <a:moveTo>
                    <a:pt x="51495" y="4828"/>
                  </a:moveTo>
                  <a:lnTo>
                    <a:pt x="4828" y="64691"/>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197" name="Freeform: Shape 32">
              <a:extLst>
                <a:ext uri="{FF2B5EF4-FFF2-40B4-BE49-F238E27FC236}">
                  <a16:creationId xmlns:a16="http://schemas.microsoft.com/office/drawing/2014/main" id="{EA1A73D8-4A04-DFFF-E57F-53C554316EF3}"/>
                </a:ext>
              </a:extLst>
            </p:cNvPr>
            <p:cNvSpPr/>
            <p:nvPr/>
          </p:nvSpPr>
          <p:spPr>
            <a:xfrm>
              <a:off x="4114502" y="1741864"/>
              <a:ext cx="54864" cy="14631"/>
            </a:xfrm>
            <a:custGeom>
              <a:avLst/>
              <a:gdLst>
                <a:gd name="connsiteX0" fmla="*/ 46346 w 48276"/>
                <a:gd name="connsiteY0" fmla="*/ 4828 h 12873"/>
                <a:gd name="connsiteX1" fmla="*/ 4828 w 48276"/>
                <a:gd name="connsiteY1" fmla="*/ 9977 h 12873"/>
              </a:gdLst>
              <a:ahLst/>
              <a:cxnLst>
                <a:cxn ang="0">
                  <a:pos x="connsiteX0" y="connsiteY0"/>
                </a:cxn>
                <a:cxn ang="0">
                  <a:pos x="connsiteX1" y="connsiteY1"/>
                </a:cxn>
              </a:cxnLst>
              <a:rect l="l" t="t" r="r" b="b"/>
              <a:pathLst>
                <a:path w="48276" h="12873">
                  <a:moveTo>
                    <a:pt x="46346" y="4828"/>
                  </a:moveTo>
                  <a:lnTo>
                    <a:pt x="4828" y="9977"/>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198" name="Freeform: Shape 33">
              <a:extLst>
                <a:ext uri="{FF2B5EF4-FFF2-40B4-BE49-F238E27FC236}">
                  <a16:creationId xmlns:a16="http://schemas.microsoft.com/office/drawing/2014/main" id="{4372A42F-D55F-6DF9-9D04-381F49A09B12}"/>
                </a:ext>
              </a:extLst>
            </p:cNvPr>
            <p:cNvSpPr/>
            <p:nvPr/>
          </p:nvSpPr>
          <p:spPr>
            <a:xfrm>
              <a:off x="4058175" y="1819405"/>
              <a:ext cx="14631" cy="58521"/>
            </a:xfrm>
            <a:custGeom>
              <a:avLst/>
              <a:gdLst>
                <a:gd name="connsiteX0" fmla="*/ 9655 w 12873"/>
                <a:gd name="connsiteY0" fmla="*/ 46667 h 51495"/>
                <a:gd name="connsiteX1" fmla="*/ 4828 w 12873"/>
                <a:gd name="connsiteY1" fmla="*/ 4828 h 51495"/>
              </a:gdLst>
              <a:ahLst/>
              <a:cxnLst>
                <a:cxn ang="0">
                  <a:pos x="connsiteX0" y="connsiteY0"/>
                </a:cxn>
                <a:cxn ang="0">
                  <a:pos x="connsiteX1" y="connsiteY1"/>
                </a:cxn>
              </a:cxnLst>
              <a:rect l="l" t="t" r="r" b="b"/>
              <a:pathLst>
                <a:path w="12873" h="51495">
                  <a:moveTo>
                    <a:pt x="9655" y="46667"/>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199" name="Freeform: Shape 34">
              <a:extLst>
                <a:ext uri="{FF2B5EF4-FFF2-40B4-BE49-F238E27FC236}">
                  <a16:creationId xmlns:a16="http://schemas.microsoft.com/office/drawing/2014/main" id="{E4C2DBF9-1F43-3051-6462-7A5D103A4B99}"/>
                </a:ext>
              </a:extLst>
            </p:cNvPr>
            <p:cNvSpPr/>
            <p:nvPr/>
          </p:nvSpPr>
          <p:spPr>
            <a:xfrm>
              <a:off x="4100604" y="1790875"/>
              <a:ext cx="76809" cy="62180"/>
            </a:xfrm>
            <a:custGeom>
              <a:avLst/>
              <a:gdLst>
                <a:gd name="connsiteX0" fmla="*/ 64691 w 67587"/>
                <a:gd name="connsiteY0" fmla="*/ 51817 h 54713"/>
                <a:gd name="connsiteX1" fmla="*/ 4828 w 67587"/>
                <a:gd name="connsiteY1" fmla="*/ 4828 h 54713"/>
              </a:gdLst>
              <a:ahLst/>
              <a:cxnLst>
                <a:cxn ang="0">
                  <a:pos x="connsiteX0" y="connsiteY0"/>
                </a:cxn>
                <a:cxn ang="0">
                  <a:pos x="connsiteX1" y="connsiteY1"/>
                </a:cxn>
              </a:cxnLst>
              <a:rect l="l" t="t" r="r" b="b"/>
              <a:pathLst>
                <a:path w="67587" h="54713">
                  <a:moveTo>
                    <a:pt x="64691" y="51817"/>
                  </a:moveTo>
                  <a:lnTo>
                    <a:pt x="4828" y="4828"/>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1C232F"/>
                </a:solidFill>
                <a:effectLst/>
                <a:uLnTx/>
                <a:uFillTx/>
                <a:latin typeface="Amazon Ember Display" panose="020F0603020204020204" pitchFamily="34" charset="0"/>
                <a:ea typeface="+mn-ea"/>
                <a:cs typeface="+mn-cs"/>
              </a:endParaRPr>
            </a:p>
          </p:txBody>
        </p:sp>
        <p:sp>
          <p:nvSpPr>
            <p:cNvPr id="200" name="Freeform: Shape 35">
              <a:extLst>
                <a:ext uri="{FF2B5EF4-FFF2-40B4-BE49-F238E27FC236}">
                  <a16:creationId xmlns:a16="http://schemas.microsoft.com/office/drawing/2014/main" id="{C5D62EDD-E4E5-62EA-BF3E-049BAF698D9A}"/>
                </a:ext>
              </a:extLst>
            </p:cNvPr>
            <p:cNvSpPr/>
            <p:nvPr/>
          </p:nvSpPr>
          <p:spPr>
            <a:xfrm>
              <a:off x="3641772" y="1750276"/>
              <a:ext cx="314553" cy="351130"/>
            </a:xfrm>
            <a:custGeom>
              <a:avLst/>
              <a:gdLst>
                <a:gd name="connsiteX0" fmla="*/ 172013 w 276786"/>
                <a:gd name="connsiteY0" fmla="*/ 62438 h 308970"/>
                <a:gd name="connsiteX1" fmla="*/ 9481 w 276786"/>
                <a:gd name="connsiteY1" fmla="*/ 269062 h 308970"/>
                <a:gd name="connsiteX2" fmla="*/ 13022 w 276786"/>
                <a:gd name="connsiteY2" fmla="*/ 299637 h 308970"/>
                <a:gd name="connsiteX3" fmla="*/ 13022 w 276786"/>
                <a:gd name="connsiteY3" fmla="*/ 299637 h 308970"/>
                <a:gd name="connsiteX4" fmla="*/ 43597 w 276786"/>
                <a:gd name="connsiteY4" fmla="*/ 296097 h 308970"/>
                <a:gd name="connsiteX5" fmla="*/ 272428 w 276786"/>
                <a:gd name="connsiteY5" fmla="*/ 4828 h 308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786" h="308970">
                  <a:moveTo>
                    <a:pt x="172013" y="62438"/>
                  </a:moveTo>
                  <a:lnTo>
                    <a:pt x="9481" y="269062"/>
                  </a:lnTo>
                  <a:cubicBezTo>
                    <a:pt x="2079" y="278395"/>
                    <a:pt x="3688" y="292235"/>
                    <a:pt x="13022" y="299637"/>
                  </a:cubicBezTo>
                  <a:lnTo>
                    <a:pt x="13022" y="299637"/>
                  </a:lnTo>
                  <a:cubicBezTo>
                    <a:pt x="22355" y="307040"/>
                    <a:pt x="36195" y="305430"/>
                    <a:pt x="43597" y="296097"/>
                  </a:cubicBezTo>
                  <a:lnTo>
                    <a:pt x="272428" y="4828"/>
                  </a:ln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1" name="Freeform: Shape 36">
              <a:extLst>
                <a:ext uri="{FF2B5EF4-FFF2-40B4-BE49-F238E27FC236}">
                  <a16:creationId xmlns:a16="http://schemas.microsoft.com/office/drawing/2014/main" id="{3A9CE2D8-C86F-60DC-7403-D3E8785456F0}"/>
                </a:ext>
              </a:extLst>
            </p:cNvPr>
            <p:cNvSpPr/>
            <p:nvPr/>
          </p:nvSpPr>
          <p:spPr>
            <a:xfrm>
              <a:off x="3831770" y="1801117"/>
              <a:ext cx="21946" cy="25603"/>
            </a:xfrm>
            <a:custGeom>
              <a:avLst/>
              <a:gdLst>
                <a:gd name="connsiteX0" fmla="*/ 15127 w 19310"/>
                <a:gd name="connsiteY0" fmla="*/ 4828 h 22529"/>
                <a:gd name="connsiteX1" fmla="*/ 4828 w 19310"/>
                <a:gd name="connsiteY1" fmla="*/ 17701 h 22529"/>
              </a:gdLst>
              <a:ahLst/>
              <a:cxnLst>
                <a:cxn ang="0">
                  <a:pos x="connsiteX0" y="connsiteY0"/>
                </a:cxn>
                <a:cxn ang="0">
                  <a:pos x="connsiteX1" y="connsiteY1"/>
                </a:cxn>
              </a:cxnLst>
              <a:rect l="l" t="t" r="r" b="b"/>
              <a:pathLst>
                <a:path w="19310" h="22529">
                  <a:moveTo>
                    <a:pt x="15127" y="4828"/>
                  </a:moveTo>
                  <a:lnTo>
                    <a:pt x="4828" y="17701"/>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2" name="Freeform: Shape 37">
              <a:extLst>
                <a:ext uri="{FF2B5EF4-FFF2-40B4-BE49-F238E27FC236}">
                  <a16:creationId xmlns:a16="http://schemas.microsoft.com/office/drawing/2014/main" id="{744B1044-ED36-8EA1-C4C1-D9F7837D49D3}"/>
                </a:ext>
              </a:extLst>
            </p:cNvPr>
            <p:cNvSpPr/>
            <p:nvPr/>
          </p:nvSpPr>
          <p:spPr>
            <a:xfrm>
              <a:off x="3857007" y="1719552"/>
              <a:ext cx="58521" cy="73152"/>
            </a:xfrm>
            <a:custGeom>
              <a:avLst/>
              <a:gdLst>
                <a:gd name="connsiteX0" fmla="*/ 49242 w 51495"/>
                <a:gd name="connsiteY0" fmla="*/ 4828 h 64368"/>
                <a:gd name="connsiteX1" fmla="*/ 4828 w 51495"/>
                <a:gd name="connsiteY1" fmla="*/ 61472 h 64368"/>
              </a:gdLst>
              <a:ahLst/>
              <a:cxnLst>
                <a:cxn ang="0">
                  <a:pos x="connsiteX0" y="connsiteY0"/>
                </a:cxn>
                <a:cxn ang="0">
                  <a:pos x="connsiteX1" y="connsiteY1"/>
                </a:cxn>
              </a:cxnLst>
              <a:rect l="l" t="t" r="r" b="b"/>
              <a:pathLst>
                <a:path w="51495" h="64368">
                  <a:moveTo>
                    <a:pt x="49242" y="4828"/>
                  </a:moveTo>
                  <a:lnTo>
                    <a:pt x="4828" y="61472"/>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3" name="Freeform: Shape 38">
              <a:extLst>
                <a:ext uri="{FF2B5EF4-FFF2-40B4-BE49-F238E27FC236}">
                  <a16:creationId xmlns:a16="http://schemas.microsoft.com/office/drawing/2014/main" id="{193490FC-C364-8C9D-4B4E-F4CD2950B930}"/>
                </a:ext>
              </a:extLst>
            </p:cNvPr>
            <p:cNvSpPr/>
            <p:nvPr/>
          </p:nvSpPr>
          <p:spPr>
            <a:xfrm>
              <a:off x="4021232" y="1716479"/>
              <a:ext cx="57433" cy="74396"/>
            </a:xfrm>
            <a:custGeom>
              <a:avLst/>
              <a:gdLst>
                <a:gd name="connsiteX0" fmla="*/ 9005 w 57932"/>
                <a:gd name="connsiteY0" fmla="*/ 44545 h 61150"/>
                <a:gd name="connsiteX1" fmla="*/ 25741 w 57932"/>
                <a:gd name="connsiteY1" fmla="*/ 57740 h 61150"/>
                <a:gd name="connsiteX2" fmla="*/ 55029 w 57932"/>
                <a:gd name="connsiteY2" fmla="*/ 20406 h 61150"/>
                <a:gd name="connsiteX3" fmla="*/ 38293 w 57932"/>
                <a:gd name="connsiteY3" fmla="*/ 7211 h 61150"/>
                <a:gd name="connsiteX4" fmla="*/ 22845 w 57932"/>
                <a:gd name="connsiteY4" fmla="*/ 9142 h 61150"/>
                <a:gd name="connsiteX5" fmla="*/ 7074 w 57932"/>
                <a:gd name="connsiteY5" fmla="*/ 29096 h 61150"/>
                <a:gd name="connsiteX6" fmla="*/ 9005 w 57932"/>
                <a:gd name="connsiteY6" fmla="*/ 44545 h 6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932" h="61150">
                  <a:moveTo>
                    <a:pt x="9005" y="44545"/>
                  </a:moveTo>
                  <a:lnTo>
                    <a:pt x="25741" y="57740"/>
                  </a:lnTo>
                  <a:lnTo>
                    <a:pt x="55029" y="20406"/>
                  </a:lnTo>
                  <a:lnTo>
                    <a:pt x="38293" y="7211"/>
                  </a:lnTo>
                  <a:cubicBezTo>
                    <a:pt x="33466" y="3349"/>
                    <a:pt x="26707" y="4314"/>
                    <a:pt x="22845" y="9142"/>
                  </a:cubicBezTo>
                  <a:lnTo>
                    <a:pt x="7074" y="29096"/>
                  </a:lnTo>
                  <a:cubicBezTo>
                    <a:pt x="3534" y="33924"/>
                    <a:pt x="4178" y="40683"/>
                    <a:pt x="9005" y="44545"/>
                  </a:cubicBezTo>
                  <a:close/>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4" name="Freeform: Shape 39">
              <a:extLst>
                <a:ext uri="{FF2B5EF4-FFF2-40B4-BE49-F238E27FC236}">
                  <a16:creationId xmlns:a16="http://schemas.microsoft.com/office/drawing/2014/main" id="{0864A966-B2F7-A22F-BB1B-95A1C1DE3A6B}"/>
                </a:ext>
              </a:extLst>
            </p:cNvPr>
            <p:cNvSpPr/>
            <p:nvPr/>
          </p:nvSpPr>
          <p:spPr>
            <a:xfrm>
              <a:off x="4009164" y="1691754"/>
              <a:ext cx="43891" cy="36575"/>
            </a:xfrm>
            <a:custGeom>
              <a:avLst/>
              <a:gdLst>
                <a:gd name="connsiteX0" fmla="*/ 4828 w 38621"/>
                <a:gd name="connsiteY0" fmla="*/ 4828 h 32184"/>
                <a:gd name="connsiteX1" fmla="*/ 16414 w 38621"/>
                <a:gd name="connsiteY1" fmla="*/ 21885 h 32184"/>
                <a:gd name="connsiteX2" fmla="*/ 35725 w 38621"/>
                <a:gd name="connsiteY2" fmla="*/ 29288 h 32184"/>
              </a:gdLst>
              <a:ahLst/>
              <a:cxnLst>
                <a:cxn ang="0">
                  <a:pos x="connsiteX0" y="connsiteY0"/>
                </a:cxn>
                <a:cxn ang="0">
                  <a:pos x="connsiteX1" y="connsiteY1"/>
                </a:cxn>
                <a:cxn ang="0">
                  <a:pos x="connsiteX2" y="connsiteY2"/>
                </a:cxn>
              </a:cxnLst>
              <a:rect l="l" t="t" r="r" b="b"/>
              <a:pathLst>
                <a:path w="38621" h="32184">
                  <a:moveTo>
                    <a:pt x="4828" y="4828"/>
                  </a:moveTo>
                  <a:cubicBezTo>
                    <a:pt x="6437" y="10943"/>
                    <a:pt x="10621" y="17058"/>
                    <a:pt x="16414" y="21885"/>
                  </a:cubicBezTo>
                  <a:cubicBezTo>
                    <a:pt x="22529" y="26713"/>
                    <a:pt x="29288" y="28966"/>
                    <a:pt x="35725" y="29288"/>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5" name="Freeform: Shape 40">
              <a:extLst>
                <a:ext uri="{FF2B5EF4-FFF2-40B4-BE49-F238E27FC236}">
                  <a16:creationId xmlns:a16="http://schemas.microsoft.com/office/drawing/2014/main" id="{9425B87B-E904-0226-F867-8BC10E833232}"/>
                </a:ext>
              </a:extLst>
            </p:cNvPr>
            <p:cNvSpPr/>
            <p:nvPr/>
          </p:nvSpPr>
          <p:spPr>
            <a:xfrm>
              <a:off x="3980268" y="1729061"/>
              <a:ext cx="47549" cy="40234"/>
            </a:xfrm>
            <a:custGeom>
              <a:avLst/>
              <a:gdLst>
                <a:gd name="connsiteX0" fmla="*/ 37656 w 41839"/>
                <a:gd name="connsiteY0" fmla="*/ 30575 h 35402"/>
                <a:gd name="connsiteX1" fmla="*/ 25104 w 41839"/>
                <a:gd name="connsiteY1" fmla="*/ 12874 h 35402"/>
                <a:gd name="connsiteX2" fmla="*/ 4828 w 41839"/>
                <a:gd name="connsiteY2" fmla="*/ 4828 h 35402"/>
              </a:gdLst>
              <a:ahLst/>
              <a:cxnLst>
                <a:cxn ang="0">
                  <a:pos x="connsiteX0" y="connsiteY0"/>
                </a:cxn>
                <a:cxn ang="0">
                  <a:pos x="connsiteX1" y="connsiteY1"/>
                </a:cxn>
                <a:cxn ang="0">
                  <a:pos x="connsiteX2" y="connsiteY2"/>
                </a:cxn>
              </a:cxnLst>
              <a:rect l="l" t="t" r="r" b="b"/>
              <a:pathLst>
                <a:path w="41839" h="35402">
                  <a:moveTo>
                    <a:pt x="37656" y="30575"/>
                  </a:moveTo>
                  <a:cubicBezTo>
                    <a:pt x="35725" y="24138"/>
                    <a:pt x="31541" y="17701"/>
                    <a:pt x="25104" y="12874"/>
                  </a:cubicBezTo>
                  <a:cubicBezTo>
                    <a:pt x="18667" y="8046"/>
                    <a:pt x="11586" y="5150"/>
                    <a:pt x="4828" y="4828"/>
                  </a:cubicBez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6" name="Freeform: Shape 41">
              <a:extLst>
                <a:ext uri="{FF2B5EF4-FFF2-40B4-BE49-F238E27FC236}">
                  <a16:creationId xmlns:a16="http://schemas.microsoft.com/office/drawing/2014/main" id="{D39BE4E7-EF70-BEC8-DD10-A117873A92AE}"/>
                </a:ext>
              </a:extLst>
            </p:cNvPr>
            <p:cNvSpPr/>
            <p:nvPr/>
          </p:nvSpPr>
          <p:spPr>
            <a:xfrm>
              <a:off x="3820065" y="1633846"/>
              <a:ext cx="201167" cy="124358"/>
            </a:xfrm>
            <a:custGeom>
              <a:avLst/>
              <a:gdLst>
                <a:gd name="connsiteX0" fmla="*/ 145796 w 177014"/>
                <a:gd name="connsiteY0" fmla="*/ 88611 h 109427"/>
                <a:gd name="connsiteX1" fmla="*/ 115864 w 177014"/>
                <a:gd name="connsiteY1" fmla="*/ 107278 h 109427"/>
                <a:gd name="connsiteX2" fmla="*/ 81749 w 177014"/>
                <a:gd name="connsiteY2" fmla="*/ 80243 h 109427"/>
                <a:gd name="connsiteX3" fmla="*/ 93979 w 177014"/>
                <a:gd name="connsiteY3" fmla="*/ 39691 h 109427"/>
                <a:gd name="connsiteX4" fmla="*/ 8046 w 177014"/>
                <a:gd name="connsiteY4" fmla="*/ 44197 h 109427"/>
                <a:gd name="connsiteX5" fmla="*/ 4828 w 177014"/>
                <a:gd name="connsiteY5" fmla="*/ 34863 h 109427"/>
                <a:gd name="connsiteX6" fmla="*/ 127129 w 177014"/>
                <a:gd name="connsiteY6" fmla="*/ 15231 h 109427"/>
                <a:gd name="connsiteX7" fmla="*/ 174118 w 177014"/>
                <a:gd name="connsiteY7" fmla="*/ 52243 h 109427"/>
                <a:gd name="connsiteX8" fmla="*/ 145796 w 177014"/>
                <a:gd name="connsiteY8" fmla="*/ 88611 h 109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7014" h="109427">
                  <a:moveTo>
                    <a:pt x="145796" y="88611"/>
                  </a:moveTo>
                  <a:lnTo>
                    <a:pt x="115864" y="107278"/>
                  </a:lnTo>
                  <a:lnTo>
                    <a:pt x="81749" y="80243"/>
                  </a:lnTo>
                  <a:cubicBezTo>
                    <a:pt x="81749" y="80243"/>
                    <a:pt x="101703" y="50956"/>
                    <a:pt x="93979" y="39691"/>
                  </a:cubicBezTo>
                  <a:cubicBezTo>
                    <a:pt x="84001" y="25208"/>
                    <a:pt x="45702" y="29392"/>
                    <a:pt x="8046" y="44197"/>
                  </a:cubicBezTo>
                  <a:lnTo>
                    <a:pt x="4828" y="34863"/>
                  </a:lnTo>
                  <a:cubicBezTo>
                    <a:pt x="4828" y="34863"/>
                    <a:pt x="86898" y="-16632"/>
                    <a:pt x="127129" y="15231"/>
                  </a:cubicBezTo>
                  <a:lnTo>
                    <a:pt x="174118" y="52243"/>
                  </a:lnTo>
                  <a:lnTo>
                    <a:pt x="145796" y="88611"/>
                  </a:lnTo>
                </a:path>
              </a:pathLst>
            </a:custGeom>
            <a:noFill/>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7" name="Freeform: Shape 42">
              <a:extLst>
                <a:ext uri="{FF2B5EF4-FFF2-40B4-BE49-F238E27FC236}">
                  <a16:creationId xmlns:a16="http://schemas.microsoft.com/office/drawing/2014/main" id="{758EE332-7493-AE5C-E46A-A42EC3151446}"/>
                </a:ext>
              </a:extLst>
            </p:cNvPr>
            <p:cNvSpPr/>
            <p:nvPr/>
          </p:nvSpPr>
          <p:spPr>
            <a:xfrm>
              <a:off x="3877855" y="1757225"/>
              <a:ext cx="47549" cy="40234"/>
            </a:xfrm>
            <a:custGeom>
              <a:avLst/>
              <a:gdLst>
                <a:gd name="connsiteX0" fmla="*/ 4828 w 41839"/>
                <a:gd name="connsiteY0" fmla="*/ 4828 h 35402"/>
                <a:gd name="connsiteX1" fmla="*/ 38943 w 41839"/>
                <a:gd name="connsiteY1" fmla="*/ 31863 h 35402"/>
              </a:gdLst>
              <a:ahLst/>
              <a:cxnLst>
                <a:cxn ang="0">
                  <a:pos x="connsiteX0" y="connsiteY0"/>
                </a:cxn>
                <a:cxn ang="0">
                  <a:pos x="connsiteX1" y="connsiteY1"/>
                </a:cxn>
              </a:cxnLst>
              <a:rect l="l" t="t" r="r" b="b"/>
              <a:pathLst>
                <a:path w="41839" h="35402">
                  <a:moveTo>
                    <a:pt x="4828" y="4828"/>
                  </a:moveTo>
                  <a:lnTo>
                    <a:pt x="38943" y="31863"/>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8" name="Freeform: Shape 43">
              <a:extLst>
                <a:ext uri="{FF2B5EF4-FFF2-40B4-BE49-F238E27FC236}">
                  <a16:creationId xmlns:a16="http://schemas.microsoft.com/office/drawing/2014/main" id="{A0ADD313-619D-DF64-12A2-599A4C527E05}"/>
                </a:ext>
              </a:extLst>
            </p:cNvPr>
            <p:cNvSpPr/>
            <p:nvPr/>
          </p:nvSpPr>
          <p:spPr>
            <a:xfrm>
              <a:off x="3696804" y="1938642"/>
              <a:ext cx="76809" cy="98755"/>
            </a:xfrm>
            <a:custGeom>
              <a:avLst/>
              <a:gdLst>
                <a:gd name="connsiteX0" fmla="*/ 65334 w 67587"/>
                <a:gd name="connsiteY0" fmla="*/ 4828 h 86898"/>
                <a:gd name="connsiteX1" fmla="*/ 4828 w 67587"/>
                <a:gd name="connsiteY1" fmla="*/ 82070 h 86898"/>
              </a:gdLst>
              <a:ahLst/>
              <a:cxnLst>
                <a:cxn ang="0">
                  <a:pos x="connsiteX0" y="connsiteY0"/>
                </a:cxn>
                <a:cxn ang="0">
                  <a:pos x="connsiteX1" y="connsiteY1"/>
                </a:cxn>
              </a:cxnLst>
              <a:rect l="l" t="t" r="r" b="b"/>
              <a:pathLst>
                <a:path w="67587" h="86898">
                  <a:moveTo>
                    <a:pt x="65334" y="4828"/>
                  </a:moveTo>
                  <a:lnTo>
                    <a:pt x="4828" y="82070"/>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09" name="Freeform: Shape 44">
              <a:extLst>
                <a:ext uri="{FF2B5EF4-FFF2-40B4-BE49-F238E27FC236}">
                  <a16:creationId xmlns:a16="http://schemas.microsoft.com/office/drawing/2014/main" id="{73A08972-9B48-DDDE-616F-CE8480DE8C69}"/>
                </a:ext>
              </a:extLst>
            </p:cNvPr>
            <p:cNvSpPr/>
            <p:nvPr/>
          </p:nvSpPr>
          <p:spPr>
            <a:xfrm>
              <a:off x="3773614" y="1900969"/>
              <a:ext cx="29261" cy="36575"/>
            </a:xfrm>
            <a:custGeom>
              <a:avLst/>
              <a:gdLst>
                <a:gd name="connsiteX0" fmla="*/ 23816 w 25747"/>
                <a:gd name="connsiteY0" fmla="*/ 4828 h 32184"/>
                <a:gd name="connsiteX1" fmla="*/ 4828 w 25747"/>
                <a:gd name="connsiteY1" fmla="*/ 28966 h 32184"/>
              </a:gdLst>
              <a:ahLst/>
              <a:cxnLst>
                <a:cxn ang="0">
                  <a:pos x="connsiteX0" y="connsiteY0"/>
                </a:cxn>
                <a:cxn ang="0">
                  <a:pos x="connsiteX1" y="connsiteY1"/>
                </a:cxn>
              </a:cxnLst>
              <a:rect l="l" t="t" r="r" b="b"/>
              <a:pathLst>
                <a:path w="25747" h="32184">
                  <a:moveTo>
                    <a:pt x="23816" y="4828"/>
                  </a:moveTo>
                  <a:lnTo>
                    <a:pt x="4828" y="28966"/>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10" name="Freeform: Shape 45">
              <a:extLst>
                <a:ext uri="{FF2B5EF4-FFF2-40B4-BE49-F238E27FC236}">
                  <a16:creationId xmlns:a16="http://schemas.microsoft.com/office/drawing/2014/main" id="{F78292BC-A115-D18D-0337-851AED1BF32B}"/>
                </a:ext>
              </a:extLst>
            </p:cNvPr>
            <p:cNvSpPr/>
            <p:nvPr/>
          </p:nvSpPr>
          <p:spPr>
            <a:xfrm>
              <a:off x="3806167" y="1855615"/>
              <a:ext cx="32918" cy="40234"/>
            </a:xfrm>
            <a:custGeom>
              <a:avLst/>
              <a:gdLst>
                <a:gd name="connsiteX0" fmla="*/ 26391 w 28966"/>
                <a:gd name="connsiteY0" fmla="*/ 4828 h 35402"/>
                <a:gd name="connsiteX1" fmla="*/ 4828 w 28966"/>
                <a:gd name="connsiteY1" fmla="*/ 32506 h 35402"/>
              </a:gdLst>
              <a:ahLst/>
              <a:cxnLst>
                <a:cxn ang="0">
                  <a:pos x="connsiteX0" y="connsiteY0"/>
                </a:cxn>
                <a:cxn ang="0">
                  <a:pos x="connsiteX1" y="connsiteY1"/>
                </a:cxn>
              </a:cxnLst>
              <a:rect l="l" t="t" r="r" b="b"/>
              <a:pathLst>
                <a:path w="28966" h="35402">
                  <a:moveTo>
                    <a:pt x="26391" y="4828"/>
                  </a:moveTo>
                  <a:lnTo>
                    <a:pt x="4828" y="32506"/>
                  </a:lnTo>
                </a:path>
              </a:pathLst>
            </a:custGeom>
            <a:ln w="1905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211" name="Text Placeholder 11">
            <a:extLst>
              <a:ext uri="{FF2B5EF4-FFF2-40B4-BE49-F238E27FC236}">
                <a16:creationId xmlns:a16="http://schemas.microsoft.com/office/drawing/2014/main" id="{5C2947A8-B953-A5A9-C83D-7343FB85C946}"/>
              </a:ext>
            </a:extLst>
          </p:cNvPr>
          <p:cNvSpPr txBox="1">
            <a:spLocks/>
          </p:cNvSpPr>
          <p:nvPr/>
        </p:nvSpPr>
        <p:spPr>
          <a:xfrm>
            <a:off x="9172443" y="3848598"/>
            <a:ext cx="1910780" cy="307777"/>
          </a:xfrm>
          <a:prstGeom prst="rect">
            <a:avLst/>
          </a:prstGeom>
          <a:noFill/>
        </p:spPr>
        <p:txBody>
          <a:bodyPr wrap="square" lIns="9144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Amazon Ember Display Heavy" panose="020F0803020204020204" pitchFamily="34" charset="0"/>
                <a:cs typeface="Amazon Ember Display Heavy" panose="020F0803020204020204" pitchFamily="34" charset="0"/>
              </a:rPr>
              <a:t>Responsible AI</a:t>
            </a:r>
          </a:p>
        </p:txBody>
      </p:sp>
      <p:sp>
        <p:nvSpPr>
          <p:cNvPr id="212" name="Text Placeholder 11">
            <a:extLst>
              <a:ext uri="{FF2B5EF4-FFF2-40B4-BE49-F238E27FC236}">
                <a16:creationId xmlns:a16="http://schemas.microsoft.com/office/drawing/2014/main" id="{EDBA9B44-AA7C-3705-026A-65668FACC696}"/>
              </a:ext>
            </a:extLst>
          </p:cNvPr>
          <p:cNvSpPr txBox="1">
            <a:spLocks/>
          </p:cNvSpPr>
          <p:nvPr/>
        </p:nvSpPr>
        <p:spPr>
          <a:xfrm>
            <a:off x="8167782" y="5115517"/>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Harmfulness</a:t>
            </a:r>
          </a:p>
        </p:txBody>
      </p:sp>
      <p:sp>
        <p:nvSpPr>
          <p:cNvPr id="213" name="Text Placeholder 11">
            <a:extLst>
              <a:ext uri="{FF2B5EF4-FFF2-40B4-BE49-F238E27FC236}">
                <a16:creationId xmlns:a16="http://schemas.microsoft.com/office/drawing/2014/main" id="{023DE1A2-6C26-F8F6-82AD-BB69A4DD2CA0}"/>
              </a:ext>
            </a:extLst>
          </p:cNvPr>
          <p:cNvSpPr txBox="1">
            <a:spLocks/>
          </p:cNvSpPr>
          <p:nvPr/>
        </p:nvSpPr>
        <p:spPr>
          <a:xfrm>
            <a:off x="9425825" y="5098011"/>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Stereotyping</a:t>
            </a:r>
          </a:p>
        </p:txBody>
      </p:sp>
      <p:sp>
        <p:nvSpPr>
          <p:cNvPr id="214" name="Text Placeholder 11">
            <a:extLst>
              <a:ext uri="{FF2B5EF4-FFF2-40B4-BE49-F238E27FC236}">
                <a16:creationId xmlns:a16="http://schemas.microsoft.com/office/drawing/2014/main" id="{A1460FF0-7950-07AF-FBB0-2F851B4D8BBC}"/>
              </a:ext>
            </a:extLst>
          </p:cNvPr>
          <p:cNvSpPr txBox="1">
            <a:spLocks/>
          </p:cNvSpPr>
          <p:nvPr/>
        </p:nvSpPr>
        <p:spPr>
          <a:xfrm>
            <a:off x="10566462" y="5115470"/>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Refusal</a:t>
            </a:r>
          </a:p>
        </p:txBody>
      </p:sp>
      <p:grpSp>
        <p:nvGrpSpPr>
          <p:cNvPr id="215" name="Graphic 51">
            <a:extLst>
              <a:ext uri="{FF2B5EF4-FFF2-40B4-BE49-F238E27FC236}">
                <a16:creationId xmlns:a16="http://schemas.microsoft.com/office/drawing/2014/main" id="{64AC844C-33F3-6444-5E00-EEC5BE5FC3EE}"/>
              </a:ext>
            </a:extLst>
          </p:cNvPr>
          <p:cNvGrpSpPr/>
          <p:nvPr/>
        </p:nvGrpSpPr>
        <p:grpSpPr>
          <a:xfrm>
            <a:off x="5738214" y="4365296"/>
            <a:ext cx="438912" cy="438912"/>
            <a:chOff x="7855106" y="2798283"/>
            <a:chExt cx="762000" cy="762000"/>
          </a:xfrm>
        </p:grpSpPr>
        <p:sp>
          <p:nvSpPr>
            <p:cNvPr id="216" name="Freeform: Shape 54">
              <a:extLst>
                <a:ext uri="{FF2B5EF4-FFF2-40B4-BE49-F238E27FC236}">
                  <a16:creationId xmlns:a16="http://schemas.microsoft.com/office/drawing/2014/main" id="{93CA7153-782D-337D-8DCE-96E52A22961F}"/>
                </a:ext>
              </a:extLst>
            </p:cNvPr>
            <p:cNvSpPr/>
            <p:nvPr/>
          </p:nvSpPr>
          <p:spPr>
            <a:xfrm>
              <a:off x="7855106" y="2798283"/>
              <a:ext cx="762000" cy="762000"/>
            </a:xfrm>
            <a:custGeom>
              <a:avLst/>
              <a:gdLst>
                <a:gd name="connsiteX0" fmla="*/ 761498 w 762000"/>
                <a:gd name="connsiteY0" fmla="*/ 380566 h 762000"/>
                <a:gd name="connsiteX1" fmla="*/ 380498 w 762000"/>
                <a:gd name="connsiteY1" fmla="*/ 761566 h 762000"/>
                <a:gd name="connsiteX2" fmla="*/ -502 w 762000"/>
                <a:gd name="connsiteY2" fmla="*/ 380566 h 762000"/>
                <a:gd name="connsiteX3" fmla="*/ 380498 w 762000"/>
                <a:gd name="connsiteY3" fmla="*/ -434 h 762000"/>
                <a:gd name="connsiteX4" fmla="*/ 761498 w 762000"/>
                <a:gd name="connsiteY4" fmla="*/ 380566 h 76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 h="762000">
                  <a:moveTo>
                    <a:pt x="761498" y="380566"/>
                  </a:moveTo>
                  <a:cubicBezTo>
                    <a:pt x="761498" y="590983"/>
                    <a:pt x="590915" y="761566"/>
                    <a:pt x="380498" y="761566"/>
                  </a:cubicBezTo>
                  <a:cubicBezTo>
                    <a:pt x="170081" y="761566"/>
                    <a:pt x="-502" y="590983"/>
                    <a:pt x="-502" y="380566"/>
                  </a:cubicBezTo>
                  <a:cubicBezTo>
                    <a:pt x="-502" y="170149"/>
                    <a:pt x="170081" y="-434"/>
                    <a:pt x="380498" y="-434"/>
                  </a:cubicBezTo>
                  <a:cubicBezTo>
                    <a:pt x="590915" y="-434"/>
                    <a:pt x="761498" y="170149"/>
                    <a:pt x="761498" y="380566"/>
                  </a:cubicBezTo>
                  <a:close/>
                </a:path>
              </a:pathLst>
            </a:custGeom>
            <a:noFill/>
            <a:ln w="1905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17" name="Freeform: Shape 55">
              <a:extLst>
                <a:ext uri="{FF2B5EF4-FFF2-40B4-BE49-F238E27FC236}">
                  <a16:creationId xmlns:a16="http://schemas.microsoft.com/office/drawing/2014/main" id="{5485D3D2-97BC-0E20-26E3-32FD698AA5D4}"/>
                </a:ext>
              </a:extLst>
            </p:cNvPr>
            <p:cNvSpPr/>
            <p:nvPr/>
          </p:nvSpPr>
          <p:spPr>
            <a:xfrm>
              <a:off x="8345357" y="3046218"/>
              <a:ext cx="85344" cy="85439"/>
            </a:xfrm>
            <a:custGeom>
              <a:avLst/>
              <a:gdLst>
                <a:gd name="connsiteX0" fmla="*/ -502 w 85344"/>
                <a:gd name="connsiteY0" fmla="*/ 85005 h 85439"/>
                <a:gd name="connsiteX1" fmla="*/ 84842 w 85344"/>
                <a:gd name="connsiteY1" fmla="*/ -434 h 85439"/>
              </a:gdLst>
              <a:ahLst/>
              <a:cxnLst>
                <a:cxn ang="0">
                  <a:pos x="connsiteX0" y="connsiteY0"/>
                </a:cxn>
                <a:cxn ang="0">
                  <a:pos x="connsiteX1" y="connsiteY1"/>
                </a:cxn>
              </a:cxnLst>
              <a:rect l="l" t="t" r="r" b="b"/>
              <a:pathLst>
                <a:path w="85344" h="85439">
                  <a:moveTo>
                    <a:pt x="-502" y="85005"/>
                  </a:moveTo>
                  <a:lnTo>
                    <a:pt x="84842"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18" name="Freeform: Shape 56">
              <a:extLst>
                <a:ext uri="{FF2B5EF4-FFF2-40B4-BE49-F238E27FC236}">
                  <a16:creationId xmlns:a16="http://schemas.microsoft.com/office/drawing/2014/main" id="{C7B72DFC-DE13-C1E5-6843-3589C7EEB7A5}"/>
                </a:ext>
              </a:extLst>
            </p:cNvPr>
            <p:cNvSpPr/>
            <p:nvPr/>
          </p:nvSpPr>
          <p:spPr>
            <a:xfrm>
              <a:off x="8033890" y="3150708"/>
              <a:ext cx="292417" cy="177831"/>
            </a:xfrm>
            <a:custGeom>
              <a:avLst/>
              <a:gdLst>
                <a:gd name="connsiteX0" fmla="*/ -502 w 292417"/>
                <a:gd name="connsiteY0" fmla="*/ 62717 h 177831"/>
                <a:gd name="connsiteX1" fmla="*/ 114083 w 292417"/>
                <a:gd name="connsiteY1" fmla="*/ 177398 h 177831"/>
                <a:gd name="connsiteX2" fmla="*/ 291915 w 292417"/>
                <a:gd name="connsiteY2" fmla="*/ -434 h 177831"/>
              </a:gdLst>
              <a:ahLst/>
              <a:cxnLst>
                <a:cxn ang="0">
                  <a:pos x="connsiteX0" y="connsiteY0"/>
                </a:cxn>
                <a:cxn ang="0">
                  <a:pos x="connsiteX1" y="connsiteY1"/>
                </a:cxn>
                <a:cxn ang="0">
                  <a:pos x="connsiteX2" y="connsiteY2"/>
                </a:cxn>
              </a:cxnLst>
              <a:rect l="l" t="t" r="r" b="b"/>
              <a:pathLst>
                <a:path w="292417" h="177831">
                  <a:moveTo>
                    <a:pt x="-502" y="62717"/>
                  </a:moveTo>
                  <a:lnTo>
                    <a:pt x="114083" y="177398"/>
                  </a:lnTo>
                  <a:lnTo>
                    <a:pt x="291915" y="-434"/>
                  </a:lnTo>
                </a:path>
              </a:pathLst>
            </a:custGeom>
            <a:noFill/>
            <a:ln w="19050" cap="flat">
              <a:solidFill>
                <a:schemeClr val="accent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219" name="Text Placeholder 11">
            <a:extLst>
              <a:ext uri="{FF2B5EF4-FFF2-40B4-BE49-F238E27FC236}">
                <a16:creationId xmlns:a16="http://schemas.microsoft.com/office/drawing/2014/main" id="{8DE57106-BE3D-4CE1-A81C-11C0F1B44187}"/>
              </a:ext>
            </a:extLst>
          </p:cNvPr>
          <p:cNvSpPr txBox="1">
            <a:spLocks/>
          </p:cNvSpPr>
          <p:nvPr/>
        </p:nvSpPr>
        <p:spPr>
          <a:xfrm>
            <a:off x="3076563" y="3858960"/>
            <a:ext cx="2543184" cy="307777"/>
          </a:xfrm>
          <a:prstGeom prst="rect">
            <a:avLst/>
          </a:prstGeom>
          <a:noFill/>
        </p:spPr>
        <p:txBody>
          <a:bodyPr wrap="square" lIns="9144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Amazon Ember Display Heavy" panose="020F0803020204020204" pitchFamily="34" charset="0"/>
                <a:cs typeface="Amazon Ember Display Heavy" panose="020F0803020204020204" pitchFamily="34" charset="0"/>
              </a:rPr>
              <a:t>Retrieval &amp; Generation</a:t>
            </a:r>
          </a:p>
        </p:txBody>
      </p:sp>
      <p:sp>
        <p:nvSpPr>
          <p:cNvPr id="220" name="Text Placeholder 11">
            <a:extLst>
              <a:ext uri="{FF2B5EF4-FFF2-40B4-BE49-F238E27FC236}">
                <a16:creationId xmlns:a16="http://schemas.microsoft.com/office/drawing/2014/main" id="{93898833-2DE2-C066-BF0E-9AB8C4F8DDBE}"/>
              </a:ext>
            </a:extLst>
          </p:cNvPr>
          <p:cNvSpPr txBox="1">
            <a:spLocks/>
          </p:cNvSpPr>
          <p:nvPr/>
        </p:nvSpPr>
        <p:spPr>
          <a:xfrm>
            <a:off x="5239227" y="4957428"/>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Completeness </a:t>
            </a:r>
          </a:p>
        </p:txBody>
      </p:sp>
      <p:sp>
        <p:nvSpPr>
          <p:cNvPr id="221" name="Text Placeholder 11">
            <a:extLst>
              <a:ext uri="{FF2B5EF4-FFF2-40B4-BE49-F238E27FC236}">
                <a16:creationId xmlns:a16="http://schemas.microsoft.com/office/drawing/2014/main" id="{5161DA25-8F3B-DEEE-751A-E62E9AC6AA86}"/>
              </a:ext>
            </a:extLst>
          </p:cNvPr>
          <p:cNvSpPr txBox="1">
            <a:spLocks/>
          </p:cNvSpPr>
          <p:nvPr/>
        </p:nvSpPr>
        <p:spPr>
          <a:xfrm>
            <a:off x="6634800" y="4957428"/>
            <a:ext cx="1196946"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Helpfulness</a:t>
            </a:r>
          </a:p>
        </p:txBody>
      </p:sp>
      <p:sp>
        <p:nvSpPr>
          <p:cNvPr id="222" name="Text Placeholder 11">
            <a:extLst>
              <a:ext uri="{FF2B5EF4-FFF2-40B4-BE49-F238E27FC236}">
                <a16:creationId xmlns:a16="http://schemas.microsoft.com/office/drawing/2014/main" id="{CCECC16E-97CF-7F73-93F1-8249BFBB4DBA}"/>
              </a:ext>
            </a:extLst>
          </p:cNvPr>
          <p:cNvSpPr txBox="1">
            <a:spLocks/>
          </p:cNvSpPr>
          <p:nvPr/>
        </p:nvSpPr>
        <p:spPr>
          <a:xfrm>
            <a:off x="4355711" y="5992683"/>
            <a:ext cx="156348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Logical coherence</a:t>
            </a:r>
          </a:p>
        </p:txBody>
      </p:sp>
      <p:sp>
        <p:nvSpPr>
          <p:cNvPr id="223" name="Text Placeholder 11">
            <a:extLst>
              <a:ext uri="{FF2B5EF4-FFF2-40B4-BE49-F238E27FC236}">
                <a16:creationId xmlns:a16="http://schemas.microsoft.com/office/drawing/2014/main" id="{F3A68D2E-4A29-D2E2-1D30-33368D02AFC3}"/>
              </a:ext>
            </a:extLst>
          </p:cNvPr>
          <p:cNvSpPr txBox="1">
            <a:spLocks/>
          </p:cNvSpPr>
          <p:nvPr/>
        </p:nvSpPr>
        <p:spPr>
          <a:xfrm>
            <a:off x="5932791" y="5998958"/>
            <a:ext cx="1404017"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Faithfulness</a:t>
            </a:r>
          </a:p>
        </p:txBody>
      </p:sp>
      <p:sp>
        <p:nvSpPr>
          <p:cNvPr id="224" name="Text Placeholder 11">
            <a:extLst>
              <a:ext uri="{FF2B5EF4-FFF2-40B4-BE49-F238E27FC236}">
                <a16:creationId xmlns:a16="http://schemas.microsoft.com/office/drawing/2014/main" id="{3D9B69DF-E503-D60A-7E08-9907C992D859}"/>
              </a:ext>
            </a:extLst>
          </p:cNvPr>
          <p:cNvSpPr txBox="1">
            <a:spLocks/>
          </p:cNvSpPr>
          <p:nvPr/>
        </p:nvSpPr>
        <p:spPr>
          <a:xfrm>
            <a:off x="3902228" y="4905913"/>
            <a:ext cx="1404269"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Correctness </a:t>
            </a:r>
          </a:p>
        </p:txBody>
      </p:sp>
      <p:grpSp>
        <p:nvGrpSpPr>
          <p:cNvPr id="225" name="Group 224">
            <a:extLst>
              <a:ext uri="{FF2B5EF4-FFF2-40B4-BE49-F238E27FC236}">
                <a16:creationId xmlns:a16="http://schemas.microsoft.com/office/drawing/2014/main" id="{475A0A23-F9F5-35ED-654D-A1D91C88B33E}"/>
              </a:ext>
            </a:extLst>
          </p:cNvPr>
          <p:cNvGrpSpPr>
            <a:grpSpLocks/>
          </p:cNvGrpSpPr>
          <p:nvPr/>
        </p:nvGrpSpPr>
        <p:grpSpPr>
          <a:xfrm>
            <a:off x="1081353" y="4327834"/>
            <a:ext cx="438912" cy="438126"/>
            <a:chOff x="912605" y="3132555"/>
            <a:chExt cx="313508" cy="385164"/>
          </a:xfrm>
        </p:grpSpPr>
        <p:sp>
          <p:nvSpPr>
            <p:cNvPr id="226" name="Freeform: Shape 39">
              <a:extLst>
                <a:ext uri="{FF2B5EF4-FFF2-40B4-BE49-F238E27FC236}">
                  <a16:creationId xmlns:a16="http://schemas.microsoft.com/office/drawing/2014/main" id="{0673AFE9-0D0C-9F29-E91A-2A76DBB6AFAC}"/>
                </a:ext>
              </a:extLst>
            </p:cNvPr>
            <p:cNvSpPr/>
            <p:nvPr/>
          </p:nvSpPr>
          <p:spPr>
            <a:xfrm>
              <a:off x="934998" y="3132555"/>
              <a:ext cx="291115" cy="380686"/>
            </a:xfrm>
            <a:custGeom>
              <a:avLst/>
              <a:gdLst>
                <a:gd name="connsiteX0" fmla="*/ 0 w 269673"/>
                <a:gd name="connsiteY0" fmla="*/ 29042 h 352649"/>
                <a:gd name="connsiteX1" fmla="*/ 0 w 269673"/>
                <a:gd name="connsiteY1" fmla="*/ 0 h 352649"/>
                <a:gd name="connsiteX2" fmla="*/ 269673 w 269673"/>
                <a:gd name="connsiteY2" fmla="*/ 0 h 352649"/>
                <a:gd name="connsiteX3" fmla="*/ 269673 w 269673"/>
                <a:gd name="connsiteY3" fmla="*/ 352650 h 352649"/>
                <a:gd name="connsiteX4" fmla="*/ 224036 w 269673"/>
                <a:gd name="connsiteY4" fmla="*/ 352650 h 3526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673" h="352649">
                  <a:moveTo>
                    <a:pt x="0" y="29042"/>
                  </a:moveTo>
                  <a:lnTo>
                    <a:pt x="0" y="0"/>
                  </a:lnTo>
                  <a:lnTo>
                    <a:pt x="269673" y="0"/>
                  </a:lnTo>
                  <a:lnTo>
                    <a:pt x="269673" y="352650"/>
                  </a:lnTo>
                  <a:lnTo>
                    <a:pt x="224036" y="352650"/>
                  </a:ln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27" name="Freeform: Shape 40">
              <a:extLst>
                <a:ext uri="{FF2B5EF4-FFF2-40B4-BE49-F238E27FC236}">
                  <a16:creationId xmlns:a16="http://schemas.microsoft.com/office/drawing/2014/main" id="{8AE6EB40-1788-CB2A-BA6C-BBAF07E299AB}"/>
                </a:ext>
              </a:extLst>
            </p:cNvPr>
            <p:cNvSpPr/>
            <p:nvPr/>
          </p:nvSpPr>
          <p:spPr>
            <a:xfrm>
              <a:off x="934998" y="3172863"/>
              <a:ext cx="4478" cy="40308"/>
            </a:xfrm>
            <a:custGeom>
              <a:avLst/>
              <a:gdLst>
                <a:gd name="connsiteX0" fmla="*/ 0 w 4148"/>
                <a:gd name="connsiteY0" fmla="*/ 37339 h 37339"/>
                <a:gd name="connsiteX1" fmla="*/ 0 w 4148"/>
                <a:gd name="connsiteY1" fmla="*/ 0 h 37339"/>
              </a:gdLst>
              <a:ahLst/>
              <a:cxnLst>
                <a:cxn ang="0">
                  <a:pos x="connsiteX0" y="connsiteY0"/>
                </a:cxn>
                <a:cxn ang="0">
                  <a:pos x="connsiteX1" y="connsiteY1"/>
                </a:cxn>
              </a:cxnLst>
              <a:rect l="l" t="t" r="r" b="b"/>
              <a:pathLst>
                <a:path w="4148" h="37339">
                  <a:moveTo>
                    <a:pt x="0" y="37339"/>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28" name="Freeform: Shape 41">
              <a:extLst>
                <a:ext uri="{FF2B5EF4-FFF2-40B4-BE49-F238E27FC236}">
                  <a16:creationId xmlns:a16="http://schemas.microsoft.com/office/drawing/2014/main" id="{0CA839B6-4252-58EC-D4EA-F65C576FD961}"/>
                </a:ext>
              </a:extLst>
            </p:cNvPr>
            <p:cNvSpPr/>
            <p:nvPr/>
          </p:nvSpPr>
          <p:spPr>
            <a:xfrm>
              <a:off x="1141018" y="3513241"/>
              <a:ext cx="26871" cy="4478"/>
            </a:xfrm>
            <a:custGeom>
              <a:avLst/>
              <a:gdLst>
                <a:gd name="connsiteX0" fmla="*/ 24893 w 24892"/>
                <a:gd name="connsiteY0" fmla="*/ 0 h 4148"/>
                <a:gd name="connsiteX1" fmla="*/ 0 w 24892"/>
                <a:gd name="connsiteY1" fmla="*/ 0 h 4148"/>
              </a:gdLst>
              <a:ahLst/>
              <a:cxnLst>
                <a:cxn ang="0">
                  <a:pos x="connsiteX0" y="connsiteY0"/>
                </a:cxn>
                <a:cxn ang="0">
                  <a:pos x="connsiteX1" y="connsiteY1"/>
                </a:cxn>
              </a:cxnLst>
              <a:rect l="l" t="t" r="r" b="b"/>
              <a:pathLst>
                <a:path w="24892" h="4148">
                  <a:moveTo>
                    <a:pt x="24893" y="0"/>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29" name="Freeform: Shape 42">
              <a:extLst>
                <a:ext uri="{FF2B5EF4-FFF2-40B4-BE49-F238E27FC236}">
                  <a16:creationId xmlns:a16="http://schemas.microsoft.com/office/drawing/2014/main" id="{7CCAB19A-BC82-47EF-C3B7-E61042C9089A}"/>
                </a:ext>
              </a:extLst>
            </p:cNvPr>
            <p:cNvSpPr/>
            <p:nvPr/>
          </p:nvSpPr>
          <p:spPr>
            <a:xfrm>
              <a:off x="939477" y="3168384"/>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0" name="Freeform: Shape 43">
              <a:extLst>
                <a:ext uri="{FF2B5EF4-FFF2-40B4-BE49-F238E27FC236}">
                  <a16:creationId xmlns:a16="http://schemas.microsoft.com/office/drawing/2014/main" id="{AE0C2E8D-9F9C-08E1-3C28-D6C70578A026}"/>
                </a:ext>
              </a:extLst>
            </p:cNvPr>
            <p:cNvSpPr/>
            <p:nvPr/>
          </p:nvSpPr>
          <p:spPr>
            <a:xfrm>
              <a:off x="912605" y="3168384"/>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1" name="Freeform: Shape 44">
              <a:extLst>
                <a:ext uri="{FF2B5EF4-FFF2-40B4-BE49-F238E27FC236}">
                  <a16:creationId xmlns:a16="http://schemas.microsoft.com/office/drawing/2014/main" id="{DFDAE2ED-4D56-4E6A-2E18-88869140C008}"/>
                </a:ext>
              </a:extLst>
            </p:cNvPr>
            <p:cNvSpPr/>
            <p:nvPr/>
          </p:nvSpPr>
          <p:spPr>
            <a:xfrm>
              <a:off x="939477" y="3217649"/>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2" name="Freeform: Shape 45">
              <a:extLst>
                <a:ext uri="{FF2B5EF4-FFF2-40B4-BE49-F238E27FC236}">
                  <a16:creationId xmlns:a16="http://schemas.microsoft.com/office/drawing/2014/main" id="{C2322AFC-D7B1-EA0B-10AF-CB57D8808256}"/>
                </a:ext>
              </a:extLst>
            </p:cNvPr>
            <p:cNvSpPr/>
            <p:nvPr/>
          </p:nvSpPr>
          <p:spPr>
            <a:xfrm>
              <a:off x="912605" y="3217649"/>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3" name="Freeform: Shape 46">
              <a:extLst>
                <a:ext uri="{FF2B5EF4-FFF2-40B4-BE49-F238E27FC236}">
                  <a16:creationId xmlns:a16="http://schemas.microsoft.com/office/drawing/2014/main" id="{BA24EBEC-4A6A-AA94-DA61-1BED2148DECA}"/>
                </a:ext>
              </a:extLst>
            </p:cNvPr>
            <p:cNvSpPr/>
            <p:nvPr/>
          </p:nvSpPr>
          <p:spPr>
            <a:xfrm>
              <a:off x="934998" y="3222128"/>
              <a:ext cx="4478" cy="44786"/>
            </a:xfrm>
            <a:custGeom>
              <a:avLst/>
              <a:gdLst>
                <a:gd name="connsiteX0" fmla="*/ 0 w 4148"/>
                <a:gd name="connsiteY0" fmla="*/ 41488 h 41488"/>
                <a:gd name="connsiteX1" fmla="*/ 0 w 4148"/>
                <a:gd name="connsiteY1" fmla="*/ 0 h 41488"/>
              </a:gdLst>
              <a:ahLst/>
              <a:cxnLst>
                <a:cxn ang="0">
                  <a:pos x="connsiteX0" y="connsiteY0"/>
                </a:cxn>
                <a:cxn ang="0">
                  <a:pos x="connsiteX1" y="connsiteY1"/>
                </a:cxn>
              </a:cxnLst>
              <a:rect l="l" t="t" r="r" b="b"/>
              <a:pathLst>
                <a:path w="4148" h="41488">
                  <a:moveTo>
                    <a:pt x="0" y="41488"/>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4" name="Freeform: Shape 47">
              <a:extLst>
                <a:ext uri="{FF2B5EF4-FFF2-40B4-BE49-F238E27FC236}">
                  <a16:creationId xmlns:a16="http://schemas.microsoft.com/office/drawing/2014/main" id="{EE0B6A65-9DBD-5459-82B0-AC8E506172BA}"/>
                </a:ext>
              </a:extLst>
            </p:cNvPr>
            <p:cNvSpPr/>
            <p:nvPr/>
          </p:nvSpPr>
          <p:spPr>
            <a:xfrm>
              <a:off x="939477" y="3271393"/>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5" name="Freeform: Shape 48">
              <a:extLst>
                <a:ext uri="{FF2B5EF4-FFF2-40B4-BE49-F238E27FC236}">
                  <a16:creationId xmlns:a16="http://schemas.microsoft.com/office/drawing/2014/main" id="{0C7C945C-02B2-0450-CEFB-799E1F25694A}"/>
                </a:ext>
              </a:extLst>
            </p:cNvPr>
            <p:cNvSpPr/>
            <p:nvPr/>
          </p:nvSpPr>
          <p:spPr>
            <a:xfrm>
              <a:off x="912605" y="3271393"/>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6" name="Freeform: Shape 49">
              <a:extLst>
                <a:ext uri="{FF2B5EF4-FFF2-40B4-BE49-F238E27FC236}">
                  <a16:creationId xmlns:a16="http://schemas.microsoft.com/office/drawing/2014/main" id="{9E35C6FB-A7FC-29B2-4675-9D8A410F43D1}"/>
                </a:ext>
              </a:extLst>
            </p:cNvPr>
            <p:cNvSpPr/>
            <p:nvPr/>
          </p:nvSpPr>
          <p:spPr>
            <a:xfrm>
              <a:off x="934998" y="3275872"/>
              <a:ext cx="4478" cy="40308"/>
            </a:xfrm>
            <a:custGeom>
              <a:avLst/>
              <a:gdLst>
                <a:gd name="connsiteX0" fmla="*/ 0 w 4148"/>
                <a:gd name="connsiteY0" fmla="*/ 37339 h 37339"/>
                <a:gd name="connsiteX1" fmla="*/ 0 w 4148"/>
                <a:gd name="connsiteY1" fmla="*/ 0 h 37339"/>
              </a:gdLst>
              <a:ahLst/>
              <a:cxnLst>
                <a:cxn ang="0">
                  <a:pos x="connsiteX0" y="connsiteY0"/>
                </a:cxn>
                <a:cxn ang="0">
                  <a:pos x="connsiteX1" y="connsiteY1"/>
                </a:cxn>
              </a:cxnLst>
              <a:rect l="l" t="t" r="r" b="b"/>
              <a:pathLst>
                <a:path w="4148" h="37339">
                  <a:moveTo>
                    <a:pt x="0" y="37339"/>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7" name="Freeform: Shape 50">
              <a:extLst>
                <a:ext uri="{FF2B5EF4-FFF2-40B4-BE49-F238E27FC236}">
                  <a16:creationId xmlns:a16="http://schemas.microsoft.com/office/drawing/2014/main" id="{5082628A-B839-3D1F-753F-DC6029E3C272}"/>
                </a:ext>
              </a:extLst>
            </p:cNvPr>
            <p:cNvSpPr/>
            <p:nvPr/>
          </p:nvSpPr>
          <p:spPr>
            <a:xfrm>
              <a:off x="939477" y="3320659"/>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8" name="Freeform: Shape 51">
              <a:extLst>
                <a:ext uri="{FF2B5EF4-FFF2-40B4-BE49-F238E27FC236}">
                  <a16:creationId xmlns:a16="http://schemas.microsoft.com/office/drawing/2014/main" id="{F3A53103-F5B4-9EFD-5A48-DFA800CD73CF}"/>
                </a:ext>
              </a:extLst>
            </p:cNvPr>
            <p:cNvSpPr/>
            <p:nvPr/>
          </p:nvSpPr>
          <p:spPr>
            <a:xfrm>
              <a:off x="912605" y="3320659"/>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39" name="Freeform: Shape 52">
              <a:extLst>
                <a:ext uri="{FF2B5EF4-FFF2-40B4-BE49-F238E27FC236}">
                  <a16:creationId xmlns:a16="http://schemas.microsoft.com/office/drawing/2014/main" id="{6C8F1117-FE6F-997C-B154-7AD3DD5CF91E}"/>
                </a:ext>
              </a:extLst>
            </p:cNvPr>
            <p:cNvSpPr/>
            <p:nvPr/>
          </p:nvSpPr>
          <p:spPr>
            <a:xfrm>
              <a:off x="934998" y="3325138"/>
              <a:ext cx="4478" cy="44786"/>
            </a:xfrm>
            <a:custGeom>
              <a:avLst/>
              <a:gdLst>
                <a:gd name="connsiteX0" fmla="*/ 0 w 4148"/>
                <a:gd name="connsiteY0" fmla="*/ 41488 h 41488"/>
                <a:gd name="connsiteX1" fmla="*/ 0 w 4148"/>
                <a:gd name="connsiteY1" fmla="*/ 0 h 41488"/>
              </a:gdLst>
              <a:ahLst/>
              <a:cxnLst>
                <a:cxn ang="0">
                  <a:pos x="connsiteX0" y="connsiteY0"/>
                </a:cxn>
                <a:cxn ang="0">
                  <a:pos x="connsiteX1" y="connsiteY1"/>
                </a:cxn>
              </a:cxnLst>
              <a:rect l="l" t="t" r="r" b="b"/>
              <a:pathLst>
                <a:path w="4148" h="41488">
                  <a:moveTo>
                    <a:pt x="0" y="41488"/>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0" name="Freeform: Shape 53">
              <a:extLst>
                <a:ext uri="{FF2B5EF4-FFF2-40B4-BE49-F238E27FC236}">
                  <a16:creationId xmlns:a16="http://schemas.microsoft.com/office/drawing/2014/main" id="{5C5C44EB-3BF5-5AD9-61D1-BA1162890560}"/>
                </a:ext>
              </a:extLst>
            </p:cNvPr>
            <p:cNvSpPr/>
            <p:nvPr/>
          </p:nvSpPr>
          <p:spPr>
            <a:xfrm>
              <a:off x="939477" y="3374403"/>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1" name="Freeform: Shape 54">
              <a:extLst>
                <a:ext uri="{FF2B5EF4-FFF2-40B4-BE49-F238E27FC236}">
                  <a16:creationId xmlns:a16="http://schemas.microsoft.com/office/drawing/2014/main" id="{A3F91165-97A2-AD7E-67BD-F135C131C3FD}"/>
                </a:ext>
              </a:extLst>
            </p:cNvPr>
            <p:cNvSpPr/>
            <p:nvPr/>
          </p:nvSpPr>
          <p:spPr>
            <a:xfrm>
              <a:off x="912605" y="3374403"/>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2" name="Freeform: Shape 55">
              <a:extLst>
                <a:ext uri="{FF2B5EF4-FFF2-40B4-BE49-F238E27FC236}">
                  <a16:creationId xmlns:a16="http://schemas.microsoft.com/office/drawing/2014/main" id="{E26DF600-F01F-DDDE-3E48-56C29EBB6961}"/>
                </a:ext>
              </a:extLst>
            </p:cNvPr>
            <p:cNvSpPr/>
            <p:nvPr/>
          </p:nvSpPr>
          <p:spPr>
            <a:xfrm>
              <a:off x="934998" y="3378882"/>
              <a:ext cx="4478" cy="40308"/>
            </a:xfrm>
            <a:custGeom>
              <a:avLst/>
              <a:gdLst>
                <a:gd name="connsiteX0" fmla="*/ 0 w 4148"/>
                <a:gd name="connsiteY0" fmla="*/ 37339 h 37339"/>
                <a:gd name="connsiteX1" fmla="*/ 0 w 4148"/>
                <a:gd name="connsiteY1" fmla="*/ 0 h 37339"/>
              </a:gdLst>
              <a:ahLst/>
              <a:cxnLst>
                <a:cxn ang="0">
                  <a:pos x="connsiteX0" y="connsiteY0"/>
                </a:cxn>
                <a:cxn ang="0">
                  <a:pos x="connsiteX1" y="connsiteY1"/>
                </a:cxn>
              </a:cxnLst>
              <a:rect l="l" t="t" r="r" b="b"/>
              <a:pathLst>
                <a:path w="4148" h="37339">
                  <a:moveTo>
                    <a:pt x="0" y="37339"/>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3" name="Freeform: Shape 56">
              <a:extLst>
                <a:ext uri="{FF2B5EF4-FFF2-40B4-BE49-F238E27FC236}">
                  <a16:creationId xmlns:a16="http://schemas.microsoft.com/office/drawing/2014/main" id="{3A231208-4B0D-025E-E797-7B6EBA7EACD3}"/>
                </a:ext>
              </a:extLst>
            </p:cNvPr>
            <p:cNvSpPr/>
            <p:nvPr/>
          </p:nvSpPr>
          <p:spPr>
            <a:xfrm>
              <a:off x="939477" y="3423668"/>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4" name="Freeform: Shape 57">
              <a:extLst>
                <a:ext uri="{FF2B5EF4-FFF2-40B4-BE49-F238E27FC236}">
                  <a16:creationId xmlns:a16="http://schemas.microsoft.com/office/drawing/2014/main" id="{CB2882D5-E19B-E066-F51F-CB178D064967}"/>
                </a:ext>
              </a:extLst>
            </p:cNvPr>
            <p:cNvSpPr/>
            <p:nvPr/>
          </p:nvSpPr>
          <p:spPr>
            <a:xfrm>
              <a:off x="912605" y="3423668"/>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5" name="Freeform: Shape 58">
              <a:extLst>
                <a:ext uri="{FF2B5EF4-FFF2-40B4-BE49-F238E27FC236}">
                  <a16:creationId xmlns:a16="http://schemas.microsoft.com/office/drawing/2014/main" id="{4E39820A-6F97-6248-686C-46780147B524}"/>
                </a:ext>
              </a:extLst>
            </p:cNvPr>
            <p:cNvSpPr/>
            <p:nvPr/>
          </p:nvSpPr>
          <p:spPr>
            <a:xfrm>
              <a:off x="934998" y="3428147"/>
              <a:ext cx="4478" cy="44786"/>
            </a:xfrm>
            <a:custGeom>
              <a:avLst/>
              <a:gdLst>
                <a:gd name="connsiteX0" fmla="*/ 0 w 4148"/>
                <a:gd name="connsiteY0" fmla="*/ 41488 h 41488"/>
                <a:gd name="connsiteX1" fmla="*/ 0 w 4148"/>
                <a:gd name="connsiteY1" fmla="*/ 0 h 41488"/>
              </a:gdLst>
              <a:ahLst/>
              <a:cxnLst>
                <a:cxn ang="0">
                  <a:pos x="connsiteX0" y="connsiteY0"/>
                </a:cxn>
                <a:cxn ang="0">
                  <a:pos x="connsiteX1" y="connsiteY1"/>
                </a:cxn>
              </a:cxnLst>
              <a:rect l="l" t="t" r="r" b="b"/>
              <a:pathLst>
                <a:path w="4148" h="41488">
                  <a:moveTo>
                    <a:pt x="0" y="41488"/>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6" name="Freeform: Shape 59">
              <a:extLst>
                <a:ext uri="{FF2B5EF4-FFF2-40B4-BE49-F238E27FC236}">
                  <a16:creationId xmlns:a16="http://schemas.microsoft.com/office/drawing/2014/main" id="{A8DDA837-8EB8-C81A-38FC-F20A48BCDDA7}"/>
                </a:ext>
              </a:extLst>
            </p:cNvPr>
            <p:cNvSpPr/>
            <p:nvPr/>
          </p:nvSpPr>
          <p:spPr>
            <a:xfrm>
              <a:off x="939477" y="3477412"/>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7" name="Freeform: Shape 60">
              <a:extLst>
                <a:ext uri="{FF2B5EF4-FFF2-40B4-BE49-F238E27FC236}">
                  <a16:creationId xmlns:a16="http://schemas.microsoft.com/office/drawing/2014/main" id="{EADE65F9-E590-D8FF-075E-44E365B180DC}"/>
                </a:ext>
              </a:extLst>
            </p:cNvPr>
            <p:cNvSpPr/>
            <p:nvPr/>
          </p:nvSpPr>
          <p:spPr>
            <a:xfrm>
              <a:off x="912605" y="3477412"/>
              <a:ext cx="17914" cy="4478"/>
            </a:xfrm>
            <a:custGeom>
              <a:avLst/>
              <a:gdLst>
                <a:gd name="connsiteX0" fmla="*/ 0 w 16595"/>
                <a:gd name="connsiteY0" fmla="*/ 0 h 4148"/>
                <a:gd name="connsiteX1" fmla="*/ 16595 w 16595"/>
                <a:gd name="connsiteY1" fmla="*/ 0 h 4148"/>
              </a:gdLst>
              <a:ahLst/>
              <a:cxnLst>
                <a:cxn ang="0">
                  <a:pos x="connsiteX0" y="connsiteY0"/>
                </a:cxn>
                <a:cxn ang="0">
                  <a:pos x="connsiteX1" y="connsiteY1"/>
                </a:cxn>
              </a:cxnLst>
              <a:rect l="l" t="t" r="r" b="b"/>
              <a:pathLst>
                <a:path w="16595" h="4148">
                  <a:moveTo>
                    <a:pt x="0" y="0"/>
                  </a:moveTo>
                  <a:lnTo>
                    <a:pt x="1659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8" name="Freeform: Shape 61">
              <a:extLst>
                <a:ext uri="{FF2B5EF4-FFF2-40B4-BE49-F238E27FC236}">
                  <a16:creationId xmlns:a16="http://schemas.microsoft.com/office/drawing/2014/main" id="{0C8DF8E3-319F-CF99-1D41-5280E647C52B}"/>
                </a:ext>
              </a:extLst>
            </p:cNvPr>
            <p:cNvSpPr/>
            <p:nvPr/>
          </p:nvSpPr>
          <p:spPr>
            <a:xfrm>
              <a:off x="934998" y="3481891"/>
              <a:ext cx="192583" cy="31350"/>
            </a:xfrm>
            <a:custGeom>
              <a:avLst/>
              <a:gdLst>
                <a:gd name="connsiteX0" fmla="*/ 178399 w 178399"/>
                <a:gd name="connsiteY0" fmla="*/ 29042 h 29041"/>
                <a:gd name="connsiteX1" fmla="*/ 0 w 178399"/>
                <a:gd name="connsiteY1" fmla="*/ 29042 h 29041"/>
                <a:gd name="connsiteX2" fmla="*/ 0 w 178399"/>
                <a:gd name="connsiteY2" fmla="*/ 0 h 29041"/>
              </a:gdLst>
              <a:ahLst/>
              <a:cxnLst>
                <a:cxn ang="0">
                  <a:pos x="connsiteX0" y="connsiteY0"/>
                </a:cxn>
                <a:cxn ang="0">
                  <a:pos x="connsiteX1" y="connsiteY1"/>
                </a:cxn>
                <a:cxn ang="0">
                  <a:pos x="connsiteX2" y="connsiteY2"/>
                </a:cxn>
              </a:cxnLst>
              <a:rect l="l" t="t" r="r" b="b"/>
              <a:pathLst>
                <a:path w="178399" h="29041">
                  <a:moveTo>
                    <a:pt x="178399" y="29042"/>
                  </a:moveTo>
                  <a:lnTo>
                    <a:pt x="0" y="29042"/>
                  </a:lnTo>
                  <a:lnTo>
                    <a:pt x="0" y="0"/>
                  </a:ln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49" name="Freeform: Shape 62">
              <a:extLst>
                <a:ext uri="{FF2B5EF4-FFF2-40B4-BE49-F238E27FC236}">
                  <a16:creationId xmlns:a16="http://schemas.microsoft.com/office/drawing/2014/main" id="{B826EC8C-FF14-3A7B-150C-494969133797}"/>
                </a:ext>
              </a:extLst>
            </p:cNvPr>
            <p:cNvSpPr/>
            <p:nvPr/>
          </p:nvSpPr>
          <p:spPr>
            <a:xfrm>
              <a:off x="988743" y="3137033"/>
              <a:ext cx="4478" cy="371730"/>
            </a:xfrm>
            <a:custGeom>
              <a:avLst/>
              <a:gdLst>
                <a:gd name="connsiteX0" fmla="*/ 0 w 4148"/>
                <a:gd name="connsiteY0" fmla="*/ 0 h 344352"/>
                <a:gd name="connsiteX1" fmla="*/ 0 w 4148"/>
                <a:gd name="connsiteY1" fmla="*/ 344352 h 344352"/>
              </a:gdLst>
              <a:ahLst/>
              <a:cxnLst>
                <a:cxn ang="0">
                  <a:pos x="connsiteX0" y="connsiteY0"/>
                </a:cxn>
                <a:cxn ang="0">
                  <a:pos x="connsiteX1" y="connsiteY1"/>
                </a:cxn>
              </a:cxnLst>
              <a:rect l="l" t="t" r="r" b="b"/>
              <a:pathLst>
                <a:path w="4148" h="344352">
                  <a:moveTo>
                    <a:pt x="0" y="0"/>
                  </a:moveTo>
                  <a:lnTo>
                    <a:pt x="0" y="344352"/>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0" name="Freeform: Shape 63">
              <a:extLst>
                <a:ext uri="{FF2B5EF4-FFF2-40B4-BE49-F238E27FC236}">
                  <a16:creationId xmlns:a16="http://schemas.microsoft.com/office/drawing/2014/main" id="{A587F16F-A293-4F93-2332-1D816FD9597A}"/>
                </a:ext>
              </a:extLst>
            </p:cNvPr>
            <p:cNvSpPr/>
            <p:nvPr/>
          </p:nvSpPr>
          <p:spPr>
            <a:xfrm>
              <a:off x="1029051" y="3186298"/>
              <a:ext cx="152275" cy="53743"/>
            </a:xfrm>
            <a:custGeom>
              <a:avLst/>
              <a:gdLst>
                <a:gd name="connsiteX0" fmla="*/ 66381 w 141059"/>
                <a:gd name="connsiteY0" fmla="*/ 49786 h 49785"/>
                <a:gd name="connsiteX1" fmla="*/ 0 w 141059"/>
                <a:gd name="connsiteY1" fmla="*/ 49786 h 49785"/>
                <a:gd name="connsiteX2" fmla="*/ 0 w 141059"/>
                <a:gd name="connsiteY2" fmla="*/ 0 h 49785"/>
                <a:gd name="connsiteX3" fmla="*/ 141060 w 141059"/>
                <a:gd name="connsiteY3" fmla="*/ 0 h 49785"/>
                <a:gd name="connsiteX4" fmla="*/ 141060 w 141059"/>
                <a:gd name="connsiteY4" fmla="*/ 49786 h 49785"/>
                <a:gd name="connsiteX5" fmla="*/ 103721 w 141059"/>
                <a:gd name="connsiteY5" fmla="*/ 49786 h 4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059" h="49785">
                  <a:moveTo>
                    <a:pt x="66381" y="49786"/>
                  </a:moveTo>
                  <a:lnTo>
                    <a:pt x="0" y="49786"/>
                  </a:lnTo>
                  <a:lnTo>
                    <a:pt x="0" y="0"/>
                  </a:lnTo>
                  <a:lnTo>
                    <a:pt x="141060" y="0"/>
                  </a:lnTo>
                  <a:lnTo>
                    <a:pt x="141060" y="49786"/>
                  </a:lnTo>
                  <a:lnTo>
                    <a:pt x="103721" y="49786"/>
                  </a:lnTo>
                </a:path>
              </a:pathLst>
            </a:custGeom>
            <a:noFill/>
            <a:ln w="12700" cap="flat">
              <a:solidFill>
                <a:srgbClr val="09EEA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1" name="Freeform: Shape 64">
              <a:extLst>
                <a:ext uri="{FF2B5EF4-FFF2-40B4-BE49-F238E27FC236}">
                  <a16:creationId xmlns:a16="http://schemas.microsoft.com/office/drawing/2014/main" id="{4372969F-5D8C-C408-9782-F8C1D948302D}"/>
                </a:ext>
              </a:extLst>
            </p:cNvPr>
            <p:cNvSpPr/>
            <p:nvPr/>
          </p:nvSpPr>
          <p:spPr>
            <a:xfrm>
              <a:off x="1105188" y="3240042"/>
              <a:ext cx="26871" cy="4478"/>
            </a:xfrm>
            <a:custGeom>
              <a:avLst/>
              <a:gdLst>
                <a:gd name="connsiteX0" fmla="*/ 24893 w 24892"/>
                <a:gd name="connsiteY0" fmla="*/ 0 h 4148"/>
                <a:gd name="connsiteX1" fmla="*/ 0 w 24892"/>
                <a:gd name="connsiteY1" fmla="*/ 0 h 4148"/>
              </a:gdLst>
              <a:ahLst/>
              <a:cxnLst>
                <a:cxn ang="0">
                  <a:pos x="connsiteX0" y="connsiteY0"/>
                </a:cxn>
                <a:cxn ang="0">
                  <a:pos x="connsiteX1" y="connsiteY1"/>
                </a:cxn>
              </a:cxnLst>
              <a:rect l="l" t="t" r="r" b="b"/>
              <a:pathLst>
                <a:path w="24892" h="4148">
                  <a:moveTo>
                    <a:pt x="24893" y="0"/>
                  </a:moveTo>
                  <a:lnTo>
                    <a:pt x="0" y="0"/>
                  </a:lnTo>
                </a:path>
              </a:pathLst>
            </a:custGeom>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252" name="Group 251">
            <a:extLst>
              <a:ext uri="{FF2B5EF4-FFF2-40B4-BE49-F238E27FC236}">
                <a16:creationId xmlns:a16="http://schemas.microsoft.com/office/drawing/2014/main" id="{09E1C8DA-33DD-823E-9913-7B63BCCA7886}"/>
              </a:ext>
            </a:extLst>
          </p:cNvPr>
          <p:cNvGrpSpPr/>
          <p:nvPr/>
        </p:nvGrpSpPr>
        <p:grpSpPr>
          <a:xfrm>
            <a:off x="2952791" y="4397183"/>
            <a:ext cx="438912" cy="438912"/>
            <a:chOff x="2715336" y="3158621"/>
            <a:chExt cx="362626" cy="412550"/>
          </a:xfrm>
        </p:grpSpPr>
        <p:sp>
          <p:nvSpPr>
            <p:cNvPr id="253" name="Freeform: Shape 16">
              <a:extLst>
                <a:ext uri="{FF2B5EF4-FFF2-40B4-BE49-F238E27FC236}">
                  <a16:creationId xmlns:a16="http://schemas.microsoft.com/office/drawing/2014/main" id="{5C619156-854E-3A9F-4940-8C772B8FD335}"/>
                </a:ext>
              </a:extLst>
            </p:cNvPr>
            <p:cNvSpPr/>
            <p:nvPr/>
          </p:nvSpPr>
          <p:spPr>
            <a:xfrm>
              <a:off x="2883255" y="3450490"/>
              <a:ext cx="78421" cy="2916"/>
            </a:xfrm>
            <a:custGeom>
              <a:avLst/>
              <a:gdLst>
                <a:gd name="connsiteX0" fmla="*/ 0 w 256222"/>
                <a:gd name="connsiteY0" fmla="*/ 0 h 9525"/>
                <a:gd name="connsiteX1" fmla="*/ 256223 w 256222"/>
                <a:gd name="connsiteY1" fmla="*/ 0 h 9525"/>
              </a:gdLst>
              <a:ahLst/>
              <a:cxnLst>
                <a:cxn ang="0">
                  <a:pos x="connsiteX0" y="connsiteY0"/>
                </a:cxn>
                <a:cxn ang="0">
                  <a:pos x="connsiteX1" y="connsiteY1"/>
                </a:cxn>
              </a:cxnLst>
              <a:rect l="l" t="t" r="r" b="b"/>
              <a:pathLst>
                <a:path w="256222" h="9525">
                  <a:moveTo>
                    <a:pt x="0" y="0"/>
                  </a:moveTo>
                  <a:lnTo>
                    <a:pt x="256223" y="0"/>
                  </a:lnTo>
                </a:path>
              </a:pathLst>
            </a:custGeom>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4" name="Freeform: Shape 17">
              <a:extLst>
                <a:ext uri="{FF2B5EF4-FFF2-40B4-BE49-F238E27FC236}">
                  <a16:creationId xmlns:a16="http://schemas.microsoft.com/office/drawing/2014/main" id="{1B413826-9028-E02B-611D-8ED61079BE4F}"/>
                </a:ext>
              </a:extLst>
            </p:cNvPr>
            <p:cNvSpPr/>
            <p:nvPr/>
          </p:nvSpPr>
          <p:spPr>
            <a:xfrm>
              <a:off x="2868387" y="3422790"/>
              <a:ext cx="51891" cy="2916"/>
            </a:xfrm>
            <a:custGeom>
              <a:avLst/>
              <a:gdLst>
                <a:gd name="connsiteX0" fmla="*/ 0 w 169544"/>
                <a:gd name="connsiteY0" fmla="*/ 0 h 9525"/>
                <a:gd name="connsiteX1" fmla="*/ 169545 w 169544"/>
                <a:gd name="connsiteY1" fmla="*/ 0 h 9525"/>
              </a:gdLst>
              <a:ahLst/>
              <a:cxnLst>
                <a:cxn ang="0">
                  <a:pos x="connsiteX0" y="connsiteY0"/>
                </a:cxn>
                <a:cxn ang="0">
                  <a:pos x="connsiteX1" y="connsiteY1"/>
                </a:cxn>
              </a:cxnLst>
              <a:rect l="l" t="t" r="r" b="b"/>
              <a:pathLst>
                <a:path w="169544" h="9525">
                  <a:moveTo>
                    <a:pt x="0" y="0"/>
                  </a:moveTo>
                  <a:lnTo>
                    <a:pt x="169545" y="0"/>
                  </a:lnTo>
                </a:path>
              </a:pathLst>
            </a:custGeom>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5" name="Freeform: Shape 18">
              <a:extLst>
                <a:ext uri="{FF2B5EF4-FFF2-40B4-BE49-F238E27FC236}">
                  <a16:creationId xmlns:a16="http://schemas.microsoft.com/office/drawing/2014/main" id="{A5215E14-28E3-BA82-084A-4978A2CB4435}"/>
                </a:ext>
              </a:extLst>
            </p:cNvPr>
            <p:cNvSpPr/>
            <p:nvPr/>
          </p:nvSpPr>
          <p:spPr>
            <a:xfrm>
              <a:off x="2931940" y="3422790"/>
              <a:ext cx="22156" cy="2916"/>
            </a:xfrm>
            <a:custGeom>
              <a:avLst/>
              <a:gdLst>
                <a:gd name="connsiteX0" fmla="*/ 0 w 72390"/>
                <a:gd name="connsiteY0" fmla="*/ 0 h 9525"/>
                <a:gd name="connsiteX1" fmla="*/ 72390 w 72390"/>
                <a:gd name="connsiteY1" fmla="*/ 0 h 9525"/>
              </a:gdLst>
              <a:ahLst/>
              <a:cxnLst>
                <a:cxn ang="0">
                  <a:pos x="connsiteX0" y="connsiteY0"/>
                </a:cxn>
                <a:cxn ang="0">
                  <a:pos x="connsiteX1" y="connsiteY1"/>
                </a:cxn>
              </a:cxnLst>
              <a:rect l="l" t="t" r="r" b="b"/>
              <a:pathLst>
                <a:path w="72390" h="9525">
                  <a:moveTo>
                    <a:pt x="0" y="0"/>
                  </a:moveTo>
                  <a:lnTo>
                    <a:pt x="72390" y="0"/>
                  </a:lnTo>
                </a:path>
              </a:pathLst>
            </a:custGeom>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6" name="Freeform: Shape 19">
              <a:extLst>
                <a:ext uri="{FF2B5EF4-FFF2-40B4-BE49-F238E27FC236}">
                  <a16:creationId xmlns:a16="http://schemas.microsoft.com/office/drawing/2014/main" id="{A9D0F693-3F39-4E1F-90B7-07DCDF0B1DFC}"/>
                </a:ext>
              </a:extLst>
            </p:cNvPr>
            <p:cNvSpPr/>
            <p:nvPr/>
          </p:nvSpPr>
          <p:spPr>
            <a:xfrm>
              <a:off x="2901913" y="3395382"/>
              <a:ext cx="74339" cy="2916"/>
            </a:xfrm>
            <a:custGeom>
              <a:avLst/>
              <a:gdLst>
                <a:gd name="connsiteX0" fmla="*/ 0 w 242887"/>
                <a:gd name="connsiteY0" fmla="*/ 0 h 9525"/>
                <a:gd name="connsiteX1" fmla="*/ 242888 w 242887"/>
                <a:gd name="connsiteY1" fmla="*/ 0 h 9525"/>
              </a:gdLst>
              <a:ahLst/>
              <a:cxnLst>
                <a:cxn ang="0">
                  <a:pos x="connsiteX0" y="connsiteY0"/>
                </a:cxn>
                <a:cxn ang="0">
                  <a:pos x="connsiteX1" y="connsiteY1"/>
                </a:cxn>
              </a:cxnLst>
              <a:rect l="l" t="t" r="r" b="b"/>
              <a:pathLst>
                <a:path w="242887" h="9525">
                  <a:moveTo>
                    <a:pt x="0" y="0"/>
                  </a:moveTo>
                  <a:lnTo>
                    <a:pt x="242888" y="0"/>
                  </a:lnTo>
                </a:path>
              </a:pathLst>
            </a:custGeom>
            <a:ln w="12700" cap="flat">
              <a:solidFill>
                <a:srgbClr val="D930F6"/>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7" name="Freeform: Shape 20">
              <a:extLst>
                <a:ext uri="{FF2B5EF4-FFF2-40B4-BE49-F238E27FC236}">
                  <a16:creationId xmlns:a16="http://schemas.microsoft.com/office/drawing/2014/main" id="{47DEA563-4902-DB38-01A5-1E25C74AA3A3}"/>
                </a:ext>
              </a:extLst>
            </p:cNvPr>
            <p:cNvSpPr/>
            <p:nvPr/>
          </p:nvSpPr>
          <p:spPr>
            <a:xfrm>
              <a:off x="2715336" y="3158621"/>
              <a:ext cx="147512" cy="317819"/>
            </a:xfrm>
            <a:custGeom>
              <a:avLst/>
              <a:gdLst>
                <a:gd name="connsiteX0" fmla="*/ 481965 w 481965"/>
                <a:gd name="connsiteY0" fmla="*/ 0 h 1038224"/>
                <a:gd name="connsiteX1" fmla="*/ 28575 w 481965"/>
                <a:gd name="connsiteY1" fmla="*/ 0 h 1038224"/>
                <a:gd name="connsiteX2" fmla="*/ 0 w 481965"/>
                <a:gd name="connsiteY2" fmla="*/ 28575 h 1038224"/>
                <a:gd name="connsiteX3" fmla="*/ 0 w 481965"/>
                <a:gd name="connsiteY3" fmla="*/ 1009650 h 1038224"/>
                <a:gd name="connsiteX4" fmla="*/ 28575 w 481965"/>
                <a:gd name="connsiteY4" fmla="*/ 1038225 h 1038224"/>
                <a:gd name="connsiteX5" fmla="*/ 376238 w 481965"/>
                <a:gd name="connsiteY5" fmla="*/ 1038225 h 103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1965" h="1038224">
                  <a:moveTo>
                    <a:pt x="481965" y="0"/>
                  </a:moveTo>
                  <a:lnTo>
                    <a:pt x="28575" y="0"/>
                  </a:lnTo>
                  <a:cubicBezTo>
                    <a:pt x="13335" y="0"/>
                    <a:pt x="0" y="12382"/>
                    <a:pt x="0" y="28575"/>
                  </a:cubicBezTo>
                  <a:lnTo>
                    <a:pt x="0" y="1009650"/>
                  </a:lnTo>
                  <a:cubicBezTo>
                    <a:pt x="0" y="1024890"/>
                    <a:pt x="12382" y="1038225"/>
                    <a:pt x="28575" y="1038225"/>
                  </a:cubicBezTo>
                  <a:lnTo>
                    <a:pt x="376238" y="1038225"/>
                  </a:ln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8" name="Freeform: Shape 21">
              <a:extLst>
                <a:ext uri="{FF2B5EF4-FFF2-40B4-BE49-F238E27FC236}">
                  <a16:creationId xmlns:a16="http://schemas.microsoft.com/office/drawing/2014/main" id="{E54447C1-0271-8F24-E663-06318EF3CE56}"/>
                </a:ext>
              </a:extLst>
            </p:cNvPr>
            <p:cNvSpPr/>
            <p:nvPr/>
          </p:nvSpPr>
          <p:spPr>
            <a:xfrm>
              <a:off x="2862848" y="3158621"/>
              <a:ext cx="73756" cy="74061"/>
            </a:xfrm>
            <a:custGeom>
              <a:avLst/>
              <a:gdLst>
                <a:gd name="connsiteX0" fmla="*/ 0 w 240982"/>
                <a:gd name="connsiteY0" fmla="*/ 241935 h 241934"/>
                <a:gd name="connsiteX1" fmla="*/ 240982 w 240982"/>
                <a:gd name="connsiteY1" fmla="*/ 241935 h 241934"/>
                <a:gd name="connsiteX2" fmla="*/ 0 w 240982"/>
                <a:gd name="connsiteY2" fmla="*/ 0 h 241934"/>
              </a:gdLst>
              <a:ahLst/>
              <a:cxnLst>
                <a:cxn ang="0">
                  <a:pos x="connsiteX0" y="connsiteY0"/>
                </a:cxn>
                <a:cxn ang="0">
                  <a:pos x="connsiteX1" y="connsiteY1"/>
                </a:cxn>
                <a:cxn ang="0">
                  <a:pos x="connsiteX2" y="connsiteY2"/>
                </a:cxn>
              </a:cxnLst>
              <a:rect l="l" t="t" r="r" b="b"/>
              <a:pathLst>
                <a:path w="240982" h="241934">
                  <a:moveTo>
                    <a:pt x="0" y="241935"/>
                  </a:moveTo>
                  <a:lnTo>
                    <a:pt x="240982" y="241935"/>
                  </a:lnTo>
                  <a:lnTo>
                    <a:pt x="0" y="0"/>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59" name="Freeform: Shape 22">
              <a:extLst>
                <a:ext uri="{FF2B5EF4-FFF2-40B4-BE49-F238E27FC236}">
                  <a16:creationId xmlns:a16="http://schemas.microsoft.com/office/drawing/2014/main" id="{4FC02F71-ED63-DE3E-3853-809CC59A338E}"/>
                </a:ext>
              </a:extLst>
            </p:cNvPr>
            <p:cNvSpPr/>
            <p:nvPr/>
          </p:nvSpPr>
          <p:spPr>
            <a:xfrm>
              <a:off x="2747696" y="3288081"/>
              <a:ext cx="156258" cy="2916"/>
            </a:xfrm>
            <a:custGeom>
              <a:avLst/>
              <a:gdLst>
                <a:gd name="connsiteX0" fmla="*/ 0 w 510540"/>
                <a:gd name="connsiteY0" fmla="*/ 0 h 9525"/>
                <a:gd name="connsiteX1" fmla="*/ 510540 w 510540"/>
                <a:gd name="connsiteY1" fmla="*/ 0 h 9525"/>
              </a:gdLst>
              <a:ahLst/>
              <a:cxnLst>
                <a:cxn ang="0">
                  <a:pos x="connsiteX0" y="connsiteY0"/>
                </a:cxn>
                <a:cxn ang="0">
                  <a:pos x="connsiteX1" y="connsiteY1"/>
                </a:cxn>
              </a:cxnLst>
              <a:rect l="l" t="t" r="r" b="b"/>
              <a:pathLst>
                <a:path w="510540" h="9525">
                  <a:moveTo>
                    <a:pt x="0" y="0"/>
                  </a:moveTo>
                  <a:lnTo>
                    <a:pt x="51054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0" name="Freeform: Shape 23">
              <a:extLst>
                <a:ext uri="{FF2B5EF4-FFF2-40B4-BE49-F238E27FC236}">
                  <a16:creationId xmlns:a16="http://schemas.microsoft.com/office/drawing/2014/main" id="{E83CB1FE-7B2E-F5E8-F4C5-D8A57422AE6A}"/>
                </a:ext>
              </a:extLst>
            </p:cNvPr>
            <p:cNvSpPr/>
            <p:nvPr/>
          </p:nvSpPr>
          <p:spPr>
            <a:xfrm>
              <a:off x="2747696" y="3331235"/>
              <a:ext cx="96204" cy="2916"/>
            </a:xfrm>
            <a:custGeom>
              <a:avLst/>
              <a:gdLst>
                <a:gd name="connsiteX0" fmla="*/ 0 w 314325"/>
                <a:gd name="connsiteY0" fmla="*/ 0 h 9525"/>
                <a:gd name="connsiteX1" fmla="*/ 314325 w 314325"/>
                <a:gd name="connsiteY1" fmla="*/ 0 h 9525"/>
              </a:gdLst>
              <a:ahLst/>
              <a:cxnLst>
                <a:cxn ang="0">
                  <a:pos x="connsiteX0" y="connsiteY0"/>
                </a:cxn>
                <a:cxn ang="0">
                  <a:pos x="connsiteX1" y="connsiteY1"/>
                </a:cxn>
              </a:cxnLst>
              <a:rect l="l" t="t" r="r" b="b"/>
              <a:pathLst>
                <a:path w="314325" h="9525">
                  <a:moveTo>
                    <a:pt x="0" y="0"/>
                  </a:moveTo>
                  <a:lnTo>
                    <a:pt x="31432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1" name="Freeform: Shape 24">
              <a:extLst>
                <a:ext uri="{FF2B5EF4-FFF2-40B4-BE49-F238E27FC236}">
                  <a16:creationId xmlns:a16="http://schemas.microsoft.com/office/drawing/2014/main" id="{827A9546-EBCE-66D2-9CB6-3F592AB4F530}"/>
                </a:ext>
              </a:extLst>
            </p:cNvPr>
            <p:cNvSpPr/>
            <p:nvPr/>
          </p:nvSpPr>
          <p:spPr>
            <a:xfrm>
              <a:off x="2747696" y="3374680"/>
              <a:ext cx="65010" cy="2916"/>
            </a:xfrm>
            <a:custGeom>
              <a:avLst/>
              <a:gdLst>
                <a:gd name="connsiteX0" fmla="*/ 0 w 212407"/>
                <a:gd name="connsiteY0" fmla="*/ 0 h 9525"/>
                <a:gd name="connsiteX1" fmla="*/ 212407 w 212407"/>
                <a:gd name="connsiteY1" fmla="*/ 0 h 9525"/>
              </a:gdLst>
              <a:ahLst/>
              <a:cxnLst>
                <a:cxn ang="0">
                  <a:pos x="connsiteX0" y="connsiteY0"/>
                </a:cxn>
                <a:cxn ang="0">
                  <a:pos x="connsiteX1" y="connsiteY1"/>
                </a:cxn>
              </a:cxnLst>
              <a:rect l="l" t="t" r="r" b="b"/>
              <a:pathLst>
                <a:path w="212407" h="9525">
                  <a:moveTo>
                    <a:pt x="0" y="0"/>
                  </a:moveTo>
                  <a:lnTo>
                    <a:pt x="212407"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2" name="Freeform: Shape 25">
              <a:extLst>
                <a:ext uri="{FF2B5EF4-FFF2-40B4-BE49-F238E27FC236}">
                  <a16:creationId xmlns:a16="http://schemas.microsoft.com/office/drawing/2014/main" id="{3F73527A-8718-EE17-0320-791A08529AC6}"/>
                </a:ext>
              </a:extLst>
            </p:cNvPr>
            <p:cNvSpPr/>
            <p:nvPr/>
          </p:nvSpPr>
          <p:spPr>
            <a:xfrm>
              <a:off x="2747696" y="3418125"/>
              <a:ext cx="67634" cy="2916"/>
            </a:xfrm>
            <a:custGeom>
              <a:avLst/>
              <a:gdLst>
                <a:gd name="connsiteX0" fmla="*/ 0 w 220979"/>
                <a:gd name="connsiteY0" fmla="*/ 0 h 9525"/>
                <a:gd name="connsiteX1" fmla="*/ 220980 w 220979"/>
                <a:gd name="connsiteY1" fmla="*/ 0 h 9525"/>
              </a:gdLst>
              <a:ahLst/>
              <a:cxnLst>
                <a:cxn ang="0">
                  <a:pos x="connsiteX0" y="connsiteY0"/>
                </a:cxn>
                <a:cxn ang="0">
                  <a:pos x="connsiteX1" y="connsiteY1"/>
                </a:cxn>
              </a:cxnLst>
              <a:rect l="l" t="t" r="r" b="b"/>
              <a:pathLst>
                <a:path w="220979" h="9525">
                  <a:moveTo>
                    <a:pt x="0" y="0"/>
                  </a:moveTo>
                  <a:lnTo>
                    <a:pt x="22098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3" name="Freeform: Shape 26">
              <a:extLst>
                <a:ext uri="{FF2B5EF4-FFF2-40B4-BE49-F238E27FC236}">
                  <a16:creationId xmlns:a16="http://schemas.microsoft.com/office/drawing/2014/main" id="{3D59DFDC-414D-4522-4732-BBF27D7212AF}"/>
                </a:ext>
              </a:extLst>
            </p:cNvPr>
            <p:cNvSpPr/>
            <p:nvPr/>
          </p:nvSpPr>
          <p:spPr>
            <a:xfrm>
              <a:off x="2747696" y="3244636"/>
              <a:ext cx="88332" cy="2916"/>
            </a:xfrm>
            <a:custGeom>
              <a:avLst/>
              <a:gdLst>
                <a:gd name="connsiteX0" fmla="*/ 0 w 288607"/>
                <a:gd name="connsiteY0" fmla="*/ 0 h 9525"/>
                <a:gd name="connsiteX1" fmla="*/ 288607 w 288607"/>
                <a:gd name="connsiteY1" fmla="*/ 0 h 9525"/>
              </a:gdLst>
              <a:ahLst/>
              <a:cxnLst>
                <a:cxn ang="0">
                  <a:pos x="connsiteX0" y="connsiteY0"/>
                </a:cxn>
                <a:cxn ang="0">
                  <a:pos x="connsiteX1" y="connsiteY1"/>
                </a:cxn>
              </a:cxnLst>
              <a:rect l="l" t="t" r="r" b="b"/>
              <a:pathLst>
                <a:path w="288607" h="9525">
                  <a:moveTo>
                    <a:pt x="0" y="0"/>
                  </a:moveTo>
                  <a:lnTo>
                    <a:pt x="288607"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4" name="Freeform: Shape 27">
              <a:extLst>
                <a:ext uri="{FF2B5EF4-FFF2-40B4-BE49-F238E27FC236}">
                  <a16:creationId xmlns:a16="http://schemas.microsoft.com/office/drawing/2014/main" id="{6AC7D091-FCB8-909B-D08A-13811BC07437}"/>
                </a:ext>
              </a:extLst>
            </p:cNvPr>
            <p:cNvSpPr/>
            <p:nvPr/>
          </p:nvSpPr>
          <p:spPr>
            <a:xfrm>
              <a:off x="2936604" y="3232682"/>
              <a:ext cx="2915" cy="78725"/>
            </a:xfrm>
            <a:custGeom>
              <a:avLst/>
              <a:gdLst>
                <a:gd name="connsiteX0" fmla="*/ 0 w 9525"/>
                <a:gd name="connsiteY0" fmla="*/ 257175 h 257174"/>
                <a:gd name="connsiteX1" fmla="*/ 0 w 9525"/>
                <a:gd name="connsiteY1" fmla="*/ 0 h 257174"/>
              </a:gdLst>
              <a:ahLst/>
              <a:cxnLst>
                <a:cxn ang="0">
                  <a:pos x="connsiteX0" y="connsiteY0"/>
                </a:cxn>
                <a:cxn ang="0">
                  <a:pos x="connsiteX1" y="connsiteY1"/>
                </a:cxn>
              </a:cxnLst>
              <a:rect l="l" t="t" r="r" b="b"/>
              <a:pathLst>
                <a:path w="9525" h="257174">
                  <a:moveTo>
                    <a:pt x="0" y="257175"/>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5" name="Freeform: Shape 28">
              <a:extLst>
                <a:ext uri="{FF2B5EF4-FFF2-40B4-BE49-F238E27FC236}">
                  <a16:creationId xmlns:a16="http://schemas.microsoft.com/office/drawing/2014/main" id="{FEAD5513-0D3A-17F7-6547-AF14FD1FE8B9}"/>
                </a:ext>
              </a:extLst>
            </p:cNvPr>
            <p:cNvSpPr/>
            <p:nvPr/>
          </p:nvSpPr>
          <p:spPr>
            <a:xfrm>
              <a:off x="2835737" y="3333568"/>
              <a:ext cx="177831" cy="177862"/>
            </a:xfrm>
            <a:custGeom>
              <a:avLst/>
              <a:gdLst>
                <a:gd name="connsiteX0" fmla="*/ 581025 w 581025"/>
                <a:gd name="connsiteY0" fmla="*/ 290512 h 581024"/>
                <a:gd name="connsiteX1" fmla="*/ 290513 w 581025"/>
                <a:gd name="connsiteY1" fmla="*/ 581025 h 581024"/>
                <a:gd name="connsiteX2" fmla="*/ 0 w 581025"/>
                <a:gd name="connsiteY2" fmla="*/ 290512 h 581024"/>
                <a:gd name="connsiteX3" fmla="*/ 290513 w 581025"/>
                <a:gd name="connsiteY3" fmla="*/ 0 h 581024"/>
                <a:gd name="connsiteX4" fmla="*/ 581025 w 581025"/>
                <a:gd name="connsiteY4" fmla="*/ 290512 h 581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1025" h="581024">
                  <a:moveTo>
                    <a:pt x="581025" y="290512"/>
                  </a:moveTo>
                  <a:cubicBezTo>
                    <a:pt x="581025" y="450958"/>
                    <a:pt x="450958" y="581025"/>
                    <a:pt x="290513" y="581025"/>
                  </a:cubicBezTo>
                  <a:cubicBezTo>
                    <a:pt x="130067" y="581025"/>
                    <a:pt x="0" y="450958"/>
                    <a:pt x="0" y="290512"/>
                  </a:cubicBezTo>
                  <a:cubicBezTo>
                    <a:pt x="0" y="130067"/>
                    <a:pt x="130067" y="0"/>
                    <a:pt x="290513" y="0"/>
                  </a:cubicBezTo>
                  <a:cubicBezTo>
                    <a:pt x="450958" y="0"/>
                    <a:pt x="581025" y="130067"/>
                    <a:pt x="581025" y="290512"/>
                  </a:cubicBez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6" name="Freeform: Shape 29">
              <a:extLst>
                <a:ext uri="{FF2B5EF4-FFF2-40B4-BE49-F238E27FC236}">
                  <a16:creationId xmlns:a16="http://schemas.microsoft.com/office/drawing/2014/main" id="{8F820BCF-1E78-8D63-799D-037F30B6B01D}"/>
                </a:ext>
              </a:extLst>
            </p:cNvPr>
            <p:cNvSpPr/>
            <p:nvPr/>
          </p:nvSpPr>
          <p:spPr>
            <a:xfrm>
              <a:off x="2972462" y="3464486"/>
              <a:ext cx="105500" cy="106685"/>
            </a:xfrm>
            <a:custGeom>
              <a:avLst/>
              <a:gdLst>
                <a:gd name="connsiteX0" fmla="*/ 103822 w 344699"/>
                <a:gd name="connsiteY0" fmla="*/ 0 h 348509"/>
                <a:gd name="connsiteX1" fmla="*/ 323850 w 344699"/>
                <a:gd name="connsiteY1" fmla="*/ 220980 h 348509"/>
                <a:gd name="connsiteX2" fmla="*/ 321945 w 344699"/>
                <a:gd name="connsiteY2" fmla="*/ 325755 h 348509"/>
                <a:gd name="connsiteX3" fmla="*/ 321945 w 344699"/>
                <a:gd name="connsiteY3" fmla="*/ 325755 h 348509"/>
                <a:gd name="connsiteX4" fmla="*/ 217170 w 344699"/>
                <a:gd name="connsiteY4" fmla="*/ 327660 h 348509"/>
                <a:gd name="connsiteX5" fmla="*/ 0 w 344699"/>
                <a:gd name="connsiteY5" fmla="*/ 110490 h 348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4699" h="348509">
                  <a:moveTo>
                    <a:pt x="103822" y="0"/>
                  </a:moveTo>
                  <a:lnTo>
                    <a:pt x="323850" y="220980"/>
                  </a:lnTo>
                  <a:cubicBezTo>
                    <a:pt x="352425" y="249555"/>
                    <a:pt x="351472" y="296227"/>
                    <a:pt x="321945" y="325755"/>
                  </a:cubicBezTo>
                  <a:lnTo>
                    <a:pt x="321945" y="325755"/>
                  </a:lnTo>
                  <a:cubicBezTo>
                    <a:pt x="292417" y="355282"/>
                    <a:pt x="245745" y="356235"/>
                    <a:pt x="217170" y="327660"/>
                  </a:cubicBezTo>
                  <a:lnTo>
                    <a:pt x="0" y="110490"/>
                  </a:ln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267" name="Graphic 2">
            <a:extLst>
              <a:ext uri="{FF2B5EF4-FFF2-40B4-BE49-F238E27FC236}">
                <a16:creationId xmlns:a16="http://schemas.microsoft.com/office/drawing/2014/main" id="{B77EDB71-B603-48FF-9388-620544FDABC3}"/>
              </a:ext>
              <a:ext uri="{C183D7F6-B498-43B3-948B-1728B52AA6E4}">
                <adec:decorative xmlns:adec="http://schemas.microsoft.com/office/drawing/2017/decorative" val="1"/>
              </a:ext>
            </a:extLst>
          </p:cNvPr>
          <p:cNvGrpSpPr/>
          <p:nvPr/>
        </p:nvGrpSpPr>
        <p:grpSpPr>
          <a:xfrm>
            <a:off x="4906977" y="5438197"/>
            <a:ext cx="438912" cy="438912"/>
            <a:chOff x="1548892" y="1244646"/>
            <a:chExt cx="323608" cy="323607"/>
          </a:xfrm>
          <a:noFill/>
        </p:grpSpPr>
        <p:sp>
          <p:nvSpPr>
            <p:cNvPr id="268" name="Freeform: Shape 516">
              <a:extLst>
                <a:ext uri="{FF2B5EF4-FFF2-40B4-BE49-F238E27FC236}">
                  <a16:creationId xmlns:a16="http://schemas.microsoft.com/office/drawing/2014/main" id="{1099DF9C-4DAD-088B-33A0-6CC74F55931F}"/>
                </a:ext>
              </a:extLst>
            </p:cNvPr>
            <p:cNvSpPr/>
            <p:nvPr/>
          </p:nvSpPr>
          <p:spPr>
            <a:xfrm>
              <a:off x="1548892" y="1244646"/>
              <a:ext cx="323608" cy="323607"/>
            </a:xfrm>
            <a:custGeom>
              <a:avLst/>
              <a:gdLst>
                <a:gd name="connsiteX0" fmla="*/ 315310 w 323608"/>
                <a:gd name="connsiteY0" fmla="*/ 0 h 323607"/>
                <a:gd name="connsiteX1" fmla="*/ 323608 w 323608"/>
                <a:gd name="connsiteY1" fmla="*/ 8298 h 323607"/>
                <a:gd name="connsiteX2" fmla="*/ 323608 w 323608"/>
                <a:gd name="connsiteY2" fmla="*/ 315310 h 323607"/>
                <a:gd name="connsiteX3" fmla="*/ 315310 w 323608"/>
                <a:gd name="connsiteY3" fmla="*/ 323608 h 323607"/>
                <a:gd name="connsiteX4" fmla="*/ 8298 w 323608"/>
                <a:gd name="connsiteY4" fmla="*/ 323608 h 323607"/>
                <a:gd name="connsiteX5" fmla="*/ 0 w 323608"/>
                <a:gd name="connsiteY5" fmla="*/ 315310 h 323607"/>
                <a:gd name="connsiteX6" fmla="*/ 0 w 323608"/>
                <a:gd name="connsiteY6" fmla="*/ 8298 h 323607"/>
                <a:gd name="connsiteX7" fmla="*/ 8298 w 323608"/>
                <a:gd name="connsiteY7" fmla="*/ 0 h 323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3608" h="323607">
                  <a:moveTo>
                    <a:pt x="315310" y="0"/>
                  </a:moveTo>
                  <a:cubicBezTo>
                    <a:pt x="319893" y="0"/>
                    <a:pt x="323608" y="3715"/>
                    <a:pt x="323608" y="8298"/>
                  </a:cubicBezTo>
                  <a:lnTo>
                    <a:pt x="323608" y="315310"/>
                  </a:lnTo>
                  <a:cubicBezTo>
                    <a:pt x="323608" y="319893"/>
                    <a:pt x="319893" y="323608"/>
                    <a:pt x="315310" y="323608"/>
                  </a:cubicBezTo>
                  <a:lnTo>
                    <a:pt x="8298" y="323608"/>
                  </a:lnTo>
                  <a:cubicBezTo>
                    <a:pt x="3715" y="323608"/>
                    <a:pt x="0" y="319893"/>
                    <a:pt x="0" y="315310"/>
                  </a:cubicBezTo>
                  <a:lnTo>
                    <a:pt x="0" y="8298"/>
                  </a:lnTo>
                  <a:cubicBezTo>
                    <a:pt x="0" y="3715"/>
                    <a:pt x="3715" y="0"/>
                    <a:pt x="8298" y="0"/>
                  </a:cubicBezTo>
                  <a:close/>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69" name="Freeform: Shape 517">
              <a:extLst>
                <a:ext uri="{FF2B5EF4-FFF2-40B4-BE49-F238E27FC236}">
                  <a16:creationId xmlns:a16="http://schemas.microsoft.com/office/drawing/2014/main" id="{FC593124-0CD1-A877-D2AF-D6B9D95D67B7}"/>
                </a:ext>
              </a:extLst>
            </p:cNvPr>
            <p:cNvSpPr/>
            <p:nvPr/>
          </p:nvSpPr>
          <p:spPr>
            <a:xfrm>
              <a:off x="1548892" y="1406450"/>
              <a:ext cx="161762" cy="54138"/>
            </a:xfrm>
            <a:custGeom>
              <a:avLst/>
              <a:gdLst>
                <a:gd name="connsiteX0" fmla="*/ 0 w 161762"/>
                <a:gd name="connsiteY0" fmla="*/ 0 h 54138"/>
                <a:gd name="connsiteX1" fmla="*/ 59245 w 161762"/>
                <a:gd name="connsiteY1" fmla="*/ 0 h 54138"/>
                <a:gd name="connsiteX2" fmla="*/ 52939 w 161762"/>
                <a:gd name="connsiteY2" fmla="*/ 37630 h 54138"/>
                <a:gd name="connsiteX3" fmla="*/ 65925 w 161762"/>
                <a:gd name="connsiteY3" fmla="*/ 50657 h 54138"/>
                <a:gd name="connsiteX4" fmla="*/ 112309 w 161762"/>
                <a:gd name="connsiteY4" fmla="*/ 22694 h 54138"/>
                <a:gd name="connsiteX5" fmla="*/ 102517 w 161762"/>
                <a:gd name="connsiteY5" fmla="*/ 0 h 54138"/>
                <a:gd name="connsiteX6" fmla="*/ 161763 w 161762"/>
                <a:gd name="connsiteY6" fmla="*/ 0 h 5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762" h="54138">
                  <a:moveTo>
                    <a:pt x="0" y="0"/>
                  </a:moveTo>
                  <a:lnTo>
                    <a:pt x="59245" y="0"/>
                  </a:lnTo>
                  <a:cubicBezTo>
                    <a:pt x="50035" y="8795"/>
                    <a:pt x="46052" y="22985"/>
                    <a:pt x="52939" y="37630"/>
                  </a:cubicBezTo>
                  <a:cubicBezTo>
                    <a:pt x="55594" y="43314"/>
                    <a:pt x="60241" y="47960"/>
                    <a:pt x="65925" y="50657"/>
                  </a:cubicBezTo>
                  <a:cubicBezTo>
                    <a:pt x="89366" y="61693"/>
                    <a:pt x="112309" y="44890"/>
                    <a:pt x="112309" y="22694"/>
                  </a:cubicBezTo>
                  <a:cubicBezTo>
                    <a:pt x="112309" y="13733"/>
                    <a:pt x="108533" y="5725"/>
                    <a:pt x="102517" y="0"/>
                  </a:cubicBezTo>
                  <a:lnTo>
                    <a:pt x="161763"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0" name="Freeform: Shape 518">
              <a:extLst>
                <a:ext uri="{FF2B5EF4-FFF2-40B4-BE49-F238E27FC236}">
                  <a16:creationId xmlns:a16="http://schemas.microsoft.com/office/drawing/2014/main" id="{EBD65187-A706-015C-D8B7-AE32FFFC1401}"/>
                </a:ext>
              </a:extLst>
            </p:cNvPr>
            <p:cNvSpPr/>
            <p:nvPr/>
          </p:nvSpPr>
          <p:spPr>
            <a:xfrm>
              <a:off x="1710696" y="1352311"/>
              <a:ext cx="161762" cy="54138"/>
            </a:xfrm>
            <a:custGeom>
              <a:avLst/>
              <a:gdLst>
                <a:gd name="connsiteX0" fmla="*/ 0 w 161762"/>
                <a:gd name="connsiteY0" fmla="*/ 54138 h 54138"/>
                <a:gd name="connsiteX1" fmla="*/ 59245 w 161762"/>
                <a:gd name="connsiteY1" fmla="*/ 54138 h 54138"/>
                <a:gd name="connsiteX2" fmla="*/ 52939 w 161762"/>
                <a:gd name="connsiteY2" fmla="*/ 16508 h 54138"/>
                <a:gd name="connsiteX3" fmla="*/ 65925 w 161762"/>
                <a:gd name="connsiteY3" fmla="*/ 3481 h 54138"/>
                <a:gd name="connsiteX4" fmla="*/ 112309 w 161762"/>
                <a:gd name="connsiteY4" fmla="*/ 31444 h 54138"/>
                <a:gd name="connsiteX5" fmla="*/ 102517 w 161762"/>
                <a:gd name="connsiteY5" fmla="*/ 54138 h 54138"/>
                <a:gd name="connsiteX6" fmla="*/ 161763 w 161762"/>
                <a:gd name="connsiteY6" fmla="*/ 54138 h 5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762" h="54138">
                  <a:moveTo>
                    <a:pt x="0" y="54138"/>
                  </a:moveTo>
                  <a:lnTo>
                    <a:pt x="59245" y="54138"/>
                  </a:lnTo>
                  <a:cubicBezTo>
                    <a:pt x="50035" y="45343"/>
                    <a:pt x="46052" y="31154"/>
                    <a:pt x="52939" y="16508"/>
                  </a:cubicBezTo>
                  <a:cubicBezTo>
                    <a:pt x="55594" y="10824"/>
                    <a:pt x="60241" y="6178"/>
                    <a:pt x="65925" y="3481"/>
                  </a:cubicBezTo>
                  <a:cubicBezTo>
                    <a:pt x="89366" y="-7555"/>
                    <a:pt x="112309" y="9248"/>
                    <a:pt x="112309" y="31444"/>
                  </a:cubicBezTo>
                  <a:cubicBezTo>
                    <a:pt x="112309" y="40406"/>
                    <a:pt x="108533" y="48413"/>
                    <a:pt x="102517" y="54138"/>
                  </a:cubicBezTo>
                  <a:lnTo>
                    <a:pt x="161763" y="54138"/>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1" name="Freeform: Shape 519">
              <a:extLst>
                <a:ext uri="{FF2B5EF4-FFF2-40B4-BE49-F238E27FC236}">
                  <a16:creationId xmlns:a16="http://schemas.microsoft.com/office/drawing/2014/main" id="{A9946F0F-29B5-9EC1-133B-1B73CAFA366C}"/>
                </a:ext>
              </a:extLst>
            </p:cNvPr>
            <p:cNvSpPr/>
            <p:nvPr/>
          </p:nvSpPr>
          <p:spPr>
            <a:xfrm>
              <a:off x="1710696" y="1406491"/>
              <a:ext cx="54138" cy="161762"/>
            </a:xfrm>
            <a:custGeom>
              <a:avLst/>
              <a:gdLst>
                <a:gd name="connsiteX0" fmla="*/ 0 w 54138"/>
                <a:gd name="connsiteY0" fmla="*/ 161762 h 161762"/>
                <a:gd name="connsiteX1" fmla="*/ 0 w 54138"/>
                <a:gd name="connsiteY1" fmla="*/ 96792 h 161762"/>
                <a:gd name="connsiteX2" fmla="*/ 37630 w 54138"/>
                <a:gd name="connsiteY2" fmla="*/ 103098 h 161762"/>
                <a:gd name="connsiteX3" fmla="*/ 50657 w 54138"/>
                <a:gd name="connsiteY3" fmla="*/ 90112 h 161762"/>
                <a:gd name="connsiteX4" fmla="*/ 22694 w 54138"/>
                <a:gd name="connsiteY4" fmla="*/ 43728 h 161762"/>
                <a:gd name="connsiteX5" fmla="*/ 0 w 54138"/>
                <a:gd name="connsiteY5" fmla="*/ 53520 h 161762"/>
                <a:gd name="connsiteX6" fmla="*/ 0 w 54138"/>
                <a:gd name="connsiteY6" fmla="*/ 0 h 161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138" h="161762">
                  <a:moveTo>
                    <a:pt x="0" y="161762"/>
                  </a:moveTo>
                  <a:lnTo>
                    <a:pt x="0" y="96792"/>
                  </a:lnTo>
                  <a:cubicBezTo>
                    <a:pt x="8796" y="106002"/>
                    <a:pt x="22984" y="109985"/>
                    <a:pt x="37630" y="103098"/>
                  </a:cubicBezTo>
                  <a:cubicBezTo>
                    <a:pt x="43314" y="100443"/>
                    <a:pt x="47960" y="95796"/>
                    <a:pt x="50657" y="90112"/>
                  </a:cubicBezTo>
                  <a:cubicBezTo>
                    <a:pt x="61693" y="66671"/>
                    <a:pt x="44890" y="43728"/>
                    <a:pt x="22694" y="43728"/>
                  </a:cubicBezTo>
                  <a:cubicBezTo>
                    <a:pt x="13733" y="43728"/>
                    <a:pt x="5725" y="47504"/>
                    <a:pt x="0" y="53520"/>
                  </a:cubicBezTo>
                  <a:lnTo>
                    <a:pt x="0"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2" name="Freeform: Shape 520">
              <a:extLst>
                <a:ext uri="{FF2B5EF4-FFF2-40B4-BE49-F238E27FC236}">
                  <a16:creationId xmlns:a16="http://schemas.microsoft.com/office/drawing/2014/main" id="{A41F44A5-5EF4-5039-06C1-8B7CF0CFA82F}"/>
                </a:ext>
              </a:extLst>
            </p:cNvPr>
            <p:cNvSpPr/>
            <p:nvPr/>
          </p:nvSpPr>
          <p:spPr>
            <a:xfrm>
              <a:off x="1656558" y="1244687"/>
              <a:ext cx="54138" cy="161762"/>
            </a:xfrm>
            <a:custGeom>
              <a:avLst/>
              <a:gdLst>
                <a:gd name="connsiteX0" fmla="*/ 54138 w 54138"/>
                <a:gd name="connsiteY0" fmla="*/ 161762 h 161762"/>
                <a:gd name="connsiteX1" fmla="*/ 54138 w 54138"/>
                <a:gd name="connsiteY1" fmla="*/ 96792 h 161762"/>
                <a:gd name="connsiteX2" fmla="*/ 16508 w 54138"/>
                <a:gd name="connsiteY2" fmla="*/ 103098 h 161762"/>
                <a:gd name="connsiteX3" fmla="*/ 3481 w 54138"/>
                <a:gd name="connsiteY3" fmla="*/ 90112 h 161762"/>
                <a:gd name="connsiteX4" fmla="*/ 31444 w 54138"/>
                <a:gd name="connsiteY4" fmla="*/ 43728 h 161762"/>
                <a:gd name="connsiteX5" fmla="*/ 54138 w 54138"/>
                <a:gd name="connsiteY5" fmla="*/ 53520 h 161762"/>
                <a:gd name="connsiteX6" fmla="*/ 54138 w 54138"/>
                <a:gd name="connsiteY6" fmla="*/ 0 h 161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138" h="161762">
                  <a:moveTo>
                    <a:pt x="54138" y="161762"/>
                  </a:moveTo>
                  <a:lnTo>
                    <a:pt x="54138" y="96792"/>
                  </a:lnTo>
                  <a:cubicBezTo>
                    <a:pt x="45343" y="106002"/>
                    <a:pt x="31154" y="109985"/>
                    <a:pt x="16508" y="103098"/>
                  </a:cubicBezTo>
                  <a:cubicBezTo>
                    <a:pt x="10824" y="100443"/>
                    <a:pt x="6178" y="95796"/>
                    <a:pt x="3481" y="90112"/>
                  </a:cubicBezTo>
                  <a:cubicBezTo>
                    <a:pt x="-7555" y="66671"/>
                    <a:pt x="9248" y="43728"/>
                    <a:pt x="31444" y="43728"/>
                  </a:cubicBezTo>
                  <a:cubicBezTo>
                    <a:pt x="40406" y="43728"/>
                    <a:pt x="48413" y="47504"/>
                    <a:pt x="54138" y="53520"/>
                  </a:cubicBezTo>
                  <a:lnTo>
                    <a:pt x="54138" y="0"/>
                  </a:lnTo>
                </a:path>
              </a:pathLst>
            </a:custGeom>
            <a:noFill/>
            <a:ln w="12700"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nvGrpSpPr>
          <p:cNvPr id="273" name="Graphic 535">
            <a:extLst>
              <a:ext uri="{FF2B5EF4-FFF2-40B4-BE49-F238E27FC236}">
                <a16:creationId xmlns:a16="http://schemas.microsoft.com/office/drawing/2014/main" id="{AD4D31DE-54F5-92E7-006B-1965E44C7D7F}"/>
              </a:ext>
              <a:ext uri="{C183D7F6-B498-43B3-948B-1728B52AA6E4}">
                <adec:decorative xmlns:adec="http://schemas.microsoft.com/office/drawing/2017/decorative" val="1"/>
              </a:ext>
            </a:extLst>
          </p:cNvPr>
          <p:cNvGrpSpPr/>
          <p:nvPr/>
        </p:nvGrpSpPr>
        <p:grpSpPr>
          <a:xfrm>
            <a:off x="6370447" y="5453848"/>
            <a:ext cx="438912" cy="438912"/>
            <a:chOff x="7095695" y="2365536"/>
            <a:chExt cx="385274" cy="380501"/>
          </a:xfrm>
          <a:noFill/>
        </p:grpSpPr>
        <p:sp>
          <p:nvSpPr>
            <p:cNvPr id="274" name="Freeform: Shape 523">
              <a:extLst>
                <a:ext uri="{FF2B5EF4-FFF2-40B4-BE49-F238E27FC236}">
                  <a16:creationId xmlns:a16="http://schemas.microsoft.com/office/drawing/2014/main" id="{72267957-0055-D7BB-6FA0-1DBB30E0E4E8}"/>
                </a:ext>
              </a:extLst>
            </p:cNvPr>
            <p:cNvSpPr/>
            <p:nvPr/>
          </p:nvSpPr>
          <p:spPr>
            <a:xfrm>
              <a:off x="7199697" y="2479041"/>
              <a:ext cx="177271" cy="153492"/>
            </a:xfrm>
            <a:custGeom>
              <a:avLst/>
              <a:gdLst>
                <a:gd name="connsiteX0" fmla="*/ 132964 w 177271"/>
                <a:gd name="connsiteY0" fmla="*/ 0 h 153492"/>
                <a:gd name="connsiteX1" fmla="*/ 44349 w 177271"/>
                <a:gd name="connsiteY1" fmla="*/ 0 h 153492"/>
                <a:gd name="connsiteX2" fmla="*/ 0 w 177271"/>
                <a:gd name="connsiteY2" fmla="*/ 76726 h 153492"/>
                <a:gd name="connsiteX3" fmla="*/ 44349 w 177271"/>
                <a:gd name="connsiteY3" fmla="*/ 153492 h 153492"/>
                <a:gd name="connsiteX4" fmla="*/ 132964 w 177271"/>
                <a:gd name="connsiteY4" fmla="*/ 153492 h 153492"/>
                <a:gd name="connsiteX5" fmla="*/ 177271 w 177271"/>
                <a:gd name="connsiteY5" fmla="*/ 76726 h 153492"/>
                <a:gd name="connsiteX6" fmla="*/ 132964 w 177271"/>
                <a:gd name="connsiteY6" fmla="*/ 0 h 153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271" h="153492">
                  <a:moveTo>
                    <a:pt x="132964" y="0"/>
                  </a:moveTo>
                  <a:lnTo>
                    <a:pt x="44349" y="0"/>
                  </a:lnTo>
                  <a:lnTo>
                    <a:pt x="0" y="76726"/>
                  </a:lnTo>
                  <a:lnTo>
                    <a:pt x="44349" y="153492"/>
                  </a:lnTo>
                  <a:lnTo>
                    <a:pt x="132964" y="153492"/>
                  </a:lnTo>
                  <a:lnTo>
                    <a:pt x="177271" y="76726"/>
                  </a:lnTo>
                  <a:lnTo>
                    <a:pt x="132964" y="0"/>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275" name="Graphic 535">
              <a:extLst>
                <a:ext uri="{FF2B5EF4-FFF2-40B4-BE49-F238E27FC236}">
                  <a16:creationId xmlns:a16="http://schemas.microsoft.com/office/drawing/2014/main" id="{184DBB5C-5FB2-3C35-C286-AFE44C08F41D}"/>
                </a:ext>
              </a:extLst>
            </p:cNvPr>
            <p:cNvGrpSpPr/>
            <p:nvPr/>
          </p:nvGrpSpPr>
          <p:grpSpPr>
            <a:xfrm>
              <a:off x="7095695" y="2365536"/>
              <a:ext cx="385274" cy="380501"/>
              <a:chOff x="7095695" y="2365536"/>
              <a:chExt cx="385274" cy="380501"/>
            </a:xfrm>
          </p:grpSpPr>
          <p:sp>
            <p:nvSpPr>
              <p:cNvPr id="276" name="Freeform: Shape 525">
                <a:extLst>
                  <a:ext uri="{FF2B5EF4-FFF2-40B4-BE49-F238E27FC236}">
                    <a16:creationId xmlns:a16="http://schemas.microsoft.com/office/drawing/2014/main" id="{C95A92FB-9E3E-D9F4-0D06-4CADB13A06F1}"/>
                  </a:ext>
                </a:extLst>
              </p:cNvPr>
              <p:cNvSpPr/>
              <p:nvPr/>
            </p:nvSpPr>
            <p:spPr>
              <a:xfrm>
                <a:off x="7266343" y="2381992"/>
                <a:ext cx="5800" cy="45870"/>
              </a:xfrm>
              <a:custGeom>
                <a:avLst/>
                <a:gdLst>
                  <a:gd name="connsiteX0" fmla="*/ 0 w 5800"/>
                  <a:gd name="connsiteY0" fmla="*/ 0 h 45870"/>
                  <a:gd name="connsiteX1" fmla="*/ 5801 w 5800"/>
                  <a:gd name="connsiteY1" fmla="*/ 45871 h 45870"/>
                </a:gdLst>
                <a:ahLst/>
                <a:cxnLst>
                  <a:cxn ang="0">
                    <a:pos x="connsiteX0" y="connsiteY0"/>
                  </a:cxn>
                  <a:cxn ang="0">
                    <a:pos x="connsiteX1" y="connsiteY1"/>
                  </a:cxn>
                </a:cxnLst>
                <a:rect l="l" t="t" r="r" b="b"/>
                <a:pathLst>
                  <a:path w="5800" h="45870">
                    <a:moveTo>
                      <a:pt x="0" y="0"/>
                    </a:moveTo>
                    <a:lnTo>
                      <a:pt x="5801" y="45871"/>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7" name="Freeform: Shape 526">
                <a:extLst>
                  <a:ext uri="{FF2B5EF4-FFF2-40B4-BE49-F238E27FC236}">
                    <a16:creationId xmlns:a16="http://schemas.microsoft.com/office/drawing/2014/main" id="{7F79EBF8-8C75-EAA9-29EB-1410E0812805}"/>
                  </a:ext>
                </a:extLst>
              </p:cNvPr>
              <p:cNvSpPr/>
              <p:nvPr/>
            </p:nvSpPr>
            <p:spPr>
              <a:xfrm>
                <a:off x="7264245" y="2365536"/>
                <a:ext cx="1563" cy="12341"/>
              </a:xfrm>
              <a:custGeom>
                <a:avLst/>
                <a:gdLst>
                  <a:gd name="connsiteX0" fmla="*/ 0 w 1563"/>
                  <a:gd name="connsiteY0" fmla="*/ 0 h 12341"/>
                  <a:gd name="connsiteX1" fmla="*/ 1563 w 1563"/>
                  <a:gd name="connsiteY1" fmla="*/ 12342 h 12341"/>
                </a:gdLst>
                <a:ahLst/>
                <a:cxnLst>
                  <a:cxn ang="0">
                    <a:pos x="connsiteX0" y="connsiteY0"/>
                  </a:cxn>
                  <a:cxn ang="0">
                    <a:pos x="connsiteX1" y="connsiteY1"/>
                  </a:cxn>
                </a:cxnLst>
                <a:rect l="l" t="t" r="r" b="b"/>
                <a:pathLst>
                  <a:path w="1563" h="12341">
                    <a:moveTo>
                      <a:pt x="0" y="0"/>
                    </a:moveTo>
                    <a:lnTo>
                      <a:pt x="1563" y="12342"/>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8" name="Freeform: Shape 527">
                <a:extLst>
                  <a:ext uri="{FF2B5EF4-FFF2-40B4-BE49-F238E27FC236}">
                    <a16:creationId xmlns:a16="http://schemas.microsoft.com/office/drawing/2014/main" id="{3A81DB9C-B86E-0C9C-7D78-3F6A327BD3B7}"/>
                  </a:ext>
                </a:extLst>
              </p:cNvPr>
              <p:cNvSpPr/>
              <p:nvPr/>
            </p:nvSpPr>
            <p:spPr>
              <a:xfrm>
                <a:off x="7171146" y="2403220"/>
                <a:ext cx="38424" cy="49984"/>
              </a:xfrm>
              <a:custGeom>
                <a:avLst/>
                <a:gdLst>
                  <a:gd name="connsiteX0" fmla="*/ 0 w 38424"/>
                  <a:gd name="connsiteY0" fmla="*/ 0 h 49984"/>
                  <a:gd name="connsiteX1" fmla="*/ 38425 w 38424"/>
                  <a:gd name="connsiteY1" fmla="*/ 49985 h 49984"/>
                </a:gdLst>
                <a:ahLst/>
                <a:cxnLst>
                  <a:cxn ang="0">
                    <a:pos x="connsiteX0" y="connsiteY0"/>
                  </a:cxn>
                  <a:cxn ang="0">
                    <a:pos x="connsiteX1" y="connsiteY1"/>
                  </a:cxn>
                </a:cxnLst>
                <a:rect l="l" t="t" r="r" b="b"/>
                <a:pathLst>
                  <a:path w="38424" h="49984">
                    <a:moveTo>
                      <a:pt x="0" y="0"/>
                    </a:moveTo>
                    <a:lnTo>
                      <a:pt x="38425" y="49985"/>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79" name="Freeform: Shape 528">
                <a:extLst>
                  <a:ext uri="{FF2B5EF4-FFF2-40B4-BE49-F238E27FC236}">
                    <a16:creationId xmlns:a16="http://schemas.microsoft.com/office/drawing/2014/main" id="{4068816B-0AB5-55AC-967E-5704E75FE2B7}"/>
                  </a:ext>
                </a:extLst>
              </p:cNvPr>
              <p:cNvSpPr/>
              <p:nvPr/>
            </p:nvSpPr>
            <p:spPr>
              <a:xfrm>
                <a:off x="7109477" y="2481756"/>
                <a:ext cx="58583" cy="24272"/>
              </a:xfrm>
              <a:custGeom>
                <a:avLst/>
                <a:gdLst>
                  <a:gd name="connsiteX0" fmla="*/ 0 w 58583"/>
                  <a:gd name="connsiteY0" fmla="*/ 0 h 24272"/>
                  <a:gd name="connsiteX1" fmla="*/ 58583 w 58583"/>
                  <a:gd name="connsiteY1" fmla="*/ 24273 h 24272"/>
                </a:gdLst>
                <a:ahLst/>
                <a:cxnLst>
                  <a:cxn ang="0">
                    <a:pos x="connsiteX0" y="connsiteY0"/>
                  </a:cxn>
                  <a:cxn ang="0">
                    <a:pos x="connsiteX1" y="connsiteY1"/>
                  </a:cxn>
                </a:cxnLst>
                <a:rect l="l" t="t" r="r" b="b"/>
                <a:pathLst>
                  <a:path w="58583" h="24272">
                    <a:moveTo>
                      <a:pt x="0" y="0"/>
                    </a:moveTo>
                    <a:lnTo>
                      <a:pt x="58583" y="24273"/>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0" name="Freeform: Shape 529">
                <a:extLst>
                  <a:ext uri="{FF2B5EF4-FFF2-40B4-BE49-F238E27FC236}">
                    <a16:creationId xmlns:a16="http://schemas.microsoft.com/office/drawing/2014/main" id="{39C687B4-36F9-1D5D-DD51-15F7E8BDD831}"/>
                  </a:ext>
                </a:extLst>
              </p:cNvPr>
              <p:cNvSpPr/>
              <p:nvPr/>
            </p:nvSpPr>
            <p:spPr>
              <a:xfrm>
                <a:off x="7120379" y="2572181"/>
                <a:ext cx="38424" cy="4854"/>
              </a:xfrm>
              <a:custGeom>
                <a:avLst/>
                <a:gdLst>
                  <a:gd name="connsiteX0" fmla="*/ 0 w 38424"/>
                  <a:gd name="connsiteY0" fmla="*/ 4854 h 4854"/>
                  <a:gd name="connsiteX1" fmla="*/ 38425 w 38424"/>
                  <a:gd name="connsiteY1" fmla="*/ 0 h 4854"/>
                </a:gdLst>
                <a:ahLst/>
                <a:cxnLst>
                  <a:cxn ang="0">
                    <a:pos x="connsiteX0" y="connsiteY0"/>
                  </a:cxn>
                  <a:cxn ang="0">
                    <a:pos x="connsiteX1" y="connsiteY1"/>
                  </a:cxn>
                </a:cxnLst>
                <a:rect l="l" t="t" r="r" b="b"/>
                <a:pathLst>
                  <a:path w="38424" h="4854">
                    <a:moveTo>
                      <a:pt x="0" y="4854"/>
                    </a:moveTo>
                    <a:lnTo>
                      <a:pt x="3842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1" name="Freeform: Shape 530">
                <a:extLst>
                  <a:ext uri="{FF2B5EF4-FFF2-40B4-BE49-F238E27FC236}">
                    <a16:creationId xmlns:a16="http://schemas.microsoft.com/office/drawing/2014/main" id="{10C03367-F4CD-3FBC-A802-4D3F8E32FC61}"/>
                  </a:ext>
                </a:extLst>
              </p:cNvPr>
              <p:cNvSpPr/>
              <p:nvPr/>
            </p:nvSpPr>
            <p:spPr>
              <a:xfrm>
                <a:off x="7095695" y="2578064"/>
                <a:ext cx="16455" cy="2098"/>
              </a:xfrm>
              <a:custGeom>
                <a:avLst/>
                <a:gdLst>
                  <a:gd name="connsiteX0" fmla="*/ 0 w 16455"/>
                  <a:gd name="connsiteY0" fmla="*/ 2098 h 2098"/>
                  <a:gd name="connsiteX1" fmla="*/ 16456 w 16455"/>
                  <a:gd name="connsiteY1" fmla="*/ 0 h 2098"/>
                </a:gdLst>
                <a:ahLst/>
                <a:cxnLst>
                  <a:cxn ang="0">
                    <a:pos x="connsiteX0" y="connsiteY0"/>
                  </a:cxn>
                  <a:cxn ang="0">
                    <a:pos x="connsiteX1" y="connsiteY1"/>
                  </a:cxn>
                </a:cxnLst>
                <a:rect l="l" t="t" r="r" b="b"/>
                <a:pathLst>
                  <a:path w="16455" h="2098">
                    <a:moveTo>
                      <a:pt x="0" y="2098"/>
                    </a:moveTo>
                    <a:lnTo>
                      <a:pt x="16456"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2" name="Freeform: Shape 531">
                <a:extLst>
                  <a:ext uri="{FF2B5EF4-FFF2-40B4-BE49-F238E27FC236}">
                    <a16:creationId xmlns:a16="http://schemas.microsoft.com/office/drawing/2014/main" id="{0F40EA04-5A03-FC43-DBE7-F9A0293A5363}"/>
                  </a:ext>
                </a:extLst>
              </p:cNvPr>
              <p:cNvSpPr/>
              <p:nvPr/>
            </p:nvSpPr>
            <p:spPr>
              <a:xfrm>
                <a:off x="7133544" y="2633932"/>
                <a:ext cx="50725" cy="38095"/>
              </a:xfrm>
              <a:custGeom>
                <a:avLst/>
                <a:gdLst>
                  <a:gd name="connsiteX0" fmla="*/ 0 w 50725"/>
                  <a:gd name="connsiteY0" fmla="*/ 38095 h 38095"/>
                  <a:gd name="connsiteX1" fmla="*/ 50725 w 50725"/>
                  <a:gd name="connsiteY1" fmla="*/ 0 h 38095"/>
                </a:gdLst>
                <a:ahLst/>
                <a:cxnLst>
                  <a:cxn ang="0">
                    <a:pos x="connsiteX0" y="connsiteY0"/>
                  </a:cxn>
                  <a:cxn ang="0">
                    <a:pos x="connsiteX1" y="connsiteY1"/>
                  </a:cxn>
                </a:cxnLst>
                <a:rect l="l" t="t" r="r" b="b"/>
                <a:pathLst>
                  <a:path w="50725" h="38095">
                    <a:moveTo>
                      <a:pt x="0" y="38095"/>
                    </a:moveTo>
                    <a:lnTo>
                      <a:pt x="50725"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3" name="Freeform: Shape 532">
                <a:extLst>
                  <a:ext uri="{FF2B5EF4-FFF2-40B4-BE49-F238E27FC236}">
                    <a16:creationId xmlns:a16="http://schemas.microsoft.com/office/drawing/2014/main" id="{A8AD3BB3-17FE-0380-5566-1AB0972C9353}"/>
                  </a:ext>
                </a:extLst>
              </p:cNvPr>
              <p:cNvSpPr/>
              <p:nvPr/>
            </p:nvSpPr>
            <p:spPr>
              <a:xfrm>
                <a:off x="7212861" y="2674784"/>
                <a:ext cx="24725" cy="57965"/>
              </a:xfrm>
              <a:custGeom>
                <a:avLst/>
                <a:gdLst>
                  <a:gd name="connsiteX0" fmla="*/ 0 w 24725"/>
                  <a:gd name="connsiteY0" fmla="*/ 57966 h 57965"/>
                  <a:gd name="connsiteX1" fmla="*/ 24725 w 24725"/>
                  <a:gd name="connsiteY1" fmla="*/ 0 h 57965"/>
                </a:gdLst>
                <a:ahLst/>
                <a:cxnLst>
                  <a:cxn ang="0">
                    <a:pos x="connsiteX0" y="connsiteY0"/>
                  </a:cxn>
                  <a:cxn ang="0">
                    <a:pos x="connsiteX1" y="connsiteY1"/>
                  </a:cxn>
                </a:cxnLst>
                <a:rect l="l" t="t" r="r" b="b"/>
                <a:pathLst>
                  <a:path w="24725" h="57965">
                    <a:moveTo>
                      <a:pt x="0" y="57966"/>
                    </a:moveTo>
                    <a:lnTo>
                      <a:pt x="24725"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4" name="Freeform: Shape 533">
                <a:extLst>
                  <a:ext uri="{FF2B5EF4-FFF2-40B4-BE49-F238E27FC236}">
                    <a16:creationId xmlns:a16="http://schemas.microsoft.com/office/drawing/2014/main" id="{96F6CAC0-0377-4C33-8AFC-8B342E02AFDF}"/>
                  </a:ext>
                </a:extLst>
              </p:cNvPr>
              <p:cNvSpPr/>
              <p:nvPr/>
            </p:nvSpPr>
            <p:spPr>
              <a:xfrm>
                <a:off x="7304521" y="2683711"/>
                <a:ext cx="5019" cy="39741"/>
              </a:xfrm>
              <a:custGeom>
                <a:avLst/>
                <a:gdLst>
                  <a:gd name="connsiteX0" fmla="*/ 5019 w 5019"/>
                  <a:gd name="connsiteY0" fmla="*/ 39741 h 39741"/>
                  <a:gd name="connsiteX1" fmla="*/ 0 w 5019"/>
                  <a:gd name="connsiteY1" fmla="*/ 0 h 39741"/>
                </a:gdLst>
                <a:ahLst/>
                <a:cxnLst>
                  <a:cxn ang="0">
                    <a:pos x="connsiteX0" y="connsiteY0"/>
                  </a:cxn>
                  <a:cxn ang="0">
                    <a:pos x="connsiteX1" y="connsiteY1"/>
                  </a:cxn>
                </a:cxnLst>
                <a:rect l="l" t="t" r="r" b="b"/>
                <a:pathLst>
                  <a:path w="5019" h="39741">
                    <a:moveTo>
                      <a:pt x="5019" y="39741"/>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5" name="Freeform: Shape 534">
                <a:extLst>
                  <a:ext uri="{FF2B5EF4-FFF2-40B4-BE49-F238E27FC236}">
                    <a16:creationId xmlns:a16="http://schemas.microsoft.com/office/drawing/2014/main" id="{D77BDDC3-E17F-5CF8-6C9B-385D6458E277}"/>
                  </a:ext>
                </a:extLst>
              </p:cNvPr>
              <p:cNvSpPr/>
              <p:nvPr/>
            </p:nvSpPr>
            <p:spPr>
              <a:xfrm>
                <a:off x="7310075" y="2727566"/>
                <a:ext cx="2344" cy="18471"/>
              </a:xfrm>
              <a:custGeom>
                <a:avLst/>
                <a:gdLst>
                  <a:gd name="connsiteX0" fmla="*/ 2345 w 2344"/>
                  <a:gd name="connsiteY0" fmla="*/ 18472 h 18471"/>
                  <a:gd name="connsiteX1" fmla="*/ 0 w 2344"/>
                  <a:gd name="connsiteY1" fmla="*/ 0 h 18471"/>
                </a:gdLst>
                <a:ahLst/>
                <a:cxnLst>
                  <a:cxn ang="0">
                    <a:pos x="connsiteX0" y="connsiteY0"/>
                  </a:cxn>
                  <a:cxn ang="0">
                    <a:pos x="connsiteX1" y="connsiteY1"/>
                  </a:cxn>
                </a:cxnLst>
                <a:rect l="l" t="t" r="r" b="b"/>
                <a:pathLst>
                  <a:path w="2344" h="18471">
                    <a:moveTo>
                      <a:pt x="2345" y="18472"/>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6" name="Freeform: Shape 535">
                <a:extLst>
                  <a:ext uri="{FF2B5EF4-FFF2-40B4-BE49-F238E27FC236}">
                    <a16:creationId xmlns:a16="http://schemas.microsoft.com/office/drawing/2014/main" id="{8209B3C5-AD98-0175-A7CE-6F6B242D8DE6}"/>
                  </a:ext>
                </a:extLst>
              </p:cNvPr>
              <p:cNvSpPr/>
              <p:nvPr/>
            </p:nvSpPr>
            <p:spPr>
              <a:xfrm>
                <a:off x="7367136" y="2658369"/>
                <a:ext cx="38383" cy="49984"/>
              </a:xfrm>
              <a:custGeom>
                <a:avLst/>
                <a:gdLst>
                  <a:gd name="connsiteX0" fmla="*/ 38383 w 38383"/>
                  <a:gd name="connsiteY0" fmla="*/ 49985 h 49984"/>
                  <a:gd name="connsiteX1" fmla="*/ 0 w 38383"/>
                  <a:gd name="connsiteY1" fmla="*/ 0 h 49984"/>
                </a:gdLst>
                <a:ahLst/>
                <a:cxnLst>
                  <a:cxn ang="0">
                    <a:pos x="connsiteX0" y="connsiteY0"/>
                  </a:cxn>
                  <a:cxn ang="0">
                    <a:pos x="connsiteX1" y="connsiteY1"/>
                  </a:cxn>
                </a:cxnLst>
                <a:rect l="l" t="t" r="r" b="b"/>
                <a:pathLst>
                  <a:path w="38383" h="49984">
                    <a:moveTo>
                      <a:pt x="38383" y="49985"/>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7" name="Freeform: Shape 536">
                <a:extLst>
                  <a:ext uri="{FF2B5EF4-FFF2-40B4-BE49-F238E27FC236}">
                    <a16:creationId xmlns:a16="http://schemas.microsoft.com/office/drawing/2014/main" id="{093442E6-30BE-488A-2C2F-CB42276C8BF9}"/>
                  </a:ext>
                </a:extLst>
              </p:cNvPr>
              <p:cNvSpPr/>
              <p:nvPr/>
            </p:nvSpPr>
            <p:spPr>
              <a:xfrm>
                <a:off x="7408604" y="2605546"/>
                <a:ext cx="40892" cy="16908"/>
              </a:xfrm>
              <a:custGeom>
                <a:avLst/>
                <a:gdLst>
                  <a:gd name="connsiteX0" fmla="*/ 40893 w 40892"/>
                  <a:gd name="connsiteY0" fmla="*/ 16908 h 16908"/>
                  <a:gd name="connsiteX1" fmla="*/ 0 w 40892"/>
                  <a:gd name="connsiteY1" fmla="*/ 0 h 16908"/>
                </a:gdLst>
                <a:ahLst/>
                <a:cxnLst>
                  <a:cxn ang="0">
                    <a:pos x="connsiteX0" y="connsiteY0"/>
                  </a:cxn>
                  <a:cxn ang="0">
                    <a:pos x="connsiteX1" y="connsiteY1"/>
                  </a:cxn>
                </a:cxnLst>
                <a:rect l="l" t="t" r="r" b="b"/>
                <a:pathLst>
                  <a:path w="40892" h="16908">
                    <a:moveTo>
                      <a:pt x="40893" y="16908"/>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8" name="Freeform: Shape 537">
                <a:extLst>
                  <a:ext uri="{FF2B5EF4-FFF2-40B4-BE49-F238E27FC236}">
                    <a16:creationId xmlns:a16="http://schemas.microsoft.com/office/drawing/2014/main" id="{C6E25B07-F0DD-CF86-0138-C9A9735BD7F1}"/>
                  </a:ext>
                </a:extLst>
              </p:cNvPr>
              <p:cNvSpPr/>
              <p:nvPr/>
            </p:nvSpPr>
            <p:spPr>
              <a:xfrm>
                <a:off x="7454928" y="2624717"/>
                <a:ext cx="12259" cy="5101"/>
              </a:xfrm>
              <a:custGeom>
                <a:avLst/>
                <a:gdLst>
                  <a:gd name="connsiteX0" fmla="*/ 12260 w 12259"/>
                  <a:gd name="connsiteY0" fmla="*/ 5101 h 5101"/>
                  <a:gd name="connsiteX1" fmla="*/ 0 w 12259"/>
                  <a:gd name="connsiteY1" fmla="*/ 0 h 5101"/>
                </a:gdLst>
                <a:ahLst/>
                <a:cxnLst>
                  <a:cxn ang="0">
                    <a:pos x="connsiteX0" y="connsiteY0"/>
                  </a:cxn>
                  <a:cxn ang="0">
                    <a:pos x="connsiteX1" y="connsiteY1"/>
                  </a:cxn>
                </a:cxnLst>
                <a:rect l="l" t="t" r="r" b="b"/>
                <a:pathLst>
                  <a:path w="12259" h="5101">
                    <a:moveTo>
                      <a:pt x="12260" y="5101"/>
                    </a:moveTo>
                    <a:lnTo>
                      <a:pt x="0" y="0"/>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89" name="Freeform: Shape 538">
                <a:extLst>
                  <a:ext uri="{FF2B5EF4-FFF2-40B4-BE49-F238E27FC236}">
                    <a16:creationId xmlns:a16="http://schemas.microsoft.com/office/drawing/2014/main" id="{B56B1172-68D9-F802-DF7F-4EF7BE389E2F}"/>
                  </a:ext>
                </a:extLst>
              </p:cNvPr>
              <p:cNvSpPr/>
              <p:nvPr/>
            </p:nvSpPr>
            <p:spPr>
              <a:xfrm>
                <a:off x="7417861" y="2531412"/>
                <a:ext cx="63108" cy="7981"/>
              </a:xfrm>
              <a:custGeom>
                <a:avLst/>
                <a:gdLst>
                  <a:gd name="connsiteX0" fmla="*/ 63109 w 63108"/>
                  <a:gd name="connsiteY0" fmla="*/ 0 h 7981"/>
                  <a:gd name="connsiteX1" fmla="*/ 0 w 63108"/>
                  <a:gd name="connsiteY1" fmla="*/ 7981 h 7981"/>
                </a:gdLst>
                <a:ahLst/>
                <a:cxnLst>
                  <a:cxn ang="0">
                    <a:pos x="connsiteX0" y="connsiteY0"/>
                  </a:cxn>
                  <a:cxn ang="0">
                    <a:pos x="connsiteX1" y="connsiteY1"/>
                  </a:cxn>
                </a:cxnLst>
                <a:rect l="l" t="t" r="r" b="b"/>
                <a:pathLst>
                  <a:path w="63108" h="7981">
                    <a:moveTo>
                      <a:pt x="63109" y="0"/>
                    </a:moveTo>
                    <a:lnTo>
                      <a:pt x="0" y="7981"/>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90" name="Freeform: Shape 539">
                <a:extLst>
                  <a:ext uri="{FF2B5EF4-FFF2-40B4-BE49-F238E27FC236}">
                    <a16:creationId xmlns:a16="http://schemas.microsoft.com/office/drawing/2014/main" id="{D2962A77-EC11-3DA5-B89F-00D0D36083F2}"/>
                  </a:ext>
                </a:extLst>
              </p:cNvPr>
              <p:cNvSpPr/>
              <p:nvPr/>
            </p:nvSpPr>
            <p:spPr>
              <a:xfrm>
                <a:off x="7392437" y="2451930"/>
                <a:ext cx="34187" cy="25712"/>
              </a:xfrm>
              <a:custGeom>
                <a:avLst/>
                <a:gdLst>
                  <a:gd name="connsiteX0" fmla="*/ 34187 w 34187"/>
                  <a:gd name="connsiteY0" fmla="*/ 0 h 25712"/>
                  <a:gd name="connsiteX1" fmla="*/ 0 w 34187"/>
                  <a:gd name="connsiteY1" fmla="*/ 25712 h 25712"/>
                </a:gdLst>
                <a:ahLst/>
                <a:cxnLst>
                  <a:cxn ang="0">
                    <a:pos x="connsiteX0" y="connsiteY0"/>
                  </a:cxn>
                  <a:cxn ang="0">
                    <a:pos x="connsiteX1" y="connsiteY1"/>
                  </a:cxn>
                </a:cxnLst>
                <a:rect l="l" t="t" r="r" b="b"/>
                <a:pathLst>
                  <a:path w="34187" h="25712">
                    <a:moveTo>
                      <a:pt x="34187" y="0"/>
                    </a:moveTo>
                    <a:lnTo>
                      <a:pt x="0" y="25712"/>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91" name="Freeform: Shape 540">
                <a:extLst>
                  <a:ext uri="{FF2B5EF4-FFF2-40B4-BE49-F238E27FC236}">
                    <a16:creationId xmlns:a16="http://schemas.microsoft.com/office/drawing/2014/main" id="{C7715147-6B47-8960-98C0-AF157C1B6198}"/>
                  </a:ext>
                </a:extLst>
              </p:cNvPr>
              <p:cNvSpPr/>
              <p:nvPr/>
            </p:nvSpPr>
            <p:spPr>
              <a:xfrm>
                <a:off x="7432136" y="2439547"/>
                <a:ext cx="10984" cy="8269"/>
              </a:xfrm>
              <a:custGeom>
                <a:avLst/>
                <a:gdLst>
                  <a:gd name="connsiteX0" fmla="*/ 10984 w 10984"/>
                  <a:gd name="connsiteY0" fmla="*/ 0 h 8269"/>
                  <a:gd name="connsiteX1" fmla="*/ 0 w 10984"/>
                  <a:gd name="connsiteY1" fmla="*/ 8269 h 8269"/>
                </a:gdLst>
                <a:ahLst/>
                <a:cxnLst>
                  <a:cxn ang="0">
                    <a:pos x="connsiteX0" y="connsiteY0"/>
                  </a:cxn>
                  <a:cxn ang="0">
                    <a:pos x="connsiteX1" y="connsiteY1"/>
                  </a:cxn>
                </a:cxnLst>
                <a:rect l="l" t="t" r="r" b="b"/>
                <a:pathLst>
                  <a:path w="10984" h="8269">
                    <a:moveTo>
                      <a:pt x="10984" y="0"/>
                    </a:moveTo>
                    <a:lnTo>
                      <a:pt x="0" y="8269"/>
                    </a:lnTo>
                  </a:path>
                </a:pathLst>
              </a:custGeom>
              <a:ln w="12700"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92" name="Freeform: Shape 541">
                <a:extLst>
                  <a:ext uri="{FF2B5EF4-FFF2-40B4-BE49-F238E27FC236}">
                    <a16:creationId xmlns:a16="http://schemas.microsoft.com/office/drawing/2014/main" id="{BDE79C58-076C-A188-F645-8150E11C4A3D}"/>
                  </a:ext>
                </a:extLst>
              </p:cNvPr>
              <p:cNvSpPr/>
              <p:nvPr/>
            </p:nvSpPr>
            <p:spPr>
              <a:xfrm>
                <a:off x="7339078" y="2378825"/>
                <a:ext cx="24725" cy="57965"/>
              </a:xfrm>
              <a:custGeom>
                <a:avLst/>
                <a:gdLst>
                  <a:gd name="connsiteX0" fmla="*/ 24725 w 24725"/>
                  <a:gd name="connsiteY0" fmla="*/ 0 h 57965"/>
                  <a:gd name="connsiteX1" fmla="*/ 0 w 24725"/>
                  <a:gd name="connsiteY1" fmla="*/ 57966 h 57965"/>
                </a:gdLst>
                <a:ahLst/>
                <a:cxnLst>
                  <a:cxn ang="0">
                    <a:pos x="connsiteX0" y="connsiteY0"/>
                  </a:cxn>
                  <a:cxn ang="0">
                    <a:pos x="connsiteX1" y="connsiteY1"/>
                  </a:cxn>
                </a:cxnLst>
                <a:rect l="l" t="t" r="r" b="b"/>
                <a:pathLst>
                  <a:path w="24725" h="57965">
                    <a:moveTo>
                      <a:pt x="24725" y="0"/>
                    </a:moveTo>
                    <a:lnTo>
                      <a:pt x="0" y="57966"/>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sp>
        <p:nvSpPr>
          <p:cNvPr id="293" name="Freeform: Shape 314">
            <a:extLst>
              <a:ext uri="{FF2B5EF4-FFF2-40B4-BE49-F238E27FC236}">
                <a16:creationId xmlns:a16="http://schemas.microsoft.com/office/drawing/2014/main" id="{56B53BB1-AE56-80F6-7A75-684844474E98}"/>
              </a:ext>
              <a:ext uri="{C183D7F6-B498-43B3-948B-1728B52AA6E4}">
                <adec:decorative xmlns:adec="http://schemas.microsoft.com/office/drawing/2017/decorative" val="1"/>
              </a:ext>
            </a:extLst>
          </p:cNvPr>
          <p:cNvSpPr/>
          <p:nvPr/>
        </p:nvSpPr>
        <p:spPr>
          <a:xfrm>
            <a:off x="11042546" y="4377353"/>
            <a:ext cx="438912" cy="438912"/>
          </a:xfrm>
          <a:custGeom>
            <a:avLst/>
            <a:gdLst>
              <a:gd name="connsiteX0" fmla="*/ 227544 w 320890"/>
              <a:gd name="connsiteY0" fmla="*/ 160445 h 320890"/>
              <a:gd name="connsiteX1" fmla="*/ 320890 w 320890"/>
              <a:gd name="connsiteY1" fmla="*/ 253791 h 320890"/>
              <a:gd name="connsiteX2" fmla="*/ 253791 w 320890"/>
              <a:gd name="connsiteY2" fmla="*/ 320890 h 320890"/>
              <a:gd name="connsiteX3" fmla="*/ 160445 w 320890"/>
              <a:gd name="connsiteY3" fmla="*/ 227544 h 320890"/>
              <a:gd name="connsiteX4" fmla="*/ 67099 w 320890"/>
              <a:gd name="connsiteY4" fmla="*/ 320890 h 320890"/>
              <a:gd name="connsiteX5" fmla="*/ 0 w 320890"/>
              <a:gd name="connsiteY5" fmla="*/ 253791 h 320890"/>
              <a:gd name="connsiteX6" fmla="*/ 93346 w 320890"/>
              <a:gd name="connsiteY6" fmla="*/ 160445 h 320890"/>
              <a:gd name="connsiteX7" fmla="*/ 0 w 320890"/>
              <a:gd name="connsiteY7" fmla="*/ 67099 h 320890"/>
              <a:gd name="connsiteX8" fmla="*/ 67099 w 320890"/>
              <a:gd name="connsiteY8" fmla="*/ 0 h 320890"/>
              <a:gd name="connsiteX9" fmla="*/ 160445 w 320890"/>
              <a:gd name="connsiteY9" fmla="*/ 93346 h 320890"/>
              <a:gd name="connsiteX10" fmla="*/ 253791 w 320890"/>
              <a:gd name="connsiteY10" fmla="*/ 0 h 320890"/>
              <a:gd name="connsiteX11" fmla="*/ 320890 w 320890"/>
              <a:gd name="connsiteY11" fmla="*/ 67099 h 320890"/>
              <a:gd name="connsiteX12" fmla="*/ 227544 w 320890"/>
              <a:gd name="connsiteY12" fmla="*/ 160445 h 320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0890" h="320890">
                <a:moveTo>
                  <a:pt x="227544" y="160445"/>
                </a:moveTo>
                <a:lnTo>
                  <a:pt x="320890" y="253791"/>
                </a:lnTo>
                <a:lnTo>
                  <a:pt x="253791" y="320890"/>
                </a:lnTo>
                <a:lnTo>
                  <a:pt x="160445" y="227544"/>
                </a:lnTo>
                <a:lnTo>
                  <a:pt x="67099" y="320890"/>
                </a:lnTo>
                <a:lnTo>
                  <a:pt x="0" y="253791"/>
                </a:lnTo>
                <a:lnTo>
                  <a:pt x="93346" y="160445"/>
                </a:lnTo>
                <a:lnTo>
                  <a:pt x="0" y="67099"/>
                </a:lnTo>
                <a:lnTo>
                  <a:pt x="67099" y="0"/>
                </a:lnTo>
                <a:lnTo>
                  <a:pt x="160445" y="93346"/>
                </a:lnTo>
                <a:lnTo>
                  <a:pt x="253791" y="0"/>
                </a:lnTo>
                <a:lnTo>
                  <a:pt x="320890" y="67099"/>
                </a:lnTo>
                <a:lnTo>
                  <a:pt x="227544" y="160445"/>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294" name="Group 293">
            <a:extLst>
              <a:ext uri="{FF2B5EF4-FFF2-40B4-BE49-F238E27FC236}">
                <a16:creationId xmlns:a16="http://schemas.microsoft.com/office/drawing/2014/main" id="{4EE38735-79B0-12F6-CF5A-B5194CB6F15D}"/>
              </a:ext>
            </a:extLst>
          </p:cNvPr>
          <p:cNvGrpSpPr/>
          <p:nvPr/>
        </p:nvGrpSpPr>
        <p:grpSpPr>
          <a:xfrm>
            <a:off x="9860103" y="4387530"/>
            <a:ext cx="438912" cy="438912"/>
            <a:chOff x="8926287" y="4417829"/>
            <a:chExt cx="380322" cy="385525"/>
          </a:xfrm>
        </p:grpSpPr>
        <p:sp>
          <p:nvSpPr>
            <p:cNvPr id="295" name="Freeform: Shape 296">
              <a:extLst>
                <a:ext uri="{FF2B5EF4-FFF2-40B4-BE49-F238E27FC236}">
                  <a16:creationId xmlns:a16="http://schemas.microsoft.com/office/drawing/2014/main" id="{FB6CBBBB-ACA5-FE79-51FD-FD7A7FDDDDD7}"/>
                </a:ext>
              </a:extLst>
            </p:cNvPr>
            <p:cNvSpPr/>
            <p:nvPr/>
          </p:nvSpPr>
          <p:spPr>
            <a:xfrm>
              <a:off x="8926287" y="4643247"/>
              <a:ext cx="160108" cy="160107"/>
            </a:xfrm>
            <a:custGeom>
              <a:avLst/>
              <a:gdLst>
                <a:gd name="connsiteX0" fmla="*/ 1851 w 130802"/>
                <a:gd name="connsiteY0" fmla="*/ 88548 h 130802"/>
                <a:gd name="connsiteX1" fmla="*/ 6718 w 130802"/>
                <a:gd name="connsiteY1" fmla="*/ 99016 h 130802"/>
                <a:gd name="connsiteX2" fmla="*/ 9417 w 130802"/>
                <a:gd name="connsiteY2" fmla="*/ 100243 h 130802"/>
                <a:gd name="connsiteX3" fmla="*/ 21930 w 130802"/>
                <a:gd name="connsiteY3" fmla="*/ 96563 h 130802"/>
                <a:gd name="connsiteX4" fmla="*/ 38002 w 130802"/>
                <a:gd name="connsiteY4" fmla="*/ 111326 h 130802"/>
                <a:gd name="connsiteX5" fmla="*/ 35425 w 130802"/>
                <a:gd name="connsiteY5" fmla="*/ 124126 h 130802"/>
                <a:gd name="connsiteX6" fmla="*/ 36857 w 130802"/>
                <a:gd name="connsiteY6" fmla="*/ 126702 h 130802"/>
                <a:gd name="connsiteX7" fmla="*/ 47694 w 130802"/>
                <a:gd name="connsiteY7" fmla="*/ 130669 h 130802"/>
                <a:gd name="connsiteX8" fmla="*/ 50434 w 130802"/>
                <a:gd name="connsiteY8" fmla="*/ 129646 h 130802"/>
                <a:gd name="connsiteX9" fmla="*/ 56691 w 130802"/>
                <a:gd name="connsiteY9" fmla="*/ 118196 h 130802"/>
                <a:gd name="connsiteX10" fmla="*/ 78528 w 130802"/>
                <a:gd name="connsiteY10" fmla="*/ 117255 h 130802"/>
                <a:gd name="connsiteX11" fmla="*/ 85726 w 130802"/>
                <a:gd name="connsiteY11" fmla="*/ 128133 h 130802"/>
                <a:gd name="connsiteX12" fmla="*/ 88547 w 130802"/>
                <a:gd name="connsiteY12" fmla="*/ 128951 h 130802"/>
                <a:gd name="connsiteX13" fmla="*/ 99016 w 130802"/>
                <a:gd name="connsiteY13" fmla="*/ 124085 h 130802"/>
                <a:gd name="connsiteX14" fmla="*/ 100243 w 130802"/>
                <a:gd name="connsiteY14" fmla="*/ 121385 h 130802"/>
                <a:gd name="connsiteX15" fmla="*/ 96563 w 130802"/>
                <a:gd name="connsiteY15" fmla="*/ 108872 h 130802"/>
                <a:gd name="connsiteX16" fmla="*/ 111326 w 130802"/>
                <a:gd name="connsiteY16" fmla="*/ 92800 h 130802"/>
                <a:gd name="connsiteX17" fmla="*/ 124126 w 130802"/>
                <a:gd name="connsiteY17" fmla="*/ 95377 h 130802"/>
                <a:gd name="connsiteX18" fmla="*/ 126702 w 130802"/>
                <a:gd name="connsiteY18" fmla="*/ 93945 h 130802"/>
                <a:gd name="connsiteX19" fmla="*/ 130669 w 130802"/>
                <a:gd name="connsiteY19" fmla="*/ 83108 h 130802"/>
                <a:gd name="connsiteX20" fmla="*/ 129646 w 130802"/>
                <a:gd name="connsiteY20" fmla="*/ 80369 h 130802"/>
                <a:gd name="connsiteX21" fmla="*/ 118196 w 130802"/>
                <a:gd name="connsiteY21" fmla="*/ 74112 h 130802"/>
                <a:gd name="connsiteX22" fmla="*/ 117255 w 130802"/>
                <a:gd name="connsiteY22" fmla="*/ 52274 h 130802"/>
                <a:gd name="connsiteX23" fmla="*/ 128133 w 130802"/>
                <a:gd name="connsiteY23" fmla="*/ 45077 h 130802"/>
                <a:gd name="connsiteX24" fmla="*/ 128951 w 130802"/>
                <a:gd name="connsiteY24" fmla="*/ 42255 h 130802"/>
                <a:gd name="connsiteX25" fmla="*/ 124085 w 130802"/>
                <a:gd name="connsiteY25" fmla="*/ 31786 h 130802"/>
                <a:gd name="connsiteX26" fmla="*/ 121386 w 130802"/>
                <a:gd name="connsiteY26" fmla="*/ 30559 h 130802"/>
                <a:gd name="connsiteX27" fmla="*/ 108872 w 130802"/>
                <a:gd name="connsiteY27" fmla="*/ 34240 h 130802"/>
                <a:gd name="connsiteX28" fmla="*/ 92801 w 130802"/>
                <a:gd name="connsiteY28" fmla="*/ 19477 h 130802"/>
                <a:gd name="connsiteX29" fmla="*/ 95377 w 130802"/>
                <a:gd name="connsiteY29" fmla="*/ 6677 h 130802"/>
                <a:gd name="connsiteX30" fmla="*/ 93945 w 130802"/>
                <a:gd name="connsiteY30" fmla="*/ 4100 h 130802"/>
                <a:gd name="connsiteX31" fmla="*/ 83109 w 130802"/>
                <a:gd name="connsiteY31" fmla="*/ 134 h 130802"/>
                <a:gd name="connsiteX32" fmla="*/ 80368 w 130802"/>
                <a:gd name="connsiteY32" fmla="*/ 1156 h 130802"/>
                <a:gd name="connsiteX33" fmla="*/ 74112 w 130802"/>
                <a:gd name="connsiteY33" fmla="*/ 12606 h 130802"/>
                <a:gd name="connsiteX34" fmla="*/ 52274 w 130802"/>
                <a:gd name="connsiteY34" fmla="*/ 13547 h 130802"/>
                <a:gd name="connsiteX35" fmla="*/ 45077 w 130802"/>
                <a:gd name="connsiteY35" fmla="*/ 2669 h 130802"/>
                <a:gd name="connsiteX36" fmla="*/ 42255 w 130802"/>
                <a:gd name="connsiteY36" fmla="*/ 1851 h 130802"/>
                <a:gd name="connsiteX37" fmla="*/ 31786 w 130802"/>
                <a:gd name="connsiteY37" fmla="*/ 6718 h 130802"/>
                <a:gd name="connsiteX38" fmla="*/ 30559 w 130802"/>
                <a:gd name="connsiteY38" fmla="*/ 9416 h 130802"/>
                <a:gd name="connsiteX39" fmla="*/ 34240 w 130802"/>
                <a:gd name="connsiteY39" fmla="*/ 21930 h 130802"/>
                <a:gd name="connsiteX40" fmla="*/ 19477 w 130802"/>
                <a:gd name="connsiteY40" fmla="*/ 38002 h 130802"/>
                <a:gd name="connsiteX41" fmla="*/ 6677 w 130802"/>
                <a:gd name="connsiteY41" fmla="*/ 35425 h 130802"/>
                <a:gd name="connsiteX42" fmla="*/ 4100 w 130802"/>
                <a:gd name="connsiteY42" fmla="*/ 36857 h 130802"/>
                <a:gd name="connsiteX43" fmla="*/ 134 w 130802"/>
                <a:gd name="connsiteY43" fmla="*/ 47694 h 130802"/>
                <a:gd name="connsiteX44" fmla="*/ 1156 w 130802"/>
                <a:gd name="connsiteY44" fmla="*/ 50434 h 130802"/>
                <a:gd name="connsiteX45" fmla="*/ 12607 w 130802"/>
                <a:gd name="connsiteY45" fmla="*/ 56691 h 130802"/>
                <a:gd name="connsiteX46" fmla="*/ 13547 w 130802"/>
                <a:gd name="connsiteY46" fmla="*/ 78528 h 130802"/>
                <a:gd name="connsiteX47" fmla="*/ 2669 w 130802"/>
                <a:gd name="connsiteY47" fmla="*/ 85726 h 130802"/>
                <a:gd name="connsiteX48" fmla="*/ 1851 w 130802"/>
                <a:gd name="connsiteY48" fmla="*/ 88548 h 130802"/>
                <a:gd name="connsiteX49" fmla="*/ 51456 w 130802"/>
                <a:gd name="connsiteY49" fmla="*/ 39842 h 130802"/>
                <a:gd name="connsiteX50" fmla="*/ 92473 w 130802"/>
                <a:gd name="connsiteY50" fmla="*/ 54810 h 130802"/>
                <a:gd name="connsiteX51" fmla="*/ 79346 w 130802"/>
                <a:gd name="connsiteY51" fmla="*/ 90797 h 130802"/>
                <a:gd name="connsiteX52" fmla="*/ 38329 w 130802"/>
                <a:gd name="connsiteY52" fmla="*/ 75829 h 130802"/>
                <a:gd name="connsiteX53" fmla="*/ 51456 w 130802"/>
                <a:gd name="connsiteY53" fmla="*/ 39842 h 130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30802" h="130802">
                  <a:moveTo>
                    <a:pt x="1851" y="88548"/>
                  </a:moveTo>
                  <a:lnTo>
                    <a:pt x="6718" y="99016"/>
                  </a:lnTo>
                  <a:cubicBezTo>
                    <a:pt x="7208" y="100039"/>
                    <a:pt x="8312" y="100529"/>
                    <a:pt x="9417" y="100243"/>
                  </a:cubicBezTo>
                  <a:lnTo>
                    <a:pt x="21930" y="96563"/>
                  </a:lnTo>
                  <a:cubicBezTo>
                    <a:pt x="26306" y="102656"/>
                    <a:pt x="31786" y="107645"/>
                    <a:pt x="38002" y="111326"/>
                  </a:cubicBezTo>
                  <a:lnTo>
                    <a:pt x="35425" y="124126"/>
                  </a:lnTo>
                  <a:cubicBezTo>
                    <a:pt x="35221" y="125230"/>
                    <a:pt x="35835" y="126293"/>
                    <a:pt x="36857" y="126702"/>
                  </a:cubicBezTo>
                  <a:lnTo>
                    <a:pt x="47694" y="130669"/>
                  </a:lnTo>
                  <a:cubicBezTo>
                    <a:pt x="48757" y="131037"/>
                    <a:pt x="49902" y="130628"/>
                    <a:pt x="50434" y="129646"/>
                  </a:cubicBezTo>
                  <a:lnTo>
                    <a:pt x="56691" y="118196"/>
                  </a:lnTo>
                  <a:cubicBezTo>
                    <a:pt x="63806" y="119382"/>
                    <a:pt x="71249" y="119096"/>
                    <a:pt x="78528" y="117255"/>
                  </a:cubicBezTo>
                  <a:lnTo>
                    <a:pt x="85726" y="128133"/>
                  </a:lnTo>
                  <a:cubicBezTo>
                    <a:pt x="86339" y="129074"/>
                    <a:pt x="87566" y="129401"/>
                    <a:pt x="88547" y="128951"/>
                  </a:cubicBezTo>
                  <a:lnTo>
                    <a:pt x="99016" y="124085"/>
                  </a:lnTo>
                  <a:cubicBezTo>
                    <a:pt x="100039" y="123594"/>
                    <a:pt x="100530" y="122490"/>
                    <a:pt x="100243" y="121385"/>
                  </a:cubicBezTo>
                  <a:lnTo>
                    <a:pt x="96563" y="108872"/>
                  </a:lnTo>
                  <a:cubicBezTo>
                    <a:pt x="102656" y="104496"/>
                    <a:pt x="107645" y="99016"/>
                    <a:pt x="111326" y="92800"/>
                  </a:cubicBezTo>
                  <a:lnTo>
                    <a:pt x="124126" y="95377"/>
                  </a:lnTo>
                  <a:cubicBezTo>
                    <a:pt x="125230" y="95581"/>
                    <a:pt x="126293" y="94968"/>
                    <a:pt x="126702" y="93945"/>
                  </a:cubicBezTo>
                  <a:lnTo>
                    <a:pt x="130669" y="83108"/>
                  </a:lnTo>
                  <a:cubicBezTo>
                    <a:pt x="131037" y="82045"/>
                    <a:pt x="130628" y="80900"/>
                    <a:pt x="129646" y="80369"/>
                  </a:cubicBezTo>
                  <a:lnTo>
                    <a:pt x="118196" y="74112"/>
                  </a:lnTo>
                  <a:cubicBezTo>
                    <a:pt x="119382" y="66996"/>
                    <a:pt x="119096" y="59553"/>
                    <a:pt x="117255" y="52274"/>
                  </a:cubicBezTo>
                  <a:lnTo>
                    <a:pt x="128133" y="45077"/>
                  </a:lnTo>
                  <a:cubicBezTo>
                    <a:pt x="129074" y="44463"/>
                    <a:pt x="129401" y="43236"/>
                    <a:pt x="128951" y="42255"/>
                  </a:cubicBezTo>
                  <a:lnTo>
                    <a:pt x="124085" y="31786"/>
                  </a:lnTo>
                  <a:cubicBezTo>
                    <a:pt x="123594" y="30764"/>
                    <a:pt x="122490" y="30273"/>
                    <a:pt x="121386" y="30559"/>
                  </a:cubicBezTo>
                  <a:lnTo>
                    <a:pt x="108872" y="34240"/>
                  </a:lnTo>
                  <a:cubicBezTo>
                    <a:pt x="104496" y="28146"/>
                    <a:pt x="99016" y="23157"/>
                    <a:pt x="92801" y="19477"/>
                  </a:cubicBezTo>
                  <a:lnTo>
                    <a:pt x="95377" y="6677"/>
                  </a:lnTo>
                  <a:cubicBezTo>
                    <a:pt x="95581" y="5573"/>
                    <a:pt x="94968" y="4509"/>
                    <a:pt x="93945" y="4100"/>
                  </a:cubicBezTo>
                  <a:lnTo>
                    <a:pt x="83109" y="134"/>
                  </a:lnTo>
                  <a:cubicBezTo>
                    <a:pt x="82045" y="-235"/>
                    <a:pt x="80900" y="174"/>
                    <a:pt x="80368" y="1156"/>
                  </a:cubicBezTo>
                  <a:lnTo>
                    <a:pt x="74112" y="12606"/>
                  </a:lnTo>
                  <a:cubicBezTo>
                    <a:pt x="66996" y="11420"/>
                    <a:pt x="59553" y="11707"/>
                    <a:pt x="52274" y="13547"/>
                  </a:cubicBezTo>
                  <a:lnTo>
                    <a:pt x="45077" y="2669"/>
                  </a:lnTo>
                  <a:cubicBezTo>
                    <a:pt x="44463" y="1728"/>
                    <a:pt x="43236" y="1401"/>
                    <a:pt x="42255" y="1851"/>
                  </a:cubicBezTo>
                  <a:lnTo>
                    <a:pt x="31786" y="6718"/>
                  </a:lnTo>
                  <a:cubicBezTo>
                    <a:pt x="30764" y="7208"/>
                    <a:pt x="30273" y="8313"/>
                    <a:pt x="30559" y="9416"/>
                  </a:cubicBezTo>
                  <a:lnTo>
                    <a:pt x="34240" y="21930"/>
                  </a:lnTo>
                  <a:cubicBezTo>
                    <a:pt x="28146" y="26306"/>
                    <a:pt x="23157" y="31786"/>
                    <a:pt x="19477" y="38002"/>
                  </a:cubicBezTo>
                  <a:lnTo>
                    <a:pt x="6677" y="35425"/>
                  </a:lnTo>
                  <a:cubicBezTo>
                    <a:pt x="5573" y="35221"/>
                    <a:pt x="4509" y="35835"/>
                    <a:pt x="4100" y="36857"/>
                  </a:cubicBezTo>
                  <a:lnTo>
                    <a:pt x="134" y="47694"/>
                  </a:lnTo>
                  <a:cubicBezTo>
                    <a:pt x="-234" y="48757"/>
                    <a:pt x="174" y="49902"/>
                    <a:pt x="1156" y="50434"/>
                  </a:cubicBezTo>
                  <a:lnTo>
                    <a:pt x="12607" y="56691"/>
                  </a:lnTo>
                  <a:cubicBezTo>
                    <a:pt x="11420" y="63806"/>
                    <a:pt x="11707" y="71249"/>
                    <a:pt x="13547" y="78528"/>
                  </a:cubicBezTo>
                  <a:lnTo>
                    <a:pt x="2669" y="85726"/>
                  </a:lnTo>
                  <a:cubicBezTo>
                    <a:pt x="1728" y="86339"/>
                    <a:pt x="1401" y="87566"/>
                    <a:pt x="1851" y="88548"/>
                  </a:cubicBezTo>
                  <a:close/>
                  <a:moveTo>
                    <a:pt x="51456" y="39842"/>
                  </a:moveTo>
                  <a:cubicBezTo>
                    <a:pt x="66873" y="31459"/>
                    <a:pt x="86053" y="38452"/>
                    <a:pt x="92473" y="54810"/>
                  </a:cubicBezTo>
                  <a:cubicBezTo>
                    <a:pt x="97749" y="68305"/>
                    <a:pt x="92064" y="83886"/>
                    <a:pt x="79346" y="90797"/>
                  </a:cubicBezTo>
                  <a:cubicBezTo>
                    <a:pt x="63929" y="99180"/>
                    <a:pt x="44750" y="92187"/>
                    <a:pt x="38329" y="75829"/>
                  </a:cubicBezTo>
                  <a:cubicBezTo>
                    <a:pt x="33054" y="62334"/>
                    <a:pt x="38738" y="46753"/>
                    <a:pt x="51456" y="39842"/>
                  </a:cubicBez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296" name="Graphic 2">
              <a:extLst>
                <a:ext uri="{FF2B5EF4-FFF2-40B4-BE49-F238E27FC236}">
                  <a16:creationId xmlns:a16="http://schemas.microsoft.com/office/drawing/2014/main" id="{AB3D5FFD-293D-BC64-966C-B8106C1CFC20}"/>
                </a:ext>
              </a:extLst>
            </p:cNvPr>
            <p:cNvGrpSpPr/>
            <p:nvPr/>
          </p:nvGrpSpPr>
          <p:grpSpPr>
            <a:xfrm>
              <a:off x="9046211" y="4417829"/>
              <a:ext cx="260398" cy="260396"/>
              <a:chOff x="6427100" y="5845840"/>
              <a:chExt cx="212735" cy="212735"/>
            </a:xfrm>
            <a:noFill/>
          </p:grpSpPr>
          <p:sp>
            <p:nvSpPr>
              <p:cNvPr id="297" name="Freeform: Shape 298">
                <a:extLst>
                  <a:ext uri="{FF2B5EF4-FFF2-40B4-BE49-F238E27FC236}">
                    <a16:creationId xmlns:a16="http://schemas.microsoft.com/office/drawing/2014/main" id="{39113790-DF04-616E-147E-0BF99998F8D5}"/>
                  </a:ext>
                </a:extLst>
              </p:cNvPr>
              <p:cNvSpPr/>
              <p:nvPr/>
            </p:nvSpPr>
            <p:spPr>
              <a:xfrm>
                <a:off x="6427100" y="5845840"/>
                <a:ext cx="212735" cy="212735"/>
              </a:xfrm>
              <a:custGeom>
                <a:avLst/>
                <a:gdLst>
                  <a:gd name="connsiteX0" fmla="*/ 210424 w 212735"/>
                  <a:gd name="connsiteY0" fmla="*/ 113545 h 212735"/>
                  <a:gd name="connsiteX1" fmla="*/ 190917 w 212735"/>
                  <a:gd name="connsiteY1" fmla="*/ 106633 h 212735"/>
                  <a:gd name="connsiteX2" fmla="*/ 190017 w 212735"/>
                  <a:gd name="connsiteY2" fmla="*/ 94120 h 212735"/>
                  <a:gd name="connsiteX3" fmla="*/ 208338 w 212735"/>
                  <a:gd name="connsiteY3" fmla="*/ 84510 h 212735"/>
                  <a:gd name="connsiteX4" fmla="*/ 210056 w 212735"/>
                  <a:gd name="connsiteY4" fmla="*/ 80175 h 212735"/>
                  <a:gd name="connsiteX5" fmla="*/ 204085 w 212735"/>
                  <a:gd name="connsiteY5" fmla="*/ 62958 h 212735"/>
                  <a:gd name="connsiteX6" fmla="*/ 200078 w 212735"/>
                  <a:gd name="connsiteY6" fmla="*/ 60627 h 212735"/>
                  <a:gd name="connsiteX7" fmla="*/ 179712 w 212735"/>
                  <a:gd name="connsiteY7" fmla="*/ 64390 h 212735"/>
                  <a:gd name="connsiteX8" fmla="*/ 172678 w 212735"/>
                  <a:gd name="connsiteY8" fmla="*/ 53961 h 212735"/>
                  <a:gd name="connsiteX9" fmla="*/ 183720 w 212735"/>
                  <a:gd name="connsiteY9" fmla="*/ 36500 h 212735"/>
                  <a:gd name="connsiteX10" fmla="*/ 183024 w 212735"/>
                  <a:gd name="connsiteY10" fmla="*/ 31879 h 212735"/>
                  <a:gd name="connsiteX11" fmla="*/ 169243 w 212735"/>
                  <a:gd name="connsiteY11" fmla="*/ 19937 h 212735"/>
                  <a:gd name="connsiteX12" fmla="*/ 164581 w 212735"/>
                  <a:gd name="connsiteY12" fmla="*/ 19937 h 212735"/>
                  <a:gd name="connsiteX13" fmla="*/ 148878 w 212735"/>
                  <a:gd name="connsiteY13" fmla="*/ 33351 h 212735"/>
                  <a:gd name="connsiteX14" fmla="*/ 137550 w 212735"/>
                  <a:gd name="connsiteY14" fmla="*/ 27871 h 212735"/>
                  <a:gd name="connsiteX15" fmla="*/ 138409 w 212735"/>
                  <a:gd name="connsiteY15" fmla="*/ 7178 h 212735"/>
                  <a:gd name="connsiteX16" fmla="*/ 135505 w 212735"/>
                  <a:gd name="connsiteY16" fmla="*/ 3539 h 212735"/>
                  <a:gd name="connsiteX17" fmla="*/ 117593 w 212735"/>
                  <a:gd name="connsiteY17" fmla="*/ 63 h 212735"/>
                  <a:gd name="connsiteX18" fmla="*/ 113545 w 212735"/>
                  <a:gd name="connsiteY18" fmla="*/ 2352 h 212735"/>
                  <a:gd name="connsiteX19" fmla="*/ 106634 w 212735"/>
                  <a:gd name="connsiteY19" fmla="*/ 21859 h 212735"/>
                  <a:gd name="connsiteX20" fmla="*/ 94120 w 212735"/>
                  <a:gd name="connsiteY20" fmla="*/ 22759 h 212735"/>
                  <a:gd name="connsiteX21" fmla="*/ 84510 w 212735"/>
                  <a:gd name="connsiteY21" fmla="*/ 4438 h 212735"/>
                  <a:gd name="connsiteX22" fmla="*/ 80175 w 212735"/>
                  <a:gd name="connsiteY22" fmla="*/ 2721 h 212735"/>
                  <a:gd name="connsiteX23" fmla="*/ 62958 w 212735"/>
                  <a:gd name="connsiteY23" fmla="*/ 8691 h 212735"/>
                  <a:gd name="connsiteX24" fmla="*/ 60627 w 212735"/>
                  <a:gd name="connsiteY24" fmla="*/ 12699 h 212735"/>
                  <a:gd name="connsiteX25" fmla="*/ 64390 w 212735"/>
                  <a:gd name="connsiteY25" fmla="*/ 33064 h 212735"/>
                  <a:gd name="connsiteX26" fmla="*/ 53961 w 212735"/>
                  <a:gd name="connsiteY26" fmla="*/ 40058 h 212735"/>
                  <a:gd name="connsiteX27" fmla="*/ 36500 w 212735"/>
                  <a:gd name="connsiteY27" fmla="*/ 29016 h 212735"/>
                  <a:gd name="connsiteX28" fmla="*/ 31879 w 212735"/>
                  <a:gd name="connsiteY28" fmla="*/ 29711 h 212735"/>
                  <a:gd name="connsiteX29" fmla="*/ 19938 w 212735"/>
                  <a:gd name="connsiteY29" fmla="*/ 43493 h 212735"/>
                  <a:gd name="connsiteX30" fmla="*/ 19938 w 212735"/>
                  <a:gd name="connsiteY30" fmla="*/ 48155 h 212735"/>
                  <a:gd name="connsiteX31" fmla="*/ 33351 w 212735"/>
                  <a:gd name="connsiteY31" fmla="*/ 63858 h 212735"/>
                  <a:gd name="connsiteX32" fmla="*/ 27871 w 212735"/>
                  <a:gd name="connsiteY32" fmla="*/ 75186 h 212735"/>
                  <a:gd name="connsiteX33" fmla="*/ 7178 w 212735"/>
                  <a:gd name="connsiteY33" fmla="*/ 74327 h 212735"/>
                  <a:gd name="connsiteX34" fmla="*/ 3539 w 212735"/>
                  <a:gd name="connsiteY34" fmla="*/ 77230 h 212735"/>
                  <a:gd name="connsiteX35" fmla="*/ 63 w 212735"/>
                  <a:gd name="connsiteY35" fmla="*/ 95142 h 212735"/>
                  <a:gd name="connsiteX36" fmla="*/ 2353 w 212735"/>
                  <a:gd name="connsiteY36" fmla="*/ 99191 h 212735"/>
                  <a:gd name="connsiteX37" fmla="*/ 21859 w 212735"/>
                  <a:gd name="connsiteY37" fmla="*/ 106102 h 212735"/>
                  <a:gd name="connsiteX38" fmla="*/ 22759 w 212735"/>
                  <a:gd name="connsiteY38" fmla="*/ 118616 h 212735"/>
                  <a:gd name="connsiteX39" fmla="*/ 4438 w 212735"/>
                  <a:gd name="connsiteY39" fmla="*/ 128226 h 212735"/>
                  <a:gd name="connsiteX40" fmla="*/ 2721 w 212735"/>
                  <a:gd name="connsiteY40" fmla="*/ 132561 h 212735"/>
                  <a:gd name="connsiteX41" fmla="*/ 8692 w 212735"/>
                  <a:gd name="connsiteY41" fmla="*/ 149777 h 212735"/>
                  <a:gd name="connsiteX42" fmla="*/ 12699 w 212735"/>
                  <a:gd name="connsiteY42" fmla="*/ 152108 h 212735"/>
                  <a:gd name="connsiteX43" fmla="*/ 33064 w 212735"/>
                  <a:gd name="connsiteY43" fmla="*/ 148346 h 212735"/>
                  <a:gd name="connsiteX44" fmla="*/ 40058 w 212735"/>
                  <a:gd name="connsiteY44" fmla="*/ 158774 h 212735"/>
                  <a:gd name="connsiteX45" fmla="*/ 29016 w 212735"/>
                  <a:gd name="connsiteY45" fmla="*/ 176236 h 212735"/>
                  <a:gd name="connsiteX46" fmla="*/ 29711 w 212735"/>
                  <a:gd name="connsiteY46" fmla="*/ 180857 h 212735"/>
                  <a:gd name="connsiteX47" fmla="*/ 43493 w 212735"/>
                  <a:gd name="connsiteY47" fmla="*/ 192798 h 212735"/>
                  <a:gd name="connsiteX48" fmla="*/ 48155 w 212735"/>
                  <a:gd name="connsiteY48" fmla="*/ 192798 h 212735"/>
                  <a:gd name="connsiteX49" fmla="*/ 63858 w 212735"/>
                  <a:gd name="connsiteY49" fmla="*/ 179385 h 212735"/>
                  <a:gd name="connsiteX50" fmla="*/ 75186 w 212735"/>
                  <a:gd name="connsiteY50" fmla="*/ 184864 h 212735"/>
                  <a:gd name="connsiteX51" fmla="*/ 74327 w 212735"/>
                  <a:gd name="connsiteY51" fmla="*/ 205557 h 212735"/>
                  <a:gd name="connsiteX52" fmla="*/ 77230 w 212735"/>
                  <a:gd name="connsiteY52" fmla="*/ 209197 h 212735"/>
                  <a:gd name="connsiteX53" fmla="*/ 95142 w 212735"/>
                  <a:gd name="connsiteY53" fmla="*/ 212673 h 212735"/>
                  <a:gd name="connsiteX54" fmla="*/ 99191 w 212735"/>
                  <a:gd name="connsiteY54" fmla="*/ 210383 h 212735"/>
                  <a:gd name="connsiteX55" fmla="*/ 106102 w 212735"/>
                  <a:gd name="connsiteY55" fmla="*/ 190876 h 212735"/>
                  <a:gd name="connsiteX56" fmla="*/ 118616 w 212735"/>
                  <a:gd name="connsiteY56" fmla="*/ 189976 h 212735"/>
                  <a:gd name="connsiteX57" fmla="*/ 128226 w 212735"/>
                  <a:gd name="connsiteY57" fmla="*/ 208297 h 212735"/>
                  <a:gd name="connsiteX58" fmla="*/ 132561 w 212735"/>
                  <a:gd name="connsiteY58" fmla="*/ 210015 h 212735"/>
                  <a:gd name="connsiteX59" fmla="*/ 149777 w 212735"/>
                  <a:gd name="connsiteY59" fmla="*/ 204044 h 212735"/>
                  <a:gd name="connsiteX60" fmla="*/ 152108 w 212735"/>
                  <a:gd name="connsiteY60" fmla="*/ 200037 h 212735"/>
                  <a:gd name="connsiteX61" fmla="*/ 148346 w 212735"/>
                  <a:gd name="connsiteY61" fmla="*/ 179671 h 212735"/>
                  <a:gd name="connsiteX62" fmla="*/ 158774 w 212735"/>
                  <a:gd name="connsiteY62" fmla="*/ 172637 h 212735"/>
                  <a:gd name="connsiteX63" fmla="*/ 176236 w 212735"/>
                  <a:gd name="connsiteY63" fmla="*/ 183679 h 212735"/>
                  <a:gd name="connsiteX64" fmla="*/ 180857 w 212735"/>
                  <a:gd name="connsiteY64" fmla="*/ 182983 h 212735"/>
                  <a:gd name="connsiteX65" fmla="*/ 192798 w 212735"/>
                  <a:gd name="connsiteY65" fmla="*/ 169202 h 212735"/>
                  <a:gd name="connsiteX66" fmla="*/ 192798 w 212735"/>
                  <a:gd name="connsiteY66" fmla="*/ 164540 h 212735"/>
                  <a:gd name="connsiteX67" fmla="*/ 179385 w 212735"/>
                  <a:gd name="connsiteY67" fmla="*/ 148837 h 212735"/>
                  <a:gd name="connsiteX68" fmla="*/ 184865 w 212735"/>
                  <a:gd name="connsiteY68" fmla="*/ 137509 h 212735"/>
                  <a:gd name="connsiteX69" fmla="*/ 205557 w 212735"/>
                  <a:gd name="connsiteY69" fmla="*/ 138367 h 212735"/>
                  <a:gd name="connsiteX70" fmla="*/ 209197 w 212735"/>
                  <a:gd name="connsiteY70" fmla="*/ 135464 h 212735"/>
                  <a:gd name="connsiteX71" fmla="*/ 212673 w 212735"/>
                  <a:gd name="connsiteY71" fmla="*/ 117552 h 212735"/>
                  <a:gd name="connsiteX72" fmla="*/ 210383 w 212735"/>
                  <a:gd name="connsiteY72" fmla="*/ 113504 h 2127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212735" h="212735">
                    <a:moveTo>
                      <a:pt x="210424" y="113545"/>
                    </a:moveTo>
                    <a:lnTo>
                      <a:pt x="190917" y="106633"/>
                    </a:lnTo>
                    <a:cubicBezTo>
                      <a:pt x="190917" y="102422"/>
                      <a:pt x="190631" y="98250"/>
                      <a:pt x="190017" y="94120"/>
                    </a:cubicBezTo>
                    <a:lnTo>
                      <a:pt x="208338" y="84510"/>
                    </a:lnTo>
                    <a:cubicBezTo>
                      <a:pt x="209892" y="83692"/>
                      <a:pt x="210628" y="81852"/>
                      <a:pt x="210056" y="80175"/>
                    </a:cubicBezTo>
                    <a:lnTo>
                      <a:pt x="204085" y="62958"/>
                    </a:lnTo>
                    <a:cubicBezTo>
                      <a:pt x="203513" y="61282"/>
                      <a:pt x="201795" y="60300"/>
                      <a:pt x="200078" y="60627"/>
                    </a:cubicBezTo>
                    <a:lnTo>
                      <a:pt x="179712" y="64390"/>
                    </a:lnTo>
                    <a:cubicBezTo>
                      <a:pt x="177627" y="60791"/>
                      <a:pt x="175336" y="57274"/>
                      <a:pt x="172678" y="53961"/>
                    </a:cubicBezTo>
                    <a:lnTo>
                      <a:pt x="183720" y="36500"/>
                    </a:lnTo>
                    <a:cubicBezTo>
                      <a:pt x="184660" y="35028"/>
                      <a:pt x="184374" y="33064"/>
                      <a:pt x="183024" y="31879"/>
                    </a:cubicBezTo>
                    <a:lnTo>
                      <a:pt x="169243" y="19937"/>
                    </a:lnTo>
                    <a:cubicBezTo>
                      <a:pt x="167894" y="18792"/>
                      <a:pt x="165931" y="18792"/>
                      <a:pt x="164581" y="19937"/>
                    </a:cubicBezTo>
                    <a:lnTo>
                      <a:pt x="148878" y="33351"/>
                    </a:lnTo>
                    <a:cubicBezTo>
                      <a:pt x="145197" y="31224"/>
                      <a:pt x="141435" y="29425"/>
                      <a:pt x="137550" y="27871"/>
                    </a:cubicBezTo>
                    <a:lnTo>
                      <a:pt x="138409" y="7178"/>
                    </a:lnTo>
                    <a:cubicBezTo>
                      <a:pt x="138490" y="5420"/>
                      <a:pt x="137264" y="3866"/>
                      <a:pt x="135505" y="3539"/>
                    </a:cubicBezTo>
                    <a:lnTo>
                      <a:pt x="117593" y="63"/>
                    </a:lnTo>
                    <a:cubicBezTo>
                      <a:pt x="115876" y="-264"/>
                      <a:pt x="114158" y="717"/>
                      <a:pt x="113545" y="2352"/>
                    </a:cubicBezTo>
                    <a:lnTo>
                      <a:pt x="106634" y="21859"/>
                    </a:lnTo>
                    <a:cubicBezTo>
                      <a:pt x="102422" y="21859"/>
                      <a:pt x="98250" y="22146"/>
                      <a:pt x="94120" y="22759"/>
                    </a:cubicBezTo>
                    <a:lnTo>
                      <a:pt x="84510" y="4438"/>
                    </a:lnTo>
                    <a:cubicBezTo>
                      <a:pt x="83692" y="2884"/>
                      <a:pt x="81852" y="2148"/>
                      <a:pt x="80175" y="2721"/>
                    </a:cubicBezTo>
                    <a:lnTo>
                      <a:pt x="62958" y="8691"/>
                    </a:lnTo>
                    <a:cubicBezTo>
                      <a:pt x="61282" y="9264"/>
                      <a:pt x="60300" y="10982"/>
                      <a:pt x="60627" y="12699"/>
                    </a:cubicBezTo>
                    <a:lnTo>
                      <a:pt x="64390" y="33064"/>
                    </a:lnTo>
                    <a:cubicBezTo>
                      <a:pt x="60791" y="35150"/>
                      <a:pt x="57274" y="37440"/>
                      <a:pt x="53961" y="40058"/>
                    </a:cubicBezTo>
                    <a:lnTo>
                      <a:pt x="36500" y="29016"/>
                    </a:lnTo>
                    <a:cubicBezTo>
                      <a:pt x="35028" y="28075"/>
                      <a:pt x="33064" y="28362"/>
                      <a:pt x="31879" y="29711"/>
                    </a:cubicBezTo>
                    <a:lnTo>
                      <a:pt x="19938" y="43493"/>
                    </a:lnTo>
                    <a:cubicBezTo>
                      <a:pt x="18792" y="44842"/>
                      <a:pt x="18792" y="46805"/>
                      <a:pt x="19938" y="48155"/>
                    </a:cubicBezTo>
                    <a:lnTo>
                      <a:pt x="33351" y="63858"/>
                    </a:lnTo>
                    <a:cubicBezTo>
                      <a:pt x="31224" y="67538"/>
                      <a:pt x="29425" y="71301"/>
                      <a:pt x="27871" y="75186"/>
                    </a:cubicBezTo>
                    <a:lnTo>
                      <a:pt x="7178" y="74327"/>
                    </a:lnTo>
                    <a:cubicBezTo>
                      <a:pt x="5420" y="74245"/>
                      <a:pt x="3866" y="75472"/>
                      <a:pt x="3539" y="77230"/>
                    </a:cubicBezTo>
                    <a:lnTo>
                      <a:pt x="63" y="95142"/>
                    </a:lnTo>
                    <a:cubicBezTo>
                      <a:pt x="-264" y="96860"/>
                      <a:pt x="717" y="98577"/>
                      <a:pt x="2353" y="99191"/>
                    </a:cubicBezTo>
                    <a:lnTo>
                      <a:pt x="21859" y="106102"/>
                    </a:lnTo>
                    <a:cubicBezTo>
                      <a:pt x="21859" y="110314"/>
                      <a:pt x="22146" y="114485"/>
                      <a:pt x="22759" y="118616"/>
                    </a:cubicBezTo>
                    <a:lnTo>
                      <a:pt x="4438" y="128226"/>
                    </a:lnTo>
                    <a:cubicBezTo>
                      <a:pt x="2884" y="129044"/>
                      <a:pt x="2148" y="130884"/>
                      <a:pt x="2721" y="132561"/>
                    </a:cubicBezTo>
                    <a:lnTo>
                      <a:pt x="8692" y="149777"/>
                    </a:lnTo>
                    <a:cubicBezTo>
                      <a:pt x="9264" y="151454"/>
                      <a:pt x="10982" y="152435"/>
                      <a:pt x="12699" y="152108"/>
                    </a:cubicBezTo>
                    <a:lnTo>
                      <a:pt x="33064" y="148346"/>
                    </a:lnTo>
                    <a:cubicBezTo>
                      <a:pt x="35150" y="151945"/>
                      <a:pt x="37440" y="155462"/>
                      <a:pt x="40058" y="158774"/>
                    </a:cubicBezTo>
                    <a:lnTo>
                      <a:pt x="29016" y="176236"/>
                    </a:lnTo>
                    <a:cubicBezTo>
                      <a:pt x="28075" y="177708"/>
                      <a:pt x="28362" y="179671"/>
                      <a:pt x="29711" y="180857"/>
                    </a:cubicBezTo>
                    <a:lnTo>
                      <a:pt x="43493" y="192798"/>
                    </a:lnTo>
                    <a:cubicBezTo>
                      <a:pt x="44842" y="193943"/>
                      <a:pt x="46805" y="193943"/>
                      <a:pt x="48155" y="192798"/>
                    </a:cubicBezTo>
                    <a:lnTo>
                      <a:pt x="63858" y="179385"/>
                    </a:lnTo>
                    <a:cubicBezTo>
                      <a:pt x="67538" y="181511"/>
                      <a:pt x="71301" y="183310"/>
                      <a:pt x="75186" y="184864"/>
                    </a:cubicBezTo>
                    <a:lnTo>
                      <a:pt x="74327" y="205557"/>
                    </a:lnTo>
                    <a:cubicBezTo>
                      <a:pt x="74245" y="207315"/>
                      <a:pt x="75472" y="208869"/>
                      <a:pt x="77230" y="209197"/>
                    </a:cubicBezTo>
                    <a:lnTo>
                      <a:pt x="95142" y="212673"/>
                    </a:lnTo>
                    <a:cubicBezTo>
                      <a:pt x="96860" y="213000"/>
                      <a:pt x="98577" y="212018"/>
                      <a:pt x="99191" y="210383"/>
                    </a:cubicBezTo>
                    <a:lnTo>
                      <a:pt x="106102" y="190876"/>
                    </a:lnTo>
                    <a:cubicBezTo>
                      <a:pt x="110314" y="190876"/>
                      <a:pt x="114485" y="190590"/>
                      <a:pt x="118616" y="189976"/>
                    </a:cubicBezTo>
                    <a:lnTo>
                      <a:pt x="128226" y="208297"/>
                    </a:lnTo>
                    <a:cubicBezTo>
                      <a:pt x="129044" y="209851"/>
                      <a:pt x="130884" y="210587"/>
                      <a:pt x="132561" y="210015"/>
                    </a:cubicBezTo>
                    <a:lnTo>
                      <a:pt x="149777" y="204044"/>
                    </a:lnTo>
                    <a:cubicBezTo>
                      <a:pt x="151454" y="203472"/>
                      <a:pt x="152435" y="201754"/>
                      <a:pt x="152108" y="200037"/>
                    </a:cubicBezTo>
                    <a:lnTo>
                      <a:pt x="148346" y="179671"/>
                    </a:lnTo>
                    <a:cubicBezTo>
                      <a:pt x="151945" y="177586"/>
                      <a:pt x="155462" y="175295"/>
                      <a:pt x="158774" y="172637"/>
                    </a:cubicBezTo>
                    <a:lnTo>
                      <a:pt x="176236" y="183679"/>
                    </a:lnTo>
                    <a:cubicBezTo>
                      <a:pt x="177708" y="184619"/>
                      <a:pt x="179671" y="184333"/>
                      <a:pt x="180857" y="182983"/>
                    </a:cubicBezTo>
                    <a:lnTo>
                      <a:pt x="192798" y="169202"/>
                    </a:lnTo>
                    <a:cubicBezTo>
                      <a:pt x="193943" y="167853"/>
                      <a:pt x="193943" y="165890"/>
                      <a:pt x="192798" y="164540"/>
                    </a:cubicBezTo>
                    <a:lnTo>
                      <a:pt x="179385" y="148837"/>
                    </a:lnTo>
                    <a:cubicBezTo>
                      <a:pt x="181511" y="145156"/>
                      <a:pt x="183311" y="141394"/>
                      <a:pt x="184865" y="137509"/>
                    </a:cubicBezTo>
                    <a:lnTo>
                      <a:pt x="205557" y="138367"/>
                    </a:lnTo>
                    <a:cubicBezTo>
                      <a:pt x="207316" y="138449"/>
                      <a:pt x="208870" y="137223"/>
                      <a:pt x="209197" y="135464"/>
                    </a:cubicBezTo>
                    <a:lnTo>
                      <a:pt x="212673" y="117552"/>
                    </a:lnTo>
                    <a:cubicBezTo>
                      <a:pt x="213000" y="115835"/>
                      <a:pt x="212019" y="114117"/>
                      <a:pt x="210383" y="113504"/>
                    </a:cubicBez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298" name="Freeform: Shape 299">
                <a:extLst>
                  <a:ext uri="{FF2B5EF4-FFF2-40B4-BE49-F238E27FC236}">
                    <a16:creationId xmlns:a16="http://schemas.microsoft.com/office/drawing/2014/main" id="{5D0AA7FA-56FA-CA08-3619-6646CD3C16A4}"/>
                  </a:ext>
                </a:extLst>
              </p:cNvPr>
              <p:cNvSpPr/>
              <p:nvPr/>
            </p:nvSpPr>
            <p:spPr>
              <a:xfrm rot="-1666199">
                <a:off x="6483053" y="5901336"/>
                <a:ext cx="101336" cy="101336"/>
              </a:xfrm>
              <a:custGeom>
                <a:avLst/>
                <a:gdLst>
                  <a:gd name="connsiteX0" fmla="*/ 101337 w 101336"/>
                  <a:gd name="connsiteY0" fmla="*/ 50668 h 101336"/>
                  <a:gd name="connsiteX1" fmla="*/ 50668 w 101336"/>
                  <a:gd name="connsiteY1" fmla="*/ 101336 h 101336"/>
                  <a:gd name="connsiteX2" fmla="*/ 0 w 101336"/>
                  <a:gd name="connsiteY2" fmla="*/ 50668 h 101336"/>
                  <a:gd name="connsiteX3" fmla="*/ 50668 w 101336"/>
                  <a:gd name="connsiteY3" fmla="*/ 0 h 101336"/>
                  <a:gd name="connsiteX4" fmla="*/ 101337 w 101336"/>
                  <a:gd name="connsiteY4" fmla="*/ 50668 h 101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336" h="101336">
                    <a:moveTo>
                      <a:pt x="101337" y="50668"/>
                    </a:moveTo>
                    <a:cubicBezTo>
                      <a:pt x="101337" y="78651"/>
                      <a:pt x="78652" y="101336"/>
                      <a:pt x="50668" y="101336"/>
                    </a:cubicBezTo>
                    <a:cubicBezTo>
                      <a:pt x="22685" y="101336"/>
                      <a:pt x="0" y="78651"/>
                      <a:pt x="0" y="50668"/>
                    </a:cubicBezTo>
                    <a:cubicBezTo>
                      <a:pt x="0" y="22685"/>
                      <a:pt x="22685" y="0"/>
                      <a:pt x="50668" y="0"/>
                    </a:cubicBezTo>
                    <a:cubicBezTo>
                      <a:pt x="78652" y="0"/>
                      <a:pt x="101337" y="22685"/>
                      <a:pt x="101337" y="50668"/>
                    </a:cubicBez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grpSp>
        <p:nvGrpSpPr>
          <p:cNvPr id="299" name="Group 298">
            <a:extLst>
              <a:ext uri="{FF2B5EF4-FFF2-40B4-BE49-F238E27FC236}">
                <a16:creationId xmlns:a16="http://schemas.microsoft.com/office/drawing/2014/main" id="{8DFD044F-2D81-1186-265F-CA30F0AADB95}"/>
              </a:ext>
            </a:extLst>
          </p:cNvPr>
          <p:cNvGrpSpPr/>
          <p:nvPr/>
        </p:nvGrpSpPr>
        <p:grpSpPr>
          <a:xfrm>
            <a:off x="8626663" y="4407879"/>
            <a:ext cx="438912" cy="438912"/>
            <a:chOff x="8602357" y="3800527"/>
            <a:chExt cx="422500" cy="364894"/>
          </a:xfrm>
        </p:grpSpPr>
        <p:grpSp>
          <p:nvGrpSpPr>
            <p:cNvPr id="300" name="Graphic 535">
              <a:extLst>
                <a:ext uri="{FF2B5EF4-FFF2-40B4-BE49-F238E27FC236}">
                  <a16:creationId xmlns:a16="http://schemas.microsoft.com/office/drawing/2014/main" id="{1A4E404D-3FCC-B3A7-F527-710FD40F4BD0}"/>
                </a:ext>
              </a:extLst>
            </p:cNvPr>
            <p:cNvGrpSpPr/>
            <p:nvPr/>
          </p:nvGrpSpPr>
          <p:grpSpPr>
            <a:xfrm>
              <a:off x="8602357" y="3800527"/>
              <a:ext cx="422500" cy="364894"/>
              <a:chOff x="7917566" y="3555031"/>
              <a:chExt cx="366142" cy="316220"/>
            </a:xfrm>
            <a:noFill/>
          </p:grpSpPr>
          <p:sp>
            <p:nvSpPr>
              <p:cNvPr id="302" name="Freeform: Shape 311">
                <a:extLst>
                  <a:ext uri="{FF2B5EF4-FFF2-40B4-BE49-F238E27FC236}">
                    <a16:creationId xmlns:a16="http://schemas.microsoft.com/office/drawing/2014/main" id="{CDCDC5B4-8D87-D529-B1BD-765A553D5E77}"/>
                  </a:ext>
                </a:extLst>
              </p:cNvPr>
              <p:cNvSpPr/>
              <p:nvPr/>
            </p:nvSpPr>
            <p:spPr>
              <a:xfrm>
                <a:off x="7917566" y="3555031"/>
                <a:ext cx="366142" cy="316220"/>
              </a:xfrm>
              <a:custGeom>
                <a:avLst/>
                <a:gdLst>
                  <a:gd name="connsiteX0" fmla="*/ 301945 w 366142"/>
                  <a:gd name="connsiteY0" fmla="*/ 176346 h 316220"/>
                  <a:gd name="connsiteX1" fmla="*/ 204402 w 366142"/>
                  <a:gd name="connsiteY1" fmla="*/ 11416 h 316220"/>
                  <a:gd name="connsiteX2" fmla="*/ 161699 w 366142"/>
                  <a:gd name="connsiteY2" fmla="*/ 11416 h 316220"/>
                  <a:gd name="connsiteX3" fmla="*/ 161699 w 366142"/>
                  <a:gd name="connsiteY3" fmla="*/ 11416 h 316220"/>
                  <a:gd name="connsiteX4" fmla="*/ 3105 w 366142"/>
                  <a:gd name="connsiteY4" fmla="*/ 279648 h 316220"/>
                  <a:gd name="connsiteX5" fmla="*/ 24457 w 366142"/>
                  <a:gd name="connsiteY5" fmla="*/ 316221 h 316220"/>
                  <a:gd name="connsiteX6" fmla="*/ 341685 w 366142"/>
                  <a:gd name="connsiteY6" fmla="*/ 316221 h 316220"/>
                  <a:gd name="connsiteX7" fmla="*/ 363037 w 366142"/>
                  <a:gd name="connsiteY7" fmla="*/ 279648 h 316220"/>
                  <a:gd name="connsiteX8" fmla="*/ 331277 w 366142"/>
                  <a:gd name="connsiteY8" fmla="*/ 224767 h 31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142" h="316220">
                    <a:moveTo>
                      <a:pt x="301945" y="176346"/>
                    </a:moveTo>
                    <a:cubicBezTo>
                      <a:pt x="253934" y="95177"/>
                      <a:pt x="332347" y="227729"/>
                      <a:pt x="204402" y="11416"/>
                    </a:cubicBezTo>
                    <a:cubicBezTo>
                      <a:pt x="195269" y="-3805"/>
                      <a:pt x="170832" y="-3805"/>
                      <a:pt x="161699" y="11416"/>
                    </a:cubicBezTo>
                    <a:lnTo>
                      <a:pt x="161699" y="11416"/>
                    </a:lnTo>
                    <a:cubicBezTo>
                      <a:pt x="3064" y="279689"/>
                      <a:pt x="161699" y="11375"/>
                      <a:pt x="3105" y="279648"/>
                    </a:cubicBezTo>
                    <a:cubicBezTo>
                      <a:pt x="-6028" y="294869"/>
                      <a:pt x="6150" y="316221"/>
                      <a:pt x="24457" y="316221"/>
                    </a:cubicBezTo>
                    <a:cubicBezTo>
                      <a:pt x="341891" y="316221"/>
                      <a:pt x="24210" y="316221"/>
                      <a:pt x="341685" y="316221"/>
                    </a:cubicBezTo>
                    <a:cubicBezTo>
                      <a:pt x="359993" y="316221"/>
                      <a:pt x="372170" y="294869"/>
                      <a:pt x="363037" y="279648"/>
                    </a:cubicBezTo>
                    <a:cubicBezTo>
                      <a:pt x="357113" y="269609"/>
                      <a:pt x="331277" y="224767"/>
                      <a:pt x="331277" y="224767"/>
                    </a:cubicBezTo>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03" name="Freeform: Shape 312">
                <a:extLst>
                  <a:ext uri="{FF2B5EF4-FFF2-40B4-BE49-F238E27FC236}">
                    <a16:creationId xmlns:a16="http://schemas.microsoft.com/office/drawing/2014/main" id="{3DD2DB1A-3301-9BFE-A0FF-993821B8FB56}"/>
                  </a:ext>
                </a:extLst>
              </p:cNvPr>
              <p:cNvSpPr/>
              <p:nvPr/>
            </p:nvSpPr>
            <p:spPr>
              <a:xfrm>
                <a:off x="8227368" y="3743801"/>
                <a:ext cx="12053" cy="20364"/>
              </a:xfrm>
              <a:custGeom>
                <a:avLst/>
                <a:gdLst>
                  <a:gd name="connsiteX0" fmla="*/ 12054 w 12053"/>
                  <a:gd name="connsiteY0" fmla="*/ 20364 h 20364"/>
                  <a:gd name="connsiteX1" fmla="*/ 0 w 12053"/>
                  <a:gd name="connsiteY1" fmla="*/ 0 h 20364"/>
                </a:gdLst>
                <a:ahLst/>
                <a:cxnLst>
                  <a:cxn ang="0">
                    <a:pos x="connsiteX0" y="connsiteY0"/>
                  </a:cxn>
                  <a:cxn ang="0">
                    <a:pos x="connsiteX1" y="connsiteY1"/>
                  </a:cxn>
                </a:cxnLst>
                <a:rect l="l" t="t" r="r" b="b"/>
                <a:pathLst>
                  <a:path w="12053" h="20364">
                    <a:moveTo>
                      <a:pt x="12054" y="20364"/>
                    </a:moveTo>
                    <a:lnTo>
                      <a:pt x="0" y="0"/>
                    </a:lnTo>
                  </a:path>
                </a:pathLst>
              </a:custGeom>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301" name="Freeform: Shape 310">
              <a:extLst>
                <a:ext uri="{FF2B5EF4-FFF2-40B4-BE49-F238E27FC236}">
                  <a16:creationId xmlns:a16="http://schemas.microsoft.com/office/drawing/2014/main" id="{8C70AF09-1AC2-CE68-BB28-0862DA3EDFB5}"/>
                </a:ext>
              </a:extLst>
            </p:cNvPr>
            <p:cNvSpPr/>
            <p:nvPr/>
          </p:nvSpPr>
          <p:spPr>
            <a:xfrm>
              <a:off x="8791177" y="3875890"/>
              <a:ext cx="44813" cy="248374"/>
            </a:xfrm>
            <a:custGeom>
              <a:avLst/>
              <a:gdLst>
                <a:gd name="connsiteX0" fmla="*/ 19418 w 38835"/>
                <a:gd name="connsiteY0" fmla="*/ 215243 h 215243"/>
                <a:gd name="connsiteX1" fmla="*/ 5389 w 38835"/>
                <a:gd name="connsiteY1" fmla="*/ 209730 h 215243"/>
                <a:gd name="connsiteX2" fmla="*/ 0 w 38835"/>
                <a:gd name="connsiteY2" fmla="*/ 195537 h 215243"/>
                <a:gd name="connsiteX3" fmla="*/ 5389 w 38835"/>
                <a:gd name="connsiteY3" fmla="*/ 181344 h 215243"/>
                <a:gd name="connsiteX4" fmla="*/ 19418 w 38835"/>
                <a:gd name="connsiteY4" fmla="*/ 175831 h 215243"/>
                <a:gd name="connsiteX5" fmla="*/ 33447 w 38835"/>
                <a:gd name="connsiteY5" fmla="*/ 181344 h 215243"/>
                <a:gd name="connsiteX6" fmla="*/ 38836 w 38835"/>
                <a:gd name="connsiteY6" fmla="*/ 195537 h 215243"/>
                <a:gd name="connsiteX7" fmla="*/ 33447 w 38835"/>
                <a:gd name="connsiteY7" fmla="*/ 209730 h 215243"/>
                <a:gd name="connsiteX8" fmla="*/ 19418 w 38835"/>
                <a:gd name="connsiteY8" fmla="*/ 215243 h 215243"/>
                <a:gd name="connsiteX9" fmla="*/ 7199 w 38835"/>
                <a:gd name="connsiteY9" fmla="*/ 148062 h 215243"/>
                <a:gd name="connsiteX10" fmla="*/ 3003 w 38835"/>
                <a:gd name="connsiteY10" fmla="*/ 3867 h 215243"/>
                <a:gd name="connsiteX11" fmla="*/ 19418 w 38835"/>
                <a:gd name="connsiteY11" fmla="*/ 0 h 215243"/>
                <a:gd name="connsiteX12" fmla="*/ 35833 w 38835"/>
                <a:gd name="connsiteY12" fmla="*/ 3867 h 215243"/>
                <a:gd name="connsiteX13" fmla="*/ 31636 w 38835"/>
                <a:gd name="connsiteY13" fmla="*/ 148062 h 215243"/>
                <a:gd name="connsiteX14" fmla="*/ 7158 w 38835"/>
                <a:gd name="connsiteY14" fmla="*/ 148062 h 2152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835" h="215243">
                  <a:moveTo>
                    <a:pt x="19418" y="215243"/>
                  </a:moveTo>
                  <a:cubicBezTo>
                    <a:pt x="13658" y="215243"/>
                    <a:pt x="8968" y="213392"/>
                    <a:pt x="5389" y="209730"/>
                  </a:cubicBezTo>
                  <a:cubicBezTo>
                    <a:pt x="1810" y="206028"/>
                    <a:pt x="0" y="201338"/>
                    <a:pt x="0" y="195537"/>
                  </a:cubicBezTo>
                  <a:cubicBezTo>
                    <a:pt x="0" y="189737"/>
                    <a:pt x="1810" y="185047"/>
                    <a:pt x="5389" y="181344"/>
                  </a:cubicBezTo>
                  <a:cubicBezTo>
                    <a:pt x="8968" y="177683"/>
                    <a:pt x="13658" y="175831"/>
                    <a:pt x="19418" y="175831"/>
                  </a:cubicBezTo>
                  <a:cubicBezTo>
                    <a:pt x="25178" y="175831"/>
                    <a:pt x="29868" y="177683"/>
                    <a:pt x="33447" y="181344"/>
                  </a:cubicBezTo>
                  <a:cubicBezTo>
                    <a:pt x="37026" y="185047"/>
                    <a:pt x="38836" y="189737"/>
                    <a:pt x="38836" y="195537"/>
                  </a:cubicBezTo>
                  <a:cubicBezTo>
                    <a:pt x="38836" y="201338"/>
                    <a:pt x="37067" y="206028"/>
                    <a:pt x="33447" y="209730"/>
                  </a:cubicBezTo>
                  <a:cubicBezTo>
                    <a:pt x="29868" y="213392"/>
                    <a:pt x="25178" y="215243"/>
                    <a:pt x="19418" y="215243"/>
                  </a:cubicBezTo>
                  <a:close/>
                  <a:moveTo>
                    <a:pt x="7199" y="148062"/>
                  </a:moveTo>
                  <a:lnTo>
                    <a:pt x="3003" y="3867"/>
                  </a:lnTo>
                  <a:cubicBezTo>
                    <a:pt x="8187" y="1275"/>
                    <a:pt x="13658" y="0"/>
                    <a:pt x="19418" y="0"/>
                  </a:cubicBezTo>
                  <a:cubicBezTo>
                    <a:pt x="25178" y="0"/>
                    <a:pt x="30649" y="1317"/>
                    <a:pt x="35833" y="3867"/>
                  </a:cubicBezTo>
                  <a:lnTo>
                    <a:pt x="31636" y="148062"/>
                  </a:lnTo>
                  <a:lnTo>
                    <a:pt x="7158" y="148062"/>
                  </a:lnTo>
                  <a:close/>
                </a:path>
              </a:pathLst>
            </a:custGeom>
            <a:noFill/>
            <a:ln w="12700"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pic>
        <p:nvPicPr>
          <p:cNvPr id="304" name="Graphic 303" descr="Bullseye with solid fill">
            <a:extLst>
              <a:ext uri="{FF2B5EF4-FFF2-40B4-BE49-F238E27FC236}">
                <a16:creationId xmlns:a16="http://schemas.microsoft.com/office/drawing/2014/main" id="{54F90FD2-BCCC-7E67-BA96-1794DD745D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81415" y="5418714"/>
            <a:ext cx="438912" cy="438912"/>
          </a:xfrm>
          <a:prstGeom prst="rect">
            <a:avLst/>
          </a:prstGeom>
        </p:spPr>
      </p:pic>
      <p:sp>
        <p:nvSpPr>
          <p:cNvPr id="305" name="Text Placeholder 11">
            <a:extLst>
              <a:ext uri="{FF2B5EF4-FFF2-40B4-BE49-F238E27FC236}">
                <a16:creationId xmlns:a16="http://schemas.microsoft.com/office/drawing/2014/main" id="{D425D918-37CA-318D-75E2-46CD482BA1FA}"/>
              </a:ext>
            </a:extLst>
          </p:cNvPr>
          <p:cNvSpPr txBox="1">
            <a:spLocks/>
          </p:cNvSpPr>
          <p:nvPr/>
        </p:nvSpPr>
        <p:spPr>
          <a:xfrm>
            <a:off x="1231054" y="5969641"/>
            <a:ext cx="1722213"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Citation precision</a:t>
            </a:r>
          </a:p>
        </p:txBody>
      </p:sp>
      <p:pic>
        <p:nvPicPr>
          <p:cNvPr id="306" name="Graphic 305" descr="Gauge with solid fill">
            <a:extLst>
              <a:ext uri="{FF2B5EF4-FFF2-40B4-BE49-F238E27FC236}">
                <a16:creationId xmlns:a16="http://schemas.microsoft.com/office/drawing/2014/main" id="{72359458-FF4A-F714-E64D-7ADF2E27091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14024" y="5378307"/>
            <a:ext cx="438912" cy="438912"/>
          </a:xfrm>
          <a:prstGeom prst="rect">
            <a:avLst/>
          </a:prstGeom>
        </p:spPr>
      </p:pic>
      <p:sp>
        <p:nvSpPr>
          <p:cNvPr id="307" name="Text Placeholder 11">
            <a:extLst>
              <a:ext uri="{FF2B5EF4-FFF2-40B4-BE49-F238E27FC236}">
                <a16:creationId xmlns:a16="http://schemas.microsoft.com/office/drawing/2014/main" id="{CC61C217-6905-0AE9-E581-329BD25A98CF}"/>
              </a:ext>
            </a:extLst>
          </p:cNvPr>
          <p:cNvSpPr txBox="1">
            <a:spLocks/>
          </p:cNvSpPr>
          <p:nvPr/>
        </p:nvSpPr>
        <p:spPr>
          <a:xfrm>
            <a:off x="2794541" y="5987260"/>
            <a:ext cx="1561170" cy="307777"/>
          </a:xfrm>
          <a:prstGeom prst="rect">
            <a:avLst/>
          </a:prstGeom>
          <a:noFill/>
        </p:spPr>
        <p:txBody>
          <a:bodyPr wrap="square" lIns="0" rIns="0" rtlCol="0">
            <a:spAutoFit/>
          </a:bodyPr>
          <a:lstStyle>
            <a:defPPr>
              <a:defRPr lang="en-US"/>
            </a:defPPr>
            <a:lvl1pPr algn="ctr">
              <a:defRPr sz="2000"/>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mn-ea"/>
                <a:cs typeface="+mn-cs"/>
              </a:rPr>
              <a:t>Citation coverage</a:t>
            </a:r>
          </a:p>
        </p:txBody>
      </p:sp>
      <p:grpSp>
        <p:nvGrpSpPr>
          <p:cNvPr id="308" name="Group 307">
            <a:extLst>
              <a:ext uri="{FF2B5EF4-FFF2-40B4-BE49-F238E27FC236}">
                <a16:creationId xmlns:a16="http://schemas.microsoft.com/office/drawing/2014/main" id="{4FAA3B7C-2732-B0EB-245D-462E3F5C735A}"/>
              </a:ext>
            </a:extLst>
          </p:cNvPr>
          <p:cNvGrpSpPr/>
          <p:nvPr/>
        </p:nvGrpSpPr>
        <p:grpSpPr>
          <a:xfrm>
            <a:off x="8229882" y="5762467"/>
            <a:ext cx="3699355" cy="631400"/>
            <a:chOff x="8846911" y="5762467"/>
            <a:chExt cx="3082326" cy="631400"/>
          </a:xfrm>
        </p:grpSpPr>
        <p:sp>
          <p:nvSpPr>
            <p:cNvPr id="309" name="Rectangle: Rounded Corners 14">
              <a:extLst>
                <a:ext uri="{FF2B5EF4-FFF2-40B4-BE49-F238E27FC236}">
                  <a16:creationId xmlns:a16="http://schemas.microsoft.com/office/drawing/2014/main" id="{17D21AC9-0CD1-B388-9151-8CD793F019A2}"/>
                </a:ext>
              </a:extLst>
            </p:cNvPr>
            <p:cNvSpPr/>
            <p:nvPr/>
          </p:nvSpPr>
          <p:spPr>
            <a:xfrm>
              <a:off x="8846911" y="5762467"/>
              <a:ext cx="3082326" cy="631400"/>
            </a:xfrm>
            <a:prstGeom prst="roundRect">
              <a:avLst>
                <a:gd name="adj" fmla="val 11404"/>
              </a:avLst>
            </a:prstGeom>
            <a:noFill/>
            <a:ln>
              <a:gradFill flip="none" rotWithShape="1">
                <a:gsLst>
                  <a:gs pos="0">
                    <a:schemeClr val="accent1"/>
                  </a:gs>
                  <a:gs pos="100000">
                    <a:schemeClr val="accent4"/>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310" name="TextBox 309">
              <a:extLst>
                <a:ext uri="{FF2B5EF4-FFF2-40B4-BE49-F238E27FC236}">
                  <a16:creationId xmlns:a16="http://schemas.microsoft.com/office/drawing/2014/main" id="{E125D2AE-21D0-9243-2D03-072C5A837A0A}"/>
                </a:ext>
              </a:extLst>
            </p:cNvPr>
            <p:cNvSpPr txBox="1"/>
            <p:nvPr/>
          </p:nvSpPr>
          <p:spPr>
            <a:xfrm>
              <a:off x="8996262" y="5901809"/>
              <a:ext cx="2780253"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Amazon Ember Display"/>
                  <a:ea typeface="Amazon Ember Display Heavy" panose="020F0803020204020204" pitchFamily="34" charset="0"/>
                  <a:cs typeface="Amazon Ember Display Heavy" panose="020F0803020204020204" pitchFamily="34" charset="0"/>
                </a:rPr>
                <a:t>Custom metrics</a:t>
              </a:r>
            </a:p>
          </p:txBody>
        </p:sp>
      </p:grpSp>
    </p:spTree>
    <p:extLst>
      <p:ext uri="{BB962C8B-B14F-4D97-AF65-F5344CB8AC3E}">
        <p14:creationId xmlns:p14="http://schemas.microsoft.com/office/powerpoint/2010/main" val="3440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1557DB1-7F03-DC9E-9AE2-D2EC0473109C}"/>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b="1" dirty="0">
                <a:solidFill>
                  <a:srgbClr val="FFFFFF"/>
                </a:solidFill>
                <a:ea typeface="Arial" pitchFamily="34" charset="-122"/>
                <a:cs typeface="Arial" pitchFamily="34" charset="-120"/>
              </a:rPr>
              <a:t>Three ways of evaluation</a:t>
            </a:r>
            <a:endParaRPr lang="en-US" dirty="0"/>
          </a:p>
        </p:txBody>
      </p:sp>
      <p:sp>
        <p:nvSpPr>
          <p:cNvPr id="3" name="Text 3">
            <a:extLst>
              <a:ext uri="{FF2B5EF4-FFF2-40B4-BE49-F238E27FC236}">
                <a16:creationId xmlns:a16="http://schemas.microsoft.com/office/drawing/2014/main" id="{E8D6F88A-0F37-3C55-ECE9-6964B9FFFC73}"/>
              </a:ext>
            </a:extLst>
          </p:cNvPr>
          <p:cNvSpPr/>
          <p:nvPr/>
        </p:nvSpPr>
        <p:spPr>
          <a:xfrm>
            <a:off x="658368" y="1481328"/>
            <a:ext cx="10881360" cy="457200"/>
          </a:xfrm>
          <a:prstGeom prst="rect">
            <a:avLst/>
          </a:prstGeom>
          <a:noFill/>
          <a:ln/>
        </p:spPr>
        <p:txBody>
          <a:bodyPr wrap="square" rtlCol="0" anchor="ctr"/>
          <a:lstStyle/>
          <a:p>
            <a:pPr marL="0" indent="0">
              <a:buNone/>
            </a:pPr>
            <a:r>
              <a:rPr lang="en-US" sz="1500" dirty="0">
                <a:solidFill>
                  <a:srgbClr val="C6C6CD"/>
                </a:solidFill>
                <a:latin typeface="Amazon Ember" pitchFamily="34" charset="0"/>
                <a:ea typeface="Arial" pitchFamily="34" charset="-122"/>
                <a:cs typeface="Arial" pitchFamily="34" charset="-120"/>
              </a:rPr>
              <a:t>Each type trades speed and cost against flexibility. Use the cheapest one that can judge the behavior reliably.</a:t>
            </a:r>
            <a:endParaRPr lang="en-US" sz="1500" dirty="0"/>
          </a:p>
        </p:txBody>
      </p:sp>
      <p:sp>
        <p:nvSpPr>
          <p:cNvPr id="43" name="Shape 4">
            <a:extLst>
              <a:ext uri="{FF2B5EF4-FFF2-40B4-BE49-F238E27FC236}">
                <a16:creationId xmlns:a16="http://schemas.microsoft.com/office/drawing/2014/main" id="{700F4C35-47AC-2E57-D7A1-35185B198375}"/>
              </a:ext>
            </a:extLst>
          </p:cNvPr>
          <p:cNvSpPr/>
          <p:nvPr/>
        </p:nvSpPr>
        <p:spPr>
          <a:xfrm>
            <a:off x="609600" y="2301240"/>
            <a:ext cx="3611880" cy="2514600"/>
          </a:xfrm>
          <a:prstGeom prst="roundRect">
            <a:avLst>
              <a:gd name="adj" fmla="val 2909"/>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44" name="Text 5">
            <a:extLst>
              <a:ext uri="{FF2B5EF4-FFF2-40B4-BE49-F238E27FC236}">
                <a16:creationId xmlns:a16="http://schemas.microsoft.com/office/drawing/2014/main" id="{04040ECA-0759-BB5F-A101-97E26A53709D}"/>
              </a:ext>
            </a:extLst>
          </p:cNvPr>
          <p:cNvSpPr/>
          <p:nvPr/>
        </p:nvSpPr>
        <p:spPr>
          <a:xfrm>
            <a:off x="598650" y="2218944"/>
            <a:ext cx="3611880" cy="365760"/>
          </a:xfrm>
          <a:prstGeom prst="rect">
            <a:avLst/>
          </a:prstGeom>
          <a:solidFill>
            <a:schemeClr val="accent3">
              <a:lumMod val="75000"/>
            </a:schemeClr>
          </a:solidFill>
          <a:ln/>
        </p:spPr>
        <p:txBody>
          <a:bodyPr wrap="square" rtlCol="0" anchor="ctr"/>
          <a:lstStyle/>
          <a:p>
            <a:pPr marL="0" indent="0" algn="ctr">
              <a:buNone/>
            </a:pPr>
            <a:r>
              <a:rPr lang="en-US" sz="1050" b="1" kern="0" spc="100" dirty="0">
                <a:solidFill>
                  <a:srgbClr val="FFFFFF"/>
                </a:solidFill>
                <a:latin typeface="Amazon Ember" pitchFamily="34" charset="0"/>
                <a:ea typeface="Arial" pitchFamily="34" charset="-122"/>
                <a:cs typeface="Arial" pitchFamily="34" charset="-120"/>
              </a:rPr>
              <a:t>FASTEST · CHEAPEST</a:t>
            </a:r>
            <a:endParaRPr lang="en-US" sz="1050" dirty="0"/>
          </a:p>
        </p:txBody>
      </p:sp>
      <p:pic>
        <p:nvPicPr>
          <p:cNvPr id="45" name="Image 0" descr="ic_12.svg">
            <a:extLst>
              <a:ext uri="{FF2B5EF4-FFF2-40B4-BE49-F238E27FC236}">
                <a16:creationId xmlns:a16="http://schemas.microsoft.com/office/drawing/2014/main" id="{0DD1A05A-0CC4-0DE9-7F94-9F96C0DDFE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9640" y="2849880"/>
            <a:ext cx="502920" cy="502920"/>
          </a:xfrm>
          <a:prstGeom prst="rect">
            <a:avLst/>
          </a:prstGeom>
        </p:spPr>
      </p:pic>
      <p:sp>
        <p:nvSpPr>
          <p:cNvPr id="46" name="Text 6">
            <a:extLst>
              <a:ext uri="{FF2B5EF4-FFF2-40B4-BE49-F238E27FC236}">
                <a16:creationId xmlns:a16="http://schemas.microsoft.com/office/drawing/2014/main" id="{64A22B69-BD9E-E1AA-99C8-FF4F14934805}"/>
              </a:ext>
            </a:extLst>
          </p:cNvPr>
          <p:cNvSpPr/>
          <p:nvPr/>
        </p:nvSpPr>
        <p:spPr>
          <a:xfrm>
            <a:off x="1569720" y="2868168"/>
            <a:ext cx="2423160" cy="50292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Code-based</a:t>
            </a:r>
            <a:endParaRPr lang="en-US" sz="1900" dirty="0"/>
          </a:p>
        </p:txBody>
      </p:sp>
      <p:sp>
        <p:nvSpPr>
          <p:cNvPr id="47" name="Text 7">
            <a:extLst>
              <a:ext uri="{FF2B5EF4-FFF2-40B4-BE49-F238E27FC236}">
                <a16:creationId xmlns:a16="http://schemas.microsoft.com/office/drawing/2014/main" id="{B3D90ED6-C6DF-9A2B-A659-432DDB02198E}"/>
              </a:ext>
            </a:extLst>
          </p:cNvPr>
          <p:cNvSpPr/>
          <p:nvPr/>
        </p:nvSpPr>
        <p:spPr>
          <a:xfrm>
            <a:off x="929640" y="3535680"/>
            <a:ext cx="2971800" cy="109728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Deterministic checks that run in milliseconds and cost almost nothing.</a:t>
            </a:r>
            <a:endParaRPr lang="en-US" sz="1350" dirty="0"/>
          </a:p>
        </p:txBody>
      </p:sp>
      <p:sp>
        <p:nvSpPr>
          <p:cNvPr id="48" name="Shape 8">
            <a:extLst>
              <a:ext uri="{FF2B5EF4-FFF2-40B4-BE49-F238E27FC236}">
                <a16:creationId xmlns:a16="http://schemas.microsoft.com/office/drawing/2014/main" id="{56D7F8CF-7EAD-56EE-C19F-AED6C9A0D8EC}"/>
              </a:ext>
            </a:extLst>
          </p:cNvPr>
          <p:cNvSpPr/>
          <p:nvPr/>
        </p:nvSpPr>
        <p:spPr>
          <a:xfrm>
            <a:off x="4477512" y="2301240"/>
            <a:ext cx="3611880" cy="2514600"/>
          </a:xfrm>
          <a:prstGeom prst="roundRect">
            <a:avLst>
              <a:gd name="adj" fmla="val 2909"/>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dirty="0"/>
          </a:p>
        </p:txBody>
      </p:sp>
      <p:sp>
        <p:nvSpPr>
          <p:cNvPr id="49" name="Text 9">
            <a:extLst>
              <a:ext uri="{FF2B5EF4-FFF2-40B4-BE49-F238E27FC236}">
                <a16:creationId xmlns:a16="http://schemas.microsoft.com/office/drawing/2014/main" id="{9C1C8F4F-F72D-42E4-D96B-8D54A520104F}"/>
              </a:ext>
            </a:extLst>
          </p:cNvPr>
          <p:cNvSpPr/>
          <p:nvPr/>
        </p:nvSpPr>
        <p:spPr>
          <a:xfrm>
            <a:off x="4477512" y="2214948"/>
            <a:ext cx="3611880" cy="365760"/>
          </a:xfrm>
          <a:prstGeom prst="rect">
            <a:avLst/>
          </a:prstGeom>
          <a:solidFill>
            <a:schemeClr val="accent1">
              <a:lumMod val="75000"/>
            </a:schemeClr>
          </a:solidFill>
          <a:ln/>
        </p:spPr>
        <p:txBody>
          <a:bodyPr wrap="square" rtlCol="0" anchor="ctr"/>
          <a:lstStyle/>
          <a:p>
            <a:pPr marL="0" indent="0" algn="ctr">
              <a:buNone/>
            </a:pPr>
            <a:r>
              <a:rPr lang="en-US" sz="1050" b="1" kern="0" spc="100" dirty="0">
                <a:solidFill>
                  <a:srgbClr val="FFFFFF"/>
                </a:solidFill>
                <a:latin typeface="Amazon Ember" pitchFamily="34" charset="0"/>
                <a:ea typeface="Arial" pitchFamily="34" charset="-122"/>
                <a:cs typeface="Arial" pitchFamily="34" charset="-120"/>
              </a:rPr>
              <a:t>FLEXIBLE · MODERATE</a:t>
            </a:r>
            <a:endParaRPr lang="en-US" sz="1050" dirty="0"/>
          </a:p>
        </p:txBody>
      </p:sp>
      <p:sp>
        <p:nvSpPr>
          <p:cNvPr id="50" name="Text 10">
            <a:extLst>
              <a:ext uri="{FF2B5EF4-FFF2-40B4-BE49-F238E27FC236}">
                <a16:creationId xmlns:a16="http://schemas.microsoft.com/office/drawing/2014/main" id="{93483CD1-D6CD-8371-65B2-2E9308F12547}"/>
              </a:ext>
            </a:extLst>
          </p:cNvPr>
          <p:cNvSpPr/>
          <p:nvPr/>
        </p:nvSpPr>
        <p:spPr>
          <a:xfrm>
            <a:off x="5437632" y="2868168"/>
            <a:ext cx="2423160" cy="50292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Model-based</a:t>
            </a:r>
            <a:endParaRPr lang="en-US" sz="1900" dirty="0"/>
          </a:p>
        </p:txBody>
      </p:sp>
      <p:sp>
        <p:nvSpPr>
          <p:cNvPr id="51" name="Text 11">
            <a:extLst>
              <a:ext uri="{FF2B5EF4-FFF2-40B4-BE49-F238E27FC236}">
                <a16:creationId xmlns:a16="http://schemas.microsoft.com/office/drawing/2014/main" id="{03BA7081-7A1C-AE89-1CF5-32401FD419DF}"/>
              </a:ext>
            </a:extLst>
          </p:cNvPr>
          <p:cNvSpPr/>
          <p:nvPr/>
        </p:nvSpPr>
        <p:spPr>
          <a:xfrm>
            <a:off x="4797552" y="3535680"/>
            <a:ext cx="2971800" cy="109728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A judge model assesses outputs that need interpretation - roughly one model call.</a:t>
            </a:r>
            <a:endParaRPr lang="en-US" sz="1350" dirty="0"/>
          </a:p>
        </p:txBody>
      </p:sp>
      <p:sp>
        <p:nvSpPr>
          <p:cNvPr id="52" name="Shape 12">
            <a:extLst>
              <a:ext uri="{FF2B5EF4-FFF2-40B4-BE49-F238E27FC236}">
                <a16:creationId xmlns:a16="http://schemas.microsoft.com/office/drawing/2014/main" id="{83F518EB-26A7-A0BE-67A5-86EE856A244E}"/>
              </a:ext>
            </a:extLst>
          </p:cNvPr>
          <p:cNvSpPr/>
          <p:nvPr/>
        </p:nvSpPr>
        <p:spPr>
          <a:xfrm>
            <a:off x="8345424" y="2301240"/>
            <a:ext cx="3611880" cy="2514600"/>
          </a:xfrm>
          <a:prstGeom prst="roundRect">
            <a:avLst>
              <a:gd name="adj" fmla="val 2909"/>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53" name="Text 13">
            <a:extLst>
              <a:ext uri="{FF2B5EF4-FFF2-40B4-BE49-F238E27FC236}">
                <a16:creationId xmlns:a16="http://schemas.microsoft.com/office/drawing/2014/main" id="{1280084C-60BE-160B-FAE0-92BF267CE07C}"/>
              </a:ext>
            </a:extLst>
          </p:cNvPr>
          <p:cNvSpPr/>
          <p:nvPr/>
        </p:nvSpPr>
        <p:spPr>
          <a:xfrm>
            <a:off x="8345424" y="2214948"/>
            <a:ext cx="3611880" cy="365760"/>
          </a:xfrm>
          <a:prstGeom prst="rect">
            <a:avLst/>
          </a:prstGeom>
          <a:solidFill>
            <a:schemeClr val="accent5">
              <a:lumMod val="50000"/>
            </a:schemeClr>
          </a:solidFill>
          <a:ln/>
        </p:spPr>
        <p:txBody>
          <a:bodyPr wrap="square" rtlCol="0" anchor="ctr"/>
          <a:lstStyle/>
          <a:p>
            <a:pPr marL="0" indent="0" algn="ctr">
              <a:buNone/>
            </a:pPr>
            <a:r>
              <a:rPr lang="en-US" sz="1050" b="1" kern="0" spc="100" dirty="0">
                <a:solidFill>
                  <a:srgbClr val="FFFFFF"/>
                </a:solidFill>
                <a:latin typeface="Amazon Ember" pitchFamily="34" charset="0"/>
                <a:ea typeface="Arial" pitchFamily="34" charset="-122"/>
                <a:cs typeface="Arial" pitchFamily="34" charset="-120"/>
              </a:rPr>
              <a:t>SLOWEST · PRICIEST</a:t>
            </a:r>
            <a:endParaRPr lang="en-US" sz="1050" dirty="0"/>
          </a:p>
        </p:txBody>
      </p:sp>
      <p:pic>
        <p:nvPicPr>
          <p:cNvPr id="54" name="Image 2" descr="ic_14.svg">
            <a:extLst>
              <a:ext uri="{FF2B5EF4-FFF2-40B4-BE49-F238E27FC236}">
                <a16:creationId xmlns:a16="http://schemas.microsoft.com/office/drawing/2014/main" id="{530182FD-3AD7-3798-D1CE-88ACF01C389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7552" y="2868168"/>
            <a:ext cx="502920" cy="502920"/>
          </a:xfrm>
          <a:prstGeom prst="rect">
            <a:avLst/>
          </a:prstGeom>
        </p:spPr>
      </p:pic>
      <p:sp>
        <p:nvSpPr>
          <p:cNvPr id="55" name="Text 14">
            <a:extLst>
              <a:ext uri="{FF2B5EF4-FFF2-40B4-BE49-F238E27FC236}">
                <a16:creationId xmlns:a16="http://schemas.microsoft.com/office/drawing/2014/main" id="{81BA5801-8EAF-2143-2F67-8E8B874F75B6}"/>
              </a:ext>
            </a:extLst>
          </p:cNvPr>
          <p:cNvSpPr/>
          <p:nvPr/>
        </p:nvSpPr>
        <p:spPr>
          <a:xfrm>
            <a:off x="9305544" y="2868168"/>
            <a:ext cx="2423160" cy="502920"/>
          </a:xfrm>
          <a:prstGeom prst="rect">
            <a:avLst/>
          </a:prstGeom>
          <a:noFill/>
          <a:ln/>
        </p:spPr>
        <p:txBody>
          <a:bodyPr wrap="square" rtlCol="0" anchor="ctr"/>
          <a:lstStyle/>
          <a:p>
            <a:pPr marL="0" indent="0">
              <a:buNone/>
            </a:pPr>
            <a:r>
              <a:rPr lang="en-US" sz="1900" b="1" dirty="0">
                <a:solidFill>
                  <a:srgbClr val="FFFFFF"/>
                </a:solidFill>
                <a:latin typeface="Amazon Ember" pitchFamily="34" charset="0"/>
                <a:ea typeface="Arial" pitchFamily="34" charset="-122"/>
                <a:cs typeface="Arial" pitchFamily="34" charset="-120"/>
              </a:rPr>
              <a:t>Human-review</a:t>
            </a:r>
            <a:endParaRPr lang="en-US" sz="1900" dirty="0"/>
          </a:p>
        </p:txBody>
      </p:sp>
      <p:sp>
        <p:nvSpPr>
          <p:cNvPr id="56" name="Text 15">
            <a:extLst>
              <a:ext uri="{FF2B5EF4-FFF2-40B4-BE49-F238E27FC236}">
                <a16:creationId xmlns:a16="http://schemas.microsoft.com/office/drawing/2014/main" id="{23F6E849-4037-A199-FA56-F7DE50471CEB}"/>
              </a:ext>
            </a:extLst>
          </p:cNvPr>
          <p:cNvSpPr/>
          <p:nvPr/>
        </p:nvSpPr>
        <p:spPr>
          <a:xfrm>
            <a:off x="8665464" y="3535680"/>
            <a:ext cx="2971800" cy="1097280"/>
          </a:xfrm>
          <a:prstGeom prst="rect">
            <a:avLst/>
          </a:prstGeom>
          <a:noFill/>
          <a:ln/>
        </p:spPr>
        <p:txBody>
          <a:bodyPr wrap="square" rtlCol="0" anchor="ctr"/>
          <a:lstStyle/>
          <a:p>
            <a:pPr marL="0" indent="0">
              <a:lnSpc>
                <a:spcPts val="1800"/>
              </a:lnSpc>
              <a:buNone/>
            </a:pPr>
            <a:r>
              <a:rPr lang="en-US" sz="1350" dirty="0">
                <a:latin typeface="Amazon Ember" pitchFamily="34" charset="0"/>
                <a:ea typeface="Arial" pitchFamily="34" charset="-122"/>
                <a:cs typeface="Arial" pitchFamily="34" charset="-120"/>
              </a:rPr>
              <a:t>Human judgment for high-stakes or novel behavior neither code nor a model can be trusted on.</a:t>
            </a:r>
            <a:endParaRPr lang="en-US" sz="1350" dirty="0"/>
          </a:p>
        </p:txBody>
      </p:sp>
      <p:sp>
        <p:nvSpPr>
          <p:cNvPr id="57" name="Shape 16">
            <a:extLst>
              <a:ext uri="{FF2B5EF4-FFF2-40B4-BE49-F238E27FC236}">
                <a16:creationId xmlns:a16="http://schemas.microsoft.com/office/drawing/2014/main" id="{CBCC217C-FAFB-FBB5-579B-BA9C12038F09}"/>
              </a:ext>
            </a:extLst>
          </p:cNvPr>
          <p:cNvSpPr/>
          <p:nvPr/>
        </p:nvSpPr>
        <p:spPr>
          <a:xfrm>
            <a:off x="609600" y="5113020"/>
            <a:ext cx="11274552" cy="777240"/>
          </a:xfrm>
          <a:prstGeom prst="roundRect">
            <a:avLst>
              <a:gd name="adj" fmla="val 7059"/>
            </a:avLst>
          </a:prstGeom>
          <a:solidFill>
            <a:srgbClr val="232F3E"/>
          </a:solidFill>
          <a:ln w="12700">
            <a:solidFill>
              <a:srgbClr val="FF9900"/>
            </a:solidFill>
            <a:prstDash val="solid"/>
          </a:ln>
        </p:spPr>
        <p:txBody>
          <a:bodyPr/>
          <a:lstStyle/>
          <a:p>
            <a:endParaRPr/>
          </a:p>
        </p:txBody>
      </p:sp>
      <p:sp>
        <p:nvSpPr>
          <p:cNvPr id="58" name="Shape 17">
            <a:extLst>
              <a:ext uri="{FF2B5EF4-FFF2-40B4-BE49-F238E27FC236}">
                <a16:creationId xmlns:a16="http://schemas.microsoft.com/office/drawing/2014/main" id="{4C8BD558-F8E3-691F-491A-A27E562BD5F5}"/>
              </a:ext>
            </a:extLst>
          </p:cNvPr>
          <p:cNvSpPr/>
          <p:nvPr/>
        </p:nvSpPr>
        <p:spPr>
          <a:xfrm>
            <a:off x="609600" y="5113020"/>
            <a:ext cx="100584" cy="777240"/>
          </a:xfrm>
          <a:prstGeom prst="rect">
            <a:avLst/>
          </a:prstGeom>
          <a:solidFill>
            <a:srgbClr val="FF9900"/>
          </a:solidFill>
          <a:ln w="12700">
            <a:solidFill>
              <a:srgbClr val="FF9900"/>
            </a:solidFill>
            <a:prstDash val="solid"/>
          </a:ln>
        </p:spPr>
        <p:txBody>
          <a:bodyPr/>
          <a:lstStyle/>
          <a:p>
            <a:endParaRPr/>
          </a:p>
        </p:txBody>
      </p:sp>
      <p:pic>
        <p:nvPicPr>
          <p:cNvPr id="59" name="Image 3" descr="ic_15.svg">
            <a:extLst>
              <a:ext uri="{FF2B5EF4-FFF2-40B4-BE49-F238E27FC236}">
                <a16:creationId xmlns:a16="http://schemas.microsoft.com/office/drawing/2014/main" id="{385646CB-FF3F-DDC0-5660-A1A179ADB5B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8200" y="5332476"/>
            <a:ext cx="347472" cy="347472"/>
          </a:xfrm>
          <a:prstGeom prst="rect">
            <a:avLst/>
          </a:prstGeom>
        </p:spPr>
      </p:pic>
      <p:sp>
        <p:nvSpPr>
          <p:cNvPr id="60" name="Text 18">
            <a:extLst>
              <a:ext uri="{FF2B5EF4-FFF2-40B4-BE49-F238E27FC236}">
                <a16:creationId xmlns:a16="http://schemas.microsoft.com/office/drawing/2014/main" id="{B833377E-41ED-2BE4-C23C-4C5A962AA718}"/>
              </a:ext>
            </a:extLst>
          </p:cNvPr>
          <p:cNvSpPr/>
          <p:nvPr/>
        </p:nvSpPr>
        <p:spPr>
          <a:xfrm>
            <a:off x="1341120" y="5113020"/>
            <a:ext cx="10332720" cy="777240"/>
          </a:xfrm>
          <a:prstGeom prst="rect">
            <a:avLst/>
          </a:prstGeom>
          <a:noFill/>
          <a:ln/>
        </p:spPr>
        <p:txBody>
          <a:bodyPr wrap="square" rtlCol="0" anchor="ctr"/>
          <a:lstStyle/>
          <a:p>
            <a:pPr marL="0" indent="0">
              <a:buNone/>
            </a:pPr>
            <a:r>
              <a:rPr lang="en-US" sz="1400" b="1" dirty="0">
                <a:solidFill>
                  <a:srgbClr val="FF9900"/>
                </a:solidFill>
                <a:latin typeface="Amazon Ember" pitchFamily="34" charset="0"/>
                <a:ea typeface="Arial" pitchFamily="34" charset="-122"/>
                <a:cs typeface="Arial" pitchFamily="34" charset="-120"/>
              </a:rPr>
              <a:t>Rule of thumb:  </a:t>
            </a:r>
            <a:r>
              <a:rPr lang="en-US" sz="1400" dirty="0">
                <a:solidFill>
                  <a:srgbClr val="C6C6CD"/>
                </a:solidFill>
                <a:latin typeface="Amazon Ember" pitchFamily="34" charset="0"/>
                <a:ea typeface="Arial" pitchFamily="34" charset="-122"/>
                <a:cs typeface="Arial" pitchFamily="34" charset="-120"/>
              </a:rPr>
              <a:t>code → model → human runs slower and pricier at each step. Push checks as far left as they’ll reliably go.</a:t>
            </a:r>
            <a:endParaRPr lang="en-US" sz="1400" dirty="0"/>
          </a:p>
        </p:txBody>
      </p:sp>
      <p:pic>
        <p:nvPicPr>
          <p:cNvPr id="61" name="Graphic 60" descr="Male profile with solid fill">
            <a:extLst>
              <a:ext uri="{FF2B5EF4-FFF2-40B4-BE49-F238E27FC236}">
                <a16:creationId xmlns:a16="http://schemas.microsoft.com/office/drawing/2014/main" id="{A644A30D-6934-C644-EF86-0962A044C10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665464" y="2786832"/>
            <a:ext cx="629016" cy="629016"/>
          </a:xfrm>
          <a:prstGeom prst="rect">
            <a:avLst/>
          </a:prstGeom>
        </p:spPr>
      </p:pic>
    </p:spTree>
    <p:extLst>
      <p:ext uri="{BB962C8B-B14F-4D97-AF65-F5344CB8AC3E}">
        <p14:creationId xmlns:p14="http://schemas.microsoft.com/office/powerpoint/2010/main" val="357388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6822-3B7D-35E7-A7A7-9D8F345B2075}"/>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E527E565-2633-8D24-1987-3BDA62AFC82E}"/>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Model the cost before you write code</a:t>
            </a:r>
            <a:endParaRPr lang="en-US" sz="4000" dirty="0"/>
          </a:p>
        </p:txBody>
      </p:sp>
      <p:grpSp>
        <p:nvGrpSpPr>
          <p:cNvPr id="50" name="Group 49">
            <a:extLst>
              <a:ext uri="{FF2B5EF4-FFF2-40B4-BE49-F238E27FC236}">
                <a16:creationId xmlns:a16="http://schemas.microsoft.com/office/drawing/2014/main" id="{4DD29FDE-D174-1BB8-D743-640EC393A9E1}"/>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0D834942-DACE-702A-F435-2F19AEB95E8D}"/>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140EE037-6479-0358-C662-506820DB5D72}"/>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FD710AC2-04F1-9A95-9A18-07BC7385D628}"/>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BBE40B20-DE86-4FAB-BDBB-83408F7B9802}"/>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A8D3C52C-0B66-A285-073A-E335921686CD}"/>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F7369D83-B82C-2792-B7C8-7C4EE31C8475}"/>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846C2738-D4DC-6FE5-3479-A78EE4386695}"/>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7977E23F-D345-5D25-0F09-62481AF4559F}"/>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3" name="Shape 3">
            <a:extLst>
              <a:ext uri="{FF2B5EF4-FFF2-40B4-BE49-F238E27FC236}">
                <a16:creationId xmlns:a16="http://schemas.microsoft.com/office/drawing/2014/main" id="{626B34AF-FEFB-C1DF-85FD-ADB2F09A5CBE}"/>
              </a:ext>
            </a:extLst>
          </p:cNvPr>
          <p:cNvSpPr/>
          <p:nvPr/>
        </p:nvSpPr>
        <p:spPr>
          <a:xfrm>
            <a:off x="457200" y="1600200"/>
            <a:ext cx="11274552" cy="841248"/>
          </a:xfrm>
          <a:prstGeom prst="roundRect">
            <a:avLst>
              <a:gd name="adj" fmla="val 6522"/>
            </a:avLst>
          </a:prstGeom>
          <a:solidFill>
            <a:srgbClr val="232F3E"/>
          </a:solidFill>
          <a:ln w="12700">
            <a:solidFill>
              <a:srgbClr val="3A4552"/>
            </a:solidFill>
            <a:prstDash val="solid"/>
          </a:ln>
        </p:spPr>
        <p:txBody>
          <a:bodyPr/>
          <a:lstStyle/>
          <a:p>
            <a:endParaRPr/>
          </a:p>
        </p:txBody>
      </p:sp>
      <p:sp>
        <p:nvSpPr>
          <p:cNvPr id="4" name="Shape 4">
            <a:extLst>
              <a:ext uri="{FF2B5EF4-FFF2-40B4-BE49-F238E27FC236}">
                <a16:creationId xmlns:a16="http://schemas.microsoft.com/office/drawing/2014/main" id="{6F01D608-5D27-DDA5-A08A-32D40C35A865}"/>
              </a:ext>
            </a:extLst>
          </p:cNvPr>
          <p:cNvSpPr/>
          <p:nvPr/>
        </p:nvSpPr>
        <p:spPr>
          <a:xfrm>
            <a:off x="457200" y="1600200"/>
            <a:ext cx="100584" cy="841248"/>
          </a:xfrm>
          <a:prstGeom prst="rect">
            <a:avLst/>
          </a:prstGeom>
          <a:solidFill>
            <a:srgbClr val="FF9900"/>
          </a:solidFill>
          <a:ln w="12700">
            <a:solidFill>
              <a:srgbClr val="FF9900"/>
            </a:solidFill>
            <a:prstDash val="solid"/>
          </a:ln>
        </p:spPr>
        <p:txBody>
          <a:bodyPr/>
          <a:lstStyle/>
          <a:p>
            <a:endParaRPr/>
          </a:p>
        </p:txBody>
      </p:sp>
      <p:sp>
        <p:nvSpPr>
          <p:cNvPr id="5" name="Shape 5">
            <a:extLst>
              <a:ext uri="{FF2B5EF4-FFF2-40B4-BE49-F238E27FC236}">
                <a16:creationId xmlns:a16="http://schemas.microsoft.com/office/drawing/2014/main" id="{15FC7002-DAA2-2ECB-3469-BB1F9A3F93EF}"/>
              </a:ext>
            </a:extLst>
          </p:cNvPr>
          <p:cNvSpPr/>
          <p:nvPr/>
        </p:nvSpPr>
        <p:spPr>
          <a:xfrm>
            <a:off x="731520" y="1773936"/>
            <a:ext cx="493776" cy="493776"/>
          </a:xfrm>
          <a:prstGeom prst="ellipse">
            <a:avLst/>
          </a:prstGeom>
          <a:solidFill>
            <a:srgbClr val="232F3E"/>
          </a:solidFill>
          <a:ln w="19050">
            <a:solidFill>
              <a:srgbClr val="FF9900"/>
            </a:solidFill>
            <a:prstDash val="solid"/>
          </a:ln>
        </p:spPr>
        <p:txBody>
          <a:bodyPr/>
          <a:lstStyle/>
          <a:p>
            <a:endParaRPr/>
          </a:p>
        </p:txBody>
      </p:sp>
      <p:pic>
        <p:nvPicPr>
          <p:cNvPr id="6" name="Image 0" descr="ic_16.svg">
            <a:extLst>
              <a:ext uri="{FF2B5EF4-FFF2-40B4-BE49-F238E27FC236}">
                <a16:creationId xmlns:a16="http://schemas.microsoft.com/office/drawing/2014/main" id="{A6E5E5AC-0B25-A2F8-B087-BE736F9194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1883664"/>
            <a:ext cx="274320" cy="274320"/>
          </a:xfrm>
          <a:prstGeom prst="rect">
            <a:avLst/>
          </a:prstGeom>
        </p:spPr>
      </p:pic>
      <p:sp>
        <p:nvSpPr>
          <p:cNvPr id="7" name="Text 6">
            <a:extLst>
              <a:ext uri="{FF2B5EF4-FFF2-40B4-BE49-F238E27FC236}">
                <a16:creationId xmlns:a16="http://schemas.microsoft.com/office/drawing/2014/main" id="{3ECF00BD-051C-FC43-69DB-3100F2695BB3}"/>
              </a:ext>
            </a:extLst>
          </p:cNvPr>
          <p:cNvSpPr/>
          <p:nvPr/>
        </p:nvSpPr>
        <p:spPr>
          <a:xfrm>
            <a:off x="1417320" y="1600200"/>
            <a:ext cx="2468880" cy="841248"/>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Cost</a:t>
            </a:r>
            <a:endParaRPr lang="en-US" sz="1800" dirty="0"/>
          </a:p>
        </p:txBody>
      </p:sp>
      <p:sp>
        <p:nvSpPr>
          <p:cNvPr id="8" name="Text 7">
            <a:extLst>
              <a:ext uri="{FF2B5EF4-FFF2-40B4-BE49-F238E27FC236}">
                <a16:creationId xmlns:a16="http://schemas.microsoft.com/office/drawing/2014/main" id="{3F10E4C9-58C6-36F6-95A1-462692071911}"/>
              </a:ext>
            </a:extLst>
          </p:cNvPr>
          <p:cNvSpPr/>
          <p:nvPr/>
        </p:nvSpPr>
        <p:spPr>
          <a:xfrm>
            <a:off x="3840480" y="1600200"/>
            <a:ext cx="7680960" cy="841248"/>
          </a:xfrm>
          <a:prstGeom prst="rect">
            <a:avLst/>
          </a:prstGeom>
          <a:noFill/>
          <a:ln/>
        </p:spPr>
        <p:txBody>
          <a:bodyPr wrap="square" rtlCol="0" anchor="ctr"/>
          <a:lstStyle/>
          <a:p>
            <a:pPr marL="0" indent="0">
              <a:buNone/>
            </a:pPr>
            <a:r>
              <a:rPr lang="en-US" sz="1350" dirty="0">
                <a:latin typeface="Amazon Ember" pitchFamily="34" charset="0"/>
                <a:ea typeface="Arial" pitchFamily="34" charset="-122"/>
                <a:cs typeface="Arial" pitchFamily="34" charset="-120"/>
              </a:rPr>
              <a:t>Negligible at 10–50 req/day; at scale the bill can blow past the budget signed off at approval.</a:t>
            </a:r>
            <a:endParaRPr lang="en-US" sz="1350" dirty="0"/>
          </a:p>
        </p:txBody>
      </p:sp>
      <p:sp>
        <p:nvSpPr>
          <p:cNvPr id="9" name="Shape 8">
            <a:extLst>
              <a:ext uri="{FF2B5EF4-FFF2-40B4-BE49-F238E27FC236}">
                <a16:creationId xmlns:a16="http://schemas.microsoft.com/office/drawing/2014/main" id="{996B6D95-D383-E6AD-954F-7E0740CD0204}"/>
              </a:ext>
            </a:extLst>
          </p:cNvPr>
          <p:cNvSpPr/>
          <p:nvPr/>
        </p:nvSpPr>
        <p:spPr>
          <a:xfrm>
            <a:off x="457200" y="2587752"/>
            <a:ext cx="11274552" cy="841248"/>
          </a:xfrm>
          <a:prstGeom prst="roundRect">
            <a:avLst>
              <a:gd name="adj" fmla="val 6522"/>
            </a:avLst>
          </a:prstGeom>
          <a:solidFill>
            <a:srgbClr val="232F3E"/>
          </a:solidFill>
          <a:ln w="12700">
            <a:solidFill>
              <a:srgbClr val="3A4552"/>
            </a:solidFill>
            <a:prstDash val="solid"/>
          </a:ln>
        </p:spPr>
        <p:txBody>
          <a:bodyPr/>
          <a:lstStyle/>
          <a:p>
            <a:endParaRPr/>
          </a:p>
        </p:txBody>
      </p:sp>
      <p:sp>
        <p:nvSpPr>
          <p:cNvPr id="10" name="Shape 9">
            <a:extLst>
              <a:ext uri="{FF2B5EF4-FFF2-40B4-BE49-F238E27FC236}">
                <a16:creationId xmlns:a16="http://schemas.microsoft.com/office/drawing/2014/main" id="{C8B55159-D981-0F99-FE96-28D0516BDC0A}"/>
              </a:ext>
            </a:extLst>
          </p:cNvPr>
          <p:cNvSpPr/>
          <p:nvPr/>
        </p:nvSpPr>
        <p:spPr>
          <a:xfrm>
            <a:off x="457200" y="2587752"/>
            <a:ext cx="100584" cy="841248"/>
          </a:xfrm>
          <a:prstGeom prst="rect">
            <a:avLst/>
          </a:prstGeom>
          <a:solidFill>
            <a:srgbClr val="FF9900"/>
          </a:solidFill>
          <a:ln w="12700">
            <a:solidFill>
              <a:srgbClr val="FF9900"/>
            </a:solidFill>
            <a:prstDash val="solid"/>
          </a:ln>
        </p:spPr>
        <p:txBody>
          <a:bodyPr/>
          <a:lstStyle/>
          <a:p>
            <a:endParaRPr dirty="0"/>
          </a:p>
        </p:txBody>
      </p:sp>
      <p:sp>
        <p:nvSpPr>
          <p:cNvPr id="12" name="Shape 10">
            <a:extLst>
              <a:ext uri="{FF2B5EF4-FFF2-40B4-BE49-F238E27FC236}">
                <a16:creationId xmlns:a16="http://schemas.microsoft.com/office/drawing/2014/main" id="{405F7A78-9D9C-BC04-8D3C-50D8E330BD70}"/>
              </a:ext>
            </a:extLst>
          </p:cNvPr>
          <p:cNvSpPr/>
          <p:nvPr/>
        </p:nvSpPr>
        <p:spPr>
          <a:xfrm>
            <a:off x="731520" y="2761488"/>
            <a:ext cx="493776" cy="493776"/>
          </a:xfrm>
          <a:prstGeom prst="ellipse">
            <a:avLst/>
          </a:prstGeom>
          <a:solidFill>
            <a:srgbClr val="232F3E"/>
          </a:solidFill>
          <a:ln w="19050">
            <a:solidFill>
              <a:srgbClr val="FF9900"/>
            </a:solidFill>
            <a:prstDash val="solid"/>
          </a:ln>
        </p:spPr>
        <p:txBody>
          <a:bodyPr/>
          <a:lstStyle/>
          <a:p>
            <a:endParaRPr dirty="0"/>
          </a:p>
        </p:txBody>
      </p:sp>
      <p:sp>
        <p:nvSpPr>
          <p:cNvPr id="13" name="Text 11">
            <a:extLst>
              <a:ext uri="{FF2B5EF4-FFF2-40B4-BE49-F238E27FC236}">
                <a16:creationId xmlns:a16="http://schemas.microsoft.com/office/drawing/2014/main" id="{3765AEF2-266D-D659-23DE-C9C6540AF1CF}"/>
              </a:ext>
            </a:extLst>
          </p:cNvPr>
          <p:cNvSpPr/>
          <p:nvPr/>
        </p:nvSpPr>
        <p:spPr>
          <a:xfrm>
            <a:off x="1417320" y="2587752"/>
            <a:ext cx="2468880" cy="841248"/>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Latency</a:t>
            </a:r>
            <a:endParaRPr lang="en-US" sz="1800" dirty="0"/>
          </a:p>
        </p:txBody>
      </p:sp>
      <p:sp>
        <p:nvSpPr>
          <p:cNvPr id="14" name="Text 12">
            <a:extLst>
              <a:ext uri="{FF2B5EF4-FFF2-40B4-BE49-F238E27FC236}">
                <a16:creationId xmlns:a16="http://schemas.microsoft.com/office/drawing/2014/main" id="{37D3BD7D-8B54-9AA7-DD0F-B6F4D5EAB833}"/>
              </a:ext>
            </a:extLst>
          </p:cNvPr>
          <p:cNvSpPr/>
          <p:nvPr/>
        </p:nvSpPr>
        <p:spPr>
          <a:xfrm>
            <a:off x="3840480" y="2587752"/>
            <a:ext cx="7680960" cy="841248"/>
          </a:xfrm>
          <a:prstGeom prst="rect">
            <a:avLst/>
          </a:prstGeom>
          <a:noFill/>
          <a:ln/>
        </p:spPr>
        <p:txBody>
          <a:bodyPr wrap="square" rtlCol="0" anchor="ctr"/>
          <a:lstStyle/>
          <a:p>
            <a:pPr marL="0" indent="0">
              <a:buNone/>
            </a:pPr>
            <a:r>
              <a:rPr lang="en-US" sz="1350" dirty="0">
                <a:latin typeface="Amazon Ember" pitchFamily="34" charset="0"/>
                <a:ea typeface="Arial" pitchFamily="34" charset="-122"/>
                <a:cs typeface="Arial" pitchFamily="34" charset="-120"/>
              </a:rPr>
              <a:t>Fine for one patient tester; too slow under real, concurrent load.</a:t>
            </a:r>
            <a:endParaRPr lang="en-US" sz="1350" dirty="0"/>
          </a:p>
        </p:txBody>
      </p:sp>
      <p:sp>
        <p:nvSpPr>
          <p:cNvPr id="15" name="Shape 13">
            <a:extLst>
              <a:ext uri="{FF2B5EF4-FFF2-40B4-BE49-F238E27FC236}">
                <a16:creationId xmlns:a16="http://schemas.microsoft.com/office/drawing/2014/main" id="{52C7E632-BEF9-3EA3-D4F3-DBB566F097EB}"/>
              </a:ext>
            </a:extLst>
          </p:cNvPr>
          <p:cNvSpPr/>
          <p:nvPr/>
        </p:nvSpPr>
        <p:spPr>
          <a:xfrm>
            <a:off x="457200" y="3575304"/>
            <a:ext cx="11274552" cy="841248"/>
          </a:xfrm>
          <a:prstGeom prst="roundRect">
            <a:avLst>
              <a:gd name="adj" fmla="val 6522"/>
            </a:avLst>
          </a:prstGeom>
          <a:solidFill>
            <a:srgbClr val="232F3E"/>
          </a:solidFill>
          <a:ln w="12700">
            <a:solidFill>
              <a:srgbClr val="3A4552"/>
            </a:solidFill>
            <a:prstDash val="solid"/>
          </a:ln>
        </p:spPr>
        <p:txBody>
          <a:bodyPr/>
          <a:lstStyle/>
          <a:p>
            <a:endParaRPr/>
          </a:p>
        </p:txBody>
      </p:sp>
      <p:sp>
        <p:nvSpPr>
          <p:cNvPr id="17" name="Shape 15">
            <a:extLst>
              <a:ext uri="{FF2B5EF4-FFF2-40B4-BE49-F238E27FC236}">
                <a16:creationId xmlns:a16="http://schemas.microsoft.com/office/drawing/2014/main" id="{92AD73FC-3502-08C7-2F63-7B1164D4BFBD}"/>
              </a:ext>
            </a:extLst>
          </p:cNvPr>
          <p:cNvSpPr/>
          <p:nvPr/>
        </p:nvSpPr>
        <p:spPr>
          <a:xfrm>
            <a:off x="731520" y="3749040"/>
            <a:ext cx="493776" cy="493776"/>
          </a:xfrm>
          <a:prstGeom prst="ellipse">
            <a:avLst/>
          </a:prstGeom>
          <a:solidFill>
            <a:srgbClr val="232F3E"/>
          </a:solidFill>
          <a:ln w="19050">
            <a:solidFill>
              <a:srgbClr val="FF9900"/>
            </a:solidFill>
            <a:prstDash val="solid"/>
          </a:ln>
        </p:spPr>
        <p:txBody>
          <a:bodyPr/>
          <a:lstStyle/>
          <a:p>
            <a:endParaRPr/>
          </a:p>
        </p:txBody>
      </p:sp>
      <p:pic>
        <p:nvPicPr>
          <p:cNvPr id="18" name="Image 2" descr="ic_18.svg">
            <a:extLst>
              <a:ext uri="{FF2B5EF4-FFF2-40B4-BE49-F238E27FC236}">
                <a16:creationId xmlns:a16="http://schemas.microsoft.com/office/drawing/2014/main" id="{78925EE6-5ABD-DE26-97D8-0625E23C7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248" y="3858768"/>
            <a:ext cx="274320" cy="274320"/>
          </a:xfrm>
          <a:prstGeom prst="rect">
            <a:avLst/>
          </a:prstGeom>
        </p:spPr>
      </p:pic>
      <p:sp>
        <p:nvSpPr>
          <p:cNvPr id="19" name="Text 16">
            <a:extLst>
              <a:ext uri="{FF2B5EF4-FFF2-40B4-BE49-F238E27FC236}">
                <a16:creationId xmlns:a16="http://schemas.microsoft.com/office/drawing/2014/main" id="{8DF7B31A-F2C1-E813-F1E9-AD4D8FB44991}"/>
              </a:ext>
            </a:extLst>
          </p:cNvPr>
          <p:cNvSpPr/>
          <p:nvPr/>
        </p:nvSpPr>
        <p:spPr>
          <a:xfrm>
            <a:off x="1417320" y="3575304"/>
            <a:ext cx="2468880" cy="841248"/>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Reliability</a:t>
            </a:r>
            <a:endParaRPr lang="en-US" sz="1800" dirty="0"/>
          </a:p>
        </p:txBody>
      </p:sp>
      <p:sp>
        <p:nvSpPr>
          <p:cNvPr id="20" name="Text 17">
            <a:extLst>
              <a:ext uri="{FF2B5EF4-FFF2-40B4-BE49-F238E27FC236}">
                <a16:creationId xmlns:a16="http://schemas.microsoft.com/office/drawing/2014/main" id="{37F5DF71-8CCA-7930-A1CB-228983EB6B75}"/>
              </a:ext>
            </a:extLst>
          </p:cNvPr>
          <p:cNvSpPr/>
          <p:nvPr/>
        </p:nvSpPr>
        <p:spPr>
          <a:xfrm>
            <a:off x="3840480" y="3575304"/>
            <a:ext cx="7680960" cy="841248"/>
          </a:xfrm>
          <a:prstGeom prst="rect">
            <a:avLst/>
          </a:prstGeom>
          <a:noFill/>
          <a:ln/>
        </p:spPr>
        <p:txBody>
          <a:bodyPr wrap="square" rtlCol="0" anchor="ctr"/>
          <a:lstStyle/>
          <a:p>
            <a:pPr marL="0" indent="0">
              <a:buNone/>
            </a:pPr>
            <a:r>
              <a:rPr lang="en-US" sz="1350" dirty="0">
                <a:latin typeface="Amazon Ember" pitchFamily="34" charset="0"/>
                <a:ea typeface="Arial" pitchFamily="34" charset="-122"/>
                <a:cs typeface="Arial" pitchFamily="34" charset="-120"/>
              </a:rPr>
              <a:t>Production demands retries, fallbacks, and circuit breakers.</a:t>
            </a:r>
            <a:endParaRPr lang="en-US" sz="1350" dirty="0"/>
          </a:p>
        </p:txBody>
      </p:sp>
      <p:sp>
        <p:nvSpPr>
          <p:cNvPr id="21" name="Shape 18">
            <a:extLst>
              <a:ext uri="{FF2B5EF4-FFF2-40B4-BE49-F238E27FC236}">
                <a16:creationId xmlns:a16="http://schemas.microsoft.com/office/drawing/2014/main" id="{269FCA8F-2E0E-B2D6-1499-4BFFAC77854B}"/>
              </a:ext>
            </a:extLst>
          </p:cNvPr>
          <p:cNvSpPr/>
          <p:nvPr/>
        </p:nvSpPr>
        <p:spPr>
          <a:xfrm>
            <a:off x="457200" y="4562856"/>
            <a:ext cx="11274552" cy="841248"/>
          </a:xfrm>
          <a:prstGeom prst="roundRect">
            <a:avLst>
              <a:gd name="adj" fmla="val 6522"/>
            </a:avLst>
          </a:prstGeom>
          <a:solidFill>
            <a:srgbClr val="232F3E"/>
          </a:solidFill>
          <a:ln w="12700">
            <a:solidFill>
              <a:srgbClr val="3A4552"/>
            </a:solidFill>
            <a:prstDash val="solid"/>
          </a:ln>
        </p:spPr>
        <p:txBody>
          <a:bodyPr/>
          <a:lstStyle/>
          <a:p>
            <a:endParaRPr/>
          </a:p>
        </p:txBody>
      </p:sp>
      <p:sp>
        <p:nvSpPr>
          <p:cNvPr id="22" name="Shape 19">
            <a:extLst>
              <a:ext uri="{FF2B5EF4-FFF2-40B4-BE49-F238E27FC236}">
                <a16:creationId xmlns:a16="http://schemas.microsoft.com/office/drawing/2014/main" id="{D21EA71E-572B-F21E-9B1B-2C927B27ACB6}"/>
              </a:ext>
            </a:extLst>
          </p:cNvPr>
          <p:cNvSpPr/>
          <p:nvPr/>
        </p:nvSpPr>
        <p:spPr>
          <a:xfrm>
            <a:off x="457200" y="4562856"/>
            <a:ext cx="100584" cy="841248"/>
          </a:xfrm>
          <a:prstGeom prst="rect">
            <a:avLst/>
          </a:prstGeom>
          <a:solidFill>
            <a:srgbClr val="FFAC31"/>
          </a:solidFill>
          <a:ln w="12700">
            <a:solidFill>
              <a:srgbClr val="FFAC31"/>
            </a:solidFill>
            <a:prstDash val="solid"/>
          </a:ln>
        </p:spPr>
        <p:txBody>
          <a:bodyPr/>
          <a:lstStyle/>
          <a:p>
            <a:endParaRPr/>
          </a:p>
        </p:txBody>
      </p:sp>
      <p:sp>
        <p:nvSpPr>
          <p:cNvPr id="24" name="Shape 20">
            <a:extLst>
              <a:ext uri="{FF2B5EF4-FFF2-40B4-BE49-F238E27FC236}">
                <a16:creationId xmlns:a16="http://schemas.microsoft.com/office/drawing/2014/main" id="{8B7968D9-09E5-1490-7774-14C56CBD47B3}"/>
              </a:ext>
            </a:extLst>
          </p:cNvPr>
          <p:cNvSpPr/>
          <p:nvPr/>
        </p:nvSpPr>
        <p:spPr>
          <a:xfrm>
            <a:off x="731520" y="4736592"/>
            <a:ext cx="493776" cy="493776"/>
          </a:xfrm>
          <a:prstGeom prst="ellipse">
            <a:avLst/>
          </a:prstGeom>
          <a:solidFill>
            <a:srgbClr val="232F3E"/>
          </a:solidFill>
          <a:ln w="19050">
            <a:solidFill>
              <a:srgbClr val="FFAC31"/>
            </a:solidFill>
            <a:prstDash val="solid"/>
          </a:ln>
        </p:spPr>
        <p:txBody>
          <a:bodyPr/>
          <a:lstStyle/>
          <a:p>
            <a:endParaRPr/>
          </a:p>
        </p:txBody>
      </p:sp>
      <p:pic>
        <p:nvPicPr>
          <p:cNvPr id="32" name="Image 3" descr="ic_19.svg">
            <a:extLst>
              <a:ext uri="{FF2B5EF4-FFF2-40B4-BE49-F238E27FC236}">
                <a16:creationId xmlns:a16="http://schemas.microsoft.com/office/drawing/2014/main" id="{E65AAE36-61C0-B29C-ABBC-5701E0CE89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248" y="4846320"/>
            <a:ext cx="274320" cy="274320"/>
          </a:xfrm>
          <a:prstGeom prst="rect">
            <a:avLst/>
          </a:prstGeom>
        </p:spPr>
      </p:pic>
      <p:sp>
        <p:nvSpPr>
          <p:cNvPr id="60" name="Text 21">
            <a:extLst>
              <a:ext uri="{FF2B5EF4-FFF2-40B4-BE49-F238E27FC236}">
                <a16:creationId xmlns:a16="http://schemas.microsoft.com/office/drawing/2014/main" id="{32ED1DB8-8598-C6C0-817E-FA5457F8C47B}"/>
              </a:ext>
            </a:extLst>
          </p:cNvPr>
          <p:cNvSpPr/>
          <p:nvPr/>
        </p:nvSpPr>
        <p:spPr>
          <a:xfrm>
            <a:off x="1417320" y="4562856"/>
            <a:ext cx="2468880" cy="841248"/>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Failure modes</a:t>
            </a:r>
            <a:endParaRPr lang="en-US" sz="1800" dirty="0"/>
          </a:p>
        </p:txBody>
      </p:sp>
      <p:sp>
        <p:nvSpPr>
          <p:cNvPr id="61" name="Text 22">
            <a:extLst>
              <a:ext uri="{FF2B5EF4-FFF2-40B4-BE49-F238E27FC236}">
                <a16:creationId xmlns:a16="http://schemas.microsoft.com/office/drawing/2014/main" id="{66885CD8-EC88-9239-71BE-0292350A8DA1}"/>
              </a:ext>
            </a:extLst>
          </p:cNvPr>
          <p:cNvSpPr/>
          <p:nvPr/>
        </p:nvSpPr>
        <p:spPr>
          <a:xfrm>
            <a:off x="3840480" y="4562856"/>
            <a:ext cx="7680960" cy="841248"/>
          </a:xfrm>
          <a:prstGeom prst="rect">
            <a:avLst/>
          </a:prstGeom>
          <a:noFill/>
          <a:ln/>
        </p:spPr>
        <p:txBody>
          <a:bodyPr wrap="square" rtlCol="0" anchor="ctr"/>
          <a:lstStyle/>
          <a:p>
            <a:pPr marL="0" indent="0">
              <a:buNone/>
            </a:pPr>
            <a:r>
              <a:rPr lang="en-US" sz="1350" dirty="0">
                <a:latin typeface="Amazon Ember" pitchFamily="34" charset="0"/>
                <a:ea typeface="Arial" pitchFamily="34" charset="-122"/>
                <a:cs typeface="Arial" pitchFamily="34" charset="-120"/>
              </a:rPr>
              <a:t>Name each one for the chosen architecture and articulate an explicit mitigation.</a:t>
            </a:r>
            <a:endParaRPr lang="en-US" sz="1350" dirty="0"/>
          </a:p>
        </p:txBody>
      </p:sp>
      <p:sp>
        <p:nvSpPr>
          <p:cNvPr id="62" name="Shape 23">
            <a:extLst>
              <a:ext uri="{FF2B5EF4-FFF2-40B4-BE49-F238E27FC236}">
                <a16:creationId xmlns:a16="http://schemas.microsoft.com/office/drawing/2014/main" id="{7704C115-64B9-C578-6926-120C6D76B800}"/>
              </a:ext>
            </a:extLst>
          </p:cNvPr>
          <p:cNvSpPr/>
          <p:nvPr/>
        </p:nvSpPr>
        <p:spPr>
          <a:xfrm>
            <a:off x="457200" y="5568696"/>
            <a:ext cx="11274552" cy="658368"/>
          </a:xfrm>
          <a:prstGeom prst="roundRect">
            <a:avLst>
              <a:gd name="adj" fmla="val 8333"/>
            </a:avLst>
          </a:prstGeom>
          <a:solidFill>
            <a:srgbClr val="232F3E"/>
          </a:solidFill>
          <a:ln w="12700">
            <a:solidFill>
              <a:srgbClr val="FF9900"/>
            </a:solidFill>
            <a:prstDash val="solid"/>
          </a:ln>
        </p:spPr>
        <p:txBody>
          <a:bodyPr/>
          <a:lstStyle/>
          <a:p>
            <a:endParaRPr/>
          </a:p>
        </p:txBody>
      </p:sp>
      <p:pic>
        <p:nvPicPr>
          <p:cNvPr id="63" name="Image 4" descr="ic_20.svg">
            <a:extLst>
              <a:ext uri="{FF2B5EF4-FFF2-40B4-BE49-F238E27FC236}">
                <a16:creationId xmlns:a16="http://schemas.microsoft.com/office/drawing/2014/main" id="{7395E88B-DB97-C311-8F36-C5A9F6A87C3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5800" y="5742432"/>
            <a:ext cx="329184" cy="329184"/>
          </a:xfrm>
          <a:prstGeom prst="rect">
            <a:avLst/>
          </a:prstGeom>
        </p:spPr>
      </p:pic>
      <p:sp>
        <p:nvSpPr>
          <p:cNvPr id="64" name="Text 24">
            <a:extLst>
              <a:ext uri="{FF2B5EF4-FFF2-40B4-BE49-F238E27FC236}">
                <a16:creationId xmlns:a16="http://schemas.microsoft.com/office/drawing/2014/main" id="{6F32EA11-5402-2E93-79E5-7F1A4C8AE5B9}"/>
              </a:ext>
            </a:extLst>
          </p:cNvPr>
          <p:cNvSpPr/>
          <p:nvPr/>
        </p:nvSpPr>
        <p:spPr>
          <a:xfrm>
            <a:off x="1188720" y="5568696"/>
            <a:ext cx="10332720" cy="658368"/>
          </a:xfrm>
          <a:prstGeom prst="rect">
            <a:avLst/>
          </a:prstGeom>
          <a:noFill/>
          <a:ln/>
        </p:spPr>
        <p:txBody>
          <a:bodyPr wrap="square" rtlCol="0" anchor="ctr"/>
          <a:lstStyle/>
          <a:p>
            <a:pPr marL="0" indent="0">
              <a:buNone/>
            </a:pPr>
            <a:r>
              <a:rPr lang="en-US" sz="1300" i="1" dirty="0">
                <a:solidFill>
                  <a:srgbClr val="FFAC31"/>
                </a:solidFill>
                <a:latin typeface="Amazon Ember" pitchFamily="34" charset="0"/>
                <a:ea typeface="Arial" pitchFamily="34" charset="-122"/>
                <a:cs typeface="Arial" pitchFamily="34" charset="-120"/>
              </a:rPr>
              <a:t>Capture the first business-metric signal on your POC sample — fitting the budget but not moving the metric is still a failed deployment.</a:t>
            </a:r>
            <a:endParaRPr lang="en-US" sz="1300" dirty="0"/>
          </a:p>
        </p:txBody>
      </p:sp>
      <p:pic>
        <p:nvPicPr>
          <p:cNvPr id="65" name="Graphic 64" descr="Gauge with solid fill">
            <a:extLst>
              <a:ext uri="{FF2B5EF4-FFF2-40B4-BE49-F238E27FC236}">
                <a16:creationId xmlns:a16="http://schemas.microsoft.com/office/drawing/2014/main" id="{A18D8154-A041-8CD7-0481-16A5D56D37E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635" y="2784628"/>
            <a:ext cx="397085" cy="397085"/>
          </a:xfrm>
          <a:prstGeom prst="rect">
            <a:avLst/>
          </a:prstGeom>
        </p:spPr>
      </p:pic>
      <p:sp>
        <p:nvSpPr>
          <p:cNvPr id="66" name="Shape 9">
            <a:extLst>
              <a:ext uri="{FF2B5EF4-FFF2-40B4-BE49-F238E27FC236}">
                <a16:creationId xmlns:a16="http://schemas.microsoft.com/office/drawing/2014/main" id="{4D2BC79C-2538-F96B-BF00-27C6171064B7}"/>
              </a:ext>
            </a:extLst>
          </p:cNvPr>
          <p:cNvSpPr/>
          <p:nvPr/>
        </p:nvSpPr>
        <p:spPr>
          <a:xfrm>
            <a:off x="457200" y="3587559"/>
            <a:ext cx="100584" cy="841248"/>
          </a:xfrm>
          <a:prstGeom prst="rect">
            <a:avLst/>
          </a:prstGeom>
          <a:solidFill>
            <a:srgbClr val="FF9900"/>
          </a:solidFill>
          <a:ln w="12700">
            <a:solidFill>
              <a:srgbClr val="FF9900"/>
            </a:solidFill>
            <a:prstDash val="solid"/>
          </a:ln>
        </p:spPr>
        <p:txBody>
          <a:bodyPr/>
          <a:lstStyle/>
          <a:p>
            <a:endParaRPr dirty="0"/>
          </a:p>
        </p:txBody>
      </p:sp>
    </p:spTree>
    <p:extLst>
      <p:ext uri="{BB962C8B-B14F-4D97-AF65-F5344CB8AC3E}">
        <p14:creationId xmlns:p14="http://schemas.microsoft.com/office/powerpoint/2010/main" val="2016634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D8DA4-79D1-45C8-3F89-BA5F5BB80445}"/>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6A4265AC-F7F0-A8F8-23C3-6B67FFD695EA}"/>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Four dimensions where a demo misleads you</a:t>
            </a:r>
            <a:endParaRPr lang="en-US" sz="4000" dirty="0"/>
          </a:p>
        </p:txBody>
      </p:sp>
      <p:grpSp>
        <p:nvGrpSpPr>
          <p:cNvPr id="50" name="Group 49">
            <a:extLst>
              <a:ext uri="{FF2B5EF4-FFF2-40B4-BE49-F238E27FC236}">
                <a16:creationId xmlns:a16="http://schemas.microsoft.com/office/drawing/2014/main" id="{1C904D11-331B-C3FF-D63E-89852CFA9C7F}"/>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14CC2B27-45FB-EABA-6BE2-10F5F7D70C13}"/>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6FD0EF93-B921-1723-7EB2-5EF332818A35}"/>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4206A458-6E5F-F720-9FB7-4FC74F0F154B}"/>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7DB00A33-240C-3AC5-E0C2-8CD7B6EBD620}"/>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B7BE93F0-B78B-9018-CA95-9FB217DB6C73}"/>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FCF23E28-8369-01A2-152E-297F65E1D4C6}"/>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2B64A8CD-DA43-D78E-7D60-E6E3AD9AA735}"/>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46E14DD1-A2E7-A089-2D5F-55D05F1309ED}"/>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62" name="Text 3">
            <a:extLst>
              <a:ext uri="{FF2B5EF4-FFF2-40B4-BE49-F238E27FC236}">
                <a16:creationId xmlns:a16="http://schemas.microsoft.com/office/drawing/2014/main" id="{0381026F-4ABF-36A2-42E3-984266E2DD59}"/>
              </a:ext>
            </a:extLst>
          </p:cNvPr>
          <p:cNvSpPr/>
          <p:nvPr/>
        </p:nvSpPr>
        <p:spPr>
          <a:xfrm>
            <a:off x="658368" y="1481328"/>
            <a:ext cx="10881360" cy="457200"/>
          </a:xfrm>
          <a:prstGeom prst="rect">
            <a:avLst/>
          </a:prstGeom>
          <a:noFill/>
          <a:ln/>
        </p:spPr>
        <p:txBody>
          <a:bodyPr wrap="square" rtlCol="0" anchor="ctr"/>
          <a:lstStyle/>
          <a:p>
            <a:pPr marL="0" indent="0">
              <a:buNone/>
            </a:pPr>
            <a:r>
              <a:rPr lang="en-US" sz="1500" dirty="0">
                <a:solidFill>
                  <a:srgbClr val="C6C6CD"/>
                </a:solidFill>
                <a:latin typeface="Amazon Ember" pitchFamily="34" charset="0"/>
                <a:ea typeface="Arial" pitchFamily="34" charset="-122"/>
                <a:cs typeface="Arial" pitchFamily="34" charset="-120"/>
              </a:rPr>
              <a:t>Sizing means producing a cost model accurate enough to validate the architecture against the budget. Four inputs drive it.</a:t>
            </a:r>
            <a:endParaRPr lang="en-US" sz="1500" dirty="0"/>
          </a:p>
        </p:txBody>
      </p:sp>
      <p:sp>
        <p:nvSpPr>
          <p:cNvPr id="63" name="Shape 4">
            <a:extLst>
              <a:ext uri="{FF2B5EF4-FFF2-40B4-BE49-F238E27FC236}">
                <a16:creationId xmlns:a16="http://schemas.microsoft.com/office/drawing/2014/main" id="{C10C9B1F-0867-2F02-AC60-DA8A9616946E}"/>
              </a:ext>
            </a:extLst>
          </p:cNvPr>
          <p:cNvSpPr/>
          <p:nvPr/>
        </p:nvSpPr>
        <p:spPr>
          <a:xfrm>
            <a:off x="457200" y="2148840"/>
            <a:ext cx="2697480" cy="2514600"/>
          </a:xfrm>
          <a:prstGeom prst="roundRect">
            <a:avLst>
              <a:gd name="adj" fmla="val 2909"/>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64" name="Shape 5">
            <a:extLst>
              <a:ext uri="{FF2B5EF4-FFF2-40B4-BE49-F238E27FC236}">
                <a16:creationId xmlns:a16="http://schemas.microsoft.com/office/drawing/2014/main" id="{DC89EC27-A3C7-D278-95A2-75E9F936B73C}"/>
              </a:ext>
            </a:extLst>
          </p:cNvPr>
          <p:cNvSpPr/>
          <p:nvPr/>
        </p:nvSpPr>
        <p:spPr>
          <a:xfrm>
            <a:off x="457200" y="2148840"/>
            <a:ext cx="2697480" cy="91440"/>
          </a:xfrm>
          <a:prstGeom prst="rect">
            <a:avLst/>
          </a:prstGeom>
          <a:solidFill>
            <a:schemeClr val="accent1"/>
          </a:solidFill>
          <a:ln w="12700">
            <a:solidFill>
              <a:srgbClr val="2074D5"/>
            </a:solidFill>
            <a:prstDash val="solid"/>
          </a:ln>
        </p:spPr>
        <p:txBody>
          <a:bodyPr/>
          <a:lstStyle/>
          <a:p>
            <a:endParaRPr/>
          </a:p>
        </p:txBody>
      </p:sp>
      <p:pic>
        <p:nvPicPr>
          <p:cNvPr id="65" name="Image 0" descr="ic_25.svg">
            <a:extLst>
              <a:ext uri="{FF2B5EF4-FFF2-40B4-BE49-F238E27FC236}">
                <a16:creationId xmlns:a16="http://schemas.microsoft.com/office/drawing/2014/main" id="{A12810A0-F65F-5ACF-EDCE-E721C3B092E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1520" y="2468880"/>
            <a:ext cx="457200" cy="457200"/>
          </a:xfrm>
          <a:prstGeom prst="rect">
            <a:avLst/>
          </a:prstGeom>
        </p:spPr>
      </p:pic>
      <p:sp>
        <p:nvSpPr>
          <p:cNvPr id="66" name="Text 6">
            <a:extLst>
              <a:ext uri="{FF2B5EF4-FFF2-40B4-BE49-F238E27FC236}">
                <a16:creationId xmlns:a16="http://schemas.microsoft.com/office/drawing/2014/main" id="{71AE3885-81AE-5273-2C3C-6D7827F4D66F}"/>
              </a:ext>
            </a:extLst>
          </p:cNvPr>
          <p:cNvSpPr/>
          <p:nvPr/>
        </p:nvSpPr>
        <p:spPr>
          <a:xfrm>
            <a:off x="2286000" y="2404872"/>
            <a:ext cx="640080" cy="640080"/>
          </a:xfrm>
          <a:prstGeom prst="rect">
            <a:avLst/>
          </a:prstGeom>
          <a:noFill/>
          <a:ln/>
        </p:spPr>
        <p:txBody>
          <a:bodyPr wrap="square" rtlCol="0" anchor="ctr"/>
          <a:lstStyle/>
          <a:p>
            <a:pPr marL="0" indent="0" algn="r">
              <a:buNone/>
            </a:pPr>
            <a:r>
              <a:rPr lang="en-US" sz="3400" dirty="0">
                <a:ln w="0"/>
                <a:solidFill>
                  <a:schemeClr val="accent1"/>
                </a:solidFill>
                <a:effectLst>
                  <a:outerShdw blurRad="38100" dist="25400" dir="5400000" algn="ctr" rotWithShape="0">
                    <a:srgbClr val="6E747A">
                      <a:alpha val="43000"/>
                    </a:srgbClr>
                  </a:outerShdw>
                </a:effectLst>
                <a:latin typeface="Amazon Ember Display" pitchFamily="34" charset="0"/>
                <a:ea typeface="Arial" pitchFamily="34" charset="-122"/>
                <a:cs typeface="Arial" pitchFamily="34" charset="-120"/>
              </a:rPr>
              <a:t>1</a:t>
            </a:r>
            <a:endParaRPr lang="en-US" sz="3400" dirty="0"/>
          </a:p>
        </p:txBody>
      </p:sp>
      <p:sp>
        <p:nvSpPr>
          <p:cNvPr id="67" name="Text 7">
            <a:extLst>
              <a:ext uri="{FF2B5EF4-FFF2-40B4-BE49-F238E27FC236}">
                <a16:creationId xmlns:a16="http://schemas.microsoft.com/office/drawing/2014/main" id="{D4471770-04D4-9ADB-203A-C486F52E039E}"/>
              </a:ext>
            </a:extLst>
          </p:cNvPr>
          <p:cNvSpPr/>
          <p:nvPr/>
        </p:nvSpPr>
        <p:spPr>
          <a:xfrm>
            <a:off x="731520" y="3108960"/>
            <a:ext cx="2148840" cy="457200"/>
          </a:xfrm>
          <a:prstGeom prst="rect">
            <a:avLst/>
          </a:prstGeom>
          <a:noFill/>
          <a:ln/>
        </p:spPr>
        <p:txBody>
          <a:bodyPr wrap="square" rtlCol="0" anchor="ctr"/>
          <a:lstStyle/>
          <a:p>
            <a:pPr marL="0" indent="0">
              <a:buNone/>
            </a:pPr>
            <a:r>
              <a:rPr lang="en-US" sz="1600" b="1" dirty="0">
                <a:solidFill>
                  <a:srgbClr val="FFFFFF"/>
                </a:solidFill>
                <a:latin typeface="Amazon Ember" pitchFamily="34" charset="0"/>
                <a:ea typeface="Arial" pitchFamily="34" charset="-122"/>
                <a:cs typeface="Arial" pitchFamily="34" charset="-120"/>
              </a:rPr>
              <a:t>Call volume</a:t>
            </a:r>
            <a:endParaRPr lang="en-US" sz="1600" dirty="0"/>
          </a:p>
        </p:txBody>
      </p:sp>
      <p:sp>
        <p:nvSpPr>
          <p:cNvPr id="68" name="Text 8">
            <a:extLst>
              <a:ext uri="{FF2B5EF4-FFF2-40B4-BE49-F238E27FC236}">
                <a16:creationId xmlns:a16="http://schemas.microsoft.com/office/drawing/2014/main" id="{6D719680-E3FD-8F03-3CDE-6A8FFBB1415A}"/>
              </a:ext>
            </a:extLst>
          </p:cNvPr>
          <p:cNvSpPr/>
          <p:nvPr/>
        </p:nvSpPr>
        <p:spPr>
          <a:xfrm>
            <a:off x="731520" y="3566160"/>
            <a:ext cx="2148840" cy="100584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Requests per day / month - from the business owner, not developer intuition.</a:t>
            </a:r>
            <a:endParaRPr lang="en-US" sz="1250" dirty="0"/>
          </a:p>
        </p:txBody>
      </p:sp>
      <p:sp>
        <p:nvSpPr>
          <p:cNvPr id="69" name="Shape 9">
            <a:extLst>
              <a:ext uri="{FF2B5EF4-FFF2-40B4-BE49-F238E27FC236}">
                <a16:creationId xmlns:a16="http://schemas.microsoft.com/office/drawing/2014/main" id="{0068EE5C-1A18-9197-EB28-1E1289EB23D8}"/>
              </a:ext>
            </a:extLst>
          </p:cNvPr>
          <p:cNvSpPr/>
          <p:nvPr/>
        </p:nvSpPr>
        <p:spPr>
          <a:xfrm>
            <a:off x="3337560" y="2148840"/>
            <a:ext cx="2697480" cy="2514600"/>
          </a:xfrm>
          <a:prstGeom prst="roundRect">
            <a:avLst>
              <a:gd name="adj" fmla="val 2909"/>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70" name="Shape 10">
            <a:extLst>
              <a:ext uri="{FF2B5EF4-FFF2-40B4-BE49-F238E27FC236}">
                <a16:creationId xmlns:a16="http://schemas.microsoft.com/office/drawing/2014/main" id="{0D1CEB9C-9855-BE41-0026-9CDBD71D2F70}"/>
              </a:ext>
            </a:extLst>
          </p:cNvPr>
          <p:cNvSpPr/>
          <p:nvPr/>
        </p:nvSpPr>
        <p:spPr>
          <a:xfrm>
            <a:off x="3337560" y="2148840"/>
            <a:ext cx="2697480" cy="91440"/>
          </a:xfrm>
          <a:prstGeom prst="rect">
            <a:avLst/>
          </a:prstGeom>
          <a:solidFill>
            <a:srgbClr val="997ADA"/>
          </a:solidFill>
          <a:ln w="12700">
            <a:solidFill>
              <a:srgbClr val="8C4FFF"/>
            </a:solidFill>
            <a:prstDash val="solid"/>
          </a:ln>
        </p:spPr>
        <p:txBody>
          <a:bodyPr/>
          <a:lstStyle/>
          <a:p>
            <a:endParaRPr b="1">
              <a:ln w="22225">
                <a:solidFill>
                  <a:schemeClr val="accent2"/>
                </a:solidFill>
                <a:prstDash val="solid"/>
              </a:ln>
              <a:solidFill>
                <a:schemeClr val="accent2">
                  <a:lumMod val="40000"/>
                  <a:lumOff val="60000"/>
                </a:schemeClr>
              </a:solidFill>
            </a:endParaRPr>
          </a:p>
        </p:txBody>
      </p:sp>
      <p:sp>
        <p:nvSpPr>
          <p:cNvPr id="72" name="Text 11">
            <a:extLst>
              <a:ext uri="{FF2B5EF4-FFF2-40B4-BE49-F238E27FC236}">
                <a16:creationId xmlns:a16="http://schemas.microsoft.com/office/drawing/2014/main" id="{A720C22E-BC44-236A-893C-7A79F06ADF42}"/>
              </a:ext>
            </a:extLst>
          </p:cNvPr>
          <p:cNvSpPr/>
          <p:nvPr/>
        </p:nvSpPr>
        <p:spPr>
          <a:xfrm>
            <a:off x="5166360" y="2404872"/>
            <a:ext cx="640080" cy="640080"/>
          </a:xfrm>
          <a:prstGeom prst="rect">
            <a:avLst/>
          </a:prstGeom>
          <a:noFill/>
          <a:ln/>
        </p:spPr>
        <p:txBody>
          <a:bodyPr wrap="square" rtlCol="0" anchor="ctr"/>
          <a:lstStyle/>
          <a:p>
            <a:pPr marL="0" indent="0" algn="r">
              <a:buNone/>
            </a:pPr>
            <a:endParaRPr lang="en-US" sz="3400" b="1" dirty="0">
              <a:ln w="22225">
                <a:solidFill>
                  <a:schemeClr val="accent2"/>
                </a:solidFill>
                <a:prstDash val="solid"/>
              </a:ln>
              <a:solidFill>
                <a:schemeClr val="accent2">
                  <a:lumMod val="40000"/>
                  <a:lumOff val="60000"/>
                </a:schemeClr>
              </a:solidFill>
            </a:endParaRPr>
          </a:p>
        </p:txBody>
      </p:sp>
      <p:sp>
        <p:nvSpPr>
          <p:cNvPr id="73" name="Text 12">
            <a:extLst>
              <a:ext uri="{FF2B5EF4-FFF2-40B4-BE49-F238E27FC236}">
                <a16:creationId xmlns:a16="http://schemas.microsoft.com/office/drawing/2014/main" id="{8CF0E6BB-5EDF-4C52-FDD7-619E4339D780}"/>
              </a:ext>
            </a:extLst>
          </p:cNvPr>
          <p:cNvSpPr/>
          <p:nvPr/>
        </p:nvSpPr>
        <p:spPr>
          <a:xfrm>
            <a:off x="3611880" y="3108960"/>
            <a:ext cx="2148840" cy="457200"/>
          </a:xfrm>
          <a:prstGeom prst="rect">
            <a:avLst/>
          </a:prstGeom>
          <a:noFill/>
          <a:ln/>
        </p:spPr>
        <p:txBody>
          <a:bodyPr wrap="square" rtlCol="0" anchor="ctr"/>
          <a:lstStyle/>
          <a:p>
            <a:pPr marL="0" indent="0">
              <a:buNone/>
            </a:pPr>
            <a:r>
              <a:rPr lang="en-US" sz="1600" b="1" dirty="0">
                <a:solidFill>
                  <a:srgbClr val="FFFFFF"/>
                </a:solidFill>
                <a:latin typeface="Amazon Ember" pitchFamily="34" charset="0"/>
                <a:ea typeface="Arial" pitchFamily="34" charset="-122"/>
                <a:cs typeface="Arial" pitchFamily="34" charset="-120"/>
              </a:rPr>
              <a:t>Token budget</a:t>
            </a:r>
            <a:endParaRPr lang="en-US" sz="1600" dirty="0"/>
          </a:p>
        </p:txBody>
      </p:sp>
      <p:sp>
        <p:nvSpPr>
          <p:cNvPr id="74" name="Text 13">
            <a:extLst>
              <a:ext uri="{FF2B5EF4-FFF2-40B4-BE49-F238E27FC236}">
                <a16:creationId xmlns:a16="http://schemas.microsoft.com/office/drawing/2014/main" id="{7B324FF6-37F3-F5FB-6E5F-F996D2F92F54}"/>
              </a:ext>
            </a:extLst>
          </p:cNvPr>
          <p:cNvSpPr/>
          <p:nvPr/>
        </p:nvSpPr>
        <p:spPr>
          <a:xfrm>
            <a:off x="3611880" y="3566160"/>
            <a:ext cx="2148840" cy="100584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Tokens per request, input plus output.</a:t>
            </a:r>
            <a:endParaRPr lang="en-US" sz="1250" dirty="0"/>
          </a:p>
        </p:txBody>
      </p:sp>
      <p:sp>
        <p:nvSpPr>
          <p:cNvPr id="75" name="Shape 14">
            <a:extLst>
              <a:ext uri="{FF2B5EF4-FFF2-40B4-BE49-F238E27FC236}">
                <a16:creationId xmlns:a16="http://schemas.microsoft.com/office/drawing/2014/main" id="{50E6C6DD-40AE-1B4F-3039-73E333B748A8}"/>
              </a:ext>
            </a:extLst>
          </p:cNvPr>
          <p:cNvSpPr/>
          <p:nvPr/>
        </p:nvSpPr>
        <p:spPr>
          <a:xfrm>
            <a:off x="6217920" y="2148840"/>
            <a:ext cx="2697480" cy="2514600"/>
          </a:xfrm>
          <a:prstGeom prst="roundRect">
            <a:avLst>
              <a:gd name="adj" fmla="val 2909"/>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76" name="Shape 15">
            <a:extLst>
              <a:ext uri="{FF2B5EF4-FFF2-40B4-BE49-F238E27FC236}">
                <a16:creationId xmlns:a16="http://schemas.microsoft.com/office/drawing/2014/main" id="{8E21C5C8-039E-5B6F-36E4-DB90B7D62BD5}"/>
              </a:ext>
            </a:extLst>
          </p:cNvPr>
          <p:cNvSpPr/>
          <p:nvPr/>
        </p:nvSpPr>
        <p:spPr>
          <a:xfrm>
            <a:off x="6217920" y="2148840"/>
            <a:ext cx="2697480" cy="91440"/>
          </a:xfrm>
          <a:prstGeom prst="rect">
            <a:avLst/>
          </a:prstGeom>
          <a:solidFill>
            <a:schemeClr val="accent3">
              <a:lumMod val="75000"/>
            </a:schemeClr>
          </a:solidFill>
          <a:ln w="12700">
            <a:solidFill>
              <a:srgbClr val="1D8102"/>
            </a:solidFill>
            <a:prstDash val="solid"/>
          </a:ln>
        </p:spPr>
        <p:txBody>
          <a:bodyPr/>
          <a:lstStyle/>
          <a:p>
            <a:endParaRPr b="1">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pic>
        <p:nvPicPr>
          <p:cNvPr id="77" name="Image 2" descr="ic_27.svg">
            <a:extLst>
              <a:ext uri="{FF2B5EF4-FFF2-40B4-BE49-F238E27FC236}">
                <a16:creationId xmlns:a16="http://schemas.microsoft.com/office/drawing/2014/main" id="{A1FAA2FF-C3F0-B765-A9F9-4AE1A93CB2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92240" y="2468880"/>
            <a:ext cx="457200" cy="457200"/>
          </a:xfrm>
          <a:prstGeom prst="rect">
            <a:avLst/>
          </a:prstGeom>
        </p:spPr>
      </p:pic>
      <p:sp>
        <p:nvSpPr>
          <p:cNvPr id="78" name="Text 16">
            <a:extLst>
              <a:ext uri="{FF2B5EF4-FFF2-40B4-BE49-F238E27FC236}">
                <a16:creationId xmlns:a16="http://schemas.microsoft.com/office/drawing/2014/main" id="{AE232A84-6E36-4FFA-0613-FDFE5C2BEF41}"/>
              </a:ext>
            </a:extLst>
          </p:cNvPr>
          <p:cNvSpPr/>
          <p:nvPr/>
        </p:nvSpPr>
        <p:spPr>
          <a:xfrm>
            <a:off x="8046720" y="2404872"/>
            <a:ext cx="640080" cy="640080"/>
          </a:xfrm>
          <a:prstGeom prst="rect">
            <a:avLst/>
          </a:prstGeom>
          <a:noFill/>
          <a:ln/>
        </p:spPr>
        <p:txBody>
          <a:bodyPr wrap="square" rtlCol="0" anchor="ctr"/>
          <a:lstStyle/>
          <a:p>
            <a:pPr marL="0" indent="0" algn="r">
              <a:buNone/>
            </a:pPr>
            <a:endParaRPr lang="en-US" sz="34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79" name="Text 17">
            <a:extLst>
              <a:ext uri="{FF2B5EF4-FFF2-40B4-BE49-F238E27FC236}">
                <a16:creationId xmlns:a16="http://schemas.microsoft.com/office/drawing/2014/main" id="{6CAAC327-E85F-07E8-1D89-66460B38EE4B}"/>
              </a:ext>
            </a:extLst>
          </p:cNvPr>
          <p:cNvSpPr/>
          <p:nvPr/>
        </p:nvSpPr>
        <p:spPr>
          <a:xfrm>
            <a:off x="6492240" y="3108960"/>
            <a:ext cx="2148840" cy="457200"/>
          </a:xfrm>
          <a:prstGeom prst="rect">
            <a:avLst/>
          </a:prstGeom>
          <a:noFill/>
          <a:ln/>
        </p:spPr>
        <p:txBody>
          <a:bodyPr wrap="square" rtlCol="0" anchor="ctr"/>
          <a:lstStyle/>
          <a:p>
            <a:pPr marL="0" indent="0">
              <a:buNone/>
            </a:pPr>
            <a:r>
              <a:rPr lang="en-US" sz="1600" b="1" dirty="0">
                <a:solidFill>
                  <a:srgbClr val="FFFFFF"/>
                </a:solidFill>
                <a:latin typeface="Amazon Ember" pitchFamily="34" charset="0"/>
                <a:ea typeface="Arial" pitchFamily="34" charset="-122"/>
                <a:cs typeface="Arial" pitchFamily="34" charset="-120"/>
              </a:rPr>
              <a:t>Model tier</a:t>
            </a:r>
            <a:endParaRPr lang="en-US" sz="1600" dirty="0"/>
          </a:p>
        </p:txBody>
      </p:sp>
      <p:sp>
        <p:nvSpPr>
          <p:cNvPr id="80" name="Text 18">
            <a:extLst>
              <a:ext uri="{FF2B5EF4-FFF2-40B4-BE49-F238E27FC236}">
                <a16:creationId xmlns:a16="http://schemas.microsoft.com/office/drawing/2014/main" id="{DF944703-F995-6AEF-2125-7729879881AB}"/>
              </a:ext>
            </a:extLst>
          </p:cNvPr>
          <p:cNvSpPr/>
          <p:nvPr/>
        </p:nvSpPr>
        <p:spPr>
          <a:xfrm>
            <a:off x="6492240" y="3566160"/>
            <a:ext cx="2148840" cy="100584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Which model the use case actually requires.</a:t>
            </a:r>
            <a:endParaRPr lang="en-US" sz="1250" dirty="0"/>
          </a:p>
        </p:txBody>
      </p:sp>
      <p:sp>
        <p:nvSpPr>
          <p:cNvPr id="81" name="Shape 19">
            <a:extLst>
              <a:ext uri="{FF2B5EF4-FFF2-40B4-BE49-F238E27FC236}">
                <a16:creationId xmlns:a16="http://schemas.microsoft.com/office/drawing/2014/main" id="{8905ACC8-1F45-C88F-EC5B-EF1684BB46C1}"/>
              </a:ext>
            </a:extLst>
          </p:cNvPr>
          <p:cNvSpPr/>
          <p:nvPr/>
        </p:nvSpPr>
        <p:spPr>
          <a:xfrm>
            <a:off x="9098280" y="2148840"/>
            <a:ext cx="2697480" cy="2514600"/>
          </a:xfrm>
          <a:prstGeom prst="roundRect">
            <a:avLst>
              <a:gd name="adj" fmla="val 2909"/>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82" name="Shape 20">
            <a:extLst>
              <a:ext uri="{FF2B5EF4-FFF2-40B4-BE49-F238E27FC236}">
                <a16:creationId xmlns:a16="http://schemas.microsoft.com/office/drawing/2014/main" id="{2FC424D5-B614-286A-684A-112535684BE0}"/>
              </a:ext>
            </a:extLst>
          </p:cNvPr>
          <p:cNvSpPr/>
          <p:nvPr/>
        </p:nvSpPr>
        <p:spPr>
          <a:xfrm>
            <a:off x="9098280" y="2148840"/>
            <a:ext cx="2697480" cy="91440"/>
          </a:xfrm>
          <a:prstGeom prst="rect">
            <a:avLst/>
          </a:prstGeom>
          <a:solidFill>
            <a:schemeClr val="accent4">
              <a:lumMod val="50000"/>
            </a:schemeClr>
          </a:solidFill>
          <a:ln w="12700">
            <a:solidFill>
              <a:schemeClr val="accent4"/>
            </a:solidFill>
            <a:prstDash val="solid"/>
          </a:ln>
        </p:spPr>
        <p:txBody>
          <a:bodyPr/>
          <a:lstStyle/>
          <a:p>
            <a:endParaRPr/>
          </a:p>
        </p:txBody>
      </p:sp>
      <p:pic>
        <p:nvPicPr>
          <p:cNvPr id="83" name="Image 3" descr="ic_28.svg">
            <a:extLst>
              <a:ext uri="{FF2B5EF4-FFF2-40B4-BE49-F238E27FC236}">
                <a16:creationId xmlns:a16="http://schemas.microsoft.com/office/drawing/2014/main" id="{A0787673-915F-7A79-3BD9-393A3F190D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2468880"/>
            <a:ext cx="457200" cy="457200"/>
          </a:xfrm>
          <a:prstGeom prst="rect">
            <a:avLst/>
          </a:prstGeom>
        </p:spPr>
      </p:pic>
      <p:sp>
        <p:nvSpPr>
          <p:cNvPr id="84" name="Text 21">
            <a:extLst>
              <a:ext uri="{FF2B5EF4-FFF2-40B4-BE49-F238E27FC236}">
                <a16:creationId xmlns:a16="http://schemas.microsoft.com/office/drawing/2014/main" id="{BB390A15-AC68-F529-3E81-21EA8DE4802D}"/>
              </a:ext>
            </a:extLst>
          </p:cNvPr>
          <p:cNvSpPr/>
          <p:nvPr/>
        </p:nvSpPr>
        <p:spPr>
          <a:xfrm>
            <a:off x="10927080" y="2404872"/>
            <a:ext cx="640080" cy="640080"/>
          </a:xfrm>
          <a:prstGeom prst="rect">
            <a:avLst/>
          </a:prstGeom>
          <a:noFill/>
          <a:ln/>
        </p:spPr>
        <p:txBody>
          <a:bodyPr wrap="square" rtlCol="0" anchor="ctr">
            <a:scene3d>
              <a:camera prst="orthographicFront"/>
              <a:lightRig rig="soft" dir="t">
                <a:rot lat="0" lon="0" rev="15600000"/>
              </a:lightRig>
            </a:scene3d>
            <a:sp3d extrusionH="57150" prstMaterial="softEdge">
              <a:bevelT w="25400" h="38100"/>
            </a:sp3d>
          </a:bodyPr>
          <a:lstStyle/>
          <a:p>
            <a:pPr marL="0" indent="0" algn="r">
              <a:buNone/>
            </a:pPr>
            <a:r>
              <a:rPr lang="en-US" sz="3400" dirty="0">
                <a:latin typeface="Amazon Ember Display" pitchFamily="34" charset="0"/>
                <a:ea typeface="Arial" pitchFamily="34" charset="-122"/>
                <a:cs typeface="Arial" pitchFamily="34" charset="-120"/>
              </a:rPr>
              <a:t>4</a:t>
            </a:r>
            <a:endParaRPr lang="en-US" sz="3400" dirty="0"/>
          </a:p>
        </p:txBody>
      </p:sp>
      <p:sp>
        <p:nvSpPr>
          <p:cNvPr id="85" name="Text 22">
            <a:extLst>
              <a:ext uri="{FF2B5EF4-FFF2-40B4-BE49-F238E27FC236}">
                <a16:creationId xmlns:a16="http://schemas.microsoft.com/office/drawing/2014/main" id="{D9246A19-8A6E-2604-4E6E-FAA43EEC4AA0}"/>
              </a:ext>
            </a:extLst>
          </p:cNvPr>
          <p:cNvSpPr/>
          <p:nvPr/>
        </p:nvSpPr>
        <p:spPr>
          <a:xfrm>
            <a:off x="9372600" y="3108960"/>
            <a:ext cx="2148840" cy="457200"/>
          </a:xfrm>
          <a:prstGeom prst="rect">
            <a:avLst/>
          </a:prstGeom>
          <a:noFill/>
          <a:ln/>
        </p:spPr>
        <p:txBody>
          <a:bodyPr wrap="square" rtlCol="0" anchor="ctr"/>
          <a:lstStyle/>
          <a:p>
            <a:pPr marL="0" indent="0">
              <a:buNone/>
            </a:pPr>
            <a:r>
              <a:rPr lang="en-US" sz="1600" b="1" dirty="0">
                <a:solidFill>
                  <a:srgbClr val="FFFFFF"/>
                </a:solidFill>
                <a:latin typeface="Amazon Ember" pitchFamily="34" charset="0"/>
                <a:ea typeface="Arial" pitchFamily="34" charset="-122"/>
                <a:cs typeface="Arial" pitchFamily="34" charset="-120"/>
              </a:rPr>
              <a:t>Sensitivity</a:t>
            </a:r>
            <a:endParaRPr lang="en-US" sz="1600" dirty="0"/>
          </a:p>
        </p:txBody>
      </p:sp>
      <p:sp>
        <p:nvSpPr>
          <p:cNvPr id="86" name="Text 23">
            <a:extLst>
              <a:ext uri="{FF2B5EF4-FFF2-40B4-BE49-F238E27FC236}">
                <a16:creationId xmlns:a16="http://schemas.microsoft.com/office/drawing/2014/main" id="{7EAB4D8E-60BA-9424-D5D1-BF4D77A1F198}"/>
              </a:ext>
            </a:extLst>
          </p:cNvPr>
          <p:cNvSpPr/>
          <p:nvPr/>
        </p:nvSpPr>
        <p:spPr>
          <a:xfrm>
            <a:off x="9372600" y="3566160"/>
            <a:ext cx="2148840" cy="100584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The parameters that swing the estimate most.</a:t>
            </a:r>
            <a:endParaRPr lang="en-US" sz="1250" dirty="0"/>
          </a:p>
        </p:txBody>
      </p:sp>
      <p:pic>
        <p:nvPicPr>
          <p:cNvPr id="91" name="Graphic 90" descr="Coins outline">
            <a:extLst>
              <a:ext uri="{FF2B5EF4-FFF2-40B4-BE49-F238E27FC236}">
                <a16:creationId xmlns:a16="http://schemas.microsoft.com/office/drawing/2014/main" id="{3F107479-67A3-F328-63E4-956D75A01C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22320" y="2473560"/>
            <a:ext cx="640080" cy="640080"/>
          </a:xfrm>
          <a:prstGeom prst="rect">
            <a:avLst/>
          </a:prstGeom>
        </p:spPr>
      </p:pic>
      <p:sp>
        <p:nvSpPr>
          <p:cNvPr id="4" name="Text 6">
            <a:extLst>
              <a:ext uri="{FF2B5EF4-FFF2-40B4-BE49-F238E27FC236}">
                <a16:creationId xmlns:a16="http://schemas.microsoft.com/office/drawing/2014/main" id="{78D15240-9F0E-E455-BB8E-35E23611A4C8}"/>
              </a:ext>
            </a:extLst>
          </p:cNvPr>
          <p:cNvSpPr/>
          <p:nvPr/>
        </p:nvSpPr>
        <p:spPr>
          <a:xfrm>
            <a:off x="10933498" y="2404872"/>
            <a:ext cx="640080" cy="640080"/>
          </a:xfrm>
          <a:prstGeom prst="rect">
            <a:avLst/>
          </a:prstGeom>
          <a:noFill/>
          <a:ln/>
        </p:spPr>
        <p:txBody>
          <a:bodyPr wrap="square" rtlCol="0" anchor="ctr"/>
          <a:lstStyle/>
          <a:p>
            <a:pPr marL="0" indent="0" algn="r">
              <a:buNone/>
            </a:pPr>
            <a:r>
              <a:rPr lang="en-US" sz="3400" dirty="0">
                <a:ln w="0"/>
                <a:solidFill>
                  <a:srgbClr val="C00000"/>
                </a:solidFill>
                <a:effectLst>
                  <a:outerShdw blurRad="38100" dist="25400" dir="5400000" algn="ctr" rotWithShape="0">
                    <a:srgbClr val="6E747A">
                      <a:alpha val="43000"/>
                    </a:srgbClr>
                  </a:outerShdw>
                </a:effectLst>
                <a:latin typeface="Amazon Ember Display" pitchFamily="34" charset="0"/>
                <a:ea typeface="Arial" pitchFamily="34" charset="-122"/>
                <a:cs typeface="Arial" pitchFamily="34" charset="-120"/>
              </a:rPr>
              <a:t>4</a:t>
            </a:r>
            <a:endParaRPr lang="en-US" sz="3400" dirty="0">
              <a:solidFill>
                <a:srgbClr val="C00000"/>
              </a:solidFill>
            </a:endParaRPr>
          </a:p>
        </p:txBody>
      </p:sp>
      <p:sp>
        <p:nvSpPr>
          <p:cNvPr id="5" name="Text 6">
            <a:extLst>
              <a:ext uri="{FF2B5EF4-FFF2-40B4-BE49-F238E27FC236}">
                <a16:creationId xmlns:a16="http://schemas.microsoft.com/office/drawing/2014/main" id="{8B24FD02-62E4-DF5B-E1B8-39952E3B8142}"/>
              </a:ext>
            </a:extLst>
          </p:cNvPr>
          <p:cNvSpPr/>
          <p:nvPr/>
        </p:nvSpPr>
        <p:spPr>
          <a:xfrm>
            <a:off x="8060737" y="2407920"/>
            <a:ext cx="640080" cy="640080"/>
          </a:xfrm>
          <a:prstGeom prst="rect">
            <a:avLst/>
          </a:prstGeom>
          <a:noFill/>
          <a:ln/>
        </p:spPr>
        <p:txBody>
          <a:bodyPr wrap="square" rtlCol="0" anchor="ctr"/>
          <a:lstStyle/>
          <a:p>
            <a:pPr marL="0" indent="0" algn="r">
              <a:buNone/>
            </a:pPr>
            <a:r>
              <a:rPr lang="en-US" sz="3400" dirty="0">
                <a:ln w="0"/>
                <a:solidFill>
                  <a:srgbClr val="00B050"/>
                </a:solidFill>
                <a:effectLst>
                  <a:outerShdw blurRad="38100" dist="25400" dir="5400000" algn="ctr" rotWithShape="0">
                    <a:srgbClr val="6E747A">
                      <a:alpha val="43000"/>
                    </a:srgbClr>
                  </a:outerShdw>
                </a:effectLst>
                <a:latin typeface="Amazon Ember Display" pitchFamily="34" charset="0"/>
                <a:cs typeface="Arial" pitchFamily="34" charset="-120"/>
              </a:rPr>
              <a:t>3</a:t>
            </a:r>
            <a:endParaRPr lang="en-US" sz="3400" dirty="0">
              <a:solidFill>
                <a:srgbClr val="00B050"/>
              </a:solidFill>
            </a:endParaRPr>
          </a:p>
        </p:txBody>
      </p:sp>
      <p:sp>
        <p:nvSpPr>
          <p:cNvPr id="6" name="Text 6">
            <a:extLst>
              <a:ext uri="{FF2B5EF4-FFF2-40B4-BE49-F238E27FC236}">
                <a16:creationId xmlns:a16="http://schemas.microsoft.com/office/drawing/2014/main" id="{ED7D589B-D2D6-DD31-44F4-A71449B8780C}"/>
              </a:ext>
            </a:extLst>
          </p:cNvPr>
          <p:cNvSpPr/>
          <p:nvPr/>
        </p:nvSpPr>
        <p:spPr>
          <a:xfrm>
            <a:off x="5237897" y="2412375"/>
            <a:ext cx="640080" cy="640080"/>
          </a:xfrm>
          <a:prstGeom prst="rect">
            <a:avLst/>
          </a:prstGeom>
          <a:noFill/>
          <a:ln/>
        </p:spPr>
        <p:txBody>
          <a:bodyPr wrap="square" rtlCol="0" anchor="ctr"/>
          <a:lstStyle/>
          <a:p>
            <a:pPr marL="0" indent="0" algn="r">
              <a:buNone/>
            </a:pPr>
            <a:r>
              <a:rPr lang="en-US" sz="3400" dirty="0">
                <a:ln w="0"/>
                <a:solidFill>
                  <a:srgbClr val="997ADA"/>
                </a:solidFill>
                <a:effectLst>
                  <a:outerShdw blurRad="38100" dist="25400" dir="5400000" algn="ctr" rotWithShape="0">
                    <a:srgbClr val="6E747A">
                      <a:alpha val="43000"/>
                    </a:srgbClr>
                  </a:outerShdw>
                </a:effectLst>
                <a:latin typeface="Amazon Ember Display" pitchFamily="34" charset="0"/>
                <a:ea typeface="Arial" pitchFamily="34" charset="-122"/>
                <a:cs typeface="Arial" pitchFamily="34" charset="-120"/>
              </a:rPr>
              <a:t>2</a:t>
            </a:r>
            <a:endParaRPr lang="en-US" sz="3400" dirty="0">
              <a:solidFill>
                <a:srgbClr val="997ADA"/>
              </a:solidFill>
            </a:endParaRPr>
          </a:p>
        </p:txBody>
      </p:sp>
      <p:sp>
        <p:nvSpPr>
          <p:cNvPr id="3" name="Shape 24">
            <a:extLst>
              <a:ext uri="{FF2B5EF4-FFF2-40B4-BE49-F238E27FC236}">
                <a16:creationId xmlns:a16="http://schemas.microsoft.com/office/drawing/2014/main" id="{DF0FA19F-26A0-4306-3D36-F430AF768E5E}"/>
              </a:ext>
            </a:extLst>
          </p:cNvPr>
          <p:cNvSpPr/>
          <p:nvPr/>
        </p:nvSpPr>
        <p:spPr>
          <a:xfrm>
            <a:off x="457200" y="5084572"/>
            <a:ext cx="11274552" cy="713232"/>
          </a:xfrm>
          <a:prstGeom prst="roundRect">
            <a:avLst>
              <a:gd name="adj" fmla="val 7692"/>
            </a:avLst>
          </a:prstGeom>
          <a:solidFill>
            <a:srgbClr val="232F3E"/>
          </a:solidFill>
          <a:ln w="12700">
            <a:solidFill>
              <a:srgbClr val="FF9900"/>
            </a:solidFill>
            <a:prstDash val="solid"/>
          </a:ln>
        </p:spPr>
        <p:txBody>
          <a:bodyPr/>
          <a:lstStyle/>
          <a:p>
            <a:endParaRPr/>
          </a:p>
        </p:txBody>
      </p:sp>
      <p:pic>
        <p:nvPicPr>
          <p:cNvPr id="7" name="Image 4" descr="ic_29.svg">
            <a:extLst>
              <a:ext uri="{FF2B5EF4-FFF2-40B4-BE49-F238E27FC236}">
                <a16:creationId xmlns:a16="http://schemas.microsoft.com/office/drawing/2014/main" id="{297CD231-1319-FD20-B9AB-811A13B762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3232" y="5267452"/>
            <a:ext cx="347472" cy="347472"/>
          </a:xfrm>
          <a:prstGeom prst="rect">
            <a:avLst/>
          </a:prstGeom>
        </p:spPr>
      </p:pic>
      <p:sp>
        <p:nvSpPr>
          <p:cNvPr id="8" name="Text 25">
            <a:extLst>
              <a:ext uri="{FF2B5EF4-FFF2-40B4-BE49-F238E27FC236}">
                <a16:creationId xmlns:a16="http://schemas.microsoft.com/office/drawing/2014/main" id="{B5C21444-4767-21A6-E23F-1154DCD5B516}"/>
              </a:ext>
            </a:extLst>
          </p:cNvPr>
          <p:cNvSpPr/>
          <p:nvPr/>
        </p:nvSpPr>
        <p:spPr>
          <a:xfrm>
            <a:off x="1234440" y="5084572"/>
            <a:ext cx="10241280" cy="713232"/>
          </a:xfrm>
          <a:prstGeom prst="rect">
            <a:avLst/>
          </a:prstGeom>
          <a:noFill/>
          <a:ln/>
        </p:spPr>
        <p:txBody>
          <a:bodyPr wrap="square" rtlCol="0" anchor="ctr"/>
          <a:lstStyle/>
          <a:p>
            <a:pPr marL="0" indent="0">
              <a:buNone/>
            </a:pPr>
            <a:r>
              <a:rPr lang="en-US" sz="1350" b="1" dirty="0">
                <a:solidFill>
                  <a:srgbClr val="FFAC31"/>
                </a:solidFill>
                <a:latin typeface="Amazon Ember" pitchFamily="34" charset="0"/>
                <a:ea typeface="Arial" pitchFamily="34" charset="-122"/>
                <a:cs typeface="Arial" pitchFamily="34" charset="-120"/>
              </a:rPr>
              <a:t>Example:  </a:t>
            </a:r>
            <a:r>
              <a:rPr lang="en-US" sz="1350" dirty="0">
                <a:solidFill>
                  <a:srgbClr val="FFAC31"/>
                </a:solidFill>
                <a:latin typeface="Amazon Ember" pitchFamily="34" charset="0"/>
                <a:ea typeface="Arial" pitchFamily="34" charset="-122"/>
                <a:cs typeface="Arial" pitchFamily="34" charset="-120"/>
              </a:rPr>
              <a:t>1,000 conversations/day = 1,000 calls/day plus multi-turn continuations. A sample dataset won’t give an accurate volume figure.</a:t>
            </a:r>
            <a:endParaRPr lang="en-US" sz="1350" dirty="0"/>
          </a:p>
        </p:txBody>
      </p:sp>
    </p:spTree>
    <p:extLst>
      <p:ext uri="{BB962C8B-B14F-4D97-AF65-F5344CB8AC3E}">
        <p14:creationId xmlns:p14="http://schemas.microsoft.com/office/powerpoint/2010/main" val="808402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8ABEE-532F-4C14-0429-FB3A20A1F8D8}"/>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ACFA5540-1859-1661-485E-35C479B30778}"/>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Reliability is architecture, not the model</a:t>
            </a:r>
            <a:endParaRPr lang="en-US" sz="4000" dirty="0"/>
          </a:p>
        </p:txBody>
      </p:sp>
      <p:grpSp>
        <p:nvGrpSpPr>
          <p:cNvPr id="50" name="Group 49">
            <a:extLst>
              <a:ext uri="{FF2B5EF4-FFF2-40B4-BE49-F238E27FC236}">
                <a16:creationId xmlns:a16="http://schemas.microsoft.com/office/drawing/2014/main" id="{65B18C19-AFE8-3253-413F-7FD54620E62F}"/>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27D8BEB7-71FD-76BD-E075-575879CFF5F9}"/>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43CE996B-42D9-8669-1BA6-D79A64B45F46}"/>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C9E4A813-7FFF-F5E0-0882-9783A117C166}"/>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9D3DA18B-DA7B-29AE-C7C9-D0D6456341D4}"/>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74E03994-941F-B33E-5660-C06838CB0EA6}"/>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61BE3299-FF22-93B3-6D80-09AF9C150533}"/>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90E6DE7B-3AD3-03F3-7D72-B5DFED99A22C}"/>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0173B403-3D02-0277-C346-6520795CE12E}"/>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62" name="Text 3">
            <a:extLst>
              <a:ext uri="{FF2B5EF4-FFF2-40B4-BE49-F238E27FC236}">
                <a16:creationId xmlns:a16="http://schemas.microsoft.com/office/drawing/2014/main" id="{F4F61F96-22FF-EB2E-B3EE-44FD9A747E5C}"/>
              </a:ext>
            </a:extLst>
          </p:cNvPr>
          <p:cNvSpPr/>
          <p:nvPr/>
        </p:nvSpPr>
        <p:spPr>
          <a:xfrm>
            <a:off x="658368" y="1481328"/>
            <a:ext cx="10881360" cy="457200"/>
          </a:xfrm>
          <a:prstGeom prst="rect">
            <a:avLst/>
          </a:prstGeom>
          <a:noFill/>
          <a:ln/>
        </p:spPr>
        <p:txBody>
          <a:bodyPr wrap="square" rtlCol="0" anchor="ctr"/>
          <a:lstStyle/>
          <a:p>
            <a:r>
              <a:rPr lang="en-US" sz="1500" dirty="0">
                <a:solidFill>
                  <a:srgbClr val="C6C6CD"/>
                </a:solidFill>
                <a:latin typeface="Amazon Ember" pitchFamily="34" charset="0"/>
                <a:ea typeface="Arial" pitchFamily="34" charset="-122"/>
                <a:cs typeface="Arial" pitchFamily="34" charset="-120"/>
              </a:rPr>
              <a:t>Output quality is validated through evals; system reliability is validated through architecture controls — the patterns that keep a system standing under real load.</a:t>
            </a:r>
            <a:endParaRPr lang="en-US" sz="1500" dirty="0"/>
          </a:p>
        </p:txBody>
      </p:sp>
      <p:sp>
        <p:nvSpPr>
          <p:cNvPr id="18" name="Shape 24">
            <a:extLst>
              <a:ext uri="{FF2B5EF4-FFF2-40B4-BE49-F238E27FC236}">
                <a16:creationId xmlns:a16="http://schemas.microsoft.com/office/drawing/2014/main" id="{7327F17D-F017-EE6E-4601-C5A0C136EEF7}"/>
              </a:ext>
            </a:extLst>
          </p:cNvPr>
          <p:cNvSpPr/>
          <p:nvPr/>
        </p:nvSpPr>
        <p:spPr>
          <a:xfrm>
            <a:off x="458724" y="5135372"/>
            <a:ext cx="11274552" cy="713232"/>
          </a:xfrm>
          <a:prstGeom prst="roundRect">
            <a:avLst>
              <a:gd name="adj" fmla="val 7692"/>
            </a:avLst>
          </a:prstGeom>
          <a:solidFill>
            <a:srgbClr val="232F3E"/>
          </a:solidFill>
          <a:ln w="12700">
            <a:solidFill>
              <a:srgbClr val="FF9900"/>
            </a:solidFill>
            <a:prstDash val="solid"/>
          </a:ln>
        </p:spPr>
        <p:txBody>
          <a:bodyPr/>
          <a:lstStyle/>
          <a:p>
            <a:endParaRPr/>
          </a:p>
        </p:txBody>
      </p:sp>
      <p:sp>
        <p:nvSpPr>
          <p:cNvPr id="21" name="Shape 4">
            <a:extLst>
              <a:ext uri="{FF2B5EF4-FFF2-40B4-BE49-F238E27FC236}">
                <a16:creationId xmlns:a16="http://schemas.microsoft.com/office/drawing/2014/main" id="{C932BF5C-17F9-86C3-1D6B-DFEDFECB47F1}"/>
              </a:ext>
            </a:extLst>
          </p:cNvPr>
          <p:cNvSpPr/>
          <p:nvPr/>
        </p:nvSpPr>
        <p:spPr>
          <a:xfrm>
            <a:off x="457200" y="2285999"/>
            <a:ext cx="3611880" cy="2633473"/>
          </a:xfrm>
          <a:prstGeom prst="roundRect">
            <a:avLst>
              <a:gd name="adj" fmla="val 3077"/>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23" name="Shape 5">
            <a:extLst>
              <a:ext uri="{FF2B5EF4-FFF2-40B4-BE49-F238E27FC236}">
                <a16:creationId xmlns:a16="http://schemas.microsoft.com/office/drawing/2014/main" id="{653D2B0A-9363-609D-6444-410D3F540F58}"/>
              </a:ext>
            </a:extLst>
          </p:cNvPr>
          <p:cNvSpPr/>
          <p:nvPr/>
        </p:nvSpPr>
        <p:spPr>
          <a:xfrm>
            <a:off x="777240" y="2651760"/>
            <a:ext cx="868680" cy="868680"/>
          </a:xfrm>
          <a:prstGeom prst="ellipse">
            <a:avLst/>
          </a:prstGeom>
          <a:solidFill>
            <a:srgbClr val="FF9900"/>
          </a:solidFill>
          <a:ln w="12700">
            <a:solidFill>
              <a:srgbClr val="FF9900"/>
            </a:solidFill>
            <a:prstDash val="solid"/>
          </a:ln>
        </p:spPr>
        <p:txBody>
          <a:bodyPr/>
          <a:lstStyle/>
          <a:p>
            <a:endParaRPr/>
          </a:p>
        </p:txBody>
      </p:sp>
      <p:pic>
        <p:nvPicPr>
          <p:cNvPr id="24" name="Image 0" descr="ic_21.svg">
            <a:extLst>
              <a:ext uri="{FF2B5EF4-FFF2-40B4-BE49-F238E27FC236}">
                <a16:creationId xmlns:a16="http://schemas.microsoft.com/office/drawing/2014/main" id="{19A02DC3-E21F-F283-1859-24148B24E3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8408" y="2852928"/>
            <a:ext cx="457200" cy="457200"/>
          </a:xfrm>
          <a:prstGeom prst="rect">
            <a:avLst/>
          </a:prstGeom>
        </p:spPr>
      </p:pic>
      <p:sp>
        <p:nvSpPr>
          <p:cNvPr id="25" name="Text 6">
            <a:extLst>
              <a:ext uri="{FF2B5EF4-FFF2-40B4-BE49-F238E27FC236}">
                <a16:creationId xmlns:a16="http://schemas.microsoft.com/office/drawing/2014/main" id="{6FDE7D23-31E6-357E-C2A0-726DE2FF2D9A}"/>
              </a:ext>
            </a:extLst>
          </p:cNvPr>
          <p:cNvSpPr/>
          <p:nvPr/>
        </p:nvSpPr>
        <p:spPr>
          <a:xfrm>
            <a:off x="777240" y="3657600"/>
            <a:ext cx="2971800" cy="457200"/>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Retries</a:t>
            </a:r>
            <a:endParaRPr lang="en-US" sz="1800" dirty="0"/>
          </a:p>
        </p:txBody>
      </p:sp>
      <p:sp>
        <p:nvSpPr>
          <p:cNvPr id="26" name="Text 7">
            <a:extLst>
              <a:ext uri="{FF2B5EF4-FFF2-40B4-BE49-F238E27FC236}">
                <a16:creationId xmlns:a16="http://schemas.microsoft.com/office/drawing/2014/main" id="{263285DC-E506-4CC2-51B9-CD4270DEC76B}"/>
              </a:ext>
            </a:extLst>
          </p:cNvPr>
          <p:cNvSpPr/>
          <p:nvPr/>
        </p:nvSpPr>
        <p:spPr>
          <a:xfrm>
            <a:off x="777240" y="4096512"/>
            <a:ext cx="2971800" cy="548640"/>
          </a:xfrm>
          <a:prstGeom prst="rect">
            <a:avLst/>
          </a:prstGeom>
          <a:noFill/>
          <a:ln/>
        </p:spPr>
        <p:txBody>
          <a:bodyPr wrap="square" rtlCol="0" anchor="ctr"/>
          <a:lstStyle/>
          <a:p>
            <a:pPr marL="0" indent="0">
              <a:lnSpc>
                <a:spcPts val="1700"/>
              </a:lnSpc>
              <a:buNone/>
            </a:pPr>
            <a:r>
              <a:rPr lang="en-US" sz="1300" dirty="0">
                <a:solidFill>
                  <a:srgbClr val="C6C6CD"/>
                </a:solidFill>
                <a:latin typeface="Amazon Ember" pitchFamily="34" charset="0"/>
                <a:ea typeface="Arial" pitchFamily="34" charset="-122"/>
                <a:cs typeface="Arial" pitchFamily="34" charset="-120"/>
              </a:rPr>
              <a:t>Re-attempt transient failures - with backoff, so you don’t amplify an outage.</a:t>
            </a:r>
            <a:endParaRPr lang="en-US" sz="1300" dirty="0"/>
          </a:p>
        </p:txBody>
      </p:sp>
      <p:sp>
        <p:nvSpPr>
          <p:cNvPr id="27" name="Shape 8">
            <a:extLst>
              <a:ext uri="{FF2B5EF4-FFF2-40B4-BE49-F238E27FC236}">
                <a16:creationId xmlns:a16="http://schemas.microsoft.com/office/drawing/2014/main" id="{7AA8C403-366E-61B8-97DA-3B0D02409C90}"/>
              </a:ext>
            </a:extLst>
          </p:cNvPr>
          <p:cNvSpPr/>
          <p:nvPr/>
        </p:nvSpPr>
        <p:spPr>
          <a:xfrm>
            <a:off x="4325112" y="2286000"/>
            <a:ext cx="3611880" cy="2633472"/>
          </a:xfrm>
          <a:prstGeom prst="roundRect">
            <a:avLst>
              <a:gd name="adj" fmla="val 3077"/>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28" name="Shape 9">
            <a:extLst>
              <a:ext uri="{FF2B5EF4-FFF2-40B4-BE49-F238E27FC236}">
                <a16:creationId xmlns:a16="http://schemas.microsoft.com/office/drawing/2014/main" id="{BB3D19C5-B0CC-C1BD-1CB8-A159CB9A84F5}"/>
              </a:ext>
            </a:extLst>
          </p:cNvPr>
          <p:cNvSpPr/>
          <p:nvPr/>
        </p:nvSpPr>
        <p:spPr>
          <a:xfrm>
            <a:off x="4645152" y="2651760"/>
            <a:ext cx="868680" cy="868680"/>
          </a:xfrm>
          <a:prstGeom prst="ellipse">
            <a:avLst/>
          </a:prstGeom>
          <a:solidFill>
            <a:srgbClr val="FFAC31"/>
          </a:solidFill>
          <a:ln w="12700">
            <a:solidFill>
              <a:srgbClr val="FFAC31"/>
            </a:solidFill>
            <a:prstDash val="solid"/>
          </a:ln>
        </p:spPr>
        <p:txBody>
          <a:bodyPr/>
          <a:lstStyle/>
          <a:p>
            <a:endParaRPr/>
          </a:p>
        </p:txBody>
      </p:sp>
      <p:pic>
        <p:nvPicPr>
          <p:cNvPr id="29" name="Image 1" descr="ic_22.svg">
            <a:extLst>
              <a:ext uri="{FF2B5EF4-FFF2-40B4-BE49-F238E27FC236}">
                <a16:creationId xmlns:a16="http://schemas.microsoft.com/office/drawing/2014/main" id="{1DCF1446-EC1A-C871-CEB9-EA4227C801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46320" y="2852928"/>
            <a:ext cx="457200" cy="457200"/>
          </a:xfrm>
          <a:prstGeom prst="rect">
            <a:avLst/>
          </a:prstGeom>
        </p:spPr>
      </p:pic>
      <p:sp>
        <p:nvSpPr>
          <p:cNvPr id="30" name="Text 10">
            <a:extLst>
              <a:ext uri="{FF2B5EF4-FFF2-40B4-BE49-F238E27FC236}">
                <a16:creationId xmlns:a16="http://schemas.microsoft.com/office/drawing/2014/main" id="{19974D1C-45E2-2E12-8E70-6204E1416573}"/>
              </a:ext>
            </a:extLst>
          </p:cNvPr>
          <p:cNvSpPr/>
          <p:nvPr/>
        </p:nvSpPr>
        <p:spPr>
          <a:xfrm>
            <a:off x="4645152" y="3657600"/>
            <a:ext cx="2971800" cy="457200"/>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Fallbacks</a:t>
            </a:r>
            <a:endParaRPr lang="en-US" sz="1800" dirty="0"/>
          </a:p>
        </p:txBody>
      </p:sp>
      <p:sp>
        <p:nvSpPr>
          <p:cNvPr id="31" name="Text 11">
            <a:extLst>
              <a:ext uri="{FF2B5EF4-FFF2-40B4-BE49-F238E27FC236}">
                <a16:creationId xmlns:a16="http://schemas.microsoft.com/office/drawing/2014/main" id="{D1F1B279-400E-0C11-487B-1B31136FED2B}"/>
              </a:ext>
            </a:extLst>
          </p:cNvPr>
          <p:cNvSpPr/>
          <p:nvPr/>
        </p:nvSpPr>
        <p:spPr>
          <a:xfrm>
            <a:off x="4645152" y="4096512"/>
            <a:ext cx="2971800" cy="548640"/>
          </a:xfrm>
          <a:prstGeom prst="rect">
            <a:avLst/>
          </a:prstGeom>
          <a:noFill/>
          <a:ln/>
        </p:spPr>
        <p:txBody>
          <a:bodyPr wrap="square" rtlCol="0" anchor="ctr"/>
          <a:lstStyle/>
          <a:p>
            <a:pPr marL="0" indent="0">
              <a:lnSpc>
                <a:spcPts val="1700"/>
              </a:lnSpc>
              <a:buNone/>
            </a:pPr>
            <a:r>
              <a:rPr lang="en-US" sz="1300" dirty="0">
                <a:solidFill>
                  <a:srgbClr val="C6C6CD"/>
                </a:solidFill>
                <a:latin typeface="Amazon Ember" pitchFamily="34" charset="0"/>
                <a:ea typeface="Arial" pitchFamily="34" charset="-122"/>
                <a:cs typeface="Arial" pitchFamily="34" charset="-120"/>
              </a:rPr>
              <a:t>Degrade gracefully to a simpler model, a cached result, or a safe default.</a:t>
            </a:r>
            <a:endParaRPr lang="en-US" sz="1300" dirty="0"/>
          </a:p>
        </p:txBody>
      </p:sp>
      <p:sp>
        <p:nvSpPr>
          <p:cNvPr id="32" name="Shape 12">
            <a:extLst>
              <a:ext uri="{FF2B5EF4-FFF2-40B4-BE49-F238E27FC236}">
                <a16:creationId xmlns:a16="http://schemas.microsoft.com/office/drawing/2014/main" id="{402B511A-AA4A-6735-D31C-43CFF7AC8C2D}"/>
              </a:ext>
            </a:extLst>
          </p:cNvPr>
          <p:cNvSpPr/>
          <p:nvPr/>
        </p:nvSpPr>
        <p:spPr>
          <a:xfrm>
            <a:off x="8193024" y="2285999"/>
            <a:ext cx="3611880" cy="2633471"/>
          </a:xfrm>
          <a:prstGeom prst="roundRect">
            <a:avLst>
              <a:gd name="adj" fmla="val 3077"/>
            </a:avLst>
          </a:prstGeom>
          <a:noFill/>
          <a:ln w="28575">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33" name="Shape 13">
            <a:extLst>
              <a:ext uri="{FF2B5EF4-FFF2-40B4-BE49-F238E27FC236}">
                <a16:creationId xmlns:a16="http://schemas.microsoft.com/office/drawing/2014/main" id="{8048BE9D-477D-EE70-E050-31A4D15640B1}"/>
              </a:ext>
            </a:extLst>
          </p:cNvPr>
          <p:cNvSpPr/>
          <p:nvPr/>
        </p:nvSpPr>
        <p:spPr>
          <a:xfrm>
            <a:off x="8513064" y="2651760"/>
            <a:ext cx="868680" cy="868680"/>
          </a:xfrm>
          <a:prstGeom prst="ellipse">
            <a:avLst/>
          </a:prstGeom>
          <a:solidFill>
            <a:srgbClr val="FFAC31"/>
          </a:solidFill>
          <a:ln w="12700">
            <a:solidFill>
              <a:srgbClr val="3A4552"/>
            </a:solidFill>
            <a:prstDash val="solid"/>
          </a:ln>
        </p:spPr>
        <p:txBody>
          <a:bodyPr/>
          <a:lstStyle/>
          <a:p>
            <a:endParaRPr/>
          </a:p>
        </p:txBody>
      </p:sp>
      <p:pic>
        <p:nvPicPr>
          <p:cNvPr id="34" name="Image 2" descr="ic_23.svg">
            <a:extLst>
              <a:ext uri="{FF2B5EF4-FFF2-40B4-BE49-F238E27FC236}">
                <a16:creationId xmlns:a16="http://schemas.microsoft.com/office/drawing/2014/main" id="{CB6233F0-E21C-E553-25FE-220B6F4D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14232" y="2852928"/>
            <a:ext cx="457200" cy="457200"/>
          </a:xfrm>
          <a:prstGeom prst="rect">
            <a:avLst/>
          </a:prstGeom>
        </p:spPr>
      </p:pic>
      <p:sp>
        <p:nvSpPr>
          <p:cNvPr id="35" name="Text 14">
            <a:extLst>
              <a:ext uri="{FF2B5EF4-FFF2-40B4-BE49-F238E27FC236}">
                <a16:creationId xmlns:a16="http://schemas.microsoft.com/office/drawing/2014/main" id="{E0CEE6E0-84CB-37AB-0A2E-1259AE37E5A4}"/>
              </a:ext>
            </a:extLst>
          </p:cNvPr>
          <p:cNvSpPr/>
          <p:nvPr/>
        </p:nvSpPr>
        <p:spPr>
          <a:xfrm>
            <a:off x="8513064" y="3657600"/>
            <a:ext cx="2971800" cy="457200"/>
          </a:xfrm>
          <a:prstGeom prst="rect">
            <a:avLst/>
          </a:prstGeom>
          <a:noFill/>
          <a:ln/>
        </p:spPr>
        <p:txBody>
          <a:bodyPr wrap="square" rtlCol="0" anchor="ctr"/>
          <a:lstStyle/>
          <a:p>
            <a:pPr marL="0" indent="0">
              <a:buNone/>
            </a:pPr>
            <a:r>
              <a:rPr lang="en-US" sz="1800" b="1" dirty="0">
                <a:solidFill>
                  <a:srgbClr val="FFFFFF"/>
                </a:solidFill>
                <a:latin typeface="Amazon Ember" pitchFamily="34" charset="0"/>
                <a:ea typeface="Arial" pitchFamily="34" charset="-122"/>
                <a:cs typeface="Arial" pitchFamily="34" charset="-120"/>
              </a:rPr>
              <a:t>Circuit breakers</a:t>
            </a:r>
            <a:endParaRPr lang="en-US" sz="1800" dirty="0"/>
          </a:p>
        </p:txBody>
      </p:sp>
      <p:sp>
        <p:nvSpPr>
          <p:cNvPr id="36" name="Text 15">
            <a:extLst>
              <a:ext uri="{FF2B5EF4-FFF2-40B4-BE49-F238E27FC236}">
                <a16:creationId xmlns:a16="http://schemas.microsoft.com/office/drawing/2014/main" id="{788C0734-54D4-4D8E-4F5D-B92342C7E848}"/>
              </a:ext>
            </a:extLst>
          </p:cNvPr>
          <p:cNvSpPr/>
          <p:nvPr/>
        </p:nvSpPr>
        <p:spPr>
          <a:xfrm>
            <a:off x="8513064" y="4096512"/>
            <a:ext cx="2971800" cy="548640"/>
          </a:xfrm>
          <a:prstGeom prst="rect">
            <a:avLst/>
          </a:prstGeom>
          <a:noFill/>
          <a:ln/>
        </p:spPr>
        <p:txBody>
          <a:bodyPr wrap="square" rtlCol="0" anchor="ctr"/>
          <a:lstStyle/>
          <a:p>
            <a:pPr marL="0" indent="0">
              <a:lnSpc>
                <a:spcPts val="1700"/>
              </a:lnSpc>
              <a:buNone/>
            </a:pPr>
            <a:r>
              <a:rPr lang="en-US" sz="1300" dirty="0">
                <a:solidFill>
                  <a:srgbClr val="C6C6CD"/>
                </a:solidFill>
                <a:latin typeface="Amazon Ember" pitchFamily="34" charset="0"/>
                <a:ea typeface="Arial" pitchFamily="34" charset="-122"/>
                <a:cs typeface="Arial" pitchFamily="34" charset="-120"/>
              </a:rPr>
              <a:t>Stop calling a failing dependency, fail fast, and give it room to recover.</a:t>
            </a:r>
            <a:endParaRPr lang="en-US" sz="1300" dirty="0"/>
          </a:p>
        </p:txBody>
      </p:sp>
      <p:sp>
        <p:nvSpPr>
          <p:cNvPr id="37" name="Text 17">
            <a:extLst>
              <a:ext uri="{FF2B5EF4-FFF2-40B4-BE49-F238E27FC236}">
                <a16:creationId xmlns:a16="http://schemas.microsoft.com/office/drawing/2014/main" id="{406FFFE6-9100-63E3-B888-4EC1195DDD44}"/>
              </a:ext>
            </a:extLst>
          </p:cNvPr>
          <p:cNvSpPr/>
          <p:nvPr/>
        </p:nvSpPr>
        <p:spPr>
          <a:xfrm>
            <a:off x="1234440" y="5135372"/>
            <a:ext cx="10241280" cy="713232"/>
          </a:xfrm>
          <a:prstGeom prst="rect">
            <a:avLst/>
          </a:prstGeom>
          <a:noFill/>
          <a:ln/>
        </p:spPr>
        <p:txBody>
          <a:bodyPr wrap="square" rtlCol="0" anchor="ctr"/>
          <a:lstStyle/>
          <a:p>
            <a:pPr marL="0" indent="0">
              <a:buNone/>
            </a:pPr>
            <a:r>
              <a:rPr lang="en-US" sz="1400" b="1" dirty="0">
                <a:solidFill>
                  <a:srgbClr val="FF9900"/>
                </a:solidFill>
                <a:latin typeface="Amazon Ember" pitchFamily="34" charset="0"/>
                <a:ea typeface="Arial" pitchFamily="34" charset="-122"/>
                <a:cs typeface="Arial" pitchFamily="34" charset="-120"/>
              </a:rPr>
              <a:t>Agents need these most.  </a:t>
            </a:r>
            <a:r>
              <a:rPr lang="en-US" sz="1400" dirty="0">
                <a:solidFill>
                  <a:srgbClr val="E6EBF0"/>
                </a:solidFill>
                <a:latin typeface="Amazon Ember" pitchFamily="34" charset="0"/>
                <a:ea typeface="Arial" pitchFamily="34" charset="-122"/>
                <a:cs typeface="Arial" pitchFamily="34" charset="-120"/>
              </a:rPr>
              <a:t>Systems that use tools and reason across turns have more steps - and more places to fail.</a:t>
            </a:r>
            <a:endParaRPr lang="en-US" sz="1400" dirty="0"/>
          </a:p>
        </p:txBody>
      </p:sp>
      <p:pic>
        <p:nvPicPr>
          <p:cNvPr id="38" name="Image 3" descr="ic_24.svg">
            <a:extLst>
              <a:ext uri="{FF2B5EF4-FFF2-40B4-BE49-F238E27FC236}">
                <a16:creationId xmlns:a16="http://schemas.microsoft.com/office/drawing/2014/main" id="{C365A372-787E-7A81-D560-1A394D5ECB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7240" y="5320352"/>
            <a:ext cx="365760" cy="365760"/>
          </a:xfrm>
          <a:prstGeom prst="rect">
            <a:avLst/>
          </a:prstGeom>
        </p:spPr>
      </p:pic>
    </p:spTree>
    <p:extLst>
      <p:ext uri="{BB962C8B-B14F-4D97-AF65-F5344CB8AC3E}">
        <p14:creationId xmlns:p14="http://schemas.microsoft.com/office/powerpoint/2010/main" val="22320429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A2849-CF25-6DDE-FA71-0A02DCB2D2C2}"/>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D9A0C1DC-CE8C-0618-9B10-963B1E7600B9}"/>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Five layers, five architect decisions</a:t>
            </a:r>
            <a:endParaRPr lang="en-US" sz="4000" dirty="0"/>
          </a:p>
        </p:txBody>
      </p:sp>
      <p:grpSp>
        <p:nvGrpSpPr>
          <p:cNvPr id="50" name="Group 49">
            <a:extLst>
              <a:ext uri="{FF2B5EF4-FFF2-40B4-BE49-F238E27FC236}">
                <a16:creationId xmlns:a16="http://schemas.microsoft.com/office/drawing/2014/main" id="{AE96A2B2-2DE9-59BC-DACF-CCE3BA238397}"/>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7BD89831-3B6C-2A44-3F70-980FB889ABC5}"/>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2986E8AA-6EC1-FFD1-0944-E2FCD3C28113}"/>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07C3EEE4-B086-FA87-E7E0-323FCFEE63E9}"/>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7D05207D-A5B9-9EC9-05C5-213DD2FBB10D}"/>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B0D32401-BD86-9E2A-5DBD-8642F61ADB4E}"/>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40E6FB4F-9D21-FF17-393E-0C580481A5BF}"/>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09B95D80-545D-833E-9EF3-26993C0D5942}"/>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7080E0E3-35A0-393D-571D-9CEC36899D3A}"/>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40" name="Shape 3">
            <a:extLst>
              <a:ext uri="{FF2B5EF4-FFF2-40B4-BE49-F238E27FC236}">
                <a16:creationId xmlns:a16="http://schemas.microsoft.com/office/drawing/2014/main" id="{DE31E289-52B9-7C2E-1F70-CA376589D21F}"/>
              </a:ext>
            </a:extLst>
          </p:cNvPr>
          <p:cNvSpPr/>
          <p:nvPr/>
        </p:nvSpPr>
        <p:spPr>
          <a:xfrm>
            <a:off x="458724" y="1425791"/>
            <a:ext cx="11274552" cy="859536"/>
          </a:xfrm>
          <a:prstGeom prst="roundRect">
            <a:avLst>
              <a:gd name="adj" fmla="val 6383"/>
            </a:avLst>
          </a:prstGeom>
          <a:solidFill>
            <a:srgbClr val="232F3E"/>
          </a:solidFill>
          <a:ln w="19050">
            <a:solidFill>
              <a:srgbClr val="FF9900"/>
            </a:solidFill>
            <a:prstDash val="solid"/>
          </a:ln>
        </p:spPr>
        <p:txBody>
          <a:bodyPr/>
          <a:lstStyle/>
          <a:p>
            <a:endParaRPr/>
          </a:p>
        </p:txBody>
      </p:sp>
      <p:sp>
        <p:nvSpPr>
          <p:cNvPr id="41" name="Shape 4">
            <a:extLst>
              <a:ext uri="{FF2B5EF4-FFF2-40B4-BE49-F238E27FC236}">
                <a16:creationId xmlns:a16="http://schemas.microsoft.com/office/drawing/2014/main" id="{275E0A47-8E26-E9C0-A4D3-E6158EF0DA78}"/>
              </a:ext>
            </a:extLst>
          </p:cNvPr>
          <p:cNvSpPr/>
          <p:nvPr/>
        </p:nvSpPr>
        <p:spPr>
          <a:xfrm>
            <a:off x="623316" y="1572095"/>
            <a:ext cx="512064" cy="512064"/>
          </a:xfrm>
          <a:prstGeom prst="roundRect">
            <a:avLst>
              <a:gd name="adj" fmla="val 14286"/>
            </a:avLst>
          </a:prstGeom>
          <a:solidFill>
            <a:srgbClr val="FF9900"/>
          </a:solidFill>
          <a:ln w="12700">
            <a:solidFill>
              <a:srgbClr val="FF9900"/>
            </a:solidFill>
            <a:prstDash val="solid"/>
          </a:ln>
        </p:spPr>
        <p:txBody>
          <a:bodyPr/>
          <a:lstStyle/>
          <a:p>
            <a:endParaRPr/>
          </a:p>
        </p:txBody>
      </p:sp>
      <p:sp>
        <p:nvSpPr>
          <p:cNvPr id="42" name="Text 5">
            <a:extLst>
              <a:ext uri="{FF2B5EF4-FFF2-40B4-BE49-F238E27FC236}">
                <a16:creationId xmlns:a16="http://schemas.microsoft.com/office/drawing/2014/main" id="{910EA7D5-3173-5627-0E45-BBEFF9604B92}"/>
              </a:ext>
            </a:extLst>
          </p:cNvPr>
          <p:cNvSpPr/>
          <p:nvPr/>
        </p:nvSpPr>
        <p:spPr>
          <a:xfrm>
            <a:off x="623316" y="1599527"/>
            <a:ext cx="512064" cy="512064"/>
          </a:xfrm>
          <a:prstGeom prst="rect">
            <a:avLst/>
          </a:prstGeom>
          <a:noFill/>
          <a:ln/>
        </p:spPr>
        <p:txBody>
          <a:bodyPr wrap="square" rtlCol="0" anchor="ctr"/>
          <a:lstStyle/>
          <a:p>
            <a:pPr marL="0" indent="0" algn="ctr">
              <a:buNone/>
            </a:pPr>
            <a:r>
              <a:rPr lang="en-US" sz="2200" b="1" dirty="0">
                <a:solidFill>
                  <a:srgbClr val="FFFFFF"/>
                </a:solidFill>
                <a:latin typeface="Amazon Ember Display" pitchFamily="34" charset="0"/>
                <a:ea typeface="Arial" pitchFamily="34" charset="-122"/>
                <a:cs typeface="Arial" pitchFamily="34" charset="-120"/>
              </a:rPr>
              <a:t>1</a:t>
            </a:r>
            <a:endParaRPr lang="en-US" sz="2200" dirty="0"/>
          </a:p>
        </p:txBody>
      </p:sp>
      <p:sp>
        <p:nvSpPr>
          <p:cNvPr id="43" name="Rounded Rectangle 42">
            <a:extLst>
              <a:ext uri="{FF2B5EF4-FFF2-40B4-BE49-F238E27FC236}">
                <a16:creationId xmlns:a16="http://schemas.microsoft.com/office/drawing/2014/main" id="{88BDCE1B-31D5-FBBD-5581-5369F4DA6F81}"/>
              </a:ext>
            </a:extLst>
          </p:cNvPr>
          <p:cNvSpPr/>
          <p:nvPr/>
        </p:nvSpPr>
        <p:spPr>
          <a:xfrm>
            <a:off x="1272540" y="1572095"/>
            <a:ext cx="566928" cy="56692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 6">
            <a:extLst>
              <a:ext uri="{FF2B5EF4-FFF2-40B4-BE49-F238E27FC236}">
                <a16:creationId xmlns:a16="http://schemas.microsoft.com/office/drawing/2014/main" id="{A8F59B97-802A-5312-7AF8-2AEC5831B01A}"/>
              </a:ext>
            </a:extLst>
          </p:cNvPr>
          <p:cNvSpPr/>
          <p:nvPr/>
        </p:nvSpPr>
        <p:spPr>
          <a:xfrm>
            <a:off x="1921764" y="1425791"/>
            <a:ext cx="3383280" cy="859536"/>
          </a:xfrm>
          <a:prstGeom prst="rect">
            <a:avLst/>
          </a:prstGeom>
          <a:noFill/>
          <a:ln/>
        </p:spPr>
        <p:txBody>
          <a:bodyPr wrap="square" rtlCol="0" anchor="ctr"/>
          <a:lstStyle/>
          <a:p>
            <a:pPr marL="0" indent="0">
              <a:buNone/>
            </a:pPr>
            <a:r>
              <a:rPr lang="en-US" sz="1700" b="1" dirty="0">
                <a:solidFill>
                  <a:srgbClr val="FFFFFF"/>
                </a:solidFill>
                <a:latin typeface="Amazon Ember" pitchFamily="34" charset="0"/>
                <a:ea typeface="Arial" pitchFamily="34" charset="-122"/>
                <a:cs typeface="Arial" pitchFamily="34" charset="-120"/>
              </a:rPr>
              <a:t>Entry point</a:t>
            </a:r>
            <a:endParaRPr lang="en-US" sz="1700" dirty="0"/>
          </a:p>
        </p:txBody>
      </p:sp>
      <p:sp>
        <p:nvSpPr>
          <p:cNvPr id="45" name="Text 7">
            <a:extLst>
              <a:ext uri="{FF2B5EF4-FFF2-40B4-BE49-F238E27FC236}">
                <a16:creationId xmlns:a16="http://schemas.microsoft.com/office/drawing/2014/main" id="{72C4873B-4AD7-063C-B182-1A1661AE72CC}"/>
              </a:ext>
            </a:extLst>
          </p:cNvPr>
          <p:cNvSpPr/>
          <p:nvPr/>
        </p:nvSpPr>
        <p:spPr>
          <a:xfrm>
            <a:off x="5396484" y="1425791"/>
            <a:ext cx="6126480" cy="859536"/>
          </a:xfrm>
          <a:prstGeom prst="rect">
            <a:avLst/>
          </a:prstGeom>
          <a:noFill/>
          <a:ln/>
        </p:spPr>
        <p:txBody>
          <a:bodyPr wrap="square" rtlCol="0" anchor="ctr"/>
          <a:lstStyle/>
          <a:p>
            <a:pPr marL="0" indent="0">
              <a:buNone/>
            </a:pPr>
            <a:r>
              <a:rPr lang="en-US" sz="1300" dirty="0">
                <a:latin typeface="Amazon Ember" pitchFamily="34" charset="0"/>
                <a:ea typeface="Arial" pitchFamily="34" charset="-122"/>
                <a:cs typeface="Arial" pitchFamily="34" charset="-120"/>
              </a:rPr>
              <a:t>Decided first — compliance eliminates options here</a:t>
            </a:r>
            <a:endParaRPr lang="en-US" sz="1300" dirty="0"/>
          </a:p>
        </p:txBody>
      </p:sp>
      <p:sp>
        <p:nvSpPr>
          <p:cNvPr id="46" name="Shape 8">
            <a:extLst>
              <a:ext uri="{FF2B5EF4-FFF2-40B4-BE49-F238E27FC236}">
                <a16:creationId xmlns:a16="http://schemas.microsoft.com/office/drawing/2014/main" id="{3B554891-9968-CC4A-001F-E7FE3BE8DBF5}"/>
              </a:ext>
            </a:extLst>
          </p:cNvPr>
          <p:cNvSpPr/>
          <p:nvPr/>
        </p:nvSpPr>
        <p:spPr>
          <a:xfrm>
            <a:off x="458724" y="2413343"/>
            <a:ext cx="11274552" cy="859536"/>
          </a:xfrm>
          <a:prstGeom prst="roundRect">
            <a:avLst>
              <a:gd name="adj" fmla="val 6383"/>
            </a:avLst>
          </a:prstGeom>
          <a:solidFill>
            <a:srgbClr val="232F3E"/>
          </a:solidFill>
          <a:ln w="19050">
            <a:solidFill>
              <a:srgbClr val="FF9900"/>
            </a:solidFill>
            <a:prstDash val="solid"/>
          </a:ln>
        </p:spPr>
        <p:txBody>
          <a:bodyPr/>
          <a:lstStyle/>
          <a:p>
            <a:endParaRPr/>
          </a:p>
        </p:txBody>
      </p:sp>
      <p:sp>
        <p:nvSpPr>
          <p:cNvPr id="47" name="Shape 9">
            <a:extLst>
              <a:ext uri="{FF2B5EF4-FFF2-40B4-BE49-F238E27FC236}">
                <a16:creationId xmlns:a16="http://schemas.microsoft.com/office/drawing/2014/main" id="{35D0FA53-0D00-9124-68D7-9C9F00E8F758}"/>
              </a:ext>
            </a:extLst>
          </p:cNvPr>
          <p:cNvSpPr/>
          <p:nvPr/>
        </p:nvSpPr>
        <p:spPr>
          <a:xfrm>
            <a:off x="623316" y="2587079"/>
            <a:ext cx="512064" cy="512064"/>
          </a:xfrm>
          <a:prstGeom prst="roundRect">
            <a:avLst>
              <a:gd name="adj" fmla="val 14286"/>
            </a:avLst>
          </a:prstGeom>
          <a:solidFill>
            <a:srgbClr val="FF9900"/>
          </a:solidFill>
          <a:ln w="12700">
            <a:noFill/>
            <a:prstDash val="solid"/>
          </a:ln>
        </p:spPr>
        <p:txBody>
          <a:bodyPr/>
          <a:lstStyle/>
          <a:p>
            <a:endParaRPr/>
          </a:p>
        </p:txBody>
      </p:sp>
      <p:sp>
        <p:nvSpPr>
          <p:cNvPr id="48" name="Text 10">
            <a:extLst>
              <a:ext uri="{FF2B5EF4-FFF2-40B4-BE49-F238E27FC236}">
                <a16:creationId xmlns:a16="http://schemas.microsoft.com/office/drawing/2014/main" id="{311D73FC-6A0A-AF15-4837-CAEAE7749609}"/>
              </a:ext>
            </a:extLst>
          </p:cNvPr>
          <p:cNvSpPr/>
          <p:nvPr/>
        </p:nvSpPr>
        <p:spPr>
          <a:xfrm>
            <a:off x="629734" y="2602619"/>
            <a:ext cx="512064" cy="512064"/>
          </a:xfrm>
          <a:prstGeom prst="rect">
            <a:avLst/>
          </a:prstGeom>
          <a:noFill/>
          <a:ln/>
        </p:spPr>
        <p:txBody>
          <a:bodyPr wrap="square" rtlCol="0" anchor="ctr"/>
          <a:lstStyle/>
          <a:p>
            <a:pPr marL="0" indent="0" algn="ctr">
              <a:buNone/>
            </a:pPr>
            <a:r>
              <a:rPr lang="en-US" sz="2200" b="1" dirty="0">
                <a:solidFill>
                  <a:srgbClr val="FFFFFF"/>
                </a:solidFill>
                <a:latin typeface="Amazon Ember Display" pitchFamily="34" charset="0"/>
                <a:ea typeface="Arial" pitchFamily="34" charset="-122"/>
                <a:cs typeface="Arial" pitchFamily="34" charset="-120"/>
              </a:rPr>
              <a:t>2</a:t>
            </a:r>
            <a:endParaRPr lang="en-US" sz="2200" dirty="0"/>
          </a:p>
        </p:txBody>
      </p:sp>
      <p:sp>
        <p:nvSpPr>
          <p:cNvPr id="49" name="Rounded Rectangle 48">
            <a:extLst>
              <a:ext uri="{FF2B5EF4-FFF2-40B4-BE49-F238E27FC236}">
                <a16:creationId xmlns:a16="http://schemas.microsoft.com/office/drawing/2014/main" id="{75F18002-87BE-55D6-2CE7-D7B211CC47C9}"/>
              </a:ext>
            </a:extLst>
          </p:cNvPr>
          <p:cNvSpPr/>
          <p:nvPr/>
        </p:nvSpPr>
        <p:spPr>
          <a:xfrm>
            <a:off x="1272540" y="2559647"/>
            <a:ext cx="566928" cy="56692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 11">
            <a:extLst>
              <a:ext uri="{FF2B5EF4-FFF2-40B4-BE49-F238E27FC236}">
                <a16:creationId xmlns:a16="http://schemas.microsoft.com/office/drawing/2014/main" id="{DA4F5F65-EDB8-B6A0-467C-EFF17074DFA7}"/>
              </a:ext>
            </a:extLst>
          </p:cNvPr>
          <p:cNvSpPr/>
          <p:nvPr/>
        </p:nvSpPr>
        <p:spPr>
          <a:xfrm>
            <a:off x="1921764" y="2413343"/>
            <a:ext cx="3383280" cy="859536"/>
          </a:xfrm>
          <a:prstGeom prst="rect">
            <a:avLst/>
          </a:prstGeom>
          <a:noFill/>
          <a:ln/>
        </p:spPr>
        <p:txBody>
          <a:bodyPr wrap="square" rtlCol="0" anchor="ctr"/>
          <a:lstStyle/>
          <a:p>
            <a:pPr marL="0" indent="0">
              <a:buNone/>
            </a:pPr>
            <a:r>
              <a:rPr lang="en-US" sz="1700" b="1" dirty="0">
                <a:solidFill>
                  <a:srgbClr val="FFFFFF"/>
                </a:solidFill>
                <a:latin typeface="Amazon Ember" pitchFamily="34" charset="0"/>
                <a:ea typeface="Arial" pitchFamily="34" charset="-122"/>
                <a:cs typeface="Arial" pitchFamily="34" charset="-120"/>
              </a:rPr>
              <a:t>Integration pattern</a:t>
            </a:r>
            <a:endParaRPr lang="en-US" sz="1700" dirty="0"/>
          </a:p>
        </p:txBody>
      </p:sp>
      <p:sp>
        <p:nvSpPr>
          <p:cNvPr id="60" name="Text 12">
            <a:extLst>
              <a:ext uri="{FF2B5EF4-FFF2-40B4-BE49-F238E27FC236}">
                <a16:creationId xmlns:a16="http://schemas.microsoft.com/office/drawing/2014/main" id="{0A5198AA-D8EC-FD22-C4C3-3208AA1E8BA8}"/>
              </a:ext>
            </a:extLst>
          </p:cNvPr>
          <p:cNvSpPr/>
          <p:nvPr/>
        </p:nvSpPr>
        <p:spPr>
          <a:xfrm>
            <a:off x="5396484" y="2413343"/>
            <a:ext cx="6126480" cy="859536"/>
          </a:xfrm>
          <a:prstGeom prst="rect">
            <a:avLst/>
          </a:prstGeom>
          <a:noFill/>
          <a:ln/>
        </p:spPr>
        <p:txBody>
          <a:bodyPr wrap="square" rtlCol="0" anchor="ctr"/>
          <a:lstStyle/>
          <a:p>
            <a:pPr marL="0" indent="0">
              <a:buNone/>
            </a:pPr>
            <a:r>
              <a:rPr lang="en-US" sz="1300" dirty="0">
                <a:latin typeface="Amazon Ember" pitchFamily="34" charset="0"/>
                <a:ea typeface="Arial" pitchFamily="34" charset="-122"/>
                <a:cs typeface="Arial" pitchFamily="34" charset="-120"/>
              </a:rPr>
              <a:t>How the system connects and exchanges data</a:t>
            </a:r>
            <a:endParaRPr lang="en-US" sz="1300" dirty="0"/>
          </a:p>
        </p:txBody>
      </p:sp>
      <p:sp>
        <p:nvSpPr>
          <p:cNvPr id="61" name="Shape 13">
            <a:extLst>
              <a:ext uri="{FF2B5EF4-FFF2-40B4-BE49-F238E27FC236}">
                <a16:creationId xmlns:a16="http://schemas.microsoft.com/office/drawing/2014/main" id="{F04075D6-E4D0-7582-1023-D756B8BBED1A}"/>
              </a:ext>
            </a:extLst>
          </p:cNvPr>
          <p:cNvSpPr/>
          <p:nvPr/>
        </p:nvSpPr>
        <p:spPr>
          <a:xfrm>
            <a:off x="458724" y="3400895"/>
            <a:ext cx="11274552" cy="859536"/>
          </a:xfrm>
          <a:prstGeom prst="roundRect">
            <a:avLst>
              <a:gd name="adj" fmla="val 6383"/>
            </a:avLst>
          </a:prstGeom>
          <a:solidFill>
            <a:srgbClr val="232F3E"/>
          </a:solidFill>
          <a:ln w="19050">
            <a:solidFill>
              <a:srgbClr val="FF9900"/>
            </a:solidFill>
            <a:prstDash val="solid"/>
          </a:ln>
        </p:spPr>
        <p:txBody>
          <a:bodyPr/>
          <a:lstStyle/>
          <a:p>
            <a:endParaRPr/>
          </a:p>
        </p:txBody>
      </p:sp>
      <p:sp>
        <p:nvSpPr>
          <p:cNvPr id="62" name="Shape 14">
            <a:extLst>
              <a:ext uri="{FF2B5EF4-FFF2-40B4-BE49-F238E27FC236}">
                <a16:creationId xmlns:a16="http://schemas.microsoft.com/office/drawing/2014/main" id="{D2C18C96-28B5-BE77-B67E-D4269A3F380A}"/>
              </a:ext>
            </a:extLst>
          </p:cNvPr>
          <p:cNvSpPr/>
          <p:nvPr/>
        </p:nvSpPr>
        <p:spPr>
          <a:xfrm>
            <a:off x="623316" y="3574631"/>
            <a:ext cx="512064" cy="512064"/>
          </a:xfrm>
          <a:prstGeom prst="roundRect">
            <a:avLst>
              <a:gd name="adj" fmla="val 14286"/>
            </a:avLst>
          </a:prstGeom>
          <a:solidFill>
            <a:schemeClr val="accent3"/>
          </a:solidFill>
          <a:ln w="12700">
            <a:noFill/>
            <a:prstDash val="solid"/>
          </a:ln>
        </p:spPr>
        <p:txBody>
          <a:bodyPr/>
          <a:lstStyle/>
          <a:p>
            <a:endParaRPr dirty="0"/>
          </a:p>
        </p:txBody>
      </p:sp>
      <p:sp>
        <p:nvSpPr>
          <p:cNvPr id="74" name="Rounded Rectangle 73">
            <a:extLst>
              <a:ext uri="{FF2B5EF4-FFF2-40B4-BE49-F238E27FC236}">
                <a16:creationId xmlns:a16="http://schemas.microsoft.com/office/drawing/2014/main" id="{C555D3A1-2A47-CAF0-86E1-595A1014695A}"/>
              </a:ext>
            </a:extLst>
          </p:cNvPr>
          <p:cNvSpPr/>
          <p:nvPr/>
        </p:nvSpPr>
        <p:spPr>
          <a:xfrm>
            <a:off x="1272540" y="3547198"/>
            <a:ext cx="566928" cy="56692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8" name="Image 2" descr="ic_32.svg">
            <a:extLst>
              <a:ext uri="{FF2B5EF4-FFF2-40B4-BE49-F238E27FC236}">
                <a16:creationId xmlns:a16="http://schemas.microsoft.com/office/drawing/2014/main" id="{C1B9441C-734A-C943-4953-7624BDD0406E}"/>
              </a:ext>
            </a:extLst>
          </p:cNvPr>
          <p:cNvPicPr>
            <a:picLocks noChangeAspect="1"/>
          </p:cNvPicPr>
          <p:nvPr/>
        </p:nvPicPr>
        <p:blipFill>
          <a:blip r:embed="rId3"/>
          <a:stretch>
            <a:fillRect/>
          </a:stretch>
        </p:blipFill>
        <p:spPr>
          <a:xfrm>
            <a:off x="1345692" y="3620350"/>
            <a:ext cx="420624" cy="420624"/>
          </a:xfrm>
          <a:prstGeom prst="rect">
            <a:avLst/>
          </a:prstGeom>
        </p:spPr>
      </p:pic>
      <p:sp>
        <p:nvSpPr>
          <p:cNvPr id="99" name="Text 16">
            <a:extLst>
              <a:ext uri="{FF2B5EF4-FFF2-40B4-BE49-F238E27FC236}">
                <a16:creationId xmlns:a16="http://schemas.microsoft.com/office/drawing/2014/main" id="{851164E4-7406-DDED-5A0E-F4656C7DA4DE}"/>
              </a:ext>
            </a:extLst>
          </p:cNvPr>
          <p:cNvSpPr/>
          <p:nvPr/>
        </p:nvSpPr>
        <p:spPr>
          <a:xfrm>
            <a:off x="1921764" y="3400895"/>
            <a:ext cx="3383280" cy="859536"/>
          </a:xfrm>
          <a:prstGeom prst="rect">
            <a:avLst/>
          </a:prstGeom>
          <a:noFill/>
          <a:ln/>
        </p:spPr>
        <p:txBody>
          <a:bodyPr wrap="square" rtlCol="0" anchor="ctr"/>
          <a:lstStyle/>
          <a:p>
            <a:pPr marL="0" indent="0">
              <a:buNone/>
            </a:pPr>
            <a:r>
              <a:rPr lang="en-US" sz="1700" b="1" dirty="0">
                <a:solidFill>
                  <a:srgbClr val="FFFFFF"/>
                </a:solidFill>
                <a:latin typeface="Amazon Ember" pitchFamily="34" charset="0"/>
                <a:ea typeface="Arial" pitchFamily="34" charset="-122"/>
                <a:cs typeface="Arial" pitchFamily="34" charset="-120"/>
              </a:rPr>
              <a:t>Identity</a:t>
            </a:r>
            <a:endParaRPr lang="en-US" sz="1700" dirty="0"/>
          </a:p>
        </p:txBody>
      </p:sp>
      <p:sp>
        <p:nvSpPr>
          <p:cNvPr id="100" name="Text 17">
            <a:extLst>
              <a:ext uri="{FF2B5EF4-FFF2-40B4-BE49-F238E27FC236}">
                <a16:creationId xmlns:a16="http://schemas.microsoft.com/office/drawing/2014/main" id="{E46A52A7-30AA-C5D5-5FD9-231EB0EB4770}"/>
              </a:ext>
            </a:extLst>
          </p:cNvPr>
          <p:cNvSpPr/>
          <p:nvPr/>
        </p:nvSpPr>
        <p:spPr>
          <a:xfrm>
            <a:off x="5396484" y="3400895"/>
            <a:ext cx="6126480" cy="859536"/>
          </a:xfrm>
          <a:prstGeom prst="rect">
            <a:avLst/>
          </a:prstGeom>
          <a:noFill/>
          <a:ln/>
        </p:spPr>
        <p:txBody>
          <a:bodyPr wrap="square" rtlCol="0" anchor="ctr"/>
          <a:lstStyle/>
          <a:p>
            <a:pPr marL="0" indent="0">
              <a:buNone/>
            </a:pPr>
            <a:r>
              <a:rPr lang="en-US" sz="1300" dirty="0">
                <a:solidFill>
                  <a:srgbClr val="FCFCFD"/>
                </a:solidFill>
                <a:latin typeface="Amazon Ember" pitchFamily="34" charset="0"/>
                <a:ea typeface="Arial" pitchFamily="34" charset="-122"/>
                <a:cs typeface="Arial" pitchFamily="34" charset="-120"/>
              </a:rPr>
              <a:t>SSO / OAuth — authentication of callers</a:t>
            </a:r>
            <a:endParaRPr lang="en-US" sz="1300" dirty="0">
              <a:solidFill>
                <a:srgbClr val="FCFCFD"/>
              </a:solidFill>
            </a:endParaRPr>
          </a:p>
        </p:txBody>
      </p:sp>
      <p:sp>
        <p:nvSpPr>
          <p:cNvPr id="101" name="Shape 18">
            <a:extLst>
              <a:ext uri="{FF2B5EF4-FFF2-40B4-BE49-F238E27FC236}">
                <a16:creationId xmlns:a16="http://schemas.microsoft.com/office/drawing/2014/main" id="{26F0341A-7A2A-CE9D-D857-C483260379B2}"/>
              </a:ext>
            </a:extLst>
          </p:cNvPr>
          <p:cNvSpPr/>
          <p:nvPr/>
        </p:nvSpPr>
        <p:spPr>
          <a:xfrm>
            <a:off x="458724" y="4388447"/>
            <a:ext cx="11274552" cy="859536"/>
          </a:xfrm>
          <a:prstGeom prst="roundRect">
            <a:avLst>
              <a:gd name="adj" fmla="val 6383"/>
            </a:avLst>
          </a:prstGeom>
          <a:solidFill>
            <a:srgbClr val="232F3E"/>
          </a:solidFill>
          <a:ln w="19050">
            <a:solidFill>
              <a:srgbClr val="FF9900"/>
            </a:solidFill>
            <a:prstDash val="solid"/>
          </a:ln>
        </p:spPr>
        <p:txBody>
          <a:bodyPr/>
          <a:lstStyle/>
          <a:p>
            <a:endParaRPr/>
          </a:p>
        </p:txBody>
      </p:sp>
      <p:sp>
        <p:nvSpPr>
          <p:cNvPr id="102" name="Shape 19">
            <a:extLst>
              <a:ext uri="{FF2B5EF4-FFF2-40B4-BE49-F238E27FC236}">
                <a16:creationId xmlns:a16="http://schemas.microsoft.com/office/drawing/2014/main" id="{C42B000F-CD1C-B2F5-0B3D-A1BBFFEE5FC5}"/>
              </a:ext>
            </a:extLst>
          </p:cNvPr>
          <p:cNvSpPr/>
          <p:nvPr/>
        </p:nvSpPr>
        <p:spPr>
          <a:xfrm>
            <a:off x="609600" y="4562183"/>
            <a:ext cx="512064" cy="512064"/>
          </a:xfrm>
          <a:prstGeom prst="roundRect">
            <a:avLst>
              <a:gd name="adj" fmla="val 14286"/>
            </a:avLst>
          </a:prstGeom>
          <a:solidFill>
            <a:srgbClr val="FFAC31"/>
          </a:solidFill>
          <a:ln w="12700">
            <a:noFill/>
            <a:prstDash val="solid"/>
          </a:ln>
        </p:spPr>
        <p:txBody>
          <a:bodyPr/>
          <a:lstStyle/>
          <a:p>
            <a:endParaRPr dirty="0"/>
          </a:p>
        </p:txBody>
      </p:sp>
      <p:sp>
        <p:nvSpPr>
          <p:cNvPr id="103" name="Text 20">
            <a:extLst>
              <a:ext uri="{FF2B5EF4-FFF2-40B4-BE49-F238E27FC236}">
                <a16:creationId xmlns:a16="http://schemas.microsoft.com/office/drawing/2014/main" id="{69BD8D79-98C0-FACF-59E6-98E0463AA0F4}"/>
              </a:ext>
            </a:extLst>
          </p:cNvPr>
          <p:cNvSpPr/>
          <p:nvPr/>
        </p:nvSpPr>
        <p:spPr>
          <a:xfrm>
            <a:off x="623316" y="4562183"/>
            <a:ext cx="512064" cy="512064"/>
          </a:xfrm>
          <a:prstGeom prst="rect">
            <a:avLst/>
          </a:prstGeom>
          <a:noFill/>
          <a:ln/>
        </p:spPr>
        <p:txBody>
          <a:bodyPr wrap="square" rtlCol="0" anchor="ctr"/>
          <a:lstStyle/>
          <a:p>
            <a:pPr marL="0" indent="0" algn="ctr">
              <a:buNone/>
            </a:pPr>
            <a:r>
              <a:rPr lang="en-US" sz="2200" b="1" dirty="0">
                <a:solidFill>
                  <a:srgbClr val="FFFFFF"/>
                </a:solidFill>
                <a:latin typeface="Amazon Ember Display" pitchFamily="34" charset="0"/>
                <a:ea typeface="Arial" pitchFamily="34" charset="-122"/>
                <a:cs typeface="Arial" pitchFamily="34" charset="-120"/>
              </a:rPr>
              <a:t>4</a:t>
            </a:r>
            <a:endParaRPr lang="en-US" sz="2200" dirty="0"/>
          </a:p>
        </p:txBody>
      </p:sp>
      <p:sp>
        <p:nvSpPr>
          <p:cNvPr id="104" name="Rounded Rectangle 103">
            <a:extLst>
              <a:ext uri="{FF2B5EF4-FFF2-40B4-BE49-F238E27FC236}">
                <a16:creationId xmlns:a16="http://schemas.microsoft.com/office/drawing/2014/main" id="{5D10049A-1CEC-3909-5673-1738B9855AD0}"/>
              </a:ext>
            </a:extLst>
          </p:cNvPr>
          <p:cNvSpPr/>
          <p:nvPr/>
        </p:nvSpPr>
        <p:spPr>
          <a:xfrm>
            <a:off x="1272540" y="4534751"/>
            <a:ext cx="566928" cy="56692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5" name="Image 3" descr="ic_33.svg">
            <a:extLst>
              <a:ext uri="{FF2B5EF4-FFF2-40B4-BE49-F238E27FC236}">
                <a16:creationId xmlns:a16="http://schemas.microsoft.com/office/drawing/2014/main" id="{5F37FDDD-4E1A-9E77-567A-1B5F2D1EC980}"/>
              </a:ext>
            </a:extLst>
          </p:cNvPr>
          <p:cNvPicPr>
            <a:picLocks noChangeAspect="1"/>
          </p:cNvPicPr>
          <p:nvPr/>
        </p:nvPicPr>
        <p:blipFill>
          <a:blip r:embed="rId4"/>
          <a:stretch>
            <a:fillRect/>
          </a:stretch>
        </p:blipFill>
        <p:spPr>
          <a:xfrm>
            <a:off x="1345692" y="4607903"/>
            <a:ext cx="420624" cy="420624"/>
          </a:xfrm>
          <a:prstGeom prst="rect">
            <a:avLst/>
          </a:prstGeom>
        </p:spPr>
      </p:pic>
      <p:sp>
        <p:nvSpPr>
          <p:cNvPr id="106" name="Text 21">
            <a:extLst>
              <a:ext uri="{FF2B5EF4-FFF2-40B4-BE49-F238E27FC236}">
                <a16:creationId xmlns:a16="http://schemas.microsoft.com/office/drawing/2014/main" id="{08F4152A-9EA0-4EEA-32A2-FD8C34B134C5}"/>
              </a:ext>
            </a:extLst>
          </p:cNvPr>
          <p:cNvSpPr/>
          <p:nvPr/>
        </p:nvSpPr>
        <p:spPr>
          <a:xfrm>
            <a:off x="1921764" y="4388447"/>
            <a:ext cx="3383280" cy="859536"/>
          </a:xfrm>
          <a:prstGeom prst="rect">
            <a:avLst/>
          </a:prstGeom>
          <a:noFill/>
          <a:ln/>
        </p:spPr>
        <p:txBody>
          <a:bodyPr wrap="square" rtlCol="0" anchor="ctr"/>
          <a:lstStyle/>
          <a:p>
            <a:pPr marL="0" indent="0">
              <a:buNone/>
            </a:pPr>
            <a:r>
              <a:rPr lang="en-US" sz="1700" b="1" dirty="0">
                <a:solidFill>
                  <a:srgbClr val="FFFFFF"/>
                </a:solidFill>
                <a:latin typeface="Amazon Ember" pitchFamily="34" charset="0"/>
                <a:ea typeface="Arial" pitchFamily="34" charset="-122"/>
                <a:cs typeface="Arial" pitchFamily="34" charset="-120"/>
              </a:rPr>
              <a:t>Authorization</a:t>
            </a:r>
            <a:endParaRPr lang="en-US" sz="1700" dirty="0"/>
          </a:p>
        </p:txBody>
      </p:sp>
      <p:sp>
        <p:nvSpPr>
          <p:cNvPr id="107" name="Text 22">
            <a:extLst>
              <a:ext uri="{FF2B5EF4-FFF2-40B4-BE49-F238E27FC236}">
                <a16:creationId xmlns:a16="http://schemas.microsoft.com/office/drawing/2014/main" id="{C28C450D-F471-954F-2E4C-006A1A135CA6}"/>
              </a:ext>
            </a:extLst>
          </p:cNvPr>
          <p:cNvSpPr/>
          <p:nvPr/>
        </p:nvSpPr>
        <p:spPr>
          <a:xfrm>
            <a:off x="5396484" y="4388447"/>
            <a:ext cx="6126480" cy="859536"/>
          </a:xfrm>
          <a:prstGeom prst="rect">
            <a:avLst/>
          </a:prstGeom>
          <a:noFill/>
          <a:ln/>
        </p:spPr>
        <p:txBody>
          <a:bodyPr wrap="square" rtlCol="0" anchor="ctr"/>
          <a:lstStyle/>
          <a:p>
            <a:pPr marL="0" indent="0">
              <a:buNone/>
            </a:pPr>
            <a:r>
              <a:rPr lang="en-US" sz="1300" dirty="0">
                <a:latin typeface="Amazon Ember" pitchFamily="34" charset="0"/>
                <a:ea typeface="Arial" pitchFamily="34" charset="-122"/>
                <a:cs typeface="Arial" pitchFamily="34" charset="-120"/>
              </a:rPr>
              <a:t>What an authenticated caller is allowed to do</a:t>
            </a:r>
            <a:endParaRPr lang="en-US" sz="1300" dirty="0"/>
          </a:p>
        </p:txBody>
      </p:sp>
      <p:sp>
        <p:nvSpPr>
          <p:cNvPr id="108" name="Shape 23">
            <a:extLst>
              <a:ext uri="{FF2B5EF4-FFF2-40B4-BE49-F238E27FC236}">
                <a16:creationId xmlns:a16="http://schemas.microsoft.com/office/drawing/2014/main" id="{BDD20CE8-9134-CECA-15D7-726119C1F487}"/>
              </a:ext>
            </a:extLst>
          </p:cNvPr>
          <p:cNvSpPr/>
          <p:nvPr/>
        </p:nvSpPr>
        <p:spPr>
          <a:xfrm>
            <a:off x="458724" y="5375999"/>
            <a:ext cx="11274552" cy="859536"/>
          </a:xfrm>
          <a:prstGeom prst="roundRect">
            <a:avLst>
              <a:gd name="adj" fmla="val 6383"/>
            </a:avLst>
          </a:prstGeom>
          <a:solidFill>
            <a:srgbClr val="232F3E"/>
          </a:solidFill>
          <a:ln w="19050">
            <a:solidFill>
              <a:srgbClr val="FFAC31"/>
            </a:solidFill>
            <a:prstDash val="solid"/>
          </a:ln>
        </p:spPr>
        <p:txBody>
          <a:bodyPr/>
          <a:lstStyle/>
          <a:p>
            <a:endParaRPr/>
          </a:p>
        </p:txBody>
      </p:sp>
      <p:sp>
        <p:nvSpPr>
          <p:cNvPr id="109" name="Shape 24">
            <a:extLst>
              <a:ext uri="{FF2B5EF4-FFF2-40B4-BE49-F238E27FC236}">
                <a16:creationId xmlns:a16="http://schemas.microsoft.com/office/drawing/2014/main" id="{FC2FC56A-B3F2-3664-4174-7AA38AA9B5C9}"/>
              </a:ext>
            </a:extLst>
          </p:cNvPr>
          <p:cNvSpPr/>
          <p:nvPr/>
        </p:nvSpPr>
        <p:spPr>
          <a:xfrm>
            <a:off x="623316" y="5549735"/>
            <a:ext cx="512064" cy="512064"/>
          </a:xfrm>
          <a:prstGeom prst="roundRect">
            <a:avLst>
              <a:gd name="adj" fmla="val 14286"/>
            </a:avLst>
          </a:prstGeom>
          <a:solidFill>
            <a:srgbClr val="FFAC31"/>
          </a:solidFill>
          <a:ln w="12700">
            <a:noFill/>
            <a:prstDash val="solid"/>
          </a:ln>
        </p:spPr>
        <p:txBody>
          <a:bodyPr/>
          <a:lstStyle/>
          <a:p>
            <a:endParaRPr/>
          </a:p>
        </p:txBody>
      </p:sp>
      <p:sp>
        <p:nvSpPr>
          <p:cNvPr id="110" name="Text 25">
            <a:extLst>
              <a:ext uri="{FF2B5EF4-FFF2-40B4-BE49-F238E27FC236}">
                <a16:creationId xmlns:a16="http://schemas.microsoft.com/office/drawing/2014/main" id="{6350B85C-1CE4-8E6F-A6CE-F6B6C53E9AB1}"/>
              </a:ext>
            </a:extLst>
          </p:cNvPr>
          <p:cNvSpPr/>
          <p:nvPr/>
        </p:nvSpPr>
        <p:spPr>
          <a:xfrm>
            <a:off x="623316" y="5549735"/>
            <a:ext cx="512064" cy="512064"/>
          </a:xfrm>
          <a:prstGeom prst="rect">
            <a:avLst/>
          </a:prstGeom>
          <a:noFill/>
          <a:ln/>
        </p:spPr>
        <p:txBody>
          <a:bodyPr wrap="square" rtlCol="0" anchor="ctr"/>
          <a:lstStyle/>
          <a:p>
            <a:pPr marL="0" indent="0" algn="ctr">
              <a:buNone/>
            </a:pPr>
            <a:r>
              <a:rPr lang="en-US" sz="2200" b="1" dirty="0">
                <a:solidFill>
                  <a:srgbClr val="FFFFFF"/>
                </a:solidFill>
                <a:latin typeface="Amazon Ember Display" pitchFamily="34" charset="0"/>
                <a:ea typeface="Arial" pitchFamily="34" charset="-122"/>
                <a:cs typeface="Arial" pitchFamily="34" charset="-120"/>
              </a:rPr>
              <a:t>5</a:t>
            </a:r>
            <a:endParaRPr lang="en-US" sz="2200" dirty="0"/>
          </a:p>
        </p:txBody>
      </p:sp>
      <p:sp>
        <p:nvSpPr>
          <p:cNvPr id="111" name="Rounded Rectangle 110">
            <a:extLst>
              <a:ext uri="{FF2B5EF4-FFF2-40B4-BE49-F238E27FC236}">
                <a16:creationId xmlns:a16="http://schemas.microsoft.com/office/drawing/2014/main" id="{57E05F5B-30AE-23D0-98E3-368343DECAC0}"/>
              </a:ext>
            </a:extLst>
          </p:cNvPr>
          <p:cNvSpPr/>
          <p:nvPr/>
        </p:nvSpPr>
        <p:spPr>
          <a:xfrm>
            <a:off x="1272540" y="5522303"/>
            <a:ext cx="566928" cy="56692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2" name="Image 4" descr="ic_34.svg">
            <a:extLst>
              <a:ext uri="{FF2B5EF4-FFF2-40B4-BE49-F238E27FC236}">
                <a16:creationId xmlns:a16="http://schemas.microsoft.com/office/drawing/2014/main" id="{87BC0ED3-199A-8B0A-E03A-FDFA72F35CA1}"/>
              </a:ext>
            </a:extLst>
          </p:cNvPr>
          <p:cNvPicPr>
            <a:picLocks noChangeAspect="1"/>
          </p:cNvPicPr>
          <p:nvPr/>
        </p:nvPicPr>
        <p:blipFill>
          <a:blip r:embed="rId5"/>
          <a:stretch>
            <a:fillRect/>
          </a:stretch>
        </p:blipFill>
        <p:spPr>
          <a:xfrm>
            <a:off x="1345692" y="5595455"/>
            <a:ext cx="420624" cy="420624"/>
          </a:xfrm>
          <a:prstGeom prst="rect">
            <a:avLst/>
          </a:prstGeom>
        </p:spPr>
      </p:pic>
      <p:sp>
        <p:nvSpPr>
          <p:cNvPr id="113" name="Text 26">
            <a:extLst>
              <a:ext uri="{FF2B5EF4-FFF2-40B4-BE49-F238E27FC236}">
                <a16:creationId xmlns:a16="http://schemas.microsoft.com/office/drawing/2014/main" id="{93A65D33-04A4-FDA2-DF27-7D18434F246A}"/>
              </a:ext>
            </a:extLst>
          </p:cNvPr>
          <p:cNvSpPr/>
          <p:nvPr/>
        </p:nvSpPr>
        <p:spPr>
          <a:xfrm>
            <a:off x="1921764" y="5375999"/>
            <a:ext cx="3383280" cy="859536"/>
          </a:xfrm>
          <a:prstGeom prst="rect">
            <a:avLst/>
          </a:prstGeom>
          <a:noFill/>
          <a:ln/>
        </p:spPr>
        <p:txBody>
          <a:bodyPr wrap="square" rtlCol="0" anchor="ctr"/>
          <a:lstStyle/>
          <a:p>
            <a:pPr marL="0" indent="0">
              <a:buNone/>
            </a:pPr>
            <a:r>
              <a:rPr lang="en-US" sz="1700" b="1" dirty="0">
                <a:solidFill>
                  <a:srgbClr val="FFFFFF"/>
                </a:solidFill>
                <a:latin typeface="Amazon Ember" pitchFamily="34" charset="0"/>
                <a:ea typeface="Arial" pitchFamily="34" charset="-122"/>
                <a:cs typeface="Arial" pitchFamily="34" charset="-120"/>
              </a:rPr>
              <a:t>Data handling &amp; residency</a:t>
            </a:r>
            <a:endParaRPr lang="en-US" sz="1700" dirty="0"/>
          </a:p>
        </p:txBody>
      </p:sp>
      <p:sp>
        <p:nvSpPr>
          <p:cNvPr id="114" name="Text 27">
            <a:extLst>
              <a:ext uri="{FF2B5EF4-FFF2-40B4-BE49-F238E27FC236}">
                <a16:creationId xmlns:a16="http://schemas.microsoft.com/office/drawing/2014/main" id="{CFBA0536-7985-ABA3-9A20-77A9BCA2CEBB}"/>
              </a:ext>
            </a:extLst>
          </p:cNvPr>
          <p:cNvSpPr/>
          <p:nvPr/>
        </p:nvSpPr>
        <p:spPr>
          <a:xfrm>
            <a:off x="5396484" y="5375999"/>
            <a:ext cx="6126480" cy="859536"/>
          </a:xfrm>
          <a:prstGeom prst="rect">
            <a:avLst/>
          </a:prstGeom>
          <a:noFill/>
          <a:ln/>
        </p:spPr>
        <p:txBody>
          <a:bodyPr wrap="square" rtlCol="0" anchor="ctr"/>
          <a:lstStyle/>
          <a:p>
            <a:pPr marL="0" indent="0">
              <a:buNone/>
            </a:pPr>
            <a:r>
              <a:rPr lang="en-US" sz="1300" dirty="0">
                <a:latin typeface="Amazon Ember" pitchFamily="34" charset="0"/>
                <a:ea typeface="Arial" pitchFamily="34" charset="-122"/>
                <a:cs typeface="Arial" pitchFamily="34" charset="-120"/>
              </a:rPr>
              <a:t>Where data is processed and stored</a:t>
            </a:r>
            <a:endParaRPr lang="en-US" sz="1300" dirty="0"/>
          </a:p>
        </p:txBody>
      </p:sp>
      <p:pic>
        <p:nvPicPr>
          <p:cNvPr id="115" name="Graphic 114" descr="Enter with solid fill">
            <a:extLst>
              <a:ext uri="{FF2B5EF4-FFF2-40B4-BE49-F238E27FC236}">
                <a16:creationId xmlns:a16="http://schemas.microsoft.com/office/drawing/2014/main" id="{38D97D36-98BC-E8AE-6D53-C7BCE6CBCAA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20370" y="1611836"/>
            <a:ext cx="509954" cy="509954"/>
          </a:xfrm>
          <a:prstGeom prst="rect">
            <a:avLst/>
          </a:prstGeom>
        </p:spPr>
      </p:pic>
      <p:pic>
        <p:nvPicPr>
          <p:cNvPr id="116" name="Graphic 115">
            <a:extLst>
              <a:ext uri="{FF2B5EF4-FFF2-40B4-BE49-F238E27FC236}">
                <a16:creationId xmlns:a16="http://schemas.microsoft.com/office/drawing/2014/main" id="{E76C0626-9570-6F21-C45F-B40E53B3E32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1327184" y="2629474"/>
            <a:ext cx="475477" cy="414102"/>
          </a:xfrm>
          <a:prstGeom prst="rect">
            <a:avLst/>
          </a:prstGeom>
        </p:spPr>
      </p:pic>
      <p:sp>
        <p:nvSpPr>
          <p:cNvPr id="117" name="Shape 9">
            <a:extLst>
              <a:ext uri="{FF2B5EF4-FFF2-40B4-BE49-F238E27FC236}">
                <a16:creationId xmlns:a16="http://schemas.microsoft.com/office/drawing/2014/main" id="{BB29D977-5D5B-5FEA-F765-A1589C56E800}"/>
              </a:ext>
            </a:extLst>
          </p:cNvPr>
          <p:cNvSpPr/>
          <p:nvPr/>
        </p:nvSpPr>
        <p:spPr>
          <a:xfrm>
            <a:off x="623316" y="3574630"/>
            <a:ext cx="512064" cy="512064"/>
          </a:xfrm>
          <a:prstGeom prst="roundRect">
            <a:avLst>
              <a:gd name="adj" fmla="val 14286"/>
            </a:avLst>
          </a:prstGeom>
          <a:solidFill>
            <a:srgbClr val="FF9900"/>
          </a:solidFill>
          <a:ln w="12700">
            <a:noFill/>
            <a:prstDash val="solid"/>
          </a:ln>
        </p:spPr>
        <p:txBody>
          <a:bodyPr/>
          <a:lstStyle/>
          <a:p>
            <a:endParaRPr/>
          </a:p>
        </p:txBody>
      </p:sp>
      <p:sp>
        <p:nvSpPr>
          <p:cNvPr id="119" name="Text 10">
            <a:extLst>
              <a:ext uri="{FF2B5EF4-FFF2-40B4-BE49-F238E27FC236}">
                <a16:creationId xmlns:a16="http://schemas.microsoft.com/office/drawing/2014/main" id="{5AC670DB-E0E0-0BF3-85A9-438BF0D5019C}"/>
              </a:ext>
            </a:extLst>
          </p:cNvPr>
          <p:cNvSpPr/>
          <p:nvPr/>
        </p:nvSpPr>
        <p:spPr>
          <a:xfrm>
            <a:off x="639032" y="3574630"/>
            <a:ext cx="512064" cy="512064"/>
          </a:xfrm>
          <a:prstGeom prst="rect">
            <a:avLst/>
          </a:prstGeom>
          <a:noFill/>
          <a:ln/>
        </p:spPr>
        <p:txBody>
          <a:bodyPr wrap="square" rtlCol="0" anchor="ctr"/>
          <a:lstStyle/>
          <a:p>
            <a:pPr marL="0" indent="0" algn="ctr">
              <a:buNone/>
            </a:pPr>
            <a:r>
              <a:rPr lang="ru-RU" sz="2200" b="1" dirty="0">
                <a:solidFill>
                  <a:srgbClr val="FFFFFF"/>
                </a:solidFill>
                <a:latin typeface="Amazon Ember Display" pitchFamily="34" charset="0"/>
                <a:cs typeface="Arial" pitchFamily="34" charset="-120"/>
              </a:rPr>
              <a:t>3</a:t>
            </a:r>
            <a:endParaRPr lang="en-US" sz="2200" dirty="0"/>
          </a:p>
        </p:txBody>
      </p:sp>
    </p:spTree>
    <p:extLst>
      <p:ext uri="{BB962C8B-B14F-4D97-AF65-F5344CB8AC3E}">
        <p14:creationId xmlns:p14="http://schemas.microsoft.com/office/powerpoint/2010/main" val="2396944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E04050-BA80-DBCC-0B5E-BD2C3B8F0963}"/>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05152D13-1161-F1B5-1979-526B676ABB85}"/>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Constraints shape the design first</a:t>
            </a:r>
            <a:endParaRPr lang="en-US" sz="4000" dirty="0"/>
          </a:p>
        </p:txBody>
      </p:sp>
      <p:grpSp>
        <p:nvGrpSpPr>
          <p:cNvPr id="50" name="Group 49">
            <a:extLst>
              <a:ext uri="{FF2B5EF4-FFF2-40B4-BE49-F238E27FC236}">
                <a16:creationId xmlns:a16="http://schemas.microsoft.com/office/drawing/2014/main" id="{C04DE60D-754C-EDA6-CF01-55701612D5D6}"/>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1D5624EB-6326-0532-AFFA-D9C95AF136E9}"/>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F4DFE686-2505-4AF7-4A53-D580F80538D2}"/>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BF59B4A8-E9FA-44D2-6A30-EF586CBDA8F6}"/>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0DE6782D-46AE-7641-2C18-9C9A4948A228}"/>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08A17796-473D-7065-315D-E37034217E56}"/>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4A2C4E2D-BAF5-3377-6D7F-2D6CCBB192C8}"/>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08A1FB93-C79E-1D9C-FAC9-4F1567EF84E1}"/>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BC948CFC-0FA3-8B30-9A4B-C64BBBA88B98}"/>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3" name="Text 3">
            <a:extLst>
              <a:ext uri="{FF2B5EF4-FFF2-40B4-BE49-F238E27FC236}">
                <a16:creationId xmlns:a16="http://schemas.microsoft.com/office/drawing/2014/main" id="{9706AB23-F064-30A9-F01A-835006211EFF}"/>
              </a:ext>
            </a:extLst>
          </p:cNvPr>
          <p:cNvSpPr/>
          <p:nvPr/>
        </p:nvSpPr>
        <p:spPr>
          <a:xfrm>
            <a:off x="658368" y="1481328"/>
            <a:ext cx="10881360" cy="457200"/>
          </a:xfrm>
          <a:prstGeom prst="rect">
            <a:avLst/>
          </a:prstGeom>
          <a:noFill/>
          <a:ln/>
        </p:spPr>
        <p:txBody>
          <a:bodyPr wrap="square" rtlCol="0" anchor="ctr"/>
          <a:lstStyle/>
          <a:p>
            <a:pPr marL="0" indent="0">
              <a:buNone/>
            </a:pPr>
            <a:r>
              <a:rPr lang="en-US" sz="1500" dirty="0">
                <a:solidFill>
                  <a:srgbClr val="C6C6CD"/>
                </a:solidFill>
                <a:latin typeface="Amazon Ember" pitchFamily="34" charset="0"/>
                <a:ea typeface="Arial" pitchFamily="34" charset="-122"/>
                <a:cs typeface="Arial" pitchFamily="34" charset="-120"/>
              </a:rPr>
              <a:t>Regulatory and policy constraints eliminate entry-point options before any other decision. Match the integration pattern to the constraint.</a:t>
            </a:r>
            <a:endParaRPr lang="en-US" sz="1500" dirty="0"/>
          </a:p>
        </p:txBody>
      </p:sp>
      <p:sp>
        <p:nvSpPr>
          <p:cNvPr id="4" name="Shape 4">
            <a:extLst>
              <a:ext uri="{FF2B5EF4-FFF2-40B4-BE49-F238E27FC236}">
                <a16:creationId xmlns:a16="http://schemas.microsoft.com/office/drawing/2014/main" id="{BCA56BEE-2DA4-CF84-23BD-FF20B165EE9F}"/>
              </a:ext>
            </a:extLst>
          </p:cNvPr>
          <p:cNvSpPr/>
          <p:nvPr/>
        </p:nvSpPr>
        <p:spPr>
          <a:xfrm>
            <a:off x="457200" y="2148840"/>
            <a:ext cx="5486400" cy="1508760"/>
          </a:xfrm>
          <a:prstGeom prst="roundRect">
            <a:avLst>
              <a:gd name="adj" fmla="val 4848"/>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pic>
        <p:nvPicPr>
          <p:cNvPr id="6" name="Image 0" descr="ic_35.svg">
            <a:extLst>
              <a:ext uri="{FF2B5EF4-FFF2-40B4-BE49-F238E27FC236}">
                <a16:creationId xmlns:a16="http://schemas.microsoft.com/office/drawing/2014/main" id="{08E05485-7907-348E-989C-FD5052491E67}"/>
              </a:ext>
            </a:extLst>
          </p:cNvPr>
          <p:cNvPicPr>
            <a:picLocks noChangeAspect="1"/>
          </p:cNvPicPr>
          <p:nvPr/>
        </p:nvPicPr>
        <p:blipFill>
          <a:blip r:embed="rId3"/>
          <a:stretch>
            <a:fillRect/>
          </a:stretch>
        </p:blipFill>
        <p:spPr>
          <a:xfrm>
            <a:off x="841247" y="2624328"/>
            <a:ext cx="548640" cy="548640"/>
          </a:xfrm>
          <a:prstGeom prst="rect">
            <a:avLst/>
          </a:prstGeom>
        </p:spPr>
      </p:pic>
      <p:sp>
        <p:nvSpPr>
          <p:cNvPr id="7" name="Text 6">
            <a:extLst>
              <a:ext uri="{FF2B5EF4-FFF2-40B4-BE49-F238E27FC236}">
                <a16:creationId xmlns:a16="http://schemas.microsoft.com/office/drawing/2014/main" id="{F8288156-359C-B7BF-3AFE-387BF773AD8A}"/>
              </a:ext>
            </a:extLst>
          </p:cNvPr>
          <p:cNvSpPr/>
          <p:nvPr/>
        </p:nvSpPr>
        <p:spPr>
          <a:xfrm>
            <a:off x="1691640" y="2404872"/>
            <a:ext cx="4023360" cy="457200"/>
          </a:xfrm>
          <a:prstGeom prst="rect">
            <a:avLst/>
          </a:prstGeom>
          <a:noFill/>
          <a:ln/>
        </p:spPr>
        <p:txBody>
          <a:bodyPr wrap="square" rtlCol="0" anchor="ctr"/>
          <a:lstStyle/>
          <a:p>
            <a:pPr marL="0" indent="0">
              <a:buNone/>
            </a:pPr>
            <a:r>
              <a:rPr lang="en-US" sz="1700" b="1" dirty="0">
                <a:latin typeface="Amazon Ember" pitchFamily="34" charset="0"/>
                <a:ea typeface="Arial" pitchFamily="34" charset="-122"/>
                <a:cs typeface="Arial" pitchFamily="34" charset="-120"/>
              </a:rPr>
              <a:t>Data privacy</a:t>
            </a:r>
            <a:endParaRPr lang="en-US" sz="1700" dirty="0"/>
          </a:p>
        </p:txBody>
      </p:sp>
      <p:sp>
        <p:nvSpPr>
          <p:cNvPr id="8" name="Text 7">
            <a:extLst>
              <a:ext uri="{FF2B5EF4-FFF2-40B4-BE49-F238E27FC236}">
                <a16:creationId xmlns:a16="http://schemas.microsoft.com/office/drawing/2014/main" id="{910B83EB-BDED-6FAD-A050-84A519795A89}"/>
              </a:ext>
            </a:extLst>
          </p:cNvPr>
          <p:cNvSpPr/>
          <p:nvPr/>
        </p:nvSpPr>
        <p:spPr>
          <a:xfrm>
            <a:off x="1691640" y="2862072"/>
            <a:ext cx="4023360" cy="68580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HIPAA, GDPR </a:t>
            </a:r>
            <a:r>
              <a:rPr lang="ru-RU" sz="1250" dirty="0">
                <a:latin typeface="Amazon Ember" pitchFamily="34" charset="0"/>
                <a:ea typeface="Arial" pitchFamily="34" charset="-122"/>
                <a:cs typeface="Arial" pitchFamily="34" charset="-120"/>
              </a:rPr>
              <a:t>-</a:t>
            </a:r>
            <a:r>
              <a:rPr lang="en-US" sz="1250" dirty="0">
                <a:latin typeface="Amazon Ember" pitchFamily="34" charset="0"/>
                <a:ea typeface="Arial" pitchFamily="34" charset="-122"/>
                <a:cs typeface="Arial" pitchFamily="34" charset="-120"/>
              </a:rPr>
              <a:t> BAA coverage and controls on personal / health data.</a:t>
            </a:r>
            <a:endParaRPr lang="en-US" sz="1250" dirty="0"/>
          </a:p>
        </p:txBody>
      </p:sp>
      <p:sp>
        <p:nvSpPr>
          <p:cNvPr id="9" name="Shape 8">
            <a:extLst>
              <a:ext uri="{FF2B5EF4-FFF2-40B4-BE49-F238E27FC236}">
                <a16:creationId xmlns:a16="http://schemas.microsoft.com/office/drawing/2014/main" id="{B0618525-2C9D-B20A-537D-C850B302C954}"/>
              </a:ext>
            </a:extLst>
          </p:cNvPr>
          <p:cNvSpPr/>
          <p:nvPr/>
        </p:nvSpPr>
        <p:spPr>
          <a:xfrm>
            <a:off x="6245352" y="2148840"/>
            <a:ext cx="5486400" cy="1508760"/>
          </a:xfrm>
          <a:prstGeom prst="roundRect">
            <a:avLst>
              <a:gd name="adj" fmla="val 4848"/>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pic>
        <p:nvPicPr>
          <p:cNvPr id="11" name="Image 1" descr="ic_36.svg">
            <a:extLst>
              <a:ext uri="{FF2B5EF4-FFF2-40B4-BE49-F238E27FC236}">
                <a16:creationId xmlns:a16="http://schemas.microsoft.com/office/drawing/2014/main" id="{AC609140-99C2-F35E-7AD9-F2A56C317124}"/>
              </a:ext>
            </a:extLst>
          </p:cNvPr>
          <p:cNvPicPr>
            <a:picLocks noChangeAspect="1"/>
          </p:cNvPicPr>
          <p:nvPr/>
        </p:nvPicPr>
        <p:blipFill>
          <a:blip r:embed="rId4"/>
          <a:stretch>
            <a:fillRect/>
          </a:stretch>
        </p:blipFill>
        <p:spPr>
          <a:xfrm>
            <a:off x="6629400" y="2624328"/>
            <a:ext cx="548640" cy="548640"/>
          </a:xfrm>
          <a:prstGeom prst="rect">
            <a:avLst/>
          </a:prstGeom>
        </p:spPr>
      </p:pic>
      <p:sp>
        <p:nvSpPr>
          <p:cNvPr id="12" name="Text 10">
            <a:extLst>
              <a:ext uri="{FF2B5EF4-FFF2-40B4-BE49-F238E27FC236}">
                <a16:creationId xmlns:a16="http://schemas.microsoft.com/office/drawing/2014/main" id="{DC7DD1BB-AFB7-1884-1546-060D58BE7491}"/>
              </a:ext>
            </a:extLst>
          </p:cNvPr>
          <p:cNvSpPr/>
          <p:nvPr/>
        </p:nvSpPr>
        <p:spPr>
          <a:xfrm>
            <a:off x="7479792" y="2404872"/>
            <a:ext cx="4023360" cy="457200"/>
          </a:xfrm>
          <a:prstGeom prst="rect">
            <a:avLst/>
          </a:prstGeom>
          <a:noFill/>
          <a:ln/>
        </p:spPr>
        <p:txBody>
          <a:bodyPr wrap="square" rtlCol="0" anchor="ctr"/>
          <a:lstStyle/>
          <a:p>
            <a:pPr marL="0" indent="0">
              <a:buNone/>
            </a:pPr>
            <a:r>
              <a:rPr lang="en-US" sz="1700" b="1" dirty="0">
                <a:latin typeface="Amazon Ember" pitchFamily="34" charset="0"/>
                <a:ea typeface="Arial" pitchFamily="34" charset="-122"/>
                <a:cs typeface="Arial" pitchFamily="34" charset="-120"/>
              </a:rPr>
              <a:t>Data residency</a:t>
            </a:r>
            <a:endParaRPr lang="en-US" sz="1700" dirty="0"/>
          </a:p>
        </p:txBody>
      </p:sp>
      <p:sp>
        <p:nvSpPr>
          <p:cNvPr id="13" name="Text 11">
            <a:extLst>
              <a:ext uri="{FF2B5EF4-FFF2-40B4-BE49-F238E27FC236}">
                <a16:creationId xmlns:a16="http://schemas.microsoft.com/office/drawing/2014/main" id="{13882F33-7348-F027-2FBE-0F8B01CE3D5E}"/>
              </a:ext>
            </a:extLst>
          </p:cNvPr>
          <p:cNvSpPr/>
          <p:nvPr/>
        </p:nvSpPr>
        <p:spPr>
          <a:xfrm>
            <a:off x="7479792" y="2862072"/>
            <a:ext cx="4023360" cy="68580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Where data is processed and stored; FedRAMP and jurisdiction limits.</a:t>
            </a:r>
            <a:endParaRPr lang="en-US" sz="1250" dirty="0"/>
          </a:p>
        </p:txBody>
      </p:sp>
      <p:sp>
        <p:nvSpPr>
          <p:cNvPr id="14" name="Shape 12">
            <a:extLst>
              <a:ext uri="{FF2B5EF4-FFF2-40B4-BE49-F238E27FC236}">
                <a16:creationId xmlns:a16="http://schemas.microsoft.com/office/drawing/2014/main" id="{50323100-DB3A-1F57-6516-AC39ECAD0972}"/>
              </a:ext>
            </a:extLst>
          </p:cNvPr>
          <p:cNvSpPr/>
          <p:nvPr/>
        </p:nvSpPr>
        <p:spPr>
          <a:xfrm>
            <a:off x="457200" y="3858768"/>
            <a:ext cx="5486400" cy="1508760"/>
          </a:xfrm>
          <a:prstGeom prst="roundRect">
            <a:avLst>
              <a:gd name="adj" fmla="val 4848"/>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pic>
        <p:nvPicPr>
          <p:cNvPr id="16" name="Image 2" descr="ic_37.svg">
            <a:extLst>
              <a:ext uri="{FF2B5EF4-FFF2-40B4-BE49-F238E27FC236}">
                <a16:creationId xmlns:a16="http://schemas.microsoft.com/office/drawing/2014/main" id="{1AAE0CC9-AC17-7F9C-2497-923B66DEA84D}"/>
              </a:ext>
            </a:extLst>
          </p:cNvPr>
          <p:cNvPicPr>
            <a:picLocks noChangeAspect="1"/>
          </p:cNvPicPr>
          <p:nvPr/>
        </p:nvPicPr>
        <p:blipFill>
          <a:blip r:embed="rId5"/>
          <a:stretch>
            <a:fillRect/>
          </a:stretch>
        </p:blipFill>
        <p:spPr>
          <a:xfrm>
            <a:off x="841247" y="4334256"/>
            <a:ext cx="548640" cy="548640"/>
          </a:xfrm>
          <a:prstGeom prst="rect">
            <a:avLst/>
          </a:prstGeom>
        </p:spPr>
      </p:pic>
      <p:sp>
        <p:nvSpPr>
          <p:cNvPr id="17" name="Text 14">
            <a:extLst>
              <a:ext uri="{FF2B5EF4-FFF2-40B4-BE49-F238E27FC236}">
                <a16:creationId xmlns:a16="http://schemas.microsoft.com/office/drawing/2014/main" id="{849A94F3-6EE4-A9BB-5E28-4CA3FB67D745}"/>
              </a:ext>
            </a:extLst>
          </p:cNvPr>
          <p:cNvSpPr/>
          <p:nvPr/>
        </p:nvSpPr>
        <p:spPr>
          <a:xfrm>
            <a:off x="1691640" y="4114800"/>
            <a:ext cx="4023360" cy="457200"/>
          </a:xfrm>
          <a:prstGeom prst="rect">
            <a:avLst/>
          </a:prstGeom>
          <a:noFill/>
          <a:ln/>
        </p:spPr>
        <p:txBody>
          <a:bodyPr wrap="square" rtlCol="0" anchor="ctr"/>
          <a:lstStyle/>
          <a:p>
            <a:pPr marL="0" indent="0">
              <a:buNone/>
            </a:pPr>
            <a:r>
              <a:rPr lang="en-US" sz="1700" b="1" dirty="0">
                <a:latin typeface="Amazon Ember" pitchFamily="34" charset="0"/>
                <a:ea typeface="Arial" pitchFamily="34" charset="-122"/>
                <a:cs typeface="Arial" pitchFamily="34" charset="-120"/>
              </a:rPr>
              <a:t>Identity</a:t>
            </a:r>
            <a:endParaRPr lang="en-US" sz="1700" dirty="0"/>
          </a:p>
        </p:txBody>
      </p:sp>
      <p:sp>
        <p:nvSpPr>
          <p:cNvPr id="18" name="Text 15">
            <a:extLst>
              <a:ext uri="{FF2B5EF4-FFF2-40B4-BE49-F238E27FC236}">
                <a16:creationId xmlns:a16="http://schemas.microsoft.com/office/drawing/2014/main" id="{30996870-ECA7-7BE7-1C35-59DB35CAEB8B}"/>
              </a:ext>
            </a:extLst>
          </p:cNvPr>
          <p:cNvSpPr/>
          <p:nvPr/>
        </p:nvSpPr>
        <p:spPr>
          <a:xfrm>
            <a:off x="1691640" y="4572000"/>
            <a:ext cx="4023360" cy="68580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SSO / OAuth </a:t>
            </a:r>
            <a:r>
              <a:rPr lang="ru-RU" sz="1250" dirty="0">
                <a:latin typeface="Amazon Ember" pitchFamily="34" charset="0"/>
                <a:ea typeface="Arial" pitchFamily="34" charset="-122"/>
                <a:cs typeface="Arial" pitchFamily="34" charset="-120"/>
              </a:rPr>
              <a:t>-</a:t>
            </a:r>
            <a:r>
              <a:rPr lang="en-US" sz="1250" dirty="0">
                <a:latin typeface="Amazon Ember" pitchFamily="34" charset="0"/>
                <a:ea typeface="Arial" pitchFamily="34" charset="-122"/>
                <a:cs typeface="Arial" pitchFamily="34" charset="-120"/>
              </a:rPr>
              <a:t> who is allowed to invoke the system.</a:t>
            </a:r>
            <a:endParaRPr lang="en-US" sz="1250" dirty="0"/>
          </a:p>
        </p:txBody>
      </p:sp>
      <p:sp>
        <p:nvSpPr>
          <p:cNvPr id="19" name="Shape 16">
            <a:extLst>
              <a:ext uri="{FF2B5EF4-FFF2-40B4-BE49-F238E27FC236}">
                <a16:creationId xmlns:a16="http://schemas.microsoft.com/office/drawing/2014/main" id="{47EE3438-00A4-3C14-DA63-4939B2CC1BA5}"/>
              </a:ext>
            </a:extLst>
          </p:cNvPr>
          <p:cNvSpPr/>
          <p:nvPr/>
        </p:nvSpPr>
        <p:spPr>
          <a:xfrm>
            <a:off x="6245352" y="3858768"/>
            <a:ext cx="5486400" cy="1508760"/>
          </a:xfrm>
          <a:prstGeom prst="roundRect">
            <a:avLst>
              <a:gd name="adj" fmla="val 4848"/>
            </a:avLst>
          </a:prstGeom>
          <a:noFill/>
          <a:ln w="12700">
            <a:solidFill>
              <a:srgbClr val="FF9900"/>
            </a:solidFill>
            <a:prstDash val="solid"/>
          </a:ln>
          <a:effectLst>
            <a:outerShdw blurRad="88900" dist="38100" dir="5400000" algn="bl" rotWithShape="0">
              <a:srgbClr val="8895A7">
                <a:alpha val="28000"/>
              </a:srgbClr>
            </a:outerShdw>
          </a:effectLst>
        </p:spPr>
        <p:txBody>
          <a:bodyPr/>
          <a:lstStyle/>
          <a:p>
            <a:endParaRPr/>
          </a:p>
        </p:txBody>
      </p:sp>
      <p:pic>
        <p:nvPicPr>
          <p:cNvPr id="21" name="Image 3" descr="ic_38.svg">
            <a:extLst>
              <a:ext uri="{FF2B5EF4-FFF2-40B4-BE49-F238E27FC236}">
                <a16:creationId xmlns:a16="http://schemas.microsoft.com/office/drawing/2014/main" id="{A3C3C5FC-07DA-A468-5886-6A4A72DA0E6A}"/>
              </a:ext>
            </a:extLst>
          </p:cNvPr>
          <p:cNvPicPr>
            <a:picLocks noChangeAspect="1"/>
          </p:cNvPicPr>
          <p:nvPr/>
        </p:nvPicPr>
        <p:blipFill>
          <a:blip r:embed="rId6"/>
          <a:stretch>
            <a:fillRect/>
          </a:stretch>
        </p:blipFill>
        <p:spPr>
          <a:xfrm>
            <a:off x="6629400" y="4334256"/>
            <a:ext cx="548640" cy="548640"/>
          </a:xfrm>
          <a:prstGeom prst="rect">
            <a:avLst/>
          </a:prstGeom>
        </p:spPr>
      </p:pic>
      <p:sp>
        <p:nvSpPr>
          <p:cNvPr id="22" name="Text 18">
            <a:extLst>
              <a:ext uri="{FF2B5EF4-FFF2-40B4-BE49-F238E27FC236}">
                <a16:creationId xmlns:a16="http://schemas.microsoft.com/office/drawing/2014/main" id="{5AEE3495-5517-0BE4-9A1C-EC8E398625AF}"/>
              </a:ext>
            </a:extLst>
          </p:cNvPr>
          <p:cNvSpPr/>
          <p:nvPr/>
        </p:nvSpPr>
        <p:spPr>
          <a:xfrm>
            <a:off x="7479792" y="4114800"/>
            <a:ext cx="4023360" cy="457200"/>
          </a:xfrm>
          <a:prstGeom prst="rect">
            <a:avLst/>
          </a:prstGeom>
          <a:noFill/>
          <a:ln/>
        </p:spPr>
        <p:txBody>
          <a:bodyPr wrap="square" rtlCol="0" anchor="ctr"/>
          <a:lstStyle/>
          <a:p>
            <a:pPr marL="0" indent="0">
              <a:buNone/>
            </a:pPr>
            <a:r>
              <a:rPr lang="en-US" sz="1700" b="1" dirty="0">
                <a:latin typeface="Amazon Ember" pitchFamily="34" charset="0"/>
                <a:ea typeface="Arial" pitchFamily="34" charset="-122"/>
                <a:cs typeface="Arial" pitchFamily="34" charset="-120"/>
              </a:rPr>
              <a:t>Authorization</a:t>
            </a:r>
            <a:endParaRPr lang="en-US" sz="1700" dirty="0"/>
          </a:p>
        </p:txBody>
      </p:sp>
      <p:sp>
        <p:nvSpPr>
          <p:cNvPr id="23" name="Text 19">
            <a:extLst>
              <a:ext uri="{FF2B5EF4-FFF2-40B4-BE49-F238E27FC236}">
                <a16:creationId xmlns:a16="http://schemas.microsoft.com/office/drawing/2014/main" id="{CAC7E4B4-DF9C-803B-D7D4-7504DCAA64B3}"/>
              </a:ext>
            </a:extLst>
          </p:cNvPr>
          <p:cNvSpPr/>
          <p:nvPr/>
        </p:nvSpPr>
        <p:spPr>
          <a:xfrm>
            <a:off x="7479792" y="4572000"/>
            <a:ext cx="4023360" cy="685800"/>
          </a:xfrm>
          <a:prstGeom prst="rect">
            <a:avLst/>
          </a:prstGeom>
          <a:noFill/>
          <a:ln/>
        </p:spPr>
        <p:txBody>
          <a:bodyPr wrap="square" rtlCol="0" anchor="ctr"/>
          <a:lstStyle/>
          <a:p>
            <a:pPr marL="0" indent="0">
              <a:lnSpc>
                <a:spcPts val="1600"/>
              </a:lnSpc>
              <a:buNone/>
            </a:pPr>
            <a:r>
              <a:rPr lang="en-US" sz="1250" dirty="0">
                <a:latin typeface="Amazon Ember" pitchFamily="34" charset="0"/>
                <a:ea typeface="Arial" pitchFamily="34" charset="-122"/>
                <a:cs typeface="Arial" pitchFamily="34" charset="-120"/>
              </a:rPr>
              <a:t>Privilege via contractual terms, retention &amp; internal policy.</a:t>
            </a:r>
            <a:endParaRPr lang="en-US" sz="1250" dirty="0"/>
          </a:p>
        </p:txBody>
      </p:sp>
      <p:sp>
        <p:nvSpPr>
          <p:cNvPr id="24" name="Text 20">
            <a:extLst>
              <a:ext uri="{FF2B5EF4-FFF2-40B4-BE49-F238E27FC236}">
                <a16:creationId xmlns:a16="http://schemas.microsoft.com/office/drawing/2014/main" id="{8C007DA6-2F4E-6F6B-B02F-659A7F8F3B1E}"/>
              </a:ext>
            </a:extLst>
          </p:cNvPr>
          <p:cNvSpPr/>
          <p:nvPr/>
        </p:nvSpPr>
        <p:spPr>
          <a:xfrm>
            <a:off x="457200" y="5422392"/>
            <a:ext cx="11274552" cy="365760"/>
          </a:xfrm>
          <a:prstGeom prst="rect">
            <a:avLst/>
          </a:prstGeom>
          <a:noFill/>
          <a:ln/>
        </p:spPr>
        <p:txBody>
          <a:bodyPr wrap="square" rtlCol="0" anchor="ctr"/>
          <a:lstStyle/>
          <a:p>
            <a:pPr marL="0" indent="0" algn="ctr">
              <a:buNone/>
            </a:pPr>
            <a:r>
              <a:rPr lang="en-US" sz="1200" i="1" dirty="0">
                <a:latin typeface="Amazon Ember" pitchFamily="34" charset="0"/>
                <a:ea typeface="Arial" pitchFamily="34" charset="-122"/>
                <a:cs typeface="Arial" pitchFamily="34" charset="-120"/>
              </a:rPr>
              <a:t>Not legal guidance — work with your own legal and compliance team to implement controls that meet your organization’s needs.</a:t>
            </a:r>
            <a:endParaRPr lang="en-US" sz="1200" dirty="0"/>
          </a:p>
        </p:txBody>
      </p:sp>
    </p:spTree>
    <p:extLst>
      <p:ext uri="{BB962C8B-B14F-4D97-AF65-F5344CB8AC3E}">
        <p14:creationId xmlns:p14="http://schemas.microsoft.com/office/powerpoint/2010/main" val="2533456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BEB75-BEE7-01EC-11D3-FD5D274BC839}"/>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D4836CDC-F253-C8FC-C649-C6FDB6ABC595}"/>
              </a:ext>
            </a:extLst>
          </p:cNvPr>
          <p:cNvSpPr txBox="1">
            <a:spLocks/>
          </p:cNvSpPr>
          <p:nvPr/>
        </p:nvSpPr>
        <p:spPr>
          <a:xfrm>
            <a:off x="166413" y="613977"/>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b="1" dirty="0">
                <a:solidFill>
                  <a:srgbClr val="FFFFFF"/>
                </a:solidFill>
                <a:ea typeface="Arial" pitchFamily="34" charset="-122"/>
                <a:cs typeface="Arial" pitchFamily="34" charset="-120"/>
              </a:rPr>
              <a:t>"Ready" means clearing two bars at once</a:t>
            </a:r>
            <a:endParaRPr lang="en-US" sz="4000" dirty="0"/>
          </a:p>
        </p:txBody>
      </p:sp>
      <p:grpSp>
        <p:nvGrpSpPr>
          <p:cNvPr id="50" name="Group 49">
            <a:extLst>
              <a:ext uri="{FF2B5EF4-FFF2-40B4-BE49-F238E27FC236}">
                <a16:creationId xmlns:a16="http://schemas.microsoft.com/office/drawing/2014/main" id="{1512198C-FE3C-034E-0732-6A8F27D906D9}"/>
              </a:ext>
            </a:extLst>
          </p:cNvPr>
          <p:cNvGrpSpPr/>
          <p:nvPr/>
        </p:nvGrpSpPr>
        <p:grpSpPr>
          <a:xfrm>
            <a:off x="17830983" y="2843111"/>
            <a:ext cx="818764" cy="813514"/>
            <a:chOff x="5796771" y="1432596"/>
            <a:chExt cx="1365479" cy="1356724"/>
          </a:xfrm>
        </p:grpSpPr>
        <p:sp>
          <p:nvSpPr>
            <p:cNvPr id="51" name="Freeform: Shape 67">
              <a:extLst>
                <a:ext uri="{FF2B5EF4-FFF2-40B4-BE49-F238E27FC236}">
                  <a16:creationId xmlns:a16="http://schemas.microsoft.com/office/drawing/2014/main" id="{CBA81A5A-0AC2-3BC6-F868-D3C960663280}"/>
                </a:ext>
              </a:extLst>
            </p:cNvPr>
            <p:cNvSpPr/>
            <p:nvPr/>
          </p:nvSpPr>
          <p:spPr>
            <a:xfrm>
              <a:off x="6078537" y="1757823"/>
              <a:ext cx="434729" cy="622159"/>
            </a:xfrm>
            <a:custGeom>
              <a:avLst/>
              <a:gdLst>
                <a:gd name="connsiteX0" fmla="*/ 20498 w 99364"/>
                <a:gd name="connsiteY0" fmla="*/ 148293 h 148292"/>
                <a:gd name="connsiteX1" fmla="*/ 33356 w 99364"/>
                <a:gd name="connsiteY1" fmla="*/ 20495 h 148292"/>
                <a:gd name="connsiteX2" fmla="*/ 90838 w 99364"/>
                <a:gd name="connsiteY2" fmla="*/ 0 h 148292"/>
                <a:gd name="connsiteX3" fmla="*/ 99365 w 99364"/>
                <a:gd name="connsiteY3" fmla="*/ 389 h 148292"/>
              </a:gdLst>
              <a:ahLst/>
              <a:cxnLst>
                <a:cxn ang="0">
                  <a:pos x="connsiteX0" y="connsiteY0"/>
                </a:cxn>
                <a:cxn ang="0">
                  <a:pos x="connsiteX1" y="connsiteY1"/>
                </a:cxn>
                <a:cxn ang="0">
                  <a:pos x="connsiteX2" y="connsiteY2"/>
                </a:cxn>
                <a:cxn ang="0">
                  <a:pos x="connsiteX3" y="connsiteY3"/>
                </a:cxn>
              </a:cxnLst>
              <a:rect l="l" t="t" r="r" b="b"/>
              <a:pathLst>
                <a:path w="99364" h="148292">
                  <a:moveTo>
                    <a:pt x="20498" y="148293"/>
                  </a:moveTo>
                  <a:cubicBezTo>
                    <a:pt x="-11242" y="109451"/>
                    <a:pt x="-5485" y="52235"/>
                    <a:pt x="33356" y="20495"/>
                  </a:cubicBezTo>
                  <a:cubicBezTo>
                    <a:pt x="49579" y="7238"/>
                    <a:pt x="69887" y="-3"/>
                    <a:pt x="90838" y="0"/>
                  </a:cubicBezTo>
                  <a:cubicBezTo>
                    <a:pt x="93719" y="0"/>
                    <a:pt x="96553" y="137"/>
                    <a:pt x="99365" y="389"/>
                  </a:cubicBez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2" name="Freeform: Shape 68">
              <a:extLst>
                <a:ext uri="{FF2B5EF4-FFF2-40B4-BE49-F238E27FC236}">
                  <a16:creationId xmlns:a16="http://schemas.microsoft.com/office/drawing/2014/main" id="{991E27D3-8898-A3D3-C2C8-110890BD83D6}"/>
                </a:ext>
              </a:extLst>
            </p:cNvPr>
            <p:cNvSpPr/>
            <p:nvPr/>
          </p:nvSpPr>
          <p:spPr>
            <a:xfrm>
              <a:off x="6168219" y="1759455"/>
              <a:ext cx="705029" cy="760426"/>
            </a:xfrm>
            <a:custGeom>
              <a:avLst/>
              <a:gdLst>
                <a:gd name="connsiteX0" fmla="*/ 78867 w 161145"/>
                <a:gd name="connsiteY0" fmla="*/ 0 h 181248"/>
                <a:gd name="connsiteX1" fmla="*/ 160736 w 161145"/>
                <a:gd name="connsiteY1" fmla="*/ 98970 h 181248"/>
                <a:gd name="connsiteX2" fmla="*/ 61764 w 161145"/>
                <a:gd name="connsiteY2" fmla="*/ 180839 h 181248"/>
                <a:gd name="connsiteX3" fmla="*/ 0 w 161145"/>
                <a:gd name="connsiteY3" fmla="*/ 147904 h 181248"/>
              </a:gdLst>
              <a:ahLst/>
              <a:cxnLst>
                <a:cxn ang="0">
                  <a:pos x="connsiteX0" y="connsiteY0"/>
                </a:cxn>
                <a:cxn ang="0">
                  <a:pos x="connsiteX1" y="connsiteY1"/>
                </a:cxn>
                <a:cxn ang="0">
                  <a:pos x="connsiteX2" y="connsiteY2"/>
                </a:cxn>
                <a:cxn ang="0">
                  <a:pos x="connsiteX3" y="connsiteY3"/>
                </a:cxn>
              </a:cxnLst>
              <a:rect l="l" t="t" r="r" b="b"/>
              <a:pathLst>
                <a:path w="161145" h="181248">
                  <a:moveTo>
                    <a:pt x="78867" y="0"/>
                  </a:moveTo>
                  <a:cubicBezTo>
                    <a:pt x="128805" y="4723"/>
                    <a:pt x="165458" y="49034"/>
                    <a:pt x="160736" y="98970"/>
                  </a:cubicBezTo>
                  <a:cubicBezTo>
                    <a:pt x="156013" y="148908"/>
                    <a:pt x="111701" y="185561"/>
                    <a:pt x="61764" y="180839"/>
                  </a:cubicBezTo>
                  <a:cubicBezTo>
                    <a:pt x="37603" y="178553"/>
                    <a:pt x="15361" y="166693"/>
                    <a:pt x="0" y="147904"/>
                  </a:cubicBez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3" name="Freeform: Shape 69">
              <a:extLst>
                <a:ext uri="{FF2B5EF4-FFF2-40B4-BE49-F238E27FC236}">
                  <a16:creationId xmlns:a16="http://schemas.microsoft.com/office/drawing/2014/main" id="{10D824B5-DD86-32C6-1A5B-25755D82503A}"/>
                </a:ext>
              </a:extLst>
            </p:cNvPr>
            <p:cNvSpPr/>
            <p:nvPr/>
          </p:nvSpPr>
          <p:spPr>
            <a:xfrm>
              <a:off x="5913381" y="1595159"/>
              <a:ext cx="1125171" cy="1078978"/>
            </a:xfrm>
            <a:custGeom>
              <a:avLst/>
              <a:gdLst>
                <a:gd name="connsiteX0" fmla="*/ 257175 w 257175"/>
                <a:gd name="connsiteY0" fmla="*/ 128588 h 257175"/>
                <a:gd name="connsiteX1" fmla="*/ 128587 w 257175"/>
                <a:gd name="connsiteY1" fmla="*/ 257175 h 257175"/>
                <a:gd name="connsiteX2" fmla="*/ 0 w 257175"/>
                <a:gd name="connsiteY2" fmla="*/ 128588 h 257175"/>
                <a:gd name="connsiteX3" fmla="*/ 128587 w 257175"/>
                <a:gd name="connsiteY3" fmla="*/ 0 h 257175"/>
                <a:gd name="connsiteX4" fmla="*/ 257175 w 257175"/>
                <a:gd name="connsiteY4" fmla="*/ 128588 h 257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175" h="257175">
                  <a:moveTo>
                    <a:pt x="257175" y="128588"/>
                  </a:moveTo>
                  <a:cubicBezTo>
                    <a:pt x="257175" y="199604"/>
                    <a:pt x="199604" y="257175"/>
                    <a:pt x="128587" y="257175"/>
                  </a:cubicBezTo>
                  <a:cubicBezTo>
                    <a:pt x="57571" y="257175"/>
                    <a:pt x="0" y="199604"/>
                    <a:pt x="0" y="128588"/>
                  </a:cubicBezTo>
                  <a:cubicBezTo>
                    <a:pt x="0" y="57571"/>
                    <a:pt x="57571" y="0"/>
                    <a:pt x="128587" y="0"/>
                  </a:cubicBezTo>
                  <a:cubicBezTo>
                    <a:pt x="199604" y="0"/>
                    <a:pt x="257175" y="57571"/>
                    <a:pt x="257175" y="128588"/>
                  </a:cubicBezTo>
                  <a:close/>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4" name="Freeform: Shape 70">
              <a:extLst>
                <a:ext uri="{FF2B5EF4-FFF2-40B4-BE49-F238E27FC236}">
                  <a16:creationId xmlns:a16="http://schemas.microsoft.com/office/drawing/2014/main" id="{003CE6E7-CEF3-0065-884E-EA2C83E25F30}"/>
                </a:ext>
              </a:extLst>
            </p:cNvPr>
            <p:cNvSpPr/>
            <p:nvPr/>
          </p:nvSpPr>
          <p:spPr>
            <a:xfrm>
              <a:off x="5796771" y="1757919"/>
              <a:ext cx="1365479" cy="1031401"/>
            </a:xfrm>
            <a:custGeom>
              <a:avLst/>
              <a:gdLst>
                <a:gd name="connsiteX0" fmla="*/ 285542 w 312101"/>
                <a:gd name="connsiteY0" fmla="*/ 2720 h 245835"/>
                <a:gd name="connsiteX1" fmla="*/ 243101 w 312101"/>
                <a:gd name="connsiteY1" fmla="*/ 219278 h 245835"/>
                <a:gd name="connsiteX2" fmla="*/ 26542 w 312101"/>
                <a:gd name="connsiteY2" fmla="*/ 176836 h 245835"/>
                <a:gd name="connsiteX3" fmla="*/ 28413 w 312101"/>
                <a:gd name="connsiteY3" fmla="*/ 0 h 245835"/>
              </a:gdLst>
              <a:ahLst/>
              <a:cxnLst>
                <a:cxn ang="0">
                  <a:pos x="connsiteX0" y="connsiteY0"/>
                </a:cxn>
                <a:cxn ang="0">
                  <a:pos x="connsiteX1" y="connsiteY1"/>
                </a:cxn>
                <a:cxn ang="0">
                  <a:pos x="connsiteX2" y="connsiteY2"/>
                </a:cxn>
                <a:cxn ang="0">
                  <a:pos x="connsiteX3" y="connsiteY3"/>
                </a:cxn>
              </a:cxnLst>
              <a:rect l="l" t="t" r="r" b="b"/>
              <a:pathLst>
                <a:path w="312101" h="245835">
                  <a:moveTo>
                    <a:pt x="285542" y="2720"/>
                  </a:moveTo>
                  <a:cubicBezTo>
                    <a:pt x="333624" y="74241"/>
                    <a:pt x="314620" y="171196"/>
                    <a:pt x="243101" y="219278"/>
                  </a:cubicBezTo>
                  <a:cubicBezTo>
                    <a:pt x="171579" y="267357"/>
                    <a:pt x="74623" y="248356"/>
                    <a:pt x="26542" y="176836"/>
                  </a:cubicBezTo>
                  <a:cubicBezTo>
                    <a:pt x="-9520" y="123193"/>
                    <a:pt x="-8776" y="52868"/>
                    <a:pt x="28413" y="0"/>
                  </a:cubicBezTo>
                </a:path>
              </a:pathLst>
            </a:custGeom>
            <a:noFill/>
            <a:ln w="19050" cap="flat">
              <a:gradFill flip="none" rotWithShape="1">
                <a:gsLst>
                  <a:gs pos="0">
                    <a:schemeClr val="accent1"/>
                  </a:gs>
                  <a:gs pos="100000">
                    <a:schemeClr val="accent4"/>
                  </a:gs>
                </a:gsLst>
                <a:lin ang="18900000" scaled="1"/>
                <a:tileRect/>
              </a:gradFill>
              <a:prstDash val="dash"/>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55" name="Freeform: Shape 71">
              <a:extLst>
                <a:ext uri="{FF2B5EF4-FFF2-40B4-BE49-F238E27FC236}">
                  <a16:creationId xmlns:a16="http://schemas.microsoft.com/office/drawing/2014/main" id="{7F7C11EE-75ED-F11E-E44C-21008B7701A6}"/>
                </a:ext>
              </a:extLst>
            </p:cNvPr>
            <p:cNvSpPr/>
            <p:nvPr/>
          </p:nvSpPr>
          <p:spPr>
            <a:xfrm>
              <a:off x="6360050" y="1432596"/>
              <a:ext cx="231733" cy="174554"/>
            </a:xfrm>
            <a:custGeom>
              <a:avLst/>
              <a:gdLst>
                <a:gd name="connsiteX0" fmla="*/ 52967 w 52966"/>
                <a:gd name="connsiteY0" fmla="*/ 41605 h 41605"/>
                <a:gd name="connsiteX1" fmla="*/ 52967 w 52966"/>
                <a:gd name="connsiteY1" fmla="*/ 0 h 41605"/>
                <a:gd name="connsiteX2" fmla="*/ 0 w 52966"/>
                <a:gd name="connsiteY2" fmla="*/ 0 h 41605"/>
                <a:gd name="connsiteX3" fmla="*/ 0 w 52966"/>
                <a:gd name="connsiteY3" fmla="*/ 41605 h 41605"/>
              </a:gdLst>
              <a:ahLst/>
              <a:cxnLst>
                <a:cxn ang="0">
                  <a:pos x="connsiteX0" y="connsiteY0"/>
                </a:cxn>
                <a:cxn ang="0">
                  <a:pos x="connsiteX1" y="connsiteY1"/>
                </a:cxn>
                <a:cxn ang="0">
                  <a:pos x="connsiteX2" y="connsiteY2"/>
                </a:cxn>
                <a:cxn ang="0">
                  <a:pos x="connsiteX3" y="connsiteY3"/>
                </a:cxn>
              </a:cxnLst>
              <a:rect l="l" t="t" r="r" b="b"/>
              <a:pathLst>
                <a:path w="52966" h="41605">
                  <a:moveTo>
                    <a:pt x="52967" y="41605"/>
                  </a:moveTo>
                  <a:lnTo>
                    <a:pt x="52967" y="0"/>
                  </a:lnTo>
                  <a:lnTo>
                    <a:pt x="0" y="0"/>
                  </a:lnTo>
                  <a:lnTo>
                    <a:pt x="0" y="41605"/>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6" name="Freeform: Shape 72">
              <a:extLst>
                <a:ext uri="{FF2B5EF4-FFF2-40B4-BE49-F238E27FC236}">
                  <a16:creationId xmlns:a16="http://schemas.microsoft.com/office/drawing/2014/main" id="{61428A28-893F-9B48-5563-85D01EB7A6E3}"/>
                </a:ext>
              </a:extLst>
            </p:cNvPr>
            <p:cNvSpPr/>
            <p:nvPr/>
          </p:nvSpPr>
          <p:spPr>
            <a:xfrm>
              <a:off x="6790413" y="1566579"/>
              <a:ext cx="211432" cy="199202"/>
            </a:xfrm>
            <a:custGeom>
              <a:avLst/>
              <a:gdLst>
                <a:gd name="connsiteX0" fmla="*/ 22220 w 48326"/>
                <a:gd name="connsiteY0" fmla="*/ 47480 h 47480"/>
                <a:gd name="connsiteX1" fmla="*/ 48326 w 48326"/>
                <a:gd name="connsiteY1" fmla="*/ 21397 h 47480"/>
                <a:gd name="connsiteX2" fmla="*/ 26929 w 48326"/>
                <a:gd name="connsiteY2" fmla="*/ 0 h 47480"/>
                <a:gd name="connsiteX3" fmla="*/ 0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2220" y="47480"/>
                  </a:moveTo>
                  <a:lnTo>
                    <a:pt x="48326" y="21397"/>
                  </a:lnTo>
                  <a:lnTo>
                    <a:pt x="26929" y="0"/>
                  </a:lnTo>
                  <a:lnTo>
                    <a:pt x="0"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7" name="Freeform: Shape 73">
              <a:extLst>
                <a:ext uri="{FF2B5EF4-FFF2-40B4-BE49-F238E27FC236}">
                  <a16:creationId xmlns:a16="http://schemas.microsoft.com/office/drawing/2014/main" id="{53BD0F1E-5BAD-ABB5-241B-39CCA8BE7036}"/>
                </a:ext>
              </a:extLst>
            </p:cNvPr>
            <p:cNvSpPr/>
            <p:nvPr/>
          </p:nvSpPr>
          <p:spPr>
            <a:xfrm>
              <a:off x="5950088" y="1566579"/>
              <a:ext cx="211432" cy="199202"/>
            </a:xfrm>
            <a:custGeom>
              <a:avLst/>
              <a:gdLst>
                <a:gd name="connsiteX0" fmla="*/ 26083 w 48326"/>
                <a:gd name="connsiteY0" fmla="*/ 47480 h 47480"/>
                <a:gd name="connsiteX1" fmla="*/ 0 w 48326"/>
                <a:gd name="connsiteY1" fmla="*/ 21397 h 47480"/>
                <a:gd name="connsiteX2" fmla="*/ 21397 w 48326"/>
                <a:gd name="connsiteY2" fmla="*/ 0 h 47480"/>
                <a:gd name="connsiteX3" fmla="*/ 48326 w 48326"/>
                <a:gd name="connsiteY3" fmla="*/ 26929 h 47480"/>
              </a:gdLst>
              <a:ahLst/>
              <a:cxnLst>
                <a:cxn ang="0">
                  <a:pos x="connsiteX0" y="connsiteY0"/>
                </a:cxn>
                <a:cxn ang="0">
                  <a:pos x="connsiteX1" y="connsiteY1"/>
                </a:cxn>
                <a:cxn ang="0">
                  <a:pos x="connsiteX2" y="connsiteY2"/>
                </a:cxn>
                <a:cxn ang="0">
                  <a:pos x="connsiteX3" y="connsiteY3"/>
                </a:cxn>
              </a:cxnLst>
              <a:rect l="l" t="t" r="r" b="b"/>
              <a:pathLst>
                <a:path w="48326" h="47480">
                  <a:moveTo>
                    <a:pt x="26083" y="47480"/>
                  </a:moveTo>
                  <a:lnTo>
                    <a:pt x="0" y="21397"/>
                  </a:lnTo>
                  <a:lnTo>
                    <a:pt x="21397" y="0"/>
                  </a:lnTo>
                  <a:lnTo>
                    <a:pt x="48326" y="26929"/>
                  </a:lnTo>
                </a:path>
              </a:pathLst>
            </a:custGeom>
            <a:noFill/>
            <a:ln w="19050" cap="flat">
              <a:solidFill>
                <a:srgbClr val="EFF5ED"/>
              </a:solidFill>
              <a:prstDash val="solid"/>
              <a:round/>
            </a:ln>
          </p:spPr>
          <p:txBody>
            <a:bodyPr rtlCol="0" anchor="ctr"/>
            <a:lstStyle/>
            <a:p>
              <a:pPr marL="0" marR="0" lvl="0" indent="0" algn="l" defTabSz="609585"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Amazon Ember"/>
                <a:ea typeface="+mn-ea"/>
                <a:cs typeface="+mn-cs"/>
              </a:endParaRPr>
            </a:p>
          </p:txBody>
        </p:sp>
        <p:sp>
          <p:nvSpPr>
            <p:cNvPr id="58" name="Freeform: Shape 74">
              <a:extLst>
                <a:ext uri="{FF2B5EF4-FFF2-40B4-BE49-F238E27FC236}">
                  <a16:creationId xmlns:a16="http://schemas.microsoft.com/office/drawing/2014/main" id="{15577314-BEB6-9977-F4E1-513E3B34E493}"/>
                </a:ext>
              </a:extLst>
            </p:cNvPr>
            <p:cNvSpPr/>
            <p:nvPr/>
          </p:nvSpPr>
          <p:spPr>
            <a:xfrm>
              <a:off x="6172222" y="1749381"/>
              <a:ext cx="340450" cy="627437"/>
            </a:xfrm>
            <a:custGeom>
              <a:avLst/>
              <a:gdLst>
                <a:gd name="connsiteX0" fmla="*/ 0 w 77815"/>
                <a:gd name="connsiteY0" fmla="*/ 149550 h 149550"/>
                <a:gd name="connsiteX1" fmla="*/ 77815 w 77815"/>
                <a:gd name="connsiteY1" fmla="*/ 92286 h 149550"/>
                <a:gd name="connsiteX2" fmla="*/ 77815 w 77815"/>
                <a:gd name="connsiteY2" fmla="*/ 0 h 149550"/>
              </a:gdLst>
              <a:ahLst/>
              <a:cxnLst>
                <a:cxn ang="0">
                  <a:pos x="connsiteX0" y="connsiteY0"/>
                </a:cxn>
                <a:cxn ang="0">
                  <a:pos x="connsiteX1" y="connsiteY1"/>
                </a:cxn>
                <a:cxn ang="0">
                  <a:pos x="connsiteX2" y="connsiteY2"/>
                </a:cxn>
              </a:cxnLst>
              <a:rect l="l" t="t" r="r" b="b"/>
              <a:pathLst>
                <a:path w="77815" h="149550">
                  <a:moveTo>
                    <a:pt x="0" y="149550"/>
                  </a:moveTo>
                  <a:lnTo>
                    <a:pt x="77815" y="92286"/>
                  </a:lnTo>
                  <a:lnTo>
                    <a:pt x="77815" y="0"/>
                  </a:lnTo>
                </a:path>
              </a:pathLst>
            </a:custGeom>
            <a:noFill/>
            <a:ln w="19050" cap="flat">
              <a:gradFill flip="none" rotWithShape="1">
                <a:gsLst>
                  <a:gs pos="0">
                    <a:schemeClr val="accent1"/>
                  </a:gs>
                  <a:gs pos="100000">
                    <a:schemeClr val="accent4"/>
                  </a:gs>
                </a:gsLst>
                <a:lin ang="18900000" scaled="1"/>
                <a:tileRect/>
              </a:gra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
        <p:nvSpPr>
          <p:cNvPr id="15" name="Shape 3">
            <a:extLst>
              <a:ext uri="{FF2B5EF4-FFF2-40B4-BE49-F238E27FC236}">
                <a16:creationId xmlns:a16="http://schemas.microsoft.com/office/drawing/2014/main" id="{9E564AD8-BF1B-58D0-8981-7E4CEF006DFF}"/>
              </a:ext>
            </a:extLst>
          </p:cNvPr>
          <p:cNvSpPr/>
          <p:nvPr/>
        </p:nvSpPr>
        <p:spPr>
          <a:xfrm>
            <a:off x="457200" y="1691640"/>
            <a:ext cx="5486400" cy="1737360"/>
          </a:xfrm>
          <a:prstGeom prst="roundRect">
            <a:avLst>
              <a:gd name="adj" fmla="val 4211"/>
            </a:avLst>
          </a:prstGeom>
          <a:noFill/>
          <a:ln w="1905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28" name="Shape 4">
            <a:extLst>
              <a:ext uri="{FF2B5EF4-FFF2-40B4-BE49-F238E27FC236}">
                <a16:creationId xmlns:a16="http://schemas.microsoft.com/office/drawing/2014/main" id="{A4D47298-D65D-26D1-A597-1BBC6423411E}"/>
              </a:ext>
            </a:extLst>
          </p:cNvPr>
          <p:cNvSpPr/>
          <p:nvPr/>
        </p:nvSpPr>
        <p:spPr>
          <a:xfrm>
            <a:off x="822960" y="2194560"/>
            <a:ext cx="731520" cy="731520"/>
          </a:xfrm>
          <a:prstGeom prst="ellipse">
            <a:avLst/>
          </a:prstGeom>
          <a:solidFill>
            <a:srgbClr val="FF9900"/>
          </a:solidFill>
          <a:ln w="12700">
            <a:solidFill>
              <a:srgbClr val="FF9900"/>
            </a:solidFill>
            <a:prstDash val="solid"/>
          </a:ln>
        </p:spPr>
        <p:txBody>
          <a:bodyPr/>
          <a:lstStyle/>
          <a:p>
            <a:endParaRPr/>
          </a:p>
        </p:txBody>
      </p:sp>
      <p:sp>
        <p:nvSpPr>
          <p:cNvPr id="64" name="Text 5">
            <a:extLst>
              <a:ext uri="{FF2B5EF4-FFF2-40B4-BE49-F238E27FC236}">
                <a16:creationId xmlns:a16="http://schemas.microsoft.com/office/drawing/2014/main" id="{711E4842-FEDD-C758-E852-CC9BB28FD305}"/>
              </a:ext>
            </a:extLst>
          </p:cNvPr>
          <p:cNvSpPr/>
          <p:nvPr/>
        </p:nvSpPr>
        <p:spPr>
          <a:xfrm>
            <a:off x="1783080" y="2148840"/>
            <a:ext cx="3931920" cy="502920"/>
          </a:xfrm>
          <a:prstGeom prst="rect">
            <a:avLst/>
          </a:prstGeom>
          <a:noFill/>
          <a:ln/>
        </p:spPr>
        <p:txBody>
          <a:bodyPr wrap="square" rtlCol="0" anchor="ctr"/>
          <a:lstStyle/>
          <a:p>
            <a:pPr marL="0" indent="0">
              <a:buNone/>
            </a:pPr>
            <a:r>
              <a:rPr lang="en-US" sz="2000" b="1" dirty="0">
                <a:solidFill>
                  <a:srgbClr val="FFFFFF"/>
                </a:solidFill>
                <a:latin typeface="Amazon Ember Display" pitchFamily="34" charset="0"/>
                <a:ea typeface="Arial" pitchFamily="34" charset="-122"/>
                <a:cs typeface="Arial" pitchFamily="34" charset="-120"/>
              </a:rPr>
              <a:t>Output quality</a:t>
            </a:r>
            <a:endParaRPr lang="en-US" sz="2000" dirty="0"/>
          </a:p>
        </p:txBody>
      </p:sp>
      <p:sp>
        <p:nvSpPr>
          <p:cNvPr id="65" name="Text 6">
            <a:extLst>
              <a:ext uri="{FF2B5EF4-FFF2-40B4-BE49-F238E27FC236}">
                <a16:creationId xmlns:a16="http://schemas.microsoft.com/office/drawing/2014/main" id="{9685F54A-D5FC-2539-4972-10C8DFC62869}"/>
              </a:ext>
            </a:extLst>
          </p:cNvPr>
          <p:cNvSpPr/>
          <p:nvPr/>
        </p:nvSpPr>
        <p:spPr>
          <a:xfrm>
            <a:off x="1783080" y="2651760"/>
            <a:ext cx="3931920" cy="457200"/>
          </a:xfrm>
          <a:prstGeom prst="rect">
            <a:avLst/>
          </a:prstGeom>
          <a:noFill/>
          <a:ln/>
        </p:spPr>
        <p:txBody>
          <a:bodyPr wrap="square" rtlCol="0" anchor="ctr"/>
          <a:lstStyle/>
          <a:p>
            <a:pPr marL="0" indent="0">
              <a:buNone/>
            </a:pPr>
            <a:r>
              <a:rPr lang="en-US" sz="1400" dirty="0">
                <a:solidFill>
                  <a:srgbClr val="C6C6CD"/>
                </a:solidFill>
                <a:latin typeface="Amazon Ember" pitchFamily="34" charset="0"/>
                <a:ea typeface="Arial" pitchFamily="34" charset="-122"/>
                <a:cs typeface="Arial" pitchFamily="34" charset="-120"/>
              </a:rPr>
              <a:t>Validated through evals.</a:t>
            </a:r>
            <a:endParaRPr lang="en-US" sz="1400" dirty="0"/>
          </a:p>
        </p:txBody>
      </p:sp>
      <p:sp>
        <p:nvSpPr>
          <p:cNvPr id="66" name="Shape 7">
            <a:extLst>
              <a:ext uri="{FF2B5EF4-FFF2-40B4-BE49-F238E27FC236}">
                <a16:creationId xmlns:a16="http://schemas.microsoft.com/office/drawing/2014/main" id="{0CA40707-DAD0-238F-79E8-3761F46B0425}"/>
              </a:ext>
            </a:extLst>
          </p:cNvPr>
          <p:cNvSpPr/>
          <p:nvPr/>
        </p:nvSpPr>
        <p:spPr>
          <a:xfrm>
            <a:off x="6245352" y="1691640"/>
            <a:ext cx="5486400" cy="1737360"/>
          </a:xfrm>
          <a:prstGeom prst="roundRect">
            <a:avLst>
              <a:gd name="adj" fmla="val 4211"/>
            </a:avLst>
          </a:prstGeom>
          <a:noFill/>
          <a:ln w="19050">
            <a:solidFill>
              <a:srgbClr val="FF9900"/>
            </a:solidFill>
            <a:prstDash val="solid"/>
          </a:ln>
          <a:effectLst>
            <a:outerShdw blurRad="88900" dist="38100" dir="5400000" algn="bl" rotWithShape="0">
              <a:srgbClr val="8895A7">
                <a:alpha val="28000"/>
              </a:srgbClr>
            </a:outerShdw>
          </a:effectLst>
        </p:spPr>
        <p:txBody>
          <a:bodyPr/>
          <a:lstStyle/>
          <a:p>
            <a:endParaRPr/>
          </a:p>
        </p:txBody>
      </p:sp>
      <p:sp>
        <p:nvSpPr>
          <p:cNvPr id="67" name="Shape 8">
            <a:extLst>
              <a:ext uri="{FF2B5EF4-FFF2-40B4-BE49-F238E27FC236}">
                <a16:creationId xmlns:a16="http://schemas.microsoft.com/office/drawing/2014/main" id="{E74F1FB8-4735-4CCB-23FC-F4CC3F9F8FD4}"/>
              </a:ext>
            </a:extLst>
          </p:cNvPr>
          <p:cNvSpPr/>
          <p:nvPr/>
        </p:nvSpPr>
        <p:spPr>
          <a:xfrm>
            <a:off x="6611112" y="2194560"/>
            <a:ext cx="731520" cy="731520"/>
          </a:xfrm>
          <a:prstGeom prst="ellipse">
            <a:avLst/>
          </a:prstGeom>
          <a:solidFill>
            <a:srgbClr val="FF9900"/>
          </a:solidFill>
          <a:ln w="12700">
            <a:solidFill>
              <a:srgbClr val="1D8102"/>
            </a:solidFill>
            <a:prstDash val="solid"/>
          </a:ln>
        </p:spPr>
        <p:txBody>
          <a:bodyPr/>
          <a:lstStyle/>
          <a:p>
            <a:endParaRPr/>
          </a:p>
        </p:txBody>
      </p:sp>
      <p:sp>
        <p:nvSpPr>
          <p:cNvPr id="68" name="Text 9">
            <a:extLst>
              <a:ext uri="{FF2B5EF4-FFF2-40B4-BE49-F238E27FC236}">
                <a16:creationId xmlns:a16="http://schemas.microsoft.com/office/drawing/2014/main" id="{CD496A0C-5F83-1606-A076-C61895EC9679}"/>
              </a:ext>
            </a:extLst>
          </p:cNvPr>
          <p:cNvSpPr/>
          <p:nvPr/>
        </p:nvSpPr>
        <p:spPr>
          <a:xfrm>
            <a:off x="7571232" y="2148840"/>
            <a:ext cx="3931920" cy="502920"/>
          </a:xfrm>
          <a:prstGeom prst="rect">
            <a:avLst/>
          </a:prstGeom>
          <a:noFill/>
          <a:ln/>
        </p:spPr>
        <p:txBody>
          <a:bodyPr wrap="square" rtlCol="0" anchor="ctr"/>
          <a:lstStyle/>
          <a:p>
            <a:pPr marL="0" indent="0">
              <a:buNone/>
            </a:pPr>
            <a:r>
              <a:rPr lang="en-US" sz="2000" b="1" dirty="0">
                <a:solidFill>
                  <a:srgbClr val="FFFFFF"/>
                </a:solidFill>
                <a:latin typeface="Amazon Ember Display" pitchFamily="34" charset="0"/>
                <a:ea typeface="Arial" pitchFamily="34" charset="-122"/>
                <a:cs typeface="Arial" pitchFamily="34" charset="-120"/>
              </a:rPr>
              <a:t>System reliability</a:t>
            </a:r>
            <a:endParaRPr lang="en-US" sz="2000" dirty="0"/>
          </a:p>
        </p:txBody>
      </p:sp>
      <p:sp>
        <p:nvSpPr>
          <p:cNvPr id="69" name="Text 10">
            <a:extLst>
              <a:ext uri="{FF2B5EF4-FFF2-40B4-BE49-F238E27FC236}">
                <a16:creationId xmlns:a16="http://schemas.microsoft.com/office/drawing/2014/main" id="{ABECD63D-4BAC-2E58-DE7D-49F58B116BD9}"/>
              </a:ext>
            </a:extLst>
          </p:cNvPr>
          <p:cNvSpPr/>
          <p:nvPr/>
        </p:nvSpPr>
        <p:spPr>
          <a:xfrm>
            <a:off x="7571232" y="2651760"/>
            <a:ext cx="3931920" cy="457200"/>
          </a:xfrm>
          <a:prstGeom prst="rect">
            <a:avLst/>
          </a:prstGeom>
          <a:noFill/>
          <a:ln/>
        </p:spPr>
        <p:txBody>
          <a:bodyPr wrap="square" rtlCol="0" anchor="ctr"/>
          <a:lstStyle/>
          <a:p>
            <a:pPr marL="0" indent="0">
              <a:buNone/>
            </a:pPr>
            <a:r>
              <a:rPr lang="en-US" sz="1400" dirty="0">
                <a:solidFill>
                  <a:srgbClr val="C6C6CD"/>
                </a:solidFill>
                <a:latin typeface="Amazon Ember" pitchFamily="34" charset="0"/>
                <a:ea typeface="Arial" pitchFamily="34" charset="-122"/>
                <a:cs typeface="Arial" pitchFamily="34" charset="-120"/>
              </a:rPr>
              <a:t>Retries, fallbacks, circuit breakers.</a:t>
            </a:r>
            <a:endParaRPr lang="en-US" sz="1400" dirty="0"/>
          </a:p>
        </p:txBody>
      </p:sp>
      <p:sp>
        <p:nvSpPr>
          <p:cNvPr id="70" name="Shape 11">
            <a:extLst>
              <a:ext uri="{FF2B5EF4-FFF2-40B4-BE49-F238E27FC236}">
                <a16:creationId xmlns:a16="http://schemas.microsoft.com/office/drawing/2014/main" id="{174863DA-0678-C2A7-DE22-9DDCA6937891}"/>
              </a:ext>
            </a:extLst>
          </p:cNvPr>
          <p:cNvSpPr/>
          <p:nvPr/>
        </p:nvSpPr>
        <p:spPr>
          <a:xfrm>
            <a:off x="457200" y="3721608"/>
            <a:ext cx="11274552" cy="2148840"/>
          </a:xfrm>
          <a:prstGeom prst="roundRect">
            <a:avLst>
              <a:gd name="adj" fmla="val 3404"/>
            </a:avLst>
          </a:prstGeom>
          <a:solidFill>
            <a:srgbClr val="161D26"/>
          </a:solidFill>
          <a:ln w="12700">
            <a:solidFill>
              <a:srgbClr val="161D26"/>
            </a:solidFill>
            <a:prstDash val="solid"/>
          </a:ln>
        </p:spPr>
        <p:txBody>
          <a:bodyPr/>
          <a:lstStyle/>
          <a:p>
            <a:endParaRPr/>
          </a:p>
        </p:txBody>
      </p:sp>
      <p:sp>
        <p:nvSpPr>
          <p:cNvPr id="71" name="Text 12">
            <a:extLst>
              <a:ext uri="{FF2B5EF4-FFF2-40B4-BE49-F238E27FC236}">
                <a16:creationId xmlns:a16="http://schemas.microsoft.com/office/drawing/2014/main" id="{E5DE46EE-99D5-328E-8485-EDE43194EDE1}"/>
              </a:ext>
            </a:extLst>
          </p:cNvPr>
          <p:cNvSpPr/>
          <p:nvPr/>
        </p:nvSpPr>
        <p:spPr>
          <a:xfrm>
            <a:off x="777240" y="3977640"/>
            <a:ext cx="10058400" cy="365760"/>
          </a:xfrm>
          <a:prstGeom prst="rect">
            <a:avLst/>
          </a:prstGeom>
          <a:noFill/>
          <a:ln/>
        </p:spPr>
        <p:txBody>
          <a:bodyPr wrap="square" rtlCol="0" anchor="ctr"/>
          <a:lstStyle/>
          <a:p>
            <a:pPr marL="0" indent="0">
              <a:buNone/>
            </a:pPr>
            <a:r>
              <a:rPr lang="en-US" sz="1400" b="1" kern="0" spc="200" dirty="0">
                <a:solidFill>
                  <a:srgbClr val="FF9900"/>
                </a:solidFill>
                <a:latin typeface="Amazon Ember" pitchFamily="34" charset="0"/>
                <a:ea typeface="Arial" pitchFamily="34" charset="-122"/>
                <a:cs typeface="Arial" pitchFamily="34" charset="-120"/>
              </a:rPr>
              <a:t>THE PATH TO PRODUCTION</a:t>
            </a:r>
            <a:endParaRPr lang="en-US" sz="1400" dirty="0"/>
          </a:p>
        </p:txBody>
      </p:sp>
      <p:sp>
        <p:nvSpPr>
          <p:cNvPr id="72" name="Shape 13">
            <a:extLst>
              <a:ext uri="{FF2B5EF4-FFF2-40B4-BE49-F238E27FC236}">
                <a16:creationId xmlns:a16="http://schemas.microsoft.com/office/drawing/2014/main" id="{2E59F170-6A6E-D7D7-D0C3-BF6D7FE8B044}"/>
              </a:ext>
            </a:extLst>
          </p:cNvPr>
          <p:cNvSpPr/>
          <p:nvPr/>
        </p:nvSpPr>
        <p:spPr>
          <a:xfrm>
            <a:off x="822960" y="4498848"/>
            <a:ext cx="457200" cy="457200"/>
          </a:xfrm>
          <a:prstGeom prst="ellipse">
            <a:avLst/>
          </a:prstGeom>
          <a:solidFill>
            <a:srgbClr val="FF9900"/>
          </a:solidFill>
          <a:ln w="12700">
            <a:solidFill>
              <a:srgbClr val="FF9900"/>
            </a:solidFill>
            <a:prstDash val="solid"/>
          </a:ln>
        </p:spPr>
        <p:txBody>
          <a:bodyPr/>
          <a:lstStyle/>
          <a:p>
            <a:endParaRPr/>
          </a:p>
        </p:txBody>
      </p:sp>
      <p:sp>
        <p:nvSpPr>
          <p:cNvPr id="73" name="Text 14">
            <a:extLst>
              <a:ext uri="{FF2B5EF4-FFF2-40B4-BE49-F238E27FC236}">
                <a16:creationId xmlns:a16="http://schemas.microsoft.com/office/drawing/2014/main" id="{71599EF3-8D0A-7329-F5B0-BA9E0F032806}"/>
              </a:ext>
            </a:extLst>
          </p:cNvPr>
          <p:cNvSpPr/>
          <p:nvPr/>
        </p:nvSpPr>
        <p:spPr>
          <a:xfrm>
            <a:off x="822960" y="4498848"/>
            <a:ext cx="457200" cy="457200"/>
          </a:xfrm>
          <a:prstGeom prst="rect">
            <a:avLst/>
          </a:prstGeom>
          <a:noFill/>
          <a:ln/>
        </p:spPr>
        <p:txBody>
          <a:bodyPr wrap="square" rtlCol="0" anchor="ctr"/>
          <a:lstStyle/>
          <a:p>
            <a:pPr marL="0" indent="0" algn="ctr">
              <a:buNone/>
            </a:pPr>
            <a:r>
              <a:rPr lang="en-US" sz="1700" b="1" dirty="0">
                <a:solidFill>
                  <a:srgbClr val="FFFFFF"/>
                </a:solidFill>
                <a:latin typeface="Amazon Ember" pitchFamily="34" charset="0"/>
                <a:ea typeface="Arial" pitchFamily="34" charset="-122"/>
                <a:cs typeface="Arial" pitchFamily="34" charset="-120"/>
              </a:rPr>
              <a:t>1</a:t>
            </a:r>
            <a:endParaRPr lang="en-US" sz="1700" dirty="0"/>
          </a:p>
        </p:txBody>
      </p:sp>
      <p:sp>
        <p:nvSpPr>
          <p:cNvPr id="74" name="Text 15">
            <a:extLst>
              <a:ext uri="{FF2B5EF4-FFF2-40B4-BE49-F238E27FC236}">
                <a16:creationId xmlns:a16="http://schemas.microsoft.com/office/drawing/2014/main" id="{3FDD4858-150D-1101-4C02-D24D61EB308B}"/>
              </a:ext>
            </a:extLst>
          </p:cNvPr>
          <p:cNvSpPr/>
          <p:nvPr/>
        </p:nvSpPr>
        <p:spPr>
          <a:xfrm>
            <a:off x="1417320" y="4453128"/>
            <a:ext cx="4572000" cy="548640"/>
          </a:xfrm>
          <a:prstGeom prst="rect">
            <a:avLst/>
          </a:prstGeom>
          <a:noFill/>
          <a:ln/>
        </p:spPr>
        <p:txBody>
          <a:bodyPr wrap="square" rtlCol="0" anchor="ctr"/>
          <a:lstStyle/>
          <a:p>
            <a:pPr marL="0" indent="0">
              <a:buNone/>
            </a:pPr>
            <a:r>
              <a:rPr lang="en-US" sz="1350" dirty="0">
                <a:solidFill>
                  <a:srgbClr val="E6EBF0"/>
                </a:solidFill>
                <a:latin typeface="Amazon Ember" pitchFamily="34" charset="0"/>
                <a:ea typeface="Arial" pitchFamily="34" charset="-122"/>
                <a:cs typeface="Arial" pitchFamily="34" charset="-120"/>
              </a:rPr>
              <a:t>Define success and build the eval suite first</a:t>
            </a:r>
            <a:endParaRPr lang="en-US" sz="1350" dirty="0"/>
          </a:p>
        </p:txBody>
      </p:sp>
      <p:sp>
        <p:nvSpPr>
          <p:cNvPr id="75" name="Shape 16">
            <a:extLst>
              <a:ext uri="{FF2B5EF4-FFF2-40B4-BE49-F238E27FC236}">
                <a16:creationId xmlns:a16="http://schemas.microsoft.com/office/drawing/2014/main" id="{1F874877-17E0-8A73-4FC6-75B92423FF5B}"/>
              </a:ext>
            </a:extLst>
          </p:cNvPr>
          <p:cNvSpPr/>
          <p:nvPr/>
        </p:nvSpPr>
        <p:spPr>
          <a:xfrm>
            <a:off x="6309360" y="4498848"/>
            <a:ext cx="457200" cy="457200"/>
          </a:xfrm>
          <a:prstGeom prst="ellipse">
            <a:avLst/>
          </a:prstGeom>
          <a:solidFill>
            <a:srgbClr val="FF9900"/>
          </a:solidFill>
          <a:ln w="12700">
            <a:solidFill>
              <a:srgbClr val="FF9900"/>
            </a:solidFill>
            <a:prstDash val="solid"/>
          </a:ln>
        </p:spPr>
        <p:txBody>
          <a:bodyPr/>
          <a:lstStyle/>
          <a:p>
            <a:endParaRPr/>
          </a:p>
        </p:txBody>
      </p:sp>
      <p:sp>
        <p:nvSpPr>
          <p:cNvPr id="76" name="Text 17">
            <a:extLst>
              <a:ext uri="{FF2B5EF4-FFF2-40B4-BE49-F238E27FC236}">
                <a16:creationId xmlns:a16="http://schemas.microsoft.com/office/drawing/2014/main" id="{FA7712CC-E9CC-F9EB-BC6F-120EE4406652}"/>
              </a:ext>
            </a:extLst>
          </p:cNvPr>
          <p:cNvSpPr/>
          <p:nvPr/>
        </p:nvSpPr>
        <p:spPr>
          <a:xfrm>
            <a:off x="6309360" y="4498848"/>
            <a:ext cx="457200" cy="457200"/>
          </a:xfrm>
          <a:prstGeom prst="rect">
            <a:avLst/>
          </a:prstGeom>
          <a:noFill/>
          <a:ln/>
        </p:spPr>
        <p:txBody>
          <a:bodyPr wrap="square" rtlCol="0" anchor="ctr"/>
          <a:lstStyle/>
          <a:p>
            <a:pPr marL="0" indent="0" algn="ctr">
              <a:buNone/>
            </a:pPr>
            <a:r>
              <a:rPr lang="en-US" sz="1700" b="1" dirty="0">
                <a:solidFill>
                  <a:srgbClr val="FFFFFF"/>
                </a:solidFill>
                <a:latin typeface="Amazon Ember" pitchFamily="34" charset="0"/>
                <a:ea typeface="Arial" pitchFamily="34" charset="-122"/>
                <a:cs typeface="Arial" pitchFamily="34" charset="-120"/>
              </a:rPr>
              <a:t>2</a:t>
            </a:r>
            <a:endParaRPr lang="en-US" sz="1700" dirty="0"/>
          </a:p>
        </p:txBody>
      </p:sp>
      <p:sp>
        <p:nvSpPr>
          <p:cNvPr id="77" name="Text 18">
            <a:extLst>
              <a:ext uri="{FF2B5EF4-FFF2-40B4-BE49-F238E27FC236}">
                <a16:creationId xmlns:a16="http://schemas.microsoft.com/office/drawing/2014/main" id="{894BFA78-29D0-2B14-DF5F-AC32890D1E34}"/>
              </a:ext>
            </a:extLst>
          </p:cNvPr>
          <p:cNvSpPr/>
          <p:nvPr/>
        </p:nvSpPr>
        <p:spPr>
          <a:xfrm>
            <a:off x="6903720" y="4453128"/>
            <a:ext cx="4572000" cy="548640"/>
          </a:xfrm>
          <a:prstGeom prst="rect">
            <a:avLst/>
          </a:prstGeom>
          <a:noFill/>
          <a:ln/>
        </p:spPr>
        <p:txBody>
          <a:bodyPr wrap="square" rtlCol="0" anchor="ctr"/>
          <a:lstStyle/>
          <a:p>
            <a:pPr marL="0" indent="0">
              <a:buNone/>
            </a:pPr>
            <a:r>
              <a:rPr lang="en-US" sz="1350" dirty="0">
                <a:solidFill>
                  <a:srgbClr val="E6EBF0"/>
                </a:solidFill>
                <a:latin typeface="Amazon Ember" pitchFamily="34" charset="0"/>
                <a:ea typeface="Arial" pitchFamily="34" charset="-122"/>
                <a:cs typeface="Arial" pitchFamily="34" charset="-120"/>
              </a:rPr>
              <a:t>Model cost and reliability before you deploy</a:t>
            </a:r>
            <a:endParaRPr lang="en-US" sz="1350" dirty="0"/>
          </a:p>
        </p:txBody>
      </p:sp>
      <p:sp>
        <p:nvSpPr>
          <p:cNvPr id="78" name="Shape 19">
            <a:extLst>
              <a:ext uri="{FF2B5EF4-FFF2-40B4-BE49-F238E27FC236}">
                <a16:creationId xmlns:a16="http://schemas.microsoft.com/office/drawing/2014/main" id="{21768705-1A90-A7B3-B7CD-A5F904D022CC}"/>
              </a:ext>
            </a:extLst>
          </p:cNvPr>
          <p:cNvSpPr/>
          <p:nvPr/>
        </p:nvSpPr>
        <p:spPr>
          <a:xfrm>
            <a:off x="822960" y="5157216"/>
            <a:ext cx="457200" cy="457200"/>
          </a:xfrm>
          <a:prstGeom prst="ellipse">
            <a:avLst/>
          </a:prstGeom>
          <a:solidFill>
            <a:srgbClr val="FF9900"/>
          </a:solidFill>
          <a:ln w="12700">
            <a:solidFill>
              <a:srgbClr val="FF9900"/>
            </a:solidFill>
            <a:prstDash val="solid"/>
          </a:ln>
        </p:spPr>
        <p:txBody>
          <a:bodyPr/>
          <a:lstStyle/>
          <a:p>
            <a:endParaRPr/>
          </a:p>
        </p:txBody>
      </p:sp>
      <p:sp>
        <p:nvSpPr>
          <p:cNvPr id="79" name="Text 20">
            <a:extLst>
              <a:ext uri="{FF2B5EF4-FFF2-40B4-BE49-F238E27FC236}">
                <a16:creationId xmlns:a16="http://schemas.microsoft.com/office/drawing/2014/main" id="{276396DC-8065-1FFE-5197-7B25210040F9}"/>
              </a:ext>
            </a:extLst>
          </p:cNvPr>
          <p:cNvSpPr/>
          <p:nvPr/>
        </p:nvSpPr>
        <p:spPr>
          <a:xfrm>
            <a:off x="822960" y="5157216"/>
            <a:ext cx="457200" cy="457200"/>
          </a:xfrm>
          <a:prstGeom prst="rect">
            <a:avLst/>
          </a:prstGeom>
          <a:noFill/>
          <a:ln/>
        </p:spPr>
        <p:txBody>
          <a:bodyPr wrap="square" rtlCol="0" anchor="ctr"/>
          <a:lstStyle/>
          <a:p>
            <a:pPr marL="0" indent="0" algn="ctr">
              <a:buNone/>
            </a:pPr>
            <a:r>
              <a:rPr lang="en-US" sz="1700" b="1" dirty="0">
                <a:solidFill>
                  <a:srgbClr val="FFFFFF"/>
                </a:solidFill>
                <a:latin typeface="Amazon Ember" pitchFamily="34" charset="0"/>
                <a:ea typeface="Arial" pitchFamily="34" charset="-122"/>
                <a:cs typeface="Arial" pitchFamily="34" charset="-120"/>
              </a:rPr>
              <a:t>3</a:t>
            </a:r>
            <a:endParaRPr lang="en-US" sz="1700" dirty="0"/>
          </a:p>
        </p:txBody>
      </p:sp>
      <p:sp>
        <p:nvSpPr>
          <p:cNvPr id="80" name="Text 21">
            <a:extLst>
              <a:ext uri="{FF2B5EF4-FFF2-40B4-BE49-F238E27FC236}">
                <a16:creationId xmlns:a16="http://schemas.microsoft.com/office/drawing/2014/main" id="{57B088E4-6150-1819-7C85-3B341842BABF}"/>
              </a:ext>
            </a:extLst>
          </p:cNvPr>
          <p:cNvSpPr/>
          <p:nvPr/>
        </p:nvSpPr>
        <p:spPr>
          <a:xfrm>
            <a:off x="1417320" y="5111496"/>
            <a:ext cx="4572000" cy="548640"/>
          </a:xfrm>
          <a:prstGeom prst="rect">
            <a:avLst/>
          </a:prstGeom>
          <a:noFill/>
          <a:ln/>
        </p:spPr>
        <p:txBody>
          <a:bodyPr wrap="square" rtlCol="0" anchor="ctr"/>
          <a:lstStyle/>
          <a:p>
            <a:pPr marL="0" indent="0">
              <a:buNone/>
            </a:pPr>
            <a:r>
              <a:rPr lang="en-US" sz="1350" dirty="0">
                <a:solidFill>
                  <a:srgbClr val="E6EBF0"/>
                </a:solidFill>
                <a:latin typeface="Amazon Ember" pitchFamily="34" charset="0"/>
                <a:ea typeface="Arial" pitchFamily="34" charset="-122"/>
                <a:cs typeface="Arial" pitchFamily="34" charset="-120"/>
              </a:rPr>
              <a:t>Verify feasibility before you commit</a:t>
            </a:r>
            <a:endParaRPr lang="en-US" sz="1350" dirty="0"/>
          </a:p>
        </p:txBody>
      </p:sp>
      <p:sp>
        <p:nvSpPr>
          <p:cNvPr id="81" name="Shape 22">
            <a:extLst>
              <a:ext uri="{FF2B5EF4-FFF2-40B4-BE49-F238E27FC236}">
                <a16:creationId xmlns:a16="http://schemas.microsoft.com/office/drawing/2014/main" id="{5A3712C0-D66E-75DE-E700-7B4FA6DB99F9}"/>
              </a:ext>
            </a:extLst>
          </p:cNvPr>
          <p:cNvSpPr/>
          <p:nvPr/>
        </p:nvSpPr>
        <p:spPr>
          <a:xfrm>
            <a:off x="6309360" y="5157216"/>
            <a:ext cx="457200" cy="457200"/>
          </a:xfrm>
          <a:prstGeom prst="ellipse">
            <a:avLst/>
          </a:prstGeom>
          <a:solidFill>
            <a:srgbClr val="FF9900"/>
          </a:solidFill>
          <a:ln w="12700">
            <a:solidFill>
              <a:srgbClr val="FF9900"/>
            </a:solidFill>
            <a:prstDash val="solid"/>
          </a:ln>
        </p:spPr>
        <p:txBody>
          <a:bodyPr/>
          <a:lstStyle/>
          <a:p>
            <a:endParaRPr/>
          </a:p>
        </p:txBody>
      </p:sp>
      <p:sp>
        <p:nvSpPr>
          <p:cNvPr id="82" name="Text 23">
            <a:extLst>
              <a:ext uri="{FF2B5EF4-FFF2-40B4-BE49-F238E27FC236}">
                <a16:creationId xmlns:a16="http://schemas.microsoft.com/office/drawing/2014/main" id="{83443FDC-1D2F-9A28-A509-548EEB58E987}"/>
              </a:ext>
            </a:extLst>
          </p:cNvPr>
          <p:cNvSpPr/>
          <p:nvPr/>
        </p:nvSpPr>
        <p:spPr>
          <a:xfrm>
            <a:off x="6309360" y="5157216"/>
            <a:ext cx="457200" cy="457200"/>
          </a:xfrm>
          <a:prstGeom prst="rect">
            <a:avLst/>
          </a:prstGeom>
          <a:noFill/>
          <a:ln/>
        </p:spPr>
        <p:txBody>
          <a:bodyPr wrap="square" rtlCol="0" anchor="ctr"/>
          <a:lstStyle/>
          <a:p>
            <a:pPr marL="0" indent="0" algn="ctr">
              <a:buNone/>
            </a:pPr>
            <a:r>
              <a:rPr lang="en-US" sz="1700" b="1" dirty="0">
                <a:solidFill>
                  <a:srgbClr val="FFFFFF"/>
                </a:solidFill>
                <a:latin typeface="Amazon Ember" pitchFamily="34" charset="0"/>
                <a:ea typeface="Arial" pitchFamily="34" charset="-122"/>
                <a:cs typeface="Arial" pitchFamily="34" charset="-120"/>
              </a:rPr>
              <a:t>4</a:t>
            </a:r>
            <a:endParaRPr lang="en-US" sz="1700" dirty="0"/>
          </a:p>
        </p:txBody>
      </p:sp>
      <p:sp>
        <p:nvSpPr>
          <p:cNvPr id="83" name="Text 24">
            <a:extLst>
              <a:ext uri="{FF2B5EF4-FFF2-40B4-BE49-F238E27FC236}">
                <a16:creationId xmlns:a16="http://schemas.microsoft.com/office/drawing/2014/main" id="{522795E7-D53B-B93B-07E0-7917A0CF0215}"/>
              </a:ext>
            </a:extLst>
          </p:cNvPr>
          <p:cNvSpPr/>
          <p:nvPr/>
        </p:nvSpPr>
        <p:spPr>
          <a:xfrm>
            <a:off x="6903720" y="5111496"/>
            <a:ext cx="4572000" cy="548640"/>
          </a:xfrm>
          <a:prstGeom prst="rect">
            <a:avLst/>
          </a:prstGeom>
          <a:noFill/>
          <a:ln/>
        </p:spPr>
        <p:txBody>
          <a:bodyPr wrap="square" rtlCol="0" anchor="ctr"/>
          <a:lstStyle/>
          <a:p>
            <a:pPr marL="0" indent="0">
              <a:buNone/>
            </a:pPr>
            <a:r>
              <a:rPr lang="en-US" sz="1350" dirty="0">
                <a:solidFill>
                  <a:srgbClr val="E6EBF0"/>
                </a:solidFill>
                <a:latin typeface="Amazon Ember" pitchFamily="34" charset="0"/>
                <a:ea typeface="Arial" pitchFamily="34" charset="-122"/>
                <a:cs typeface="Arial" pitchFamily="34" charset="-120"/>
              </a:rPr>
              <a:t>Design an integration that survives security review</a:t>
            </a:r>
            <a:endParaRPr lang="en-US" sz="1350" dirty="0"/>
          </a:p>
        </p:txBody>
      </p:sp>
      <p:grpSp>
        <p:nvGrpSpPr>
          <p:cNvPr id="84" name="Graphic 535">
            <a:extLst>
              <a:ext uri="{FF2B5EF4-FFF2-40B4-BE49-F238E27FC236}">
                <a16:creationId xmlns:a16="http://schemas.microsoft.com/office/drawing/2014/main" id="{EC6A9E6E-6436-613E-A2B5-160A2C10ADE5}"/>
              </a:ext>
              <a:ext uri="{C183D7F6-B498-43B3-948B-1728B52AA6E4}">
                <adec:decorative xmlns:adec="http://schemas.microsoft.com/office/drawing/2017/decorative" val="1"/>
              </a:ext>
            </a:extLst>
          </p:cNvPr>
          <p:cNvGrpSpPr/>
          <p:nvPr/>
        </p:nvGrpSpPr>
        <p:grpSpPr>
          <a:xfrm>
            <a:off x="6736702" y="2324469"/>
            <a:ext cx="480340" cy="474382"/>
            <a:chOff x="7095695" y="2365536"/>
            <a:chExt cx="385274" cy="380501"/>
          </a:xfrm>
          <a:noFill/>
        </p:grpSpPr>
        <p:sp>
          <p:nvSpPr>
            <p:cNvPr id="85" name="Freeform: Shape 523">
              <a:extLst>
                <a:ext uri="{FF2B5EF4-FFF2-40B4-BE49-F238E27FC236}">
                  <a16:creationId xmlns:a16="http://schemas.microsoft.com/office/drawing/2014/main" id="{67C73E6D-9170-C0CF-D2EB-B8BE9F8FDE03}"/>
                </a:ext>
              </a:extLst>
            </p:cNvPr>
            <p:cNvSpPr/>
            <p:nvPr/>
          </p:nvSpPr>
          <p:spPr>
            <a:xfrm>
              <a:off x="7199697" y="2479041"/>
              <a:ext cx="177271" cy="153492"/>
            </a:xfrm>
            <a:custGeom>
              <a:avLst/>
              <a:gdLst>
                <a:gd name="connsiteX0" fmla="*/ 132964 w 177271"/>
                <a:gd name="connsiteY0" fmla="*/ 0 h 153492"/>
                <a:gd name="connsiteX1" fmla="*/ 44349 w 177271"/>
                <a:gd name="connsiteY1" fmla="*/ 0 h 153492"/>
                <a:gd name="connsiteX2" fmla="*/ 0 w 177271"/>
                <a:gd name="connsiteY2" fmla="*/ 76726 h 153492"/>
                <a:gd name="connsiteX3" fmla="*/ 44349 w 177271"/>
                <a:gd name="connsiteY3" fmla="*/ 153492 h 153492"/>
                <a:gd name="connsiteX4" fmla="*/ 132964 w 177271"/>
                <a:gd name="connsiteY4" fmla="*/ 153492 h 153492"/>
                <a:gd name="connsiteX5" fmla="*/ 177271 w 177271"/>
                <a:gd name="connsiteY5" fmla="*/ 76726 h 153492"/>
                <a:gd name="connsiteX6" fmla="*/ 132964 w 177271"/>
                <a:gd name="connsiteY6" fmla="*/ 0 h 153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271" h="153492">
                  <a:moveTo>
                    <a:pt x="132964" y="0"/>
                  </a:moveTo>
                  <a:lnTo>
                    <a:pt x="44349" y="0"/>
                  </a:lnTo>
                  <a:lnTo>
                    <a:pt x="0" y="76726"/>
                  </a:lnTo>
                  <a:lnTo>
                    <a:pt x="44349" y="153492"/>
                  </a:lnTo>
                  <a:lnTo>
                    <a:pt x="132964" y="153492"/>
                  </a:lnTo>
                  <a:lnTo>
                    <a:pt x="177271" y="76726"/>
                  </a:lnTo>
                  <a:lnTo>
                    <a:pt x="132964" y="0"/>
                  </a:lnTo>
                  <a:close/>
                </a:path>
              </a:pathLst>
            </a:custGeom>
            <a:noFill/>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nvGrpSpPr>
            <p:cNvPr id="86" name="Graphic 535">
              <a:extLst>
                <a:ext uri="{FF2B5EF4-FFF2-40B4-BE49-F238E27FC236}">
                  <a16:creationId xmlns:a16="http://schemas.microsoft.com/office/drawing/2014/main" id="{4E8D136F-F951-0B04-98AA-B419375246E7}"/>
                </a:ext>
              </a:extLst>
            </p:cNvPr>
            <p:cNvGrpSpPr/>
            <p:nvPr/>
          </p:nvGrpSpPr>
          <p:grpSpPr>
            <a:xfrm>
              <a:off x="7095695" y="2365536"/>
              <a:ext cx="385274" cy="380501"/>
              <a:chOff x="7095695" y="2365536"/>
              <a:chExt cx="385274" cy="380501"/>
            </a:xfrm>
          </p:grpSpPr>
          <p:sp>
            <p:nvSpPr>
              <p:cNvPr id="87" name="Freeform: Shape 525">
                <a:extLst>
                  <a:ext uri="{FF2B5EF4-FFF2-40B4-BE49-F238E27FC236}">
                    <a16:creationId xmlns:a16="http://schemas.microsoft.com/office/drawing/2014/main" id="{50FA810C-1676-CB9C-B11A-CD6811538BD3}"/>
                  </a:ext>
                </a:extLst>
              </p:cNvPr>
              <p:cNvSpPr/>
              <p:nvPr/>
            </p:nvSpPr>
            <p:spPr>
              <a:xfrm>
                <a:off x="7266343" y="2381992"/>
                <a:ext cx="5800" cy="45870"/>
              </a:xfrm>
              <a:custGeom>
                <a:avLst/>
                <a:gdLst>
                  <a:gd name="connsiteX0" fmla="*/ 0 w 5800"/>
                  <a:gd name="connsiteY0" fmla="*/ 0 h 45870"/>
                  <a:gd name="connsiteX1" fmla="*/ 5801 w 5800"/>
                  <a:gd name="connsiteY1" fmla="*/ 45871 h 45870"/>
                </a:gdLst>
                <a:ahLst/>
                <a:cxnLst>
                  <a:cxn ang="0">
                    <a:pos x="connsiteX0" y="connsiteY0"/>
                  </a:cxn>
                  <a:cxn ang="0">
                    <a:pos x="connsiteX1" y="connsiteY1"/>
                  </a:cxn>
                </a:cxnLst>
                <a:rect l="l" t="t" r="r" b="b"/>
                <a:pathLst>
                  <a:path w="5800" h="45870">
                    <a:moveTo>
                      <a:pt x="0" y="0"/>
                    </a:moveTo>
                    <a:lnTo>
                      <a:pt x="5801" y="45871"/>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8" name="Freeform: Shape 526">
                <a:extLst>
                  <a:ext uri="{FF2B5EF4-FFF2-40B4-BE49-F238E27FC236}">
                    <a16:creationId xmlns:a16="http://schemas.microsoft.com/office/drawing/2014/main" id="{6FABD58A-E715-5EAE-2CB2-9E20BEC80F31}"/>
                  </a:ext>
                </a:extLst>
              </p:cNvPr>
              <p:cNvSpPr/>
              <p:nvPr/>
            </p:nvSpPr>
            <p:spPr>
              <a:xfrm>
                <a:off x="7264245" y="2365536"/>
                <a:ext cx="1563" cy="12341"/>
              </a:xfrm>
              <a:custGeom>
                <a:avLst/>
                <a:gdLst>
                  <a:gd name="connsiteX0" fmla="*/ 0 w 1563"/>
                  <a:gd name="connsiteY0" fmla="*/ 0 h 12341"/>
                  <a:gd name="connsiteX1" fmla="*/ 1563 w 1563"/>
                  <a:gd name="connsiteY1" fmla="*/ 12342 h 12341"/>
                </a:gdLst>
                <a:ahLst/>
                <a:cxnLst>
                  <a:cxn ang="0">
                    <a:pos x="connsiteX0" y="connsiteY0"/>
                  </a:cxn>
                  <a:cxn ang="0">
                    <a:pos x="connsiteX1" y="connsiteY1"/>
                  </a:cxn>
                </a:cxnLst>
                <a:rect l="l" t="t" r="r" b="b"/>
                <a:pathLst>
                  <a:path w="1563" h="12341">
                    <a:moveTo>
                      <a:pt x="0" y="0"/>
                    </a:moveTo>
                    <a:lnTo>
                      <a:pt x="1563" y="12342"/>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89" name="Freeform: Shape 527">
                <a:extLst>
                  <a:ext uri="{FF2B5EF4-FFF2-40B4-BE49-F238E27FC236}">
                    <a16:creationId xmlns:a16="http://schemas.microsoft.com/office/drawing/2014/main" id="{BA1837A0-B82D-CCD4-4864-A48D0022A3C1}"/>
                  </a:ext>
                </a:extLst>
              </p:cNvPr>
              <p:cNvSpPr/>
              <p:nvPr/>
            </p:nvSpPr>
            <p:spPr>
              <a:xfrm>
                <a:off x="7171146" y="2403220"/>
                <a:ext cx="38424" cy="49984"/>
              </a:xfrm>
              <a:custGeom>
                <a:avLst/>
                <a:gdLst>
                  <a:gd name="connsiteX0" fmla="*/ 0 w 38424"/>
                  <a:gd name="connsiteY0" fmla="*/ 0 h 49984"/>
                  <a:gd name="connsiteX1" fmla="*/ 38425 w 38424"/>
                  <a:gd name="connsiteY1" fmla="*/ 49985 h 49984"/>
                </a:gdLst>
                <a:ahLst/>
                <a:cxnLst>
                  <a:cxn ang="0">
                    <a:pos x="connsiteX0" y="connsiteY0"/>
                  </a:cxn>
                  <a:cxn ang="0">
                    <a:pos x="connsiteX1" y="connsiteY1"/>
                  </a:cxn>
                </a:cxnLst>
                <a:rect l="l" t="t" r="r" b="b"/>
                <a:pathLst>
                  <a:path w="38424" h="49984">
                    <a:moveTo>
                      <a:pt x="0" y="0"/>
                    </a:moveTo>
                    <a:lnTo>
                      <a:pt x="38425" y="49985"/>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0" name="Freeform: Shape 528">
                <a:extLst>
                  <a:ext uri="{FF2B5EF4-FFF2-40B4-BE49-F238E27FC236}">
                    <a16:creationId xmlns:a16="http://schemas.microsoft.com/office/drawing/2014/main" id="{49D1938D-8981-4863-6D28-EC7638189547}"/>
                  </a:ext>
                </a:extLst>
              </p:cNvPr>
              <p:cNvSpPr/>
              <p:nvPr/>
            </p:nvSpPr>
            <p:spPr>
              <a:xfrm>
                <a:off x="7109477" y="2481756"/>
                <a:ext cx="58583" cy="24272"/>
              </a:xfrm>
              <a:custGeom>
                <a:avLst/>
                <a:gdLst>
                  <a:gd name="connsiteX0" fmla="*/ 0 w 58583"/>
                  <a:gd name="connsiteY0" fmla="*/ 0 h 24272"/>
                  <a:gd name="connsiteX1" fmla="*/ 58583 w 58583"/>
                  <a:gd name="connsiteY1" fmla="*/ 24273 h 24272"/>
                </a:gdLst>
                <a:ahLst/>
                <a:cxnLst>
                  <a:cxn ang="0">
                    <a:pos x="connsiteX0" y="connsiteY0"/>
                  </a:cxn>
                  <a:cxn ang="0">
                    <a:pos x="connsiteX1" y="connsiteY1"/>
                  </a:cxn>
                </a:cxnLst>
                <a:rect l="l" t="t" r="r" b="b"/>
                <a:pathLst>
                  <a:path w="58583" h="24272">
                    <a:moveTo>
                      <a:pt x="0" y="0"/>
                    </a:moveTo>
                    <a:lnTo>
                      <a:pt x="58583" y="24273"/>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1" name="Freeform: Shape 529">
                <a:extLst>
                  <a:ext uri="{FF2B5EF4-FFF2-40B4-BE49-F238E27FC236}">
                    <a16:creationId xmlns:a16="http://schemas.microsoft.com/office/drawing/2014/main" id="{BBDAFDB6-0500-0EF7-21DD-B47F8E94EE24}"/>
                  </a:ext>
                </a:extLst>
              </p:cNvPr>
              <p:cNvSpPr/>
              <p:nvPr/>
            </p:nvSpPr>
            <p:spPr>
              <a:xfrm>
                <a:off x="7120379" y="2572181"/>
                <a:ext cx="38424" cy="4854"/>
              </a:xfrm>
              <a:custGeom>
                <a:avLst/>
                <a:gdLst>
                  <a:gd name="connsiteX0" fmla="*/ 0 w 38424"/>
                  <a:gd name="connsiteY0" fmla="*/ 4854 h 4854"/>
                  <a:gd name="connsiteX1" fmla="*/ 38425 w 38424"/>
                  <a:gd name="connsiteY1" fmla="*/ 0 h 4854"/>
                </a:gdLst>
                <a:ahLst/>
                <a:cxnLst>
                  <a:cxn ang="0">
                    <a:pos x="connsiteX0" y="connsiteY0"/>
                  </a:cxn>
                  <a:cxn ang="0">
                    <a:pos x="connsiteX1" y="connsiteY1"/>
                  </a:cxn>
                </a:cxnLst>
                <a:rect l="l" t="t" r="r" b="b"/>
                <a:pathLst>
                  <a:path w="38424" h="4854">
                    <a:moveTo>
                      <a:pt x="0" y="4854"/>
                    </a:moveTo>
                    <a:lnTo>
                      <a:pt x="38425" y="0"/>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2" name="Freeform: Shape 530">
                <a:extLst>
                  <a:ext uri="{FF2B5EF4-FFF2-40B4-BE49-F238E27FC236}">
                    <a16:creationId xmlns:a16="http://schemas.microsoft.com/office/drawing/2014/main" id="{6DCCA48D-1793-B9B5-D85E-71E7B3E16E8B}"/>
                  </a:ext>
                </a:extLst>
              </p:cNvPr>
              <p:cNvSpPr/>
              <p:nvPr/>
            </p:nvSpPr>
            <p:spPr>
              <a:xfrm>
                <a:off x="7095695" y="2578064"/>
                <a:ext cx="16455" cy="2098"/>
              </a:xfrm>
              <a:custGeom>
                <a:avLst/>
                <a:gdLst>
                  <a:gd name="connsiteX0" fmla="*/ 0 w 16455"/>
                  <a:gd name="connsiteY0" fmla="*/ 2098 h 2098"/>
                  <a:gd name="connsiteX1" fmla="*/ 16456 w 16455"/>
                  <a:gd name="connsiteY1" fmla="*/ 0 h 2098"/>
                </a:gdLst>
                <a:ahLst/>
                <a:cxnLst>
                  <a:cxn ang="0">
                    <a:pos x="connsiteX0" y="connsiteY0"/>
                  </a:cxn>
                  <a:cxn ang="0">
                    <a:pos x="connsiteX1" y="connsiteY1"/>
                  </a:cxn>
                </a:cxnLst>
                <a:rect l="l" t="t" r="r" b="b"/>
                <a:pathLst>
                  <a:path w="16455" h="2098">
                    <a:moveTo>
                      <a:pt x="0" y="2098"/>
                    </a:moveTo>
                    <a:lnTo>
                      <a:pt x="16456" y="0"/>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3" name="Freeform: Shape 531">
                <a:extLst>
                  <a:ext uri="{FF2B5EF4-FFF2-40B4-BE49-F238E27FC236}">
                    <a16:creationId xmlns:a16="http://schemas.microsoft.com/office/drawing/2014/main" id="{B26CDFAE-4792-B437-5CE0-9343BA87CBC0}"/>
                  </a:ext>
                </a:extLst>
              </p:cNvPr>
              <p:cNvSpPr/>
              <p:nvPr/>
            </p:nvSpPr>
            <p:spPr>
              <a:xfrm>
                <a:off x="7133544" y="2633932"/>
                <a:ext cx="50725" cy="38095"/>
              </a:xfrm>
              <a:custGeom>
                <a:avLst/>
                <a:gdLst>
                  <a:gd name="connsiteX0" fmla="*/ 0 w 50725"/>
                  <a:gd name="connsiteY0" fmla="*/ 38095 h 38095"/>
                  <a:gd name="connsiteX1" fmla="*/ 50725 w 50725"/>
                  <a:gd name="connsiteY1" fmla="*/ 0 h 38095"/>
                </a:gdLst>
                <a:ahLst/>
                <a:cxnLst>
                  <a:cxn ang="0">
                    <a:pos x="connsiteX0" y="connsiteY0"/>
                  </a:cxn>
                  <a:cxn ang="0">
                    <a:pos x="connsiteX1" y="connsiteY1"/>
                  </a:cxn>
                </a:cxnLst>
                <a:rect l="l" t="t" r="r" b="b"/>
                <a:pathLst>
                  <a:path w="50725" h="38095">
                    <a:moveTo>
                      <a:pt x="0" y="38095"/>
                    </a:moveTo>
                    <a:lnTo>
                      <a:pt x="50725" y="0"/>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4" name="Freeform: Shape 532">
                <a:extLst>
                  <a:ext uri="{FF2B5EF4-FFF2-40B4-BE49-F238E27FC236}">
                    <a16:creationId xmlns:a16="http://schemas.microsoft.com/office/drawing/2014/main" id="{DF731809-ED59-D0AE-D3C3-6DFEDDE1CDED}"/>
                  </a:ext>
                </a:extLst>
              </p:cNvPr>
              <p:cNvSpPr/>
              <p:nvPr/>
            </p:nvSpPr>
            <p:spPr>
              <a:xfrm>
                <a:off x="7212861" y="2674784"/>
                <a:ext cx="24725" cy="57965"/>
              </a:xfrm>
              <a:custGeom>
                <a:avLst/>
                <a:gdLst>
                  <a:gd name="connsiteX0" fmla="*/ 0 w 24725"/>
                  <a:gd name="connsiteY0" fmla="*/ 57966 h 57965"/>
                  <a:gd name="connsiteX1" fmla="*/ 24725 w 24725"/>
                  <a:gd name="connsiteY1" fmla="*/ 0 h 57965"/>
                </a:gdLst>
                <a:ahLst/>
                <a:cxnLst>
                  <a:cxn ang="0">
                    <a:pos x="connsiteX0" y="connsiteY0"/>
                  </a:cxn>
                  <a:cxn ang="0">
                    <a:pos x="connsiteX1" y="connsiteY1"/>
                  </a:cxn>
                </a:cxnLst>
                <a:rect l="l" t="t" r="r" b="b"/>
                <a:pathLst>
                  <a:path w="24725" h="57965">
                    <a:moveTo>
                      <a:pt x="0" y="57966"/>
                    </a:moveTo>
                    <a:lnTo>
                      <a:pt x="24725" y="0"/>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5" name="Freeform: Shape 533">
                <a:extLst>
                  <a:ext uri="{FF2B5EF4-FFF2-40B4-BE49-F238E27FC236}">
                    <a16:creationId xmlns:a16="http://schemas.microsoft.com/office/drawing/2014/main" id="{86162CF5-17C2-7E28-7D6F-10D33267CCEC}"/>
                  </a:ext>
                </a:extLst>
              </p:cNvPr>
              <p:cNvSpPr/>
              <p:nvPr/>
            </p:nvSpPr>
            <p:spPr>
              <a:xfrm>
                <a:off x="7304521" y="2683711"/>
                <a:ext cx="5019" cy="39741"/>
              </a:xfrm>
              <a:custGeom>
                <a:avLst/>
                <a:gdLst>
                  <a:gd name="connsiteX0" fmla="*/ 5019 w 5019"/>
                  <a:gd name="connsiteY0" fmla="*/ 39741 h 39741"/>
                  <a:gd name="connsiteX1" fmla="*/ 0 w 5019"/>
                  <a:gd name="connsiteY1" fmla="*/ 0 h 39741"/>
                </a:gdLst>
                <a:ahLst/>
                <a:cxnLst>
                  <a:cxn ang="0">
                    <a:pos x="connsiteX0" y="connsiteY0"/>
                  </a:cxn>
                  <a:cxn ang="0">
                    <a:pos x="connsiteX1" y="connsiteY1"/>
                  </a:cxn>
                </a:cxnLst>
                <a:rect l="l" t="t" r="r" b="b"/>
                <a:pathLst>
                  <a:path w="5019" h="39741">
                    <a:moveTo>
                      <a:pt x="5019" y="39741"/>
                    </a:moveTo>
                    <a:lnTo>
                      <a:pt x="0" y="0"/>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6" name="Freeform: Shape 534">
                <a:extLst>
                  <a:ext uri="{FF2B5EF4-FFF2-40B4-BE49-F238E27FC236}">
                    <a16:creationId xmlns:a16="http://schemas.microsoft.com/office/drawing/2014/main" id="{75A8683F-E53A-D8A6-CDAA-CFEFFF9DD073}"/>
                  </a:ext>
                </a:extLst>
              </p:cNvPr>
              <p:cNvSpPr/>
              <p:nvPr/>
            </p:nvSpPr>
            <p:spPr>
              <a:xfrm>
                <a:off x="7310075" y="2727566"/>
                <a:ext cx="2344" cy="18471"/>
              </a:xfrm>
              <a:custGeom>
                <a:avLst/>
                <a:gdLst>
                  <a:gd name="connsiteX0" fmla="*/ 2345 w 2344"/>
                  <a:gd name="connsiteY0" fmla="*/ 18472 h 18471"/>
                  <a:gd name="connsiteX1" fmla="*/ 0 w 2344"/>
                  <a:gd name="connsiteY1" fmla="*/ 0 h 18471"/>
                </a:gdLst>
                <a:ahLst/>
                <a:cxnLst>
                  <a:cxn ang="0">
                    <a:pos x="connsiteX0" y="connsiteY0"/>
                  </a:cxn>
                  <a:cxn ang="0">
                    <a:pos x="connsiteX1" y="connsiteY1"/>
                  </a:cxn>
                </a:cxnLst>
                <a:rect l="l" t="t" r="r" b="b"/>
                <a:pathLst>
                  <a:path w="2344" h="18471">
                    <a:moveTo>
                      <a:pt x="2345" y="18472"/>
                    </a:moveTo>
                    <a:lnTo>
                      <a:pt x="0" y="0"/>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7" name="Freeform: Shape 535">
                <a:extLst>
                  <a:ext uri="{FF2B5EF4-FFF2-40B4-BE49-F238E27FC236}">
                    <a16:creationId xmlns:a16="http://schemas.microsoft.com/office/drawing/2014/main" id="{8E9105FB-4426-1EEB-C19B-2B5CF04067B5}"/>
                  </a:ext>
                </a:extLst>
              </p:cNvPr>
              <p:cNvSpPr/>
              <p:nvPr/>
            </p:nvSpPr>
            <p:spPr>
              <a:xfrm>
                <a:off x="7367136" y="2658369"/>
                <a:ext cx="38383" cy="49984"/>
              </a:xfrm>
              <a:custGeom>
                <a:avLst/>
                <a:gdLst>
                  <a:gd name="connsiteX0" fmla="*/ 38383 w 38383"/>
                  <a:gd name="connsiteY0" fmla="*/ 49985 h 49984"/>
                  <a:gd name="connsiteX1" fmla="*/ 0 w 38383"/>
                  <a:gd name="connsiteY1" fmla="*/ 0 h 49984"/>
                </a:gdLst>
                <a:ahLst/>
                <a:cxnLst>
                  <a:cxn ang="0">
                    <a:pos x="connsiteX0" y="connsiteY0"/>
                  </a:cxn>
                  <a:cxn ang="0">
                    <a:pos x="connsiteX1" y="connsiteY1"/>
                  </a:cxn>
                </a:cxnLst>
                <a:rect l="l" t="t" r="r" b="b"/>
                <a:pathLst>
                  <a:path w="38383" h="49984">
                    <a:moveTo>
                      <a:pt x="38383" y="49985"/>
                    </a:moveTo>
                    <a:lnTo>
                      <a:pt x="0" y="0"/>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8" name="Freeform: Shape 536">
                <a:extLst>
                  <a:ext uri="{FF2B5EF4-FFF2-40B4-BE49-F238E27FC236}">
                    <a16:creationId xmlns:a16="http://schemas.microsoft.com/office/drawing/2014/main" id="{8647F7A4-2B00-B69B-AAB2-924FE9C5EB6B}"/>
                  </a:ext>
                </a:extLst>
              </p:cNvPr>
              <p:cNvSpPr/>
              <p:nvPr/>
            </p:nvSpPr>
            <p:spPr>
              <a:xfrm>
                <a:off x="7408604" y="2605546"/>
                <a:ext cx="40892" cy="16908"/>
              </a:xfrm>
              <a:custGeom>
                <a:avLst/>
                <a:gdLst>
                  <a:gd name="connsiteX0" fmla="*/ 40893 w 40892"/>
                  <a:gd name="connsiteY0" fmla="*/ 16908 h 16908"/>
                  <a:gd name="connsiteX1" fmla="*/ 0 w 40892"/>
                  <a:gd name="connsiteY1" fmla="*/ 0 h 16908"/>
                </a:gdLst>
                <a:ahLst/>
                <a:cxnLst>
                  <a:cxn ang="0">
                    <a:pos x="connsiteX0" y="connsiteY0"/>
                  </a:cxn>
                  <a:cxn ang="0">
                    <a:pos x="connsiteX1" y="connsiteY1"/>
                  </a:cxn>
                </a:cxnLst>
                <a:rect l="l" t="t" r="r" b="b"/>
                <a:pathLst>
                  <a:path w="40892" h="16908">
                    <a:moveTo>
                      <a:pt x="40893" y="16908"/>
                    </a:moveTo>
                    <a:lnTo>
                      <a:pt x="0" y="0"/>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99" name="Freeform: Shape 537">
                <a:extLst>
                  <a:ext uri="{FF2B5EF4-FFF2-40B4-BE49-F238E27FC236}">
                    <a16:creationId xmlns:a16="http://schemas.microsoft.com/office/drawing/2014/main" id="{DCB444C2-05DC-786A-1DF8-4ECBF66298E7}"/>
                  </a:ext>
                </a:extLst>
              </p:cNvPr>
              <p:cNvSpPr/>
              <p:nvPr/>
            </p:nvSpPr>
            <p:spPr>
              <a:xfrm>
                <a:off x="7454928" y="2624717"/>
                <a:ext cx="12259" cy="5101"/>
              </a:xfrm>
              <a:custGeom>
                <a:avLst/>
                <a:gdLst>
                  <a:gd name="connsiteX0" fmla="*/ 12260 w 12259"/>
                  <a:gd name="connsiteY0" fmla="*/ 5101 h 5101"/>
                  <a:gd name="connsiteX1" fmla="*/ 0 w 12259"/>
                  <a:gd name="connsiteY1" fmla="*/ 0 h 5101"/>
                </a:gdLst>
                <a:ahLst/>
                <a:cxnLst>
                  <a:cxn ang="0">
                    <a:pos x="connsiteX0" y="connsiteY0"/>
                  </a:cxn>
                  <a:cxn ang="0">
                    <a:pos x="connsiteX1" y="connsiteY1"/>
                  </a:cxn>
                </a:cxnLst>
                <a:rect l="l" t="t" r="r" b="b"/>
                <a:pathLst>
                  <a:path w="12259" h="5101">
                    <a:moveTo>
                      <a:pt x="12260" y="5101"/>
                    </a:moveTo>
                    <a:lnTo>
                      <a:pt x="0" y="0"/>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0" name="Freeform: Shape 538">
                <a:extLst>
                  <a:ext uri="{FF2B5EF4-FFF2-40B4-BE49-F238E27FC236}">
                    <a16:creationId xmlns:a16="http://schemas.microsoft.com/office/drawing/2014/main" id="{A672D246-C1EB-0CBC-4F97-AD8751A1C099}"/>
                  </a:ext>
                </a:extLst>
              </p:cNvPr>
              <p:cNvSpPr/>
              <p:nvPr/>
            </p:nvSpPr>
            <p:spPr>
              <a:xfrm>
                <a:off x="7417861" y="2531412"/>
                <a:ext cx="63108" cy="7981"/>
              </a:xfrm>
              <a:custGeom>
                <a:avLst/>
                <a:gdLst>
                  <a:gd name="connsiteX0" fmla="*/ 63109 w 63108"/>
                  <a:gd name="connsiteY0" fmla="*/ 0 h 7981"/>
                  <a:gd name="connsiteX1" fmla="*/ 0 w 63108"/>
                  <a:gd name="connsiteY1" fmla="*/ 7981 h 7981"/>
                </a:gdLst>
                <a:ahLst/>
                <a:cxnLst>
                  <a:cxn ang="0">
                    <a:pos x="connsiteX0" y="connsiteY0"/>
                  </a:cxn>
                  <a:cxn ang="0">
                    <a:pos x="connsiteX1" y="connsiteY1"/>
                  </a:cxn>
                </a:cxnLst>
                <a:rect l="l" t="t" r="r" b="b"/>
                <a:pathLst>
                  <a:path w="63108" h="7981">
                    <a:moveTo>
                      <a:pt x="63109" y="0"/>
                    </a:moveTo>
                    <a:lnTo>
                      <a:pt x="0" y="7981"/>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1" name="Freeform: Shape 539">
                <a:extLst>
                  <a:ext uri="{FF2B5EF4-FFF2-40B4-BE49-F238E27FC236}">
                    <a16:creationId xmlns:a16="http://schemas.microsoft.com/office/drawing/2014/main" id="{559C2111-6E4F-6FC5-E1CA-95FFD70B9D7D}"/>
                  </a:ext>
                </a:extLst>
              </p:cNvPr>
              <p:cNvSpPr/>
              <p:nvPr/>
            </p:nvSpPr>
            <p:spPr>
              <a:xfrm>
                <a:off x="7392437" y="2451930"/>
                <a:ext cx="34187" cy="25712"/>
              </a:xfrm>
              <a:custGeom>
                <a:avLst/>
                <a:gdLst>
                  <a:gd name="connsiteX0" fmla="*/ 34187 w 34187"/>
                  <a:gd name="connsiteY0" fmla="*/ 0 h 25712"/>
                  <a:gd name="connsiteX1" fmla="*/ 0 w 34187"/>
                  <a:gd name="connsiteY1" fmla="*/ 25712 h 25712"/>
                </a:gdLst>
                <a:ahLst/>
                <a:cxnLst>
                  <a:cxn ang="0">
                    <a:pos x="connsiteX0" y="connsiteY0"/>
                  </a:cxn>
                  <a:cxn ang="0">
                    <a:pos x="connsiteX1" y="connsiteY1"/>
                  </a:cxn>
                </a:cxnLst>
                <a:rect l="l" t="t" r="r" b="b"/>
                <a:pathLst>
                  <a:path w="34187" h="25712">
                    <a:moveTo>
                      <a:pt x="34187" y="0"/>
                    </a:moveTo>
                    <a:lnTo>
                      <a:pt x="0" y="25712"/>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2" name="Freeform: Shape 540">
                <a:extLst>
                  <a:ext uri="{FF2B5EF4-FFF2-40B4-BE49-F238E27FC236}">
                    <a16:creationId xmlns:a16="http://schemas.microsoft.com/office/drawing/2014/main" id="{F129228F-A0A1-0DBD-5AB0-4605E9AE059E}"/>
                  </a:ext>
                </a:extLst>
              </p:cNvPr>
              <p:cNvSpPr/>
              <p:nvPr/>
            </p:nvSpPr>
            <p:spPr>
              <a:xfrm>
                <a:off x="7432136" y="2439547"/>
                <a:ext cx="10984" cy="8269"/>
              </a:xfrm>
              <a:custGeom>
                <a:avLst/>
                <a:gdLst>
                  <a:gd name="connsiteX0" fmla="*/ 10984 w 10984"/>
                  <a:gd name="connsiteY0" fmla="*/ 0 h 8269"/>
                  <a:gd name="connsiteX1" fmla="*/ 0 w 10984"/>
                  <a:gd name="connsiteY1" fmla="*/ 8269 h 8269"/>
                </a:gdLst>
                <a:ahLst/>
                <a:cxnLst>
                  <a:cxn ang="0">
                    <a:pos x="connsiteX0" y="connsiteY0"/>
                  </a:cxn>
                  <a:cxn ang="0">
                    <a:pos x="connsiteX1" y="connsiteY1"/>
                  </a:cxn>
                </a:cxnLst>
                <a:rect l="l" t="t" r="r" b="b"/>
                <a:pathLst>
                  <a:path w="10984" h="8269">
                    <a:moveTo>
                      <a:pt x="10984" y="0"/>
                    </a:moveTo>
                    <a:lnTo>
                      <a:pt x="0" y="8269"/>
                    </a:lnTo>
                  </a:path>
                </a:pathLst>
              </a:custGeom>
              <a:ln w="28575" cap="flat">
                <a:solidFill>
                  <a:schemeClr val="accent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3" name="Freeform: Shape 541">
                <a:extLst>
                  <a:ext uri="{FF2B5EF4-FFF2-40B4-BE49-F238E27FC236}">
                    <a16:creationId xmlns:a16="http://schemas.microsoft.com/office/drawing/2014/main" id="{597C628F-395C-02BD-A06C-0B8F936C10A5}"/>
                  </a:ext>
                </a:extLst>
              </p:cNvPr>
              <p:cNvSpPr/>
              <p:nvPr/>
            </p:nvSpPr>
            <p:spPr>
              <a:xfrm>
                <a:off x="7339078" y="2378825"/>
                <a:ext cx="24725" cy="57965"/>
              </a:xfrm>
              <a:custGeom>
                <a:avLst/>
                <a:gdLst>
                  <a:gd name="connsiteX0" fmla="*/ 24725 w 24725"/>
                  <a:gd name="connsiteY0" fmla="*/ 0 h 57965"/>
                  <a:gd name="connsiteX1" fmla="*/ 0 w 24725"/>
                  <a:gd name="connsiteY1" fmla="*/ 57966 h 57965"/>
                </a:gdLst>
                <a:ahLst/>
                <a:cxnLst>
                  <a:cxn ang="0">
                    <a:pos x="connsiteX0" y="connsiteY0"/>
                  </a:cxn>
                  <a:cxn ang="0">
                    <a:pos x="connsiteX1" y="connsiteY1"/>
                  </a:cxn>
                </a:cxnLst>
                <a:rect l="l" t="t" r="r" b="b"/>
                <a:pathLst>
                  <a:path w="24725" h="57965">
                    <a:moveTo>
                      <a:pt x="24725" y="0"/>
                    </a:moveTo>
                    <a:lnTo>
                      <a:pt x="0" y="57966"/>
                    </a:lnTo>
                  </a:path>
                </a:pathLst>
              </a:custGeom>
              <a:ln w="28575" cap="flat">
                <a:solidFill>
                  <a:schemeClr val="tx1"/>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grpSp>
      <p:grpSp>
        <p:nvGrpSpPr>
          <p:cNvPr id="104" name="Graphic 2">
            <a:extLst>
              <a:ext uri="{FF2B5EF4-FFF2-40B4-BE49-F238E27FC236}">
                <a16:creationId xmlns:a16="http://schemas.microsoft.com/office/drawing/2014/main" id="{2C93D3E5-CD69-A39E-6ABC-2C59A3FC8522}"/>
              </a:ext>
              <a:ext uri="{C183D7F6-B498-43B3-948B-1728B52AA6E4}">
                <adec:decorative xmlns:adec="http://schemas.microsoft.com/office/drawing/2017/decorative" val="1"/>
              </a:ext>
            </a:extLst>
          </p:cNvPr>
          <p:cNvGrpSpPr/>
          <p:nvPr/>
        </p:nvGrpSpPr>
        <p:grpSpPr>
          <a:xfrm>
            <a:off x="973540" y="2332162"/>
            <a:ext cx="441115" cy="438912"/>
            <a:chOff x="5214347" y="5428462"/>
            <a:chExt cx="497504" cy="497504"/>
          </a:xfrm>
          <a:noFill/>
        </p:grpSpPr>
        <p:sp>
          <p:nvSpPr>
            <p:cNvPr id="105" name="Freeform: Shape 466">
              <a:extLst>
                <a:ext uri="{FF2B5EF4-FFF2-40B4-BE49-F238E27FC236}">
                  <a16:creationId xmlns:a16="http://schemas.microsoft.com/office/drawing/2014/main" id="{C1F5104B-4440-52D7-71B3-8D84B9A620B0}"/>
                </a:ext>
              </a:extLst>
            </p:cNvPr>
            <p:cNvSpPr/>
            <p:nvPr/>
          </p:nvSpPr>
          <p:spPr>
            <a:xfrm>
              <a:off x="5214347" y="5434760"/>
              <a:ext cx="491206" cy="491206"/>
            </a:xfrm>
            <a:custGeom>
              <a:avLst/>
              <a:gdLst>
                <a:gd name="connsiteX0" fmla="*/ 452603 w 491206"/>
                <a:gd name="connsiteY0" fmla="*/ 113355 h 491206"/>
                <a:gd name="connsiteX1" fmla="*/ 491207 w 491206"/>
                <a:gd name="connsiteY1" fmla="*/ 245603 h 491206"/>
                <a:gd name="connsiteX2" fmla="*/ 245603 w 491206"/>
                <a:gd name="connsiteY2" fmla="*/ 491207 h 491206"/>
                <a:gd name="connsiteX3" fmla="*/ 0 w 491206"/>
                <a:gd name="connsiteY3" fmla="*/ 245603 h 491206"/>
                <a:gd name="connsiteX4" fmla="*/ 245603 w 491206"/>
                <a:gd name="connsiteY4" fmla="*/ 0 h 491206"/>
                <a:gd name="connsiteX5" fmla="*/ 377851 w 491206"/>
                <a:gd name="connsiteY5" fmla="*/ 38604 h 491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1206" h="491206">
                  <a:moveTo>
                    <a:pt x="452603" y="113355"/>
                  </a:moveTo>
                  <a:cubicBezTo>
                    <a:pt x="477037" y="151518"/>
                    <a:pt x="491207" y="196924"/>
                    <a:pt x="491207" y="245603"/>
                  </a:cubicBezTo>
                  <a:cubicBezTo>
                    <a:pt x="491207" y="381252"/>
                    <a:pt x="381252" y="491207"/>
                    <a:pt x="245603" y="491207"/>
                  </a:cubicBezTo>
                  <a:cubicBezTo>
                    <a:pt x="109955" y="491207"/>
                    <a:pt x="0" y="381252"/>
                    <a:pt x="0" y="245603"/>
                  </a:cubicBezTo>
                  <a:cubicBezTo>
                    <a:pt x="0" y="109955"/>
                    <a:pt x="109955" y="0"/>
                    <a:pt x="245603" y="0"/>
                  </a:cubicBezTo>
                  <a:cubicBezTo>
                    <a:pt x="294283" y="0"/>
                    <a:pt x="339688" y="14169"/>
                    <a:pt x="377851" y="38604"/>
                  </a:cubicBezTo>
                </a:path>
              </a:pathLst>
            </a:custGeom>
            <a:noFill/>
            <a:ln w="28575"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6" name="Freeform: Shape 467">
              <a:extLst>
                <a:ext uri="{FF2B5EF4-FFF2-40B4-BE49-F238E27FC236}">
                  <a16:creationId xmlns:a16="http://schemas.microsoft.com/office/drawing/2014/main" id="{10D253A1-D77F-BFE7-5027-76576C011884}"/>
                </a:ext>
              </a:extLst>
            </p:cNvPr>
            <p:cNvSpPr/>
            <p:nvPr/>
          </p:nvSpPr>
          <p:spPr>
            <a:xfrm>
              <a:off x="5365487" y="5585900"/>
              <a:ext cx="188925" cy="188925"/>
            </a:xfrm>
            <a:custGeom>
              <a:avLst/>
              <a:gdLst>
                <a:gd name="connsiteX0" fmla="*/ 178031 w 188925"/>
                <a:gd name="connsiteY0" fmla="*/ 50380 h 188925"/>
                <a:gd name="connsiteX1" fmla="*/ 188926 w 188925"/>
                <a:gd name="connsiteY1" fmla="*/ 94463 h 188925"/>
                <a:gd name="connsiteX2" fmla="*/ 94463 w 188925"/>
                <a:gd name="connsiteY2" fmla="*/ 188926 h 188925"/>
                <a:gd name="connsiteX3" fmla="*/ 0 w 188925"/>
                <a:gd name="connsiteY3" fmla="*/ 94463 h 188925"/>
                <a:gd name="connsiteX4" fmla="*/ 94463 w 188925"/>
                <a:gd name="connsiteY4" fmla="*/ 0 h 188925"/>
                <a:gd name="connsiteX5" fmla="*/ 138545 w 188925"/>
                <a:gd name="connsiteY5" fmla="*/ 10895 h 188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8925" h="188925">
                  <a:moveTo>
                    <a:pt x="178031" y="50380"/>
                  </a:moveTo>
                  <a:cubicBezTo>
                    <a:pt x="184958" y="63542"/>
                    <a:pt x="188926" y="78530"/>
                    <a:pt x="188926" y="94463"/>
                  </a:cubicBezTo>
                  <a:cubicBezTo>
                    <a:pt x="188926" y="146606"/>
                    <a:pt x="146606" y="188926"/>
                    <a:pt x="94463" y="188926"/>
                  </a:cubicBezTo>
                  <a:cubicBezTo>
                    <a:pt x="42319" y="188926"/>
                    <a:pt x="0" y="146606"/>
                    <a:pt x="0" y="94463"/>
                  </a:cubicBezTo>
                  <a:cubicBezTo>
                    <a:pt x="0" y="42319"/>
                    <a:pt x="42319" y="0"/>
                    <a:pt x="94463" y="0"/>
                  </a:cubicBezTo>
                  <a:cubicBezTo>
                    <a:pt x="110396" y="0"/>
                    <a:pt x="125384" y="3967"/>
                    <a:pt x="138545" y="10895"/>
                  </a:cubicBezTo>
                </a:path>
              </a:pathLst>
            </a:custGeom>
            <a:noFill/>
            <a:ln w="28575"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7" name="Freeform: Shape 468">
              <a:extLst>
                <a:ext uri="{FF2B5EF4-FFF2-40B4-BE49-F238E27FC236}">
                  <a16:creationId xmlns:a16="http://schemas.microsoft.com/office/drawing/2014/main" id="{69443B3C-4BCC-7C04-4668-7509A08FD2C7}"/>
                </a:ext>
              </a:extLst>
            </p:cNvPr>
            <p:cNvSpPr/>
            <p:nvPr/>
          </p:nvSpPr>
          <p:spPr>
            <a:xfrm>
              <a:off x="5289917" y="5510330"/>
              <a:ext cx="340066" cy="340066"/>
            </a:xfrm>
            <a:custGeom>
              <a:avLst/>
              <a:gdLst>
                <a:gd name="connsiteX0" fmla="*/ 307004 w 340066"/>
                <a:gd name="connsiteY0" fmla="*/ 69273 h 340066"/>
                <a:gd name="connsiteX1" fmla="*/ 340066 w 340066"/>
                <a:gd name="connsiteY1" fmla="*/ 170033 h 340066"/>
                <a:gd name="connsiteX2" fmla="*/ 170033 w 340066"/>
                <a:gd name="connsiteY2" fmla="*/ 340066 h 340066"/>
                <a:gd name="connsiteX3" fmla="*/ 0 w 340066"/>
                <a:gd name="connsiteY3" fmla="*/ 170033 h 340066"/>
                <a:gd name="connsiteX4" fmla="*/ 170033 w 340066"/>
                <a:gd name="connsiteY4" fmla="*/ 0 h 340066"/>
                <a:gd name="connsiteX5" fmla="*/ 268652 w 340066"/>
                <a:gd name="connsiteY5" fmla="*/ 31488 h 340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066" h="340066">
                  <a:moveTo>
                    <a:pt x="307004" y="69273"/>
                  </a:moveTo>
                  <a:cubicBezTo>
                    <a:pt x="327786" y="97486"/>
                    <a:pt x="340066" y="132311"/>
                    <a:pt x="340066" y="170033"/>
                  </a:cubicBezTo>
                  <a:cubicBezTo>
                    <a:pt x="340066" y="263929"/>
                    <a:pt x="263929" y="340066"/>
                    <a:pt x="170033" y="340066"/>
                  </a:cubicBezTo>
                  <a:cubicBezTo>
                    <a:pt x="76137" y="340066"/>
                    <a:pt x="0" y="263929"/>
                    <a:pt x="0" y="170033"/>
                  </a:cubicBezTo>
                  <a:cubicBezTo>
                    <a:pt x="0" y="76137"/>
                    <a:pt x="76137" y="0"/>
                    <a:pt x="170033" y="0"/>
                  </a:cubicBezTo>
                  <a:cubicBezTo>
                    <a:pt x="206811" y="0"/>
                    <a:pt x="240817" y="11650"/>
                    <a:pt x="268652" y="31488"/>
                  </a:cubicBezTo>
                </a:path>
              </a:pathLst>
            </a:custGeom>
            <a:noFill/>
            <a:ln w="28575" cap="flat">
              <a:solidFill>
                <a:schemeClr val="tx1"/>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8" name="Freeform: Shape 469">
              <a:extLst>
                <a:ext uri="{FF2B5EF4-FFF2-40B4-BE49-F238E27FC236}">
                  <a16:creationId xmlns:a16="http://schemas.microsoft.com/office/drawing/2014/main" id="{99E28A59-5992-2FB6-5332-3A4FBB76A327}"/>
                </a:ext>
              </a:extLst>
            </p:cNvPr>
            <p:cNvSpPr/>
            <p:nvPr/>
          </p:nvSpPr>
          <p:spPr>
            <a:xfrm>
              <a:off x="5459950" y="5478842"/>
              <a:ext cx="201520" cy="201520"/>
            </a:xfrm>
            <a:custGeom>
              <a:avLst/>
              <a:gdLst>
                <a:gd name="connsiteX0" fmla="*/ 201521 w 201520"/>
                <a:gd name="connsiteY0" fmla="*/ 0 h 201520"/>
                <a:gd name="connsiteX1" fmla="*/ 62975 w 201520"/>
                <a:gd name="connsiteY1" fmla="*/ 138545 h 201520"/>
                <a:gd name="connsiteX2" fmla="*/ 0 w 201520"/>
                <a:gd name="connsiteY2" fmla="*/ 201521 h 201520"/>
              </a:gdLst>
              <a:ahLst/>
              <a:cxnLst>
                <a:cxn ang="0">
                  <a:pos x="connsiteX0" y="connsiteY0"/>
                </a:cxn>
                <a:cxn ang="0">
                  <a:pos x="connsiteX1" y="connsiteY1"/>
                </a:cxn>
                <a:cxn ang="0">
                  <a:pos x="connsiteX2" y="connsiteY2"/>
                </a:cxn>
              </a:cxnLst>
              <a:rect l="l" t="t" r="r" b="b"/>
              <a:pathLst>
                <a:path w="201520" h="201520">
                  <a:moveTo>
                    <a:pt x="201521" y="0"/>
                  </a:moveTo>
                  <a:lnTo>
                    <a:pt x="62975" y="138545"/>
                  </a:lnTo>
                  <a:lnTo>
                    <a:pt x="0" y="201521"/>
                  </a:lnTo>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100000" t="100000"/>
              </a:path>
              <a:tileRect r="-100000" b="-100000"/>
            </a:gradFill>
            <a:ln w="28575" cap="flat">
              <a:solidFill>
                <a:srgbClr val="FF9900"/>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09" name="Freeform: Shape 470">
              <a:extLst>
                <a:ext uri="{FF2B5EF4-FFF2-40B4-BE49-F238E27FC236}">
                  <a16:creationId xmlns:a16="http://schemas.microsoft.com/office/drawing/2014/main" id="{D66F0451-B7EC-5999-AA7A-9A036F8BCD4B}"/>
                </a:ext>
              </a:extLst>
            </p:cNvPr>
            <p:cNvSpPr/>
            <p:nvPr/>
          </p:nvSpPr>
          <p:spPr>
            <a:xfrm>
              <a:off x="5661471" y="5428462"/>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28575" cap="flat">
              <a:solidFill>
                <a:srgbClr val="FF9900"/>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0" name="Freeform: Shape 471">
              <a:extLst>
                <a:ext uri="{FF2B5EF4-FFF2-40B4-BE49-F238E27FC236}">
                  <a16:creationId xmlns:a16="http://schemas.microsoft.com/office/drawing/2014/main" id="{5D00DD40-86C9-0159-23B8-F8A20D2C3BC8}"/>
                </a:ext>
              </a:extLst>
            </p:cNvPr>
            <p:cNvSpPr/>
            <p:nvPr/>
          </p:nvSpPr>
          <p:spPr>
            <a:xfrm>
              <a:off x="5629983" y="5459950"/>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28575" cap="flat">
              <a:solidFill>
                <a:srgbClr val="FF9900"/>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1" name="Freeform: Shape 472">
              <a:extLst>
                <a:ext uri="{FF2B5EF4-FFF2-40B4-BE49-F238E27FC236}">
                  <a16:creationId xmlns:a16="http://schemas.microsoft.com/office/drawing/2014/main" id="{0B593C7E-72C7-CEE6-A539-279DCF9BD0C0}"/>
                </a:ext>
              </a:extLst>
            </p:cNvPr>
            <p:cNvSpPr/>
            <p:nvPr/>
          </p:nvSpPr>
          <p:spPr>
            <a:xfrm>
              <a:off x="5598495" y="5491438"/>
              <a:ext cx="50380" cy="50380"/>
            </a:xfrm>
            <a:custGeom>
              <a:avLst/>
              <a:gdLst>
                <a:gd name="connsiteX0" fmla="*/ 50380 w 50380"/>
                <a:gd name="connsiteY0" fmla="*/ 50380 h 50380"/>
                <a:gd name="connsiteX1" fmla="*/ 0 w 50380"/>
                <a:gd name="connsiteY1" fmla="*/ 50380 h 50380"/>
                <a:gd name="connsiteX2" fmla="*/ 0 w 50380"/>
                <a:gd name="connsiteY2" fmla="*/ 0 h 50380"/>
              </a:gdLst>
              <a:ahLst/>
              <a:cxnLst>
                <a:cxn ang="0">
                  <a:pos x="connsiteX0" y="connsiteY0"/>
                </a:cxn>
                <a:cxn ang="0">
                  <a:pos x="connsiteX1" y="connsiteY1"/>
                </a:cxn>
                <a:cxn ang="0">
                  <a:pos x="connsiteX2" y="connsiteY2"/>
                </a:cxn>
              </a:cxnLst>
              <a:rect l="l" t="t" r="r" b="b"/>
              <a:pathLst>
                <a:path w="50380" h="50380">
                  <a:moveTo>
                    <a:pt x="50380" y="50380"/>
                  </a:moveTo>
                  <a:lnTo>
                    <a:pt x="0" y="50380"/>
                  </a:lnTo>
                  <a:lnTo>
                    <a:pt x="0" y="0"/>
                  </a:lnTo>
                </a:path>
              </a:pathLst>
            </a:custGeom>
            <a:noFill/>
            <a:ln w="28575" cap="flat">
              <a:solidFill>
                <a:srgbClr val="FF9900"/>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mazon Ember Display"/>
                <a:ea typeface="+mn-ea"/>
                <a:cs typeface="+mn-cs"/>
              </a:endParaRPr>
            </a:p>
          </p:txBody>
        </p:sp>
      </p:grpSp>
    </p:spTree>
    <p:extLst>
      <p:ext uri="{BB962C8B-B14F-4D97-AF65-F5344CB8AC3E}">
        <p14:creationId xmlns:p14="http://schemas.microsoft.com/office/powerpoint/2010/main" val="264559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About </a:t>
            </a:r>
            <a:r>
              <a:rPr lang="en-US" dirty="0" err="1"/>
              <a:t>dxFeed</a:t>
            </a:r>
            <a:endParaRPr dirty="0"/>
          </a:p>
        </p:txBody>
      </p:sp>
      <p:sp>
        <p:nvSpPr>
          <p:cNvPr id="8" name="Google Shape;491;p52">
            <a:extLst>
              <a:ext uri="{FF2B5EF4-FFF2-40B4-BE49-F238E27FC236}">
                <a16:creationId xmlns:a16="http://schemas.microsoft.com/office/drawing/2014/main" id="{009AD394-FC3D-8112-602E-8198D98E383D}"/>
              </a:ext>
            </a:extLst>
          </p:cNvPr>
          <p:cNvSpPr txBox="1"/>
          <p:nvPr/>
        </p:nvSpPr>
        <p:spPr>
          <a:xfrm>
            <a:off x="1008061" y="3808228"/>
            <a:ext cx="2065800" cy="200100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r>
              <a:rPr lang="en-US"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rPr>
              <a:t>6M</a:t>
            </a:r>
            <a:endParaRPr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endParaRPr>
          </a:p>
          <a:p>
            <a:pPr marL="0" marR="0" lvl="0" indent="0" algn="l" rtl="0">
              <a:lnSpc>
                <a:spcPct val="100000"/>
              </a:lnSpc>
              <a:spcBef>
                <a:spcPts val="0"/>
              </a:spcBef>
              <a:spcAft>
                <a:spcPts val="0"/>
              </a:spcAft>
              <a:buNone/>
            </a:pPr>
            <a:endParaRPr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a:p>
            <a:pPr marL="0" marR="0" lvl="0" indent="0" algn="l" rtl="0">
              <a:lnSpc>
                <a:spcPct val="100000"/>
              </a:lnSpc>
              <a:spcBef>
                <a:spcPts val="0"/>
              </a:spcBef>
              <a:spcAft>
                <a:spcPts val="0"/>
              </a:spcAft>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End-Users through direct and B2B2C relationships</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endParaRPr>
          </a:p>
        </p:txBody>
      </p:sp>
      <p:sp>
        <p:nvSpPr>
          <p:cNvPr id="9" name="Google Shape;492;p52">
            <a:extLst>
              <a:ext uri="{FF2B5EF4-FFF2-40B4-BE49-F238E27FC236}">
                <a16:creationId xmlns:a16="http://schemas.microsoft.com/office/drawing/2014/main" id="{5C175D75-7607-A25A-D877-4434CDA30CC4}"/>
              </a:ext>
            </a:extLst>
          </p:cNvPr>
          <p:cNvSpPr txBox="1"/>
          <p:nvPr/>
        </p:nvSpPr>
        <p:spPr>
          <a:xfrm>
            <a:off x="9204638" y="3808228"/>
            <a:ext cx="2065800" cy="179580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r>
              <a:rPr lang="en-US" sz="60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&gt;100</a:t>
            </a:r>
            <a:endParaRPr sz="6000" dirty="0">
              <a:solidFill>
                <a:schemeClr val="tx1"/>
              </a:solidFill>
              <a:latin typeface="Amazon Ember Display" panose="020B0604020202020204" charset="0"/>
              <a:ea typeface="Amazon Ember Display" panose="020B0604020202020204" charset="0"/>
              <a:cs typeface="Amazon Ember Display" panose="020B0604020202020204" charset="0"/>
            </a:endParaRPr>
          </a:p>
          <a:p>
            <a:pPr marL="0" marR="0" lvl="0" indent="0" algn="ctr" rtl="0">
              <a:spcBef>
                <a:spcPts val="0"/>
              </a:spcBef>
              <a:spcAft>
                <a:spcPts val="0"/>
              </a:spcAft>
              <a:buNone/>
            </a:pPr>
            <a:endParaRPr sz="1867"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a:p>
            <a:pPr marL="0" marR="0" lvl="0" indent="0" algn="l" rtl="0">
              <a:spcBef>
                <a:spcPts val="0"/>
              </a:spcBef>
              <a:spcAft>
                <a:spcPts val="0"/>
              </a:spcAft>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B2B clients around </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a:p>
            <a:pPr marL="0" marR="0" lvl="0" indent="0" algn="l" rtl="0">
              <a:spcBef>
                <a:spcPts val="0"/>
              </a:spcBef>
              <a:spcAft>
                <a:spcPts val="0"/>
              </a:spcAft>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the world</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endParaRPr>
          </a:p>
        </p:txBody>
      </p:sp>
      <p:sp>
        <p:nvSpPr>
          <p:cNvPr id="10" name="Google Shape;493;p52">
            <a:extLst>
              <a:ext uri="{FF2B5EF4-FFF2-40B4-BE49-F238E27FC236}">
                <a16:creationId xmlns:a16="http://schemas.microsoft.com/office/drawing/2014/main" id="{0054FE16-04CB-D733-BA7A-ECC86715109C}"/>
              </a:ext>
            </a:extLst>
          </p:cNvPr>
          <p:cNvSpPr txBox="1"/>
          <p:nvPr/>
        </p:nvSpPr>
        <p:spPr>
          <a:xfrm>
            <a:off x="3229263" y="3808228"/>
            <a:ext cx="3231000" cy="150840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r>
              <a:rPr lang="en-US"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rPr>
              <a:t>200,000</a:t>
            </a:r>
            <a:endParaRPr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endParaRPr>
          </a:p>
          <a:p>
            <a:pPr marL="0" marR="0" lvl="0" indent="0" algn="l" rtl="0">
              <a:lnSpc>
                <a:spcPct val="100000"/>
              </a:lnSpc>
              <a:spcBef>
                <a:spcPts val="0"/>
              </a:spcBef>
              <a:spcAft>
                <a:spcPts val="0"/>
              </a:spcAft>
              <a:buNone/>
            </a:pPr>
            <a:endParaRPr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a:p>
            <a:pPr marL="0" lvl="0" indent="0" algn="l" rtl="0">
              <a:spcBef>
                <a:spcPts val="0"/>
              </a:spcBef>
              <a:spcAft>
                <a:spcPts val="0"/>
              </a:spcAft>
              <a:buClr>
                <a:srgbClr val="595959"/>
              </a:buClr>
              <a:buFont typeface="Arial"/>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Simultaneous streaming clients</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endParaRPr>
          </a:p>
        </p:txBody>
      </p:sp>
      <p:sp>
        <p:nvSpPr>
          <p:cNvPr id="11" name="Google Shape;494;p52">
            <a:extLst>
              <a:ext uri="{FF2B5EF4-FFF2-40B4-BE49-F238E27FC236}">
                <a16:creationId xmlns:a16="http://schemas.microsoft.com/office/drawing/2014/main" id="{0832D2FB-66FA-D4A8-ACF9-B81FC281527E}"/>
              </a:ext>
            </a:extLst>
          </p:cNvPr>
          <p:cNvSpPr txBox="1"/>
          <p:nvPr/>
        </p:nvSpPr>
        <p:spPr>
          <a:xfrm>
            <a:off x="6775186" y="3865003"/>
            <a:ext cx="2065800" cy="2493600"/>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r>
              <a:rPr lang="en-US"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rPr>
              <a:t>3.5M</a:t>
            </a:r>
            <a:endParaRPr sz="6000" dirty="0">
              <a:solidFill>
                <a:schemeClr val="tx1"/>
              </a:solidFill>
              <a:latin typeface="Amazon Ember Display" panose="020B0604020202020204" charset="0"/>
              <a:ea typeface="Amazon Ember Display" panose="020B0604020202020204" charset="0"/>
              <a:cs typeface="Amazon Ember Display" panose="020B0604020202020204" charset="0"/>
              <a:sym typeface="Manrope Medium"/>
            </a:endParaRPr>
          </a:p>
          <a:p>
            <a:pPr marL="0" marR="0" lvl="0" indent="0" algn="l" rtl="0">
              <a:lnSpc>
                <a:spcPct val="100000"/>
              </a:lnSpc>
              <a:spcBef>
                <a:spcPts val="0"/>
              </a:spcBef>
              <a:spcAft>
                <a:spcPts val="0"/>
              </a:spcAft>
              <a:buNone/>
            </a:pPr>
            <a:endParaRPr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a:p>
            <a:pPr marL="0" lvl="0" indent="0" algn="l" rtl="0">
              <a:spcBef>
                <a:spcPts val="0"/>
              </a:spcBef>
              <a:spcAft>
                <a:spcPts val="0"/>
              </a:spcAft>
              <a:buClr>
                <a:srgbClr val="595959"/>
              </a:buClr>
              <a:buFont typeface="Arial"/>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Instruments</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endParaRPr>
          </a:p>
          <a:p>
            <a:pPr marL="0" lvl="0" indent="0" algn="l" rtl="0">
              <a:spcBef>
                <a:spcPts val="0"/>
              </a:spcBef>
              <a:spcAft>
                <a:spcPts val="0"/>
              </a:spcAft>
              <a:buClr>
                <a:srgbClr val="595959"/>
              </a:buClr>
              <a:buFont typeface="Arial"/>
              <a:buNone/>
            </a:pPr>
            <a:r>
              <a:rPr lang="en-US"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rPr>
              <a:t>(Equities, Futures, Options, Indices, FX, Crypto, etc.)</a:t>
            </a:r>
            <a:endParaRPr sz="1600" dirty="0">
              <a:solidFill>
                <a:schemeClr val="tx1"/>
              </a:solidFill>
              <a:latin typeface="Amazon Ember Display" panose="020B0604020202020204" charset="0"/>
              <a:ea typeface="Amazon Ember Display" panose="020B0604020202020204" charset="0"/>
              <a:cs typeface="Amazon Ember Display" panose="020B0604020202020204" charset="0"/>
            </a:endParaRPr>
          </a:p>
          <a:p>
            <a:pPr marL="0" marR="0" lvl="0" indent="0" algn="l" rtl="0">
              <a:lnSpc>
                <a:spcPct val="100000"/>
              </a:lnSpc>
              <a:spcBef>
                <a:spcPts val="0"/>
              </a:spcBef>
              <a:spcAft>
                <a:spcPts val="0"/>
              </a:spcAft>
              <a:buNone/>
            </a:pPr>
            <a:endParaRPr sz="1600" dirty="0">
              <a:solidFill>
                <a:schemeClr val="tx1"/>
              </a:solidFill>
              <a:latin typeface="Amazon Ember Display" panose="020B0604020202020204" charset="0"/>
              <a:ea typeface="Amazon Ember Display" panose="020B0604020202020204" charset="0"/>
              <a:cs typeface="Amazon Ember Display" panose="020B0604020202020204" charset="0"/>
              <a:sym typeface="Tahoma"/>
            </a:endParaRPr>
          </a:p>
        </p:txBody>
      </p:sp>
      <p:sp>
        <p:nvSpPr>
          <p:cNvPr id="12" name="Content Placeholder 2">
            <a:extLst>
              <a:ext uri="{FF2B5EF4-FFF2-40B4-BE49-F238E27FC236}">
                <a16:creationId xmlns:a16="http://schemas.microsoft.com/office/drawing/2014/main" id="{477DEF4E-F3EB-BEE6-0D59-49DB80704574}"/>
              </a:ext>
            </a:extLst>
          </p:cNvPr>
          <p:cNvSpPr>
            <a:spLocks noGrp="1"/>
          </p:cNvSpPr>
          <p:nvPr>
            <p:ph idx="1"/>
          </p:nvPr>
        </p:nvSpPr>
        <p:spPr>
          <a:xfrm>
            <a:off x="609600" y="1867047"/>
            <a:ext cx="10972800" cy="2251899"/>
          </a:xfrm>
        </p:spPr>
        <p:txBody>
          <a:bodyPr wrap="square"/>
          <a:lstStyle/>
          <a:p>
            <a:r>
              <a:rPr lang="en-US" dirty="0" err="1"/>
              <a:t>dxFeed</a:t>
            </a:r>
            <a:r>
              <a:rPr lang="en-US" dirty="0"/>
              <a:t> is a subsidiary of </a:t>
            </a:r>
            <a:r>
              <a:rPr lang="en-US" u="sng" dirty="0" err="1">
                <a:hlinkClick r:id="rId2"/>
              </a:rPr>
              <a:t>Devexperts</a:t>
            </a:r>
            <a:r>
              <a:rPr lang="en-US" dirty="0"/>
              <a:t>, with the primary focus of delivering financial markets information to buy-side and sell-side institutions and individuals, specifically to traders, data analysts, quants and portfolio managers.</a:t>
            </a:r>
            <a:endParaRPr lang="en-DE" sz="1800" dirty="0"/>
          </a:p>
          <a:p>
            <a:endParaRPr sz="1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16197-EB34-E8B3-3E39-B45EB0D813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4FE3E-2DB1-6330-43A8-149B048FBCBC}"/>
              </a:ext>
            </a:extLst>
          </p:cNvPr>
          <p:cNvSpPr>
            <a:spLocks noGrp="1"/>
          </p:cNvSpPr>
          <p:nvPr>
            <p:ph type="title"/>
          </p:nvPr>
        </p:nvSpPr>
        <p:spPr/>
        <p:txBody>
          <a:bodyPr/>
          <a:lstStyle/>
          <a:p>
            <a:r>
              <a:rPr dirty="0"/>
              <a:t>What we shipped this year</a:t>
            </a:r>
          </a:p>
        </p:txBody>
      </p:sp>
      <p:graphicFrame>
        <p:nvGraphicFramePr>
          <p:cNvPr id="3" name="Table 2">
            <a:extLst>
              <a:ext uri="{FF2B5EF4-FFF2-40B4-BE49-F238E27FC236}">
                <a16:creationId xmlns:a16="http://schemas.microsoft.com/office/drawing/2014/main" id="{95D3B874-6549-8E36-13F3-B72DA4F78FE5}"/>
              </a:ext>
            </a:extLst>
          </p:cNvPr>
          <p:cNvGraphicFramePr>
            <a:graphicFrameLocks noGrp="1"/>
          </p:cNvGraphicFramePr>
          <p:nvPr>
            <p:extLst>
              <p:ext uri="{D42A27DB-BD31-4B8C-83A1-F6EECF244321}">
                <p14:modId xmlns:p14="http://schemas.microsoft.com/office/powerpoint/2010/main" val="1649358355"/>
              </p:ext>
            </p:extLst>
          </p:nvPr>
        </p:nvGraphicFramePr>
        <p:xfrm>
          <a:off x="609600" y="3950447"/>
          <a:ext cx="10972800" cy="1993152"/>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2"/>
                    </a:ext>
                  </a:extLst>
                </a:gridCol>
              </a:tblGrid>
              <a:tr h="498288">
                <a:tc>
                  <a:txBody>
                    <a:bodyPr/>
                    <a:lstStyle/>
                    <a:p>
                      <a:r>
                        <a:rPr lang="en-US" dirty="0">
                          <a:latin typeface="Amazon Ember Display" panose="020B0604020202020204" charset="0"/>
                          <a:ea typeface="Amazon Ember Display" panose="020B0604020202020204" charset="0"/>
                          <a:cs typeface="Amazon Ember Display" panose="020B0604020202020204" charset="0"/>
                        </a:rPr>
                        <a:t>Product</a:t>
                      </a:r>
                      <a:endParaRPr dirty="0">
                        <a:latin typeface="Amazon Ember Display" panose="020B0604020202020204" charset="0"/>
                        <a:ea typeface="Amazon Ember Display" panose="020B0604020202020204" charset="0"/>
                        <a:cs typeface="Amazon Ember Display" panose="020B0604020202020204" charset="0"/>
                      </a:endParaRPr>
                    </a:p>
                  </a:txBody>
                  <a:tcPr/>
                </a:tc>
                <a:tc>
                  <a:txBody>
                    <a:bodyPr/>
                    <a:lstStyle/>
                    <a:p>
                      <a:r>
                        <a:rPr sz="1800" b="1" dirty="0">
                          <a:latin typeface="Amazon Ember Display" panose="020B0604020202020204" charset="0"/>
                          <a:ea typeface="Amazon Ember Display" panose="020B0604020202020204" charset="0"/>
                          <a:cs typeface="Amazon Ember Display" panose="020B0604020202020204" charset="0"/>
                        </a:rPr>
                        <a:t>Headline</a:t>
                      </a:r>
                    </a:p>
                  </a:txBody>
                  <a:tcPr/>
                </a:tc>
                <a:extLst>
                  <a:ext uri="{0D108BD9-81ED-4DB2-BD59-A6C34878D82A}">
                    <a16:rowId xmlns:a16="http://schemas.microsoft.com/office/drawing/2014/main" val="10000"/>
                  </a:ext>
                </a:extLst>
              </a:tr>
              <a:tr h="498288">
                <a:tc>
                  <a:txBody>
                    <a:bodyPr/>
                    <a:lstStyle/>
                    <a:p>
                      <a:r>
                        <a:rPr sz="1400" dirty="0">
                          <a:latin typeface="Amazon Ember Display" panose="020B0604020202020204" charset="0"/>
                          <a:ea typeface="Amazon Ember Display" panose="020B0604020202020204" charset="0"/>
                          <a:cs typeface="Amazon Ember Display" panose="020B0604020202020204" charset="0"/>
                        </a:rPr>
                        <a:t>Grenadier-2</a:t>
                      </a:r>
                    </a:p>
                  </a:txBody>
                  <a:tcPr/>
                </a:tc>
                <a:tc>
                  <a:txBody>
                    <a:bodyPr/>
                    <a:lstStyle/>
                    <a:p>
                      <a:r>
                        <a:rPr lang="en-US" sz="1400" dirty="0">
                          <a:latin typeface="Amazon Ember Display" panose="020B0604020202020204" charset="0"/>
                          <a:ea typeface="Amazon Ember Display" panose="020B0604020202020204" charset="0"/>
                          <a:cs typeface="Amazon Ember Display" panose="020B0604020202020204" charset="0"/>
                        </a:rPr>
                        <a:t>Capable of streaming f</a:t>
                      </a:r>
                      <a:r>
                        <a:rPr sz="1400" dirty="0">
                          <a:latin typeface="Amazon Ember Display" panose="020B0604020202020204" charset="0"/>
                          <a:ea typeface="Amazon Ember Display" panose="020B0604020202020204" charset="0"/>
                          <a:cs typeface="Amazon Ember Display" panose="020B0604020202020204" charset="0"/>
                        </a:rPr>
                        <a:t>ull US equity universe </a:t>
                      </a:r>
                      <a:r>
                        <a:rPr lang="en-US" sz="1400" dirty="0">
                          <a:latin typeface="Amazon Ember Display" panose="020B0604020202020204" charset="0"/>
                          <a:ea typeface="Amazon Ember Display" panose="020B0604020202020204" charset="0"/>
                          <a:cs typeface="Amazon Ember Display" panose="020B0604020202020204" charset="0"/>
                        </a:rPr>
                        <a:t>@</a:t>
                      </a:r>
                      <a:r>
                        <a:rPr sz="1400" dirty="0">
                          <a:latin typeface="Amazon Ember Display" panose="020B0604020202020204" charset="0"/>
                          <a:ea typeface="Amazon Ember Display" panose="020B0604020202020204" charset="0"/>
                          <a:cs typeface="Amazon Ember Display" panose="020B0604020202020204" charset="0"/>
                        </a:rPr>
                        <a:t> 4,000 RPS</a:t>
                      </a:r>
                      <a:r>
                        <a:rPr lang="en-US" sz="1400" dirty="0">
                          <a:latin typeface="Amazon Ember Display" panose="020B0604020202020204" charset="0"/>
                          <a:ea typeface="Amazon Ember Display" panose="020B0604020202020204" charset="0"/>
                          <a:cs typeface="Amazon Ember Display" panose="020B0604020202020204" charset="0"/>
                        </a:rPr>
                        <a:t>; production latency </a:t>
                      </a:r>
                      <a:r>
                        <a:rPr sz="1400" dirty="0">
                          <a:latin typeface="Amazon Ember Display" panose="020B0604020202020204" charset="0"/>
                          <a:ea typeface="Amazon Ember Display" panose="020B0604020202020204" charset="0"/>
                          <a:cs typeface="Amazon Ember Display" panose="020B0604020202020204" charset="0"/>
                        </a:rPr>
                        <a:t>p50 51 </a:t>
                      </a:r>
                      <a:r>
                        <a:rPr sz="1400" dirty="0" err="1">
                          <a:latin typeface="Amazon Ember Display" panose="020B0604020202020204" charset="0"/>
                          <a:ea typeface="Amazon Ember Display" panose="020B0604020202020204" charset="0"/>
                          <a:cs typeface="Amazon Ember Display" panose="020B0604020202020204" charset="0"/>
                        </a:rPr>
                        <a:t>ms</a:t>
                      </a:r>
                      <a:endParaRPr sz="1400" dirty="0">
                        <a:latin typeface="Amazon Ember Display" panose="020B0604020202020204" charset="0"/>
                        <a:ea typeface="Amazon Ember Display" panose="020B0604020202020204" charset="0"/>
                        <a:cs typeface="Amazon Ember Display" panose="020B0604020202020204" charset="0"/>
                      </a:endParaRPr>
                    </a:p>
                  </a:txBody>
                  <a:tcPr/>
                </a:tc>
                <a:extLst>
                  <a:ext uri="{0D108BD9-81ED-4DB2-BD59-A6C34878D82A}">
                    <a16:rowId xmlns:a16="http://schemas.microsoft.com/office/drawing/2014/main" val="10001"/>
                  </a:ext>
                </a:extLst>
              </a:tr>
              <a:tr h="498288">
                <a:tc>
                  <a:txBody>
                    <a:bodyPr/>
                    <a:lstStyle/>
                    <a:p>
                      <a:r>
                        <a:rPr sz="1400">
                          <a:latin typeface="Amazon Ember Display" panose="020B0604020202020204" charset="0"/>
                          <a:ea typeface="Amazon Ember Display" panose="020B0604020202020204" charset="0"/>
                          <a:cs typeface="Amazon Ember Display" panose="020B0604020202020204" charset="0"/>
                        </a:rPr>
                        <a:t>GDELT News -&gt; SummerFox</a:t>
                      </a:r>
                    </a:p>
                  </a:txBody>
                  <a:tcPr/>
                </a:tc>
                <a:tc>
                  <a:txBody>
                    <a:bodyPr/>
                    <a:lstStyle/>
                    <a:p>
                      <a:r>
                        <a:rPr sz="1400" dirty="0">
                          <a:latin typeface="Amazon Ember Display" panose="020B0604020202020204" charset="0"/>
                          <a:ea typeface="Amazon Ember Display" panose="020B0604020202020204" charset="0"/>
                          <a:cs typeface="Amazon Ember Display" panose="020B0604020202020204" charset="0"/>
                        </a:rPr>
                        <a:t>Licence-free news source, live in </a:t>
                      </a:r>
                      <a:r>
                        <a:rPr sz="1400" dirty="0" err="1">
                          <a:latin typeface="Amazon Ember Display" panose="020B0604020202020204" charset="0"/>
                          <a:ea typeface="Amazon Ember Display" panose="020B0604020202020204" charset="0"/>
                          <a:cs typeface="Amazon Ember Display" panose="020B0604020202020204" charset="0"/>
                        </a:rPr>
                        <a:t>SummerFox</a:t>
                      </a:r>
                      <a:r>
                        <a:rPr sz="1400" dirty="0">
                          <a:latin typeface="Amazon Ember Display" panose="020B0604020202020204" charset="0"/>
                          <a:ea typeface="Amazon Ember Display" panose="020B0604020202020204" charset="0"/>
                          <a:cs typeface="Amazon Ember Display" panose="020B0604020202020204" charset="0"/>
                        </a:rPr>
                        <a:t>; </a:t>
                      </a:r>
                      <a:r>
                        <a:rPr lang="en-US" sz="1400" dirty="0">
                          <a:latin typeface="Amazon Ember Display" panose="020B0604020202020204" charset="0"/>
                          <a:ea typeface="Amazon Ember Display" panose="020B0604020202020204" charset="0"/>
                          <a:cs typeface="Amazon Ember Display" panose="020B0604020202020204" charset="0"/>
                        </a:rPr>
                        <a:t>includes </a:t>
                      </a:r>
                      <a:r>
                        <a:rPr sz="1400" dirty="0">
                          <a:latin typeface="Amazon Ember Display" panose="020B0604020202020204" charset="0"/>
                          <a:ea typeface="Amazon Ember Display" panose="020B0604020202020204" charset="0"/>
                          <a:cs typeface="Amazon Ember Display" panose="020B0604020202020204" charset="0"/>
                        </a:rPr>
                        <a:t>stocks</a:t>
                      </a:r>
                      <a:r>
                        <a:rPr lang="en-US" sz="1400" dirty="0">
                          <a:latin typeface="Amazon Ember Display" panose="020B0604020202020204" charset="0"/>
                          <a:ea typeface="Amazon Ember Display" panose="020B0604020202020204" charset="0"/>
                          <a:cs typeface="Amazon Ember Display" panose="020B0604020202020204" charset="0"/>
                        </a:rPr>
                        <a:t>, commodities,</a:t>
                      </a:r>
                      <a:r>
                        <a:rPr sz="1400" dirty="0">
                          <a:latin typeface="Amazon Ember Display" panose="020B0604020202020204" charset="0"/>
                          <a:ea typeface="Amazon Ember Display" panose="020B0604020202020204" charset="0"/>
                          <a:cs typeface="Amazon Ember Display" panose="020B0604020202020204" charset="0"/>
                        </a:rPr>
                        <a:t> crypto</a:t>
                      </a:r>
                    </a:p>
                  </a:txBody>
                  <a:tcPr/>
                </a:tc>
                <a:extLst>
                  <a:ext uri="{0D108BD9-81ED-4DB2-BD59-A6C34878D82A}">
                    <a16:rowId xmlns:a16="http://schemas.microsoft.com/office/drawing/2014/main" val="10002"/>
                  </a:ext>
                </a:extLst>
              </a:tr>
              <a:tr h="498288">
                <a:tc>
                  <a:txBody>
                    <a:bodyPr/>
                    <a:lstStyle/>
                    <a:p>
                      <a:r>
                        <a:rPr sz="1400" dirty="0" err="1">
                          <a:latin typeface="Amazon Ember Display" panose="020B0604020202020204" charset="0"/>
                          <a:ea typeface="Amazon Ember Display" panose="020B0604020202020204" charset="0"/>
                          <a:cs typeface="Amazon Ember Display" panose="020B0604020202020204" charset="0"/>
                        </a:rPr>
                        <a:t>dxMCP</a:t>
                      </a:r>
                      <a:endParaRPr sz="1400" dirty="0">
                        <a:latin typeface="Amazon Ember Display" panose="020B0604020202020204" charset="0"/>
                        <a:ea typeface="Amazon Ember Display" panose="020B0604020202020204" charset="0"/>
                        <a:cs typeface="Amazon Ember Display" panose="020B0604020202020204" charset="0"/>
                      </a:endParaRPr>
                    </a:p>
                  </a:txBody>
                  <a:tcPr/>
                </a:tc>
                <a:tc>
                  <a:txBody>
                    <a:bodyPr/>
                    <a:lstStyle/>
                    <a:p>
                      <a:r>
                        <a:rPr sz="1400" dirty="0">
                          <a:latin typeface="Amazon Ember Display" panose="020B0604020202020204" charset="0"/>
                          <a:ea typeface="Amazon Ember Display" panose="020B0604020202020204" charset="0"/>
                          <a:cs typeface="Amazon Ember Display" panose="020B0604020202020204" charset="0"/>
                        </a:rPr>
                        <a:t>Market data + Grenadier + </a:t>
                      </a:r>
                      <a:r>
                        <a:rPr sz="1400" dirty="0" err="1">
                          <a:latin typeface="Amazon Ember Display" panose="020B0604020202020204" charset="0"/>
                          <a:ea typeface="Amazon Ember Display" panose="020B0604020202020204" charset="0"/>
                          <a:cs typeface="Amazon Ember Display" panose="020B0604020202020204" charset="0"/>
                        </a:rPr>
                        <a:t>SummerFox</a:t>
                      </a:r>
                      <a:r>
                        <a:rPr sz="1400" dirty="0">
                          <a:latin typeface="Amazon Ember Display" panose="020B0604020202020204" charset="0"/>
                          <a:ea typeface="Amazon Ember Display" panose="020B0604020202020204" charset="0"/>
                          <a:cs typeface="Amazon Ember Display" panose="020B0604020202020204" charset="0"/>
                        </a:rPr>
                        <a:t> on one MCP surface</a:t>
                      </a:r>
                    </a:p>
                  </a:txBody>
                  <a:tcPr/>
                </a:tc>
                <a:extLst>
                  <a:ext uri="{0D108BD9-81ED-4DB2-BD59-A6C34878D82A}">
                    <a16:rowId xmlns:a16="http://schemas.microsoft.com/office/drawing/2014/main" val="10003"/>
                  </a:ext>
                </a:extLst>
              </a:tr>
            </a:tbl>
          </a:graphicData>
        </a:graphic>
      </p:graphicFrame>
      <p:pic>
        <p:nvPicPr>
          <p:cNvPr id="5" name="Picture 4">
            <a:extLst>
              <a:ext uri="{FF2B5EF4-FFF2-40B4-BE49-F238E27FC236}">
                <a16:creationId xmlns:a16="http://schemas.microsoft.com/office/drawing/2014/main" id="{D5B178A3-1F33-E9D0-5353-4EBCF9986E2F}"/>
              </a:ext>
            </a:extLst>
          </p:cNvPr>
          <p:cNvPicPr>
            <a:picLocks noChangeAspect="1"/>
          </p:cNvPicPr>
          <p:nvPr/>
        </p:nvPicPr>
        <p:blipFill>
          <a:blip r:embed="rId2"/>
          <a:stretch>
            <a:fillRect/>
          </a:stretch>
        </p:blipFill>
        <p:spPr>
          <a:xfrm>
            <a:off x="6096000" y="1690853"/>
            <a:ext cx="3740787" cy="1870394"/>
          </a:xfrm>
          <a:prstGeom prst="rect">
            <a:avLst/>
          </a:prstGeom>
        </p:spPr>
      </p:pic>
      <p:pic>
        <p:nvPicPr>
          <p:cNvPr id="7" name="Google Shape;144;p33">
            <a:extLst>
              <a:ext uri="{FF2B5EF4-FFF2-40B4-BE49-F238E27FC236}">
                <a16:creationId xmlns:a16="http://schemas.microsoft.com/office/drawing/2014/main" id="{554E564E-6689-E506-7640-1741E5D0FF56}"/>
              </a:ext>
            </a:extLst>
          </p:cNvPr>
          <p:cNvPicPr preferRelativeResize="0"/>
          <p:nvPr/>
        </p:nvPicPr>
        <p:blipFill>
          <a:blip r:embed="rId3">
            <a:alphaModFix/>
          </a:blip>
          <a:stretch>
            <a:fillRect/>
          </a:stretch>
        </p:blipFill>
        <p:spPr>
          <a:xfrm>
            <a:off x="1904186" y="1690853"/>
            <a:ext cx="3527748" cy="1870394"/>
          </a:xfrm>
          <a:prstGeom prst="rect">
            <a:avLst/>
          </a:prstGeom>
          <a:noFill/>
          <a:ln>
            <a:noFill/>
          </a:ln>
        </p:spPr>
      </p:pic>
    </p:spTree>
    <p:extLst>
      <p:ext uri="{BB962C8B-B14F-4D97-AF65-F5344CB8AC3E}">
        <p14:creationId xmlns:p14="http://schemas.microsoft.com/office/powerpoint/2010/main" val="2571091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model </a:t>
            </a:r>
            <a:r>
              <a:rPr lang="en-US" dirty="0"/>
              <a:t>stopped being </a:t>
            </a:r>
            <a:r>
              <a:rPr dirty="0"/>
              <a:t>the </a:t>
            </a:r>
            <a:r>
              <a:rPr lang="en-US" dirty="0"/>
              <a:t>interesting</a:t>
            </a:r>
            <a:r>
              <a:rPr dirty="0"/>
              <a:t> part</a:t>
            </a:r>
          </a:p>
        </p:txBody>
      </p:sp>
      <p:sp>
        <p:nvSpPr>
          <p:cNvPr id="3" name="Shape 3"/>
          <p:cNvSpPr txBox="1"/>
          <p:nvPr/>
        </p:nvSpPr>
        <p:spPr>
          <a:xfrm>
            <a:off x="822960" y="2103120"/>
            <a:ext cx="10515600" cy="2560320"/>
          </a:xfrm>
          <a:prstGeom prst="rect">
            <a:avLst/>
          </a:prstGeom>
          <a:noFill/>
          <a:ln>
            <a:noFill/>
          </a:ln>
        </p:spPr>
        <p:txBody>
          <a:bodyPr wrap="square" lIns="91440" tIns="45720" rIns="91440" bIns="45720" rtlCol="0" anchor="ctr">
            <a:normAutofit lnSpcReduction="10000"/>
          </a:bodyPr>
          <a:lstStyle/>
          <a:p>
            <a:pPr algn="l"/>
            <a:r>
              <a:rPr lang="en-US" sz="2800" b="1" dirty="0"/>
              <a:t>Everything that makes AI work in production now lives in the harness around it.</a:t>
            </a:r>
          </a:p>
          <a:p>
            <a:pPr algn="l"/>
            <a:endParaRPr lang="en-US" sz="2800" b="1" dirty="0"/>
          </a:p>
          <a:p>
            <a:pPr algn="l"/>
            <a:r>
              <a:rPr lang="en-US" sz="2400" dirty="0"/>
              <a:t>Three proofs from one year of shipping: </a:t>
            </a:r>
          </a:p>
          <a:p>
            <a:pPr marL="914400" lvl="1" indent="-457200">
              <a:buFont typeface="+mj-lt"/>
              <a:buAutoNum type="arabicPeriod"/>
            </a:pPr>
            <a:r>
              <a:rPr lang="en-US" sz="2400" dirty="0"/>
              <a:t>a gateway that turns products into tools, </a:t>
            </a:r>
          </a:p>
          <a:p>
            <a:pPr marL="914400" lvl="1" indent="-457200">
              <a:buFont typeface="+mj-lt"/>
              <a:buAutoNum type="arabicPeriod"/>
            </a:pPr>
            <a:r>
              <a:rPr lang="en-US" sz="2400" dirty="0"/>
              <a:t>a pipeline that buys model judgement by the call, </a:t>
            </a:r>
          </a:p>
          <a:p>
            <a:pPr marL="914400" lvl="1" indent="-457200">
              <a:buFont typeface="+mj-lt"/>
              <a:buAutoNum type="arabicPeriod"/>
            </a:pPr>
            <a:r>
              <a:rPr lang="en-US" sz="2400" dirty="0"/>
              <a:t>and a product with no LLM in it at all.</a:t>
            </a:r>
          </a:p>
        </p:txBody>
      </p:sp>
      <p:sp>
        <p:nvSpPr>
          <p:cNvPr id="7" name="TextBox 6">
            <a:extLst>
              <a:ext uri="{FF2B5EF4-FFF2-40B4-BE49-F238E27FC236}">
                <a16:creationId xmlns:a16="http://schemas.microsoft.com/office/drawing/2014/main" id="{D6A8233B-9D2A-440B-6760-5458F425BF93}"/>
              </a:ext>
            </a:extLst>
          </p:cNvPr>
          <p:cNvSpPr txBox="1"/>
          <p:nvPr/>
        </p:nvSpPr>
        <p:spPr>
          <a:xfrm>
            <a:off x="10130367" y="5510368"/>
            <a:ext cx="889000" cy="646331"/>
          </a:xfrm>
          <a:prstGeom prst="rect">
            <a:avLst/>
          </a:prstGeom>
          <a:noFill/>
        </p:spPr>
        <p:txBody>
          <a:bodyPr wrap="square">
            <a:spAutoFit/>
          </a:bodyPr>
          <a:lstStyle/>
          <a:p>
            <a:r>
              <a:rPr lang="en-DE" sz="3600" dirty="0"/>
              <a:t>🍓</a:t>
            </a:r>
            <a:endParaRPr lang="en-DE" dirty="0"/>
          </a:p>
        </p:txBody>
      </p:sp>
      <p:pic>
        <p:nvPicPr>
          <p:cNvPr id="10" name="Picture 9">
            <a:extLst>
              <a:ext uri="{FF2B5EF4-FFF2-40B4-BE49-F238E27FC236}">
                <a16:creationId xmlns:a16="http://schemas.microsoft.com/office/drawing/2014/main" id="{457E7C21-E972-F388-40CA-198B25C7A3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9301" y="5472421"/>
            <a:ext cx="668079" cy="72222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dxMCP</a:t>
            </a:r>
            <a:r>
              <a:rPr dirty="0"/>
              <a:t>: what's on the surface</a:t>
            </a:r>
          </a:p>
        </p:txBody>
      </p:sp>
      <p:sp>
        <p:nvSpPr>
          <p:cNvPr id="3" name="Shape 3"/>
          <p:cNvSpPr txBox="1"/>
          <p:nvPr/>
        </p:nvSpPr>
        <p:spPr>
          <a:xfrm>
            <a:off x="609600" y="1463040"/>
            <a:ext cx="10972800" cy="457200"/>
          </a:xfrm>
          <a:prstGeom prst="rect">
            <a:avLst/>
          </a:prstGeom>
          <a:noFill/>
          <a:ln>
            <a:noFill/>
          </a:ln>
        </p:spPr>
        <p:txBody>
          <a:bodyPr wrap="square" lIns="91440" tIns="45720" rIns="91440" bIns="45720" rtlCol="0">
            <a:normAutofit/>
          </a:bodyPr>
          <a:lstStyle/>
          <a:p>
            <a:pPr algn="l"/>
            <a:r>
              <a:rPr lang="en-US" sz="1400" i="1" dirty="0"/>
              <a:t>Model Context Protocol: the open standard for connecting AI applications to external systems</a:t>
            </a:r>
            <a:r>
              <a:rPr lang="ru-RU" sz="1400" i="1" dirty="0"/>
              <a:t>.</a:t>
            </a:r>
            <a:endParaRPr lang="en-US" sz="1400" i="1" dirty="0"/>
          </a:p>
        </p:txBody>
      </p:sp>
      <p:graphicFrame>
        <p:nvGraphicFramePr>
          <p:cNvPr id="4" name="Table 4"/>
          <p:cNvGraphicFramePr>
            <a:graphicFrameLocks noGrp="1"/>
          </p:cNvGraphicFramePr>
          <p:nvPr>
            <p:extLst>
              <p:ext uri="{D42A27DB-BD31-4B8C-83A1-F6EECF244321}">
                <p14:modId xmlns:p14="http://schemas.microsoft.com/office/powerpoint/2010/main" val="4073221488"/>
              </p:ext>
            </p:extLst>
          </p:nvPr>
        </p:nvGraphicFramePr>
        <p:xfrm>
          <a:off x="609600" y="2011680"/>
          <a:ext cx="10972800" cy="297180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594360">
                <a:tc>
                  <a:txBody>
                    <a:bodyPr/>
                    <a:lstStyle/>
                    <a:p>
                      <a:r>
                        <a:rPr sz="1600" b="1" dirty="0"/>
                        <a:t>Layer</a:t>
                      </a:r>
                    </a:p>
                  </a:txBody>
                  <a:tcPr/>
                </a:tc>
                <a:tc>
                  <a:txBody>
                    <a:bodyPr/>
                    <a:lstStyle/>
                    <a:p>
                      <a:r>
                        <a:rPr sz="1600" b="1"/>
                        <a:t>On the surface today</a:t>
                      </a:r>
                    </a:p>
                  </a:txBody>
                  <a:tcPr/>
                </a:tc>
                <a:extLst>
                  <a:ext uri="{0D108BD9-81ED-4DB2-BD59-A6C34878D82A}">
                    <a16:rowId xmlns:a16="http://schemas.microsoft.com/office/drawing/2014/main" val="10000"/>
                  </a:ext>
                </a:extLst>
              </a:tr>
              <a:tr h="594360">
                <a:tc>
                  <a:txBody>
                    <a:bodyPr/>
                    <a:lstStyle/>
                    <a:p>
                      <a:r>
                        <a:rPr sz="1600"/>
                        <a:t>Market data</a:t>
                      </a:r>
                    </a:p>
                  </a:txBody>
                  <a:tcPr/>
                </a:tc>
                <a:tc>
                  <a:txBody>
                    <a:bodyPr/>
                    <a:lstStyle/>
                    <a:p>
                      <a:r>
                        <a:rPr sz="1600" dirty="0"/>
                        <a:t>Candles / OHLC</a:t>
                      </a:r>
                      <a:r>
                        <a:rPr lang="en-US" sz="1600" dirty="0"/>
                        <a:t>, trades &amp; quotes,</a:t>
                      </a:r>
                      <a:r>
                        <a:rPr sz="1600" dirty="0"/>
                        <a:t> instrument profiles (IPF)</a:t>
                      </a:r>
                      <a:r>
                        <a:rPr lang="en-US" sz="1600" dirty="0"/>
                        <a:t>,</a:t>
                      </a:r>
                      <a:r>
                        <a:rPr sz="1600" dirty="0"/>
                        <a:t> fundamentals</a:t>
                      </a:r>
                      <a:r>
                        <a:rPr lang="en-US" sz="1600" dirty="0"/>
                        <a:t>,</a:t>
                      </a:r>
                      <a:r>
                        <a:rPr sz="1600" dirty="0"/>
                        <a:t> news</a:t>
                      </a:r>
                    </a:p>
                  </a:txBody>
                  <a:tcPr/>
                </a:tc>
                <a:extLst>
                  <a:ext uri="{0D108BD9-81ED-4DB2-BD59-A6C34878D82A}">
                    <a16:rowId xmlns:a16="http://schemas.microsoft.com/office/drawing/2014/main" val="10001"/>
                  </a:ext>
                </a:extLst>
              </a:tr>
              <a:tr h="594360">
                <a:tc>
                  <a:txBody>
                    <a:bodyPr/>
                    <a:lstStyle/>
                    <a:p>
                      <a:r>
                        <a:rPr sz="1600"/>
                        <a:t>Screening</a:t>
                      </a:r>
                    </a:p>
                  </a:txBody>
                  <a:tcPr/>
                </a:tc>
                <a:tc>
                  <a:txBody>
                    <a:bodyPr/>
                    <a:lstStyle/>
                    <a:p>
                      <a:r>
                        <a:rPr sz="1600" dirty="0"/>
                        <a:t>Options and underlying scanners - 4</a:t>
                      </a:r>
                      <a:r>
                        <a:rPr lang="en-US" sz="1600" dirty="0"/>
                        <a:t>00</a:t>
                      </a:r>
                      <a:r>
                        <a:rPr sz="1600" dirty="0"/>
                        <a:t>+ datapoints</a:t>
                      </a:r>
                    </a:p>
                  </a:txBody>
                  <a:tcPr/>
                </a:tc>
                <a:extLst>
                  <a:ext uri="{0D108BD9-81ED-4DB2-BD59-A6C34878D82A}">
                    <a16:rowId xmlns:a16="http://schemas.microsoft.com/office/drawing/2014/main" val="10002"/>
                  </a:ext>
                </a:extLst>
              </a:tr>
              <a:tr h="594360">
                <a:tc>
                  <a:txBody>
                    <a:bodyPr/>
                    <a:lstStyle/>
                    <a:p>
                      <a:r>
                        <a:rPr sz="1600"/>
                        <a:t>Products as tools</a:t>
                      </a:r>
                    </a:p>
                  </a:txBody>
                  <a:tcPr/>
                </a:tc>
                <a:tc>
                  <a:txBody>
                    <a:bodyPr/>
                    <a:lstStyle/>
                    <a:p>
                      <a:r>
                        <a:rPr sz="1600" dirty="0"/>
                        <a:t>Grenadier anomaly scores</a:t>
                      </a:r>
                      <a:r>
                        <a:rPr lang="en-US" sz="1600" dirty="0"/>
                        <a:t>, </a:t>
                      </a:r>
                      <a:r>
                        <a:rPr sz="1600" dirty="0" err="1"/>
                        <a:t>SummerFox</a:t>
                      </a:r>
                      <a:r>
                        <a:rPr sz="1600" dirty="0"/>
                        <a:t> per-symbol and portfolio summaries</a:t>
                      </a:r>
                    </a:p>
                  </a:txBody>
                  <a:tcPr/>
                </a:tc>
                <a:extLst>
                  <a:ext uri="{0D108BD9-81ED-4DB2-BD59-A6C34878D82A}">
                    <a16:rowId xmlns:a16="http://schemas.microsoft.com/office/drawing/2014/main" val="10003"/>
                  </a:ext>
                </a:extLst>
              </a:tr>
              <a:tr h="594360">
                <a:tc>
                  <a:txBody>
                    <a:bodyPr/>
                    <a:lstStyle/>
                    <a:p>
                      <a:r>
                        <a:rPr sz="1600"/>
                        <a:t>Consumers</a:t>
                      </a:r>
                    </a:p>
                  </a:txBody>
                  <a:tcPr/>
                </a:tc>
                <a:tc>
                  <a:txBody>
                    <a:bodyPr/>
                    <a:lstStyle/>
                    <a:p>
                      <a:r>
                        <a:rPr lang="en-US" sz="1600" dirty="0"/>
                        <a:t>AI agents and human operators, e.g. </a:t>
                      </a:r>
                      <a:r>
                        <a:rPr sz="1600" dirty="0"/>
                        <a:t>any MCP client on a desktop</a:t>
                      </a:r>
                      <a:endParaRPr 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Products:</a:t>
                      </a:r>
                      <a:r>
                        <a:rPr lang="ru-RU" sz="1600" dirty="0"/>
                        <a:t> </a:t>
                      </a:r>
                      <a:r>
                        <a:rPr lang="en-US" sz="1600" dirty="0" err="1"/>
                        <a:t>DXcharts</a:t>
                      </a:r>
                      <a:r>
                        <a:rPr lang="en-US" sz="1600" dirty="0"/>
                        <a:t>, </a:t>
                      </a:r>
                      <a:r>
                        <a:rPr lang="en-US" sz="1600" dirty="0" err="1"/>
                        <a:t>DXtrade</a:t>
                      </a:r>
                      <a:r>
                        <a:rPr lang="en-US" sz="1600" dirty="0"/>
                        <a:t> AI agent, </a:t>
                      </a:r>
                      <a:r>
                        <a:rPr lang="en-US" sz="1600" dirty="0" err="1"/>
                        <a:t>SummerFox</a:t>
                      </a:r>
                      <a:endParaRPr lang="en-US" sz="1600" dirty="0"/>
                    </a:p>
                  </a:txBody>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0469D7-58B6-0AF2-AE09-587E63C12B50}"/>
              </a:ext>
            </a:extLst>
          </p:cNvPr>
          <p:cNvPicPr>
            <a:picLocks noChangeAspect="1"/>
          </p:cNvPicPr>
          <p:nvPr/>
        </p:nvPicPr>
        <p:blipFill>
          <a:blip r:embed="rId2"/>
          <a:stretch>
            <a:fillRect/>
          </a:stretch>
        </p:blipFill>
        <p:spPr>
          <a:xfrm>
            <a:off x="726857" y="729000"/>
            <a:ext cx="10738286" cy="54000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D896B4-6E8D-FAC3-371C-46A5E91898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6857" y="728662"/>
            <a:ext cx="10738286" cy="54006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E32C872-256D-2B76-6130-772E831BBEBA}"/>
              </a:ext>
            </a:extLst>
          </p:cNvPr>
          <p:cNvSpPr txBox="1"/>
          <p:nvPr/>
        </p:nvSpPr>
        <p:spPr>
          <a:xfrm>
            <a:off x="1709592" y="3059668"/>
            <a:ext cx="1388522" cy="369332"/>
          </a:xfrm>
          <a:prstGeom prst="rect">
            <a:avLst/>
          </a:prstGeom>
          <a:noFill/>
          <a:ln>
            <a:noFill/>
          </a:ln>
        </p:spPr>
        <p:txBody>
          <a:bodyPr wrap="none" rtlCol="0">
            <a:spAutoFit/>
          </a:bodyPr>
          <a:lstStyle>
            <a:defPPr>
              <a:defRPr lang="en-US"/>
            </a:defPPr>
            <a:lvl1pPr marR="0" lvl="0" indent="0" algn="ctr" fontAlgn="auto">
              <a:lnSpc>
                <a:spcPct val="100000"/>
              </a:lnSpc>
              <a:spcBef>
                <a:spcPts val="0"/>
              </a:spcBef>
              <a:spcAft>
                <a:spcPts val="0"/>
              </a:spcAft>
              <a:buClrTx/>
              <a:buSzTx/>
              <a:buFontTx/>
              <a:buNone/>
              <a:tabLst/>
              <a:defRPr kumimoji="0" sz="1400" b="0" i="0" u="none" strike="noStrike" cap="none" spc="0" normalizeH="0" baseline="0">
                <a:ln>
                  <a:noFill/>
                </a:ln>
                <a:solidFill>
                  <a:srgbClr val="FFFFFF"/>
                </a:solidFill>
                <a:effectLst/>
                <a:uLnTx/>
                <a:uFillTx/>
                <a:ea typeface="Amazon Ember Display" panose="020B0403020204020204" pitchFamily="34" charset="0"/>
                <a:cs typeface="Amazon Ember Display" panose="020B0403020204020204" pitchFamily="34" charset="0"/>
              </a:defRPr>
            </a:lvl1pPr>
          </a:lstStyle>
          <a:p>
            <a:r>
              <a:rPr lang="en-US" sz="1800" dirty="0">
                <a:latin typeface="Amazon Ember Display" panose="020B0604020202020204" charset="0"/>
                <a:ea typeface="Amazon Ember Display" panose="020B0604020202020204" charset="0"/>
                <a:cs typeface="Amazon Ember Display" panose="020B0604020202020204" charset="0"/>
              </a:rPr>
              <a:t>MCP Client </a:t>
            </a:r>
          </a:p>
        </p:txBody>
      </p:sp>
      <p:sp>
        <p:nvSpPr>
          <p:cNvPr id="7" name="TextBox 6">
            <a:extLst>
              <a:ext uri="{FF2B5EF4-FFF2-40B4-BE49-F238E27FC236}">
                <a16:creationId xmlns:a16="http://schemas.microsoft.com/office/drawing/2014/main" id="{BE41754A-5CCD-835F-FD5D-2EA70B9882B9}"/>
              </a:ext>
            </a:extLst>
          </p:cNvPr>
          <p:cNvSpPr txBox="1"/>
          <p:nvPr/>
        </p:nvSpPr>
        <p:spPr>
          <a:xfrm>
            <a:off x="261739" y="3065955"/>
            <a:ext cx="1396536" cy="646331"/>
          </a:xfrm>
          <a:prstGeom prst="rect">
            <a:avLst/>
          </a:prstGeom>
          <a:noFill/>
          <a:ln>
            <a:noFill/>
          </a:ln>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Amazon Ember Display" panose="020B0604020202020204" charset="0"/>
                <a:ea typeface="Amazon Ember Display" panose="020B0604020202020204" charset="0"/>
                <a:cs typeface="Amazon Ember Display" panose="020B0604020202020204" charset="0"/>
              </a:rPr>
              <a:t>AI &amp; non-AI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FFFFFF"/>
                </a:solidFill>
                <a:effectLst/>
                <a:uLnTx/>
                <a:uFillTx/>
                <a:latin typeface="Amazon Ember Display" panose="020B0604020202020204" charset="0"/>
                <a:ea typeface="Amazon Ember Display" panose="020B0604020202020204" charset="0"/>
                <a:cs typeface="Amazon Ember Display" panose="020B0604020202020204" charset="0"/>
              </a:rPr>
              <a:t>agents</a:t>
            </a:r>
          </a:p>
        </p:txBody>
      </p:sp>
      <p:sp>
        <p:nvSpPr>
          <p:cNvPr id="8" name="Freeform: Shape 7">
            <a:extLst>
              <a:ext uri="{FF2B5EF4-FFF2-40B4-BE49-F238E27FC236}">
                <a16:creationId xmlns:a16="http://schemas.microsoft.com/office/drawing/2014/main" id="{53AB2910-76E3-6442-26CE-8A353EFBBBF9}"/>
              </a:ext>
            </a:extLst>
          </p:cNvPr>
          <p:cNvSpPr>
            <a:spLocks noChangeAspect="1"/>
          </p:cNvSpPr>
          <p:nvPr/>
        </p:nvSpPr>
        <p:spPr>
          <a:xfrm>
            <a:off x="624025" y="2392697"/>
            <a:ext cx="579693" cy="640080"/>
          </a:xfrm>
          <a:custGeom>
            <a:avLst/>
            <a:gdLst>
              <a:gd name="connsiteX0" fmla="*/ 301561 w 384047"/>
              <a:gd name="connsiteY0" fmla="*/ 109061 h 424053"/>
              <a:gd name="connsiteX1" fmla="*/ 192500 w 384047"/>
              <a:gd name="connsiteY1" fmla="*/ 218123 h 424053"/>
              <a:gd name="connsiteX2" fmla="*/ 83439 w 384047"/>
              <a:gd name="connsiteY2" fmla="*/ 109061 h 424053"/>
              <a:gd name="connsiteX3" fmla="*/ 192500 w 384047"/>
              <a:gd name="connsiteY3" fmla="*/ 0 h 424053"/>
              <a:gd name="connsiteX4" fmla="*/ 301561 w 384047"/>
              <a:gd name="connsiteY4" fmla="*/ 109061 h 424053"/>
              <a:gd name="connsiteX5" fmla="*/ 384048 w 384047"/>
              <a:gd name="connsiteY5" fmla="*/ 424053 h 424053"/>
              <a:gd name="connsiteX6" fmla="*/ 191357 w 384047"/>
              <a:gd name="connsiteY6" fmla="*/ 225171 h 424053"/>
              <a:gd name="connsiteX7" fmla="*/ 93250 w 384047"/>
              <a:gd name="connsiteY7" fmla="*/ 253270 h 424053"/>
              <a:gd name="connsiteX8" fmla="*/ 0 w 384047"/>
              <a:gd name="connsiteY8" fmla="*/ 424053 h 424053"/>
              <a:gd name="connsiteX9" fmla="*/ 384048 w 384047"/>
              <a:gd name="connsiteY9" fmla="*/ 424053 h 424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4047" h="424053">
                <a:moveTo>
                  <a:pt x="301561" y="109061"/>
                </a:moveTo>
                <a:cubicBezTo>
                  <a:pt x="301561" y="169450"/>
                  <a:pt x="252889" y="218123"/>
                  <a:pt x="192500" y="218123"/>
                </a:cubicBezTo>
                <a:cubicBezTo>
                  <a:pt x="132112" y="218123"/>
                  <a:pt x="83439" y="169450"/>
                  <a:pt x="83439" y="109061"/>
                </a:cubicBezTo>
                <a:cubicBezTo>
                  <a:pt x="83439" y="48673"/>
                  <a:pt x="132112" y="0"/>
                  <a:pt x="192500" y="0"/>
                </a:cubicBezTo>
                <a:cubicBezTo>
                  <a:pt x="252889" y="0"/>
                  <a:pt x="301561" y="48673"/>
                  <a:pt x="301561" y="109061"/>
                </a:cubicBezTo>
                <a:moveTo>
                  <a:pt x="384048" y="424053"/>
                </a:moveTo>
                <a:cubicBezTo>
                  <a:pt x="384048" y="313658"/>
                  <a:pt x="298323" y="225171"/>
                  <a:pt x="191357" y="225171"/>
                </a:cubicBezTo>
                <a:cubicBezTo>
                  <a:pt x="155734" y="225171"/>
                  <a:pt x="122111" y="235458"/>
                  <a:pt x="93250" y="253270"/>
                </a:cubicBezTo>
                <a:cubicBezTo>
                  <a:pt x="37719" y="288227"/>
                  <a:pt x="0" y="351377"/>
                  <a:pt x="0" y="424053"/>
                </a:cubicBezTo>
                <a:lnTo>
                  <a:pt x="384048" y="424053"/>
                </a:lnTo>
                <a:close/>
              </a:path>
            </a:pathLst>
          </a:custGeom>
          <a:noFill/>
          <a:ln w="19050" cap="flat">
            <a:solidFill>
              <a:schemeClr val="tx1"/>
            </a:solidFill>
            <a:prstDash val="solid"/>
            <a:round/>
          </a:ln>
        </p:spPr>
        <p:txBody>
          <a:bodyPr rtlCol="0" anchor="ctr"/>
          <a:lstStyle/>
          <a:p>
            <a:endParaRPr lang="en-US"/>
          </a:p>
        </p:txBody>
      </p:sp>
      <p:grpSp>
        <p:nvGrpSpPr>
          <p:cNvPr id="9" name="Group 8">
            <a:extLst>
              <a:ext uri="{FF2B5EF4-FFF2-40B4-BE49-F238E27FC236}">
                <a16:creationId xmlns:a16="http://schemas.microsoft.com/office/drawing/2014/main" id="{2D75B8F4-6C19-6EA0-142E-C382449D0538}"/>
              </a:ext>
            </a:extLst>
          </p:cNvPr>
          <p:cNvGrpSpPr>
            <a:grpSpLocks noChangeAspect="1"/>
          </p:cNvGrpSpPr>
          <p:nvPr/>
        </p:nvGrpSpPr>
        <p:grpSpPr>
          <a:xfrm>
            <a:off x="1998660" y="2430464"/>
            <a:ext cx="810387" cy="551268"/>
            <a:chOff x="10382275" y="2708527"/>
            <a:chExt cx="810387" cy="551268"/>
          </a:xfrm>
        </p:grpSpPr>
        <p:sp>
          <p:nvSpPr>
            <p:cNvPr id="10" name="Freeform: Shape 9">
              <a:extLst>
                <a:ext uri="{FF2B5EF4-FFF2-40B4-BE49-F238E27FC236}">
                  <a16:creationId xmlns:a16="http://schemas.microsoft.com/office/drawing/2014/main" id="{F37BC0ED-1BC0-DD42-7C69-0AC0D84A3C20}"/>
                </a:ext>
              </a:extLst>
            </p:cNvPr>
            <p:cNvSpPr/>
            <p:nvPr/>
          </p:nvSpPr>
          <p:spPr>
            <a:xfrm>
              <a:off x="10382275" y="2708527"/>
              <a:ext cx="810387" cy="551268"/>
            </a:xfrm>
            <a:custGeom>
              <a:avLst/>
              <a:gdLst>
                <a:gd name="connsiteX0" fmla="*/ 0 w 810387"/>
                <a:gd name="connsiteY0" fmla="*/ 493776 h 551268"/>
                <a:gd name="connsiteX1" fmla="*/ 810387 w 810387"/>
                <a:gd name="connsiteY1" fmla="*/ 493776 h 551268"/>
                <a:gd name="connsiteX2" fmla="*/ 810387 w 810387"/>
                <a:gd name="connsiteY2" fmla="*/ 533781 h 551268"/>
                <a:gd name="connsiteX3" fmla="*/ 805472 w 810387"/>
                <a:gd name="connsiteY3" fmla="*/ 538124 h 551268"/>
                <a:gd name="connsiteX4" fmla="*/ 768210 w 810387"/>
                <a:gd name="connsiteY4" fmla="*/ 551269 h 551268"/>
                <a:gd name="connsiteX5" fmla="*/ 47777 w 810387"/>
                <a:gd name="connsiteY5" fmla="*/ 551269 h 551268"/>
                <a:gd name="connsiteX6" fmla="*/ 2743 w 810387"/>
                <a:gd name="connsiteY6" fmla="*/ 535953 h 551268"/>
                <a:gd name="connsiteX7" fmla="*/ 0 w 810387"/>
                <a:gd name="connsiteY7" fmla="*/ 533781 h 551268"/>
                <a:gd name="connsiteX8" fmla="*/ 0 w 810387"/>
                <a:gd name="connsiteY8" fmla="*/ 493776 h 551268"/>
                <a:gd name="connsiteX9" fmla="*/ 0 w 810387"/>
                <a:gd name="connsiteY9" fmla="*/ 493776 h 551268"/>
                <a:gd name="connsiteX10" fmla="*/ 700888 w 810387"/>
                <a:gd name="connsiteY10" fmla="*/ 426568 h 551268"/>
                <a:gd name="connsiteX11" fmla="*/ 700888 w 810387"/>
                <a:gd name="connsiteY11" fmla="*/ 426568 h 551268"/>
                <a:gd name="connsiteX12" fmla="*/ 697573 w 810387"/>
                <a:gd name="connsiteY12" fmla="*/ 53492 h 551268"/>
                <a:gd name="connsiteX13" fmla="*/ 681114 w 810387"/>
                <a:gd name="connsiteY13" fmla="*/ 37033 h 551268"/>
                <a:gd name="connsiteX14" fmla="*/ 125959 w 810387"/>
                <a:gd name="connsiteY14" fmla="*/ 37033 h 551268"/>
                <a:gd name="connsiteX15" fmla="*/ 109499 w 810387"/>
                <a:gd name="connsiteY15" fmla="*/ 53492 h 551268"/>
                <a:gd name="connsiteX16" fmla="*/ 109499 w 810387"/>
                <a:gd name="connsiteY16" fmla="*/ 426568 h 551268"/>
                <a:gd name="connsiteX17" fmla="*/ 125959 w 810387"/>
                <a:gd name="connsiteY17" fmla="*/ 443027 h 551268"/>
                <a:gd name="connsiteX18" fmla="*/ 684428 w 810387"/>
                <a:gd name="connsiteY18" fmla="*/ 443027 h 551268"/>
                <a:gd name="connsiteX19" fmla="*/ 700888 w 810387"/>
                <a:gd name="connsiteY19" fmla="*/ 426568 h 551268"/>
                <a:gd name="connsiteX20" fmla="*/ 700888 w 810387"/>
                <a:gd name="connsiteY20" fmla="*/ 426568 h 551268"/>
                <a:gd name="connsiteX21" fmla="*/ 724433 w 810387"/>
                <a:gd name="connsiteY21" fmla="*/ 491604 h 551268"/>
                <a:gd name="connsiteX22" fmla="*/ 740893 w 810387"/>
                <a:gd name="connsiteY22" fmla="*/ 475145 h 551268"/>
                <a:gd name="connsiteX23" fmla="*/ 740893 w 810387"/>
                <a:gd name="connsiteY23" fmla="*/ 475145 h 551268"/>
                <a:gd name="connsiteX24" fmla="*/ 740893 w 810387"/>
                <a:gd name="connsiteY24" fmla="*/ 16459 h 551268"/>
                <a:gd name="connsiteX25" fmla="*/ 724433 w 810387"/>
                <a:gd name="connsiteY25" fmla="*/ 0 h 551268"/>
                <a:gd name="connsiteX26" fmla="*/ 85839 w 810387"/>
                <a:gd name="connsiteY26" fmla="*/ 0 h 551268"/>
                <a:gd name="connsiteX27" fmla="*/ 69380 w 810387"/>
                <a:gd name="connsiteY27" fmla="*/ 16459 h 551268"/>
                <a:gd name="connsiteX28" fmla="*/ 69380 w 810387"/>
                <a:gd name="connsiteY28" fmla="*/ 475145 h 551268"/>
                <a:gd name="connsiteX29" fmla="*/ 85839 w 810387"/>
                <a:gd name="connsiteY29" fmla="*/ 491604 h 551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10387" h="551268">
                  <a:moveTo>
                    <a:pt x="0" y="493776"/>
                  </a:moveTo>
                  <a:lnTo>
                    <a:pt x="810387" y="493776"/>
                  </a:lnTo>
                  <a:lnTo>
                    <a:pt x="810387" y="533781"/>
                  </a:lnTo>
                  <a:lnTo>
                    <a:pt x="805472" y="538124"/>
                  </a:lnTo>
                  <a:cubicBezTo>
                    <a:pt x="795071" y="546926"/>
                    <a:pt x="781926" y="551269"/>
                    <a:pt x="768210" y="551269"/>
                  </a:cubicBezTo>
                  <a:lnTo>
                    <a:pt x="47777" y="551269"/>
                  </a:lnTo>
                  <a:cubicBezTo>
                    <a:pt x="31890" y="551269"/>
                    <a:pt x="16002" y="545783"/>
                    <a:pt x="2743" y="535953"/>
                  </a:cubicBezTo>
                  <a:lnTo>
                    <a:pt x="0" y="533781"/>
                  </a:lnTo>
                  <a:lnTo>
                    <a:pt x="0" y="493776"/>
                  </a:lnTo>
                  <a:lnTo>
                    <a:pt x="0" y="493776"/>
                  </a:lnTo>
                  <a:close/>
                  <a:moveTo>
                    <a:pt x="700888" y="426568"/>
                  </a:moveTo>
                  <a:lnTo>
                    <a:pt x="700888" y="426568"/>
                  </a:lnTo>
                  <a:lnTo>
                    <a:pt x="697573" y="53492"/>
                  </a:lnTo>
                  <a:cubicBezTo>
                    <a:pt x="697573" y="44120"/>
                    <a:pt x="689915" y="37033"/>
                    <a:pt x="681114" y="37033"/>
                  </a:cubicBezTo>
                  <a:lnTo>
                    <a:pt x="125959" y="37033"/>
                  </a:lnTo>
                  <a:cubicBezTo>
                    <a:pt x="116586" y="37033"/>
                    <a:pt x="109499" y="44691"/>
                    <a:pt x="109499" y="53492"/>
                  </a:cubicBezTo>
                  <a:lnTo>
                    <a:pt x="109499" y="426568"/>
                  </a:lnTo>
                  <a:cubicBezTo>
                    <a:pt x="109499" y="435940"/>
                    <a:pt x="117158" y="443027"/>
                    <a:pt x="125959" y="443027"/>
                  </a:cubicBezTo>
                  <a:lnTo>
                    <a:pt x="684428" y="443027"/>
                  </a:lnTo>
                  <a:cubicBezTo>
                    <a:pt x="693801" y="443027"/>
                    <a:pt x="700888" y="435369"/>
                    <a:pt x="700888" y="426568"/>
                  </a:cubicBezTo>
                  <a:lnTo>
                    <a:pt x="700888" y="426568"/>
                  </a:lnTo>
                  <a:close/>
                  <a:moveTo>
                    <a:pt x="724433" y="491604"/>
                  </a:moveTo>
                  <a:cubicBezTo>
                    <a:pt x="733806" y="491604"/>
                    <a:pt x="740893" y="483946"/>
                    <a:pt x="740893" y="475145"/>
                  </a:cubicBezTo>
                  <a:lnTo>
                    <a:pt x="740893" y="475145"/>
                  </a:lnTo>
                  <a:lnTo>
                    <a:pt x="740893" y="16459"/>
                  </a:lnTo>
                  <a:cubicBezTo>
                    <a:pt x="740893" y="7087"/>
                    <a:pt x="733235" y="0"/>
                    <a:pt x="724433" y="0"/>
                  </a:cubicBezTo>
                  <a:lnTo>
                    <a:pt x="85839" y="0"/>
                  </a:lnTo>
                  <a:cubicBezTo>
                    <a:pt x="76467" y="0"/>
                    <a:pt x="69380" y="7658"/>
                    <a:pt x="69380" y="16459"/>
                  </a:cubicBezTo>
                  <a:lnTo>
                    <a:pt x="69380" y="475145"/>
                  </a:lnTo>
                  <a:cubicBezTo>
                    <a:pt x="69380" y="484518"/>
                    <a:pt x="77038" y="491604"/>
                    <a:pt x="85839" y="491604"/>
                  </a:cubicBezTo>
                </a:path>
              </a:pathLst>
            </a:custGeom>
            <a:noFill/>
            <a:ln w="19050" cap="flat">
              <a:solidFill>
                <a:schemeClr val="tx1"/>
              </a:solidFill>
              <a:prstDash val="solid"/>
              <a:round/>
            </a:ln>
          </p:spPr>
          <p:txBody>
            <a:bodyPr rtlCol="0" anchor="ctr"/>
            <a:lstStyle/>
            <a:p>
              <a:endParaRPr lang="en-US" dirty="0"/>
            </a:p>
          </p:txBody>
        </p:sp>
        <p:sp>
          <p:nvSpPr>
            <p:cNvPr id="11" name="Freeform: Shape 10">
              <a:extLst>
                <a:ext uri="{FF2B5EF4-FFF2-40B4-BE49-F238E27FC236}">
                  <a16:creationId xmlns:a16="http://schemas.microsoft.com/office/drawing/2014/main" id="{07395126-D6FF-76E6-C9EE-9EB35AD4E793}"/>
                </a:ext>
              </a:extLst>
            </p:cNvPr>
            <p:cNvSpPr/>
            <p:nvPr/>
          </p:nvSpPr>
          <p:spPr>
            <a:xfrm>
              <a:off x="10630992" y="2790137"/>
              <a:ext cx="312953" cy="312724"/>
            </a:xfrm>
            <a:custGeom>
              <a:avLst/>
              <a:gdLst>
                <a:gd name="connsiteX0" fmla="*/ 273406 w 312953"/>
                <a:gd name="connsiteY0" fmla="*/ 52692 h 312724"/>
                <a:gd name="connsiteX1" fmla="*/ 217513 w 312953"/>
                <a:gd name="connsiteY1" fmla="*/ 77724 h 312724"/>
                <a:gd name="connsiteX2" fmla="*/ 158877 w 312953"/>
                <a:gd name="connsiteY2" fmla="*/ 82182 h 312724"/>
                <a:gd name="connsiteX3" fmla="*/ 90640 w 312953"/>
                <a:gd name="connsiteY3" fmla="*/ 76124 h 312724"/>
                <a:gd name="connsiteX4" fmla="*/ 44006 w 312953"/>
                <a:gd name="connsiteY4" fmla="*/ 49492 h 312724"/>
                <a:gd name="connsiteX5" fmla="*/ 241859 w 312953"/>
                <a:gd name="connsiteY5" fmla="*/ 156362 h 312724"/>
                <a:gd name="connsiteX6" fmla="*/ 155219 w 312953"/>
                <a:gd name="connsiteY6" fmla="*/ 0 h 312724"/>
                <a:gd name="connsiteX7" fmla="*/ 68580 w 312953"/>
                <a:gd name="connsiteY7" fmla="*/ 156362 h 312724"/>
                <a:gd name="connsiteX8" fmla="*/ 155219 w 312953"/>
                <a:gd name="connsiteY8" fmla="*/ 312725 h 312724"/>
                <a:gd name="connsiteX9" fmla="*/ 241859 w 312953"/>
                <a:gd name="connsiteY9" fmla="*/ 156362 h 312724"/>
                <a:gd name="connsiteX10" fmla="*/ 241859 w 312953"/>
                <a:gd name="connsiteY10" fmla="*/ 156362 h 312724"/>
                <a:gd name="connsiteX11" fmla="*/ 0 w 312953"/>
                <a:gd name="connsiteY11" fmla="*/ 156362 h 312724"/>
                <a:gd name="connsiteX12" fmla="*/ 312953 w 312953"/>
                <a:gd name="connsiteY12" fmla="*/ 156362 h 312724"/>
                <a:gd name="connsiteX13" fmla="*/ 269977 w 312953"/>
                <a:gd name="connsiteY13" fmla="*/ 263576 h 312724"/>
                <a:gd name="connsiteX14" fmla="*/ 269977 w 312953"/>
                <a:gd name="connsiteY14" fmla="*/ 263576 h 312724"/>
                <a:gd name="connsiteX15" fmla="*/ 216370 w 312953"/>
                <a:gd name="connsiteY15" fmla="*/ 237858 h 312724"/>
                <a:gd name="connsiteX16" fmla="*/ 216370 w 312953"/>
                <a:gd name="connsiteY16" fmla="*/ 237858 h 312724"/>
                <a:gd name="connsiteX17" fmla="*/ 155219 w 312953"/>
                <a:gd name="connsiteY17" fmla="*/ 233286 h 312724"/>
                <a:gd name="connsiteX18" fmla="*/ 90640 w 312953"/>
                <a:gd name="connsiteY18" fmla="*/ 238658 h 312724"/>
                <a:gd name="connsiteX19" fmla="*/ 41148 w 312953"/>
                <a:gd name="connsiteY19" fmla="*/ 261518 h 312724"/>
                <a:gd name="connsiteX20" fmla="*/ 312725 w 312953"/>
                <a:gd name="connsiteY20" fmla="*/ 156362 h 312724"/>
                <a:gd name="connsiteX21" fmla="*/ 157048 w 312953"/>
                <a:gd name="connsiteY21" fmla="*/ 0 h 312724"/>
                <a:gd name="connsiteX22" fmla="*/ 1372 w 312953"/>
                <a:gd name="connsiteY22" fmla="*/ 156362 h 312724"/>
                <a:gd name="connsiteX23" fmla="*/ 157048 w 312953"/>
                <a:gd name="connsiteY23" fmla="*/ 312725 h 312724"/>
                <a:gd name="connsiteX24" fmla="*/ 312725 w 312953"/>
                <a:gd name="connsiteY24" fmla="*/ 156362 h 312724"/>
                <a:gd name="connsiteX25" fmla="*/ 312725 w 312953"/>
                <a:gd name="connsiteY25" fmla="*/ 156362 h 312724"/>
                <a:gd name="connsiteX26" fmla="*/ 156362 w 312953"/>
                <a:gd name="connsiteY26" fmla="*/ 4115 h 312724"/>
                <a:gd name="connsiteX27" fmla="*/ 156362 w 312953"/>
                <a:gd name="connsiteY27" fmla="*/ 309524 h 31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2953" h="312724">
                  <a:moveTo>
                    <a:pt x="273406" y="52692"/>
                  </a:moveTo>
                  <a:cubicBezTo>
                    <a:pt x="269977" y="63436"/>
                    <a:pt x="249060" y="72581"/>
                    <a:pt x="217513" y="77724"/>
                  </a:cubicBezTo>
                  <a:cubicBezTo>
                    <a:pt x="200482" y="80582"/>
                    <a:pt x="180708" y="82182"/>
                    <a:pt x="158877" y="82182"/>
                  </a:cubicBezTo>
                  <a:cubicBezTo>
                    <a:pt x="132702" y="82182"/>
                    <a:pt x="109157" y="79896"/>
                    <a:pt x="90640" y="76124"/>
                  </a:cubicBezTo>
                  <a:cubicBezTo>
                    <a:pt x="61722" y="70066"/>
                    <a:pt x="44006" y="60465"/>
                    <a:pt x="44006" y="49492"/>
                  </a:cubicBezTo>
                  <a:moveTo>
                    <a:pt x="241859" y="156362"/>
                  </a:moveTo>
                  <a:cubicBezTo>
                    <a:pt x="241859" y="70066"/>
                    <a:pt x="203111" y="0"/>
                    <a:pt x="155219" y="0"/>
                  </a:cubicBezTo>
                  <a:cubicBezTo>
                    <a:pt x="107328" y="0"/>
                    <a:pt x="68580" y="69952"/>
                    <a:pt x="68580" y="156362"/>
                  </a:cubicBezTo>
                  <a:cubicBezTo>
                    <a:pt x="68580" y="242773"/>
                    <a:pt x="107328" y="312725"/>
                    <a:pt x="155219" y="312725"/>
                  </a:cubicBezTo>
                  <a:cubicBezTo>
                    <a:pt x="203111" y="312725"/>
                    <a:pt x="241859" y="242773"/>
                    <a:pt x="241859" y="156362"/>
                  </a:cubicBezTo>
                  <a:lnTo>
                    <a:pt x="241859" y="156362"/>
                  </a:lnTo>
                  <a:close/>
                  <a:moveTo>
                    <a:pt x="0" y="156362"/>
                  </a:moveTo>
                  <a:lnTo>
                    <a:pt x="312953" y="156362"/>
                  </a:lnTo>
                  <a:moveTo>
                    <a:pt x="269977" y="263576"/>
                  </a:moveTo>
                  <a:lnTo>
                    <a:pt x="269977" y="263576"/>
                  </a:lnTo>
                  <a:cubicBezTo>
                    <a:pt x="267691" y="252717"/>
                    <a:pt x="247460" y="243230"/>
                    <a:pt x="216370" y="237858"/>
                  </a:cubicBezTo>
                  <a:lnTo>
                    <a:pt x="216370" y="237858"/>
                  </a:lnTo>
                  <a:cubicBezTo>
                    <a:pt x="198882" y="234887"/>
                    <a:pt x="178194" y="233286"/>
                    <a:pt x="155219" y="233286"/>
                  </a:cubicBezTo>
                  <a:cubicBezTo>
                    <a:pt x="130645" y="233286"/>
                    <a:pt x="108585" y="235115"/>
                    <a:pt x="90640" y="238658"/>
                  </a:cubicBezTo>
                  <a:cubicBezTo>
                    <a:pt x="63551" y="243802"/>
                    <a:pt x="45377" y="252032"/>
                    <a:pt x="41148" y="261518"/>
                  </a:cubicBezTo>
                  <a:moveTo>
                    <a:pt x="312725" y="156362"/>
                  </a:moveTo>
                  <a:cubicBezTo>
                    <a:pt x="312725" y="70066"/>
                    <a:pt x="243002" y="0"/>
                    <a:pt x="157048" y="0"/>
                  </a:cubicBezTo>
                  <a:cubicBezTo>
                    <a:pt x="71095" y="0"/>
                    <a:pt x="1372" y="69952"/>
                    <a:pt x="1372" y="156362"/>
                  </a:cubicBezTo>
                  <a:cubicBezTo>
                    <a:pt x="1372" y="242773"/>
                    <a:pt x="71095" y="312725"/>
                    <a:pt x="157048" y="312725"/>
                  </a:cubicBezTo>
                  <a:cubicBezTo>
                    <a:pt x="243002" y="312725"/>
                    <a:pt x="312725" y="242773"/>
                    <a:pt x="312725" y="156362"/>
                  </a:cubicBezTo>
                  <a:lnTo>
                    <a:pt x="312725" y="156362"/>
                  </a:lnTo>
                  <a:close/>
                  <a:moveTo>
                    <a:pt x="156362" y="4115"/>
                  </a:moveTo>
                  <a:lnTo>
                    <a:pt x="156362" y="309524"/>
                  </a:lnTo>
                </a:path>
              </a:pathLst>
            </a:custGeom>
            <a:noFill/>
            <a:ln w="19050" cap="flat">
              <a:solidFill>
                <a:schemeClr val="accent2"/>
              </a:solidFill>
              <a:prstDash val="solid"/>
              <a:round/>
            </a:ln>
          </p:spPr>
          <p:txBody>
            <a:bodyPr rtlCol="0" anchor="ctr"/>
            <a:lstStyle/>
            <a:p>
              <a:endParaRPr lang="en-US"/>
            </a:p>
          </p:txBody>
        </p:sp>
      </p:grpSp>
      <p:sp>
        <p:nvSpPr>
          <p:cNvPr id="15" name="Rectangle: Rounded Corners 54">
            <a:extLst>
              <a:ext uri="{FF2B5EF4-FFF2-40B4-BE49-F238E27FC236}">
                <a16:creationId xmlns:a16="http://schemas.microsoft.com/office/drawing/2014/main" id="{762510A0-3FB5-094A-785D-ED2A59C62E71}"/>
              </a:ext>
            </a:extLst>
          </p:cNvPr>
          <p:cNvSpPr/>
          <p:nvPr/>
        </p:nvSpPr>
        <p:spPr>
          <a:xfrm>
            <a:off x="9753018" y="4120396"/>
            <a:ext cx="1754338" cy="1266927"/>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AWS Bedrock</a:t>
            </a:r>
          </a:p>
          <a:p>
            <a:pPr algn="ctr"/>
            <a:endParaRPr lang="en-US" dirty="0">
              <a:solidFill>
                <a:schemeClr val="tx1"/>
              </a:solidFill>
              <a:latin typeface="Amazon Ember Display" panose="020B0604020202020204" charset="0"/>
              <a:ea typeface="Amazon Ember Display" panose="020B0604020202020204" charset="0"/>
              <a:cs typeface="Amazon Ember Display" panose="020B0604020202020204" charset="0"/>
            </a:endParaRPr>
          </a:p>
          <a:p>
            <a:pPr algn="ctr"/>
            <a:endParaRPr lang="en-US" dirty="0">
              <a:solidFill>
                <a:schemeClr val="tx1"/>
              </a:solidFill>
              <a:latin typeface="Amazon Ember Display" panose="020B0604020202020204" charset="0"/>
              <a:ea typeface="Amazon Ember Display" panose="020B0604020202020204" charset="0"/>
              <a:cs typeface="Amazon Ember Display" panose="020B0604020202020204" charset="0"/>
            </a:endParaRPr>
          </a:p>
        </p:txBody>
      </p:sp>
      <p:sp>
        <p:nvSpPr>
          <p:cNvPr id="17" name="Rounded Rectangle 48">
            <a:extLst>
              <a:ext uri="{FF2B5EF4-FFF2-40B4-BE49-F238E27FC236}">
                <a16:creationId xmlns:a16="http://schemas.microsoft.com/office/drawing/2014/main" id="{E0F6B73B-59C1-8BE3-1B80-FDEA817BD5EC}"/>
              </a:ext>
            </a:extLst>
          </p:cNvPr>
          <p:cNvSpPr/>
          <p:nvPr/>
        </p:nvSpPr>
        <p:spPr>
          <a:xfrm>
            <a:off x="3853364" y="4538121"/>
            <a:ext cx="1931804" cy="847284"/>
          </a:xfrm>
          <a:prstGeom prst="roundRect">
            <a:avLst>
              <a:gd name="adj" fmla="val 17215"/>
            </a:avLst>
          </a:prstGeom>
          <a:solidFill>
            <a:schemeClr val="bg2"/>
          </a:solidFill>
          <a:ln w="19050">
            <a:gradFill flip="none" rotWithShape="1">
              <a:gsLst>
                <a:gs pos="0">
                  <a:schemeClr val="accent1"/>
                </a:gs>
                <a:gs pos="70000">
                  <a:schemeClr val="accent2"/>
                </a:gs>
              </a:gsLst>
              <a:path path="circle">
                <a:fillToRect l="100000" t="100000"/>
              </a:path>
              <a:tileRect r="-100000" b="-100000"/>
            </a:gradFill>
          </a:ln>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Application  code</a:t>
            </a:r>
          </a:p>
        </p:txBody>
      </p:sp>
      <p:pic>
        <p:nvPicPr>
          <p:cNvPr id="18" name="Picture 2" descr="Docker Logo Icons for Your Projects">
            <a:extLst>
              <a:ext uri="{FF2B5EF4-FFF2-40B4-BE49-F238E27FC236}">
                <a16:creationId xmlns:a16="http://schemas.microsoft.com/office/drawing/2014/main" id="{AE690261-1576-4540-4EE3-C97224D047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15538" y="4940305"/>
            <a:ext cx="465365" cy="465365"/>
          </a:xfrm>
          <a:prstGeom prst="rect">
            <a:avLst/>
          </a:prstGeom>
          <a:noFill/>
          <a:extLst>
            <a:ext uri="{909E8E84-426E-40DD-AFC4-6F175D3DCCD1}">
              <a14:hiddenFill xmlns:a14="http://schemas.microsoft.com/office/drawing/2010/main">
                <a:solidFill>
                  <a:srgbClr val="FFFFFF"/>
                </a:solidFill>
              </a14:hiddenFill>
            </a:ext>
          </a:extLst>
        </p:spPr>
      </p:pic>
      <p:sp>
        <p:nvSpPr>
          <p:cNvPr id="26" name="Rounded Rectangle 5">
            <a:extLst>
              <a:ext uri="{FF2B5EF4-FFF2-40B4-BE49-F238E27FC236}">
                <a16:creationId xmlns:a16="http://schemas.microsoft.com/office/drawing/2014/main" id="{DCC9B736-E5D7-9794-947F-76A279F9C086}"/>
              </a:ext>
            </a:extLst>
          </p:cNvPr>
          <p:cNvSpPr/>
          <p:nvPr/>
        </p:nvSpPr>
        <p:spPr>
          <a:xfrm>
            <a:off x="3555293" y="3852176"/>
            <a:ext cx="5624940" cy="1803368"/>
          </a:xfrm>
          <a:prstGeom prst="roundRect">
            <a:avLst/>
          </a:prstGeom>
          <a:noFill/>
          <a:ln w="12700"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lIns="45720" tIns="45720" rIns="45720" rtlCol="0" anchor="ctr"/>
          <a:lstStyle/>
          <a:p>
            <a:pPr algn="ctr"/>
            <a:endParaRPr lang="en-DE" dirty="0">
              <a:solidFill>
                <a:schemeClr val="bg1"/>
              </a:solidFill>
            </a:endParaRPr>
          </a:p>
        </p:txBody>
      </p:sp>
      <p:pic>
        <p:nvPicPr>
          <p:cNvPr id="1028" name="Picture 4">
            <a:extLst>
              <a:ext uri="{FF2B5EF4-FFF2-40B4-BE49-F238E27FC236}">
                <a16:creationId xmlns:a16="http://schemas.microsoft.com/office/drawing/2014/main" id="{67B3AAB2-DEDE-AED9-F1C0-B05D86FE25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4458" y="3802216"/>
            <a:ext cx="589116" cy="553393"/>
          </a:xfrm>
          <a:prstGeom prst="rect">
            <a:avLst/>
          </a:prstGeom>
          <a:solidFill>
            <a:schemeClr val="bg1"/>
          </a:solidFill>
        </p:spPr>
      </p:pic>
      <p:sp>
        <p:nvSpPr>
          <p:cNvPr id="30" name="TextBox 29">
            <a:extLst>
              <a:ext uri="{FF2B5EF4-FFF2-40B4-BE49-F238E27FC236}">
                <a16:creationId xmlns:a16="http://schemas.microsoft.com/office/drawing/2014/main" id="{D4738A3A-E8E4-763A-11E5-A80B58CA8D0A}"/>
              </a:ext>
            </a:extLst>
          </p:cNvPr>
          <p:cNvSpPr txBox="1"/>
          <p:nvPr/>
        </p:nvSpPr>
        <p:spPr>
          <a:xfrm>
            <a:off x="4255488" y="3919028"/>
            <a:ext cx="3163045" cy="369332"/>
          </a:xfrm>
          <a:prstGeom prst="rect">
            <a:avLst/>
          </a:prstGeom>
          <a:noFill/>
          <a:ln>
            <a:noFill/>
          </a:ln>
        </p:spPr>
        <p:txBody>
          <a:bodyPr wrap="none" rtlCol="0">
            <a:spAutoFit/>
          </a:bodyPr>
          <a:lstStyle>
            <a:defPPr>
              <a:defRPr lang="en-US"/>
            </a:defPPr>
            <a:lvl1pPr marR="0" lvl="0" indent="0" algn="ctr" fontAlgn="auto">
              <a:lnSpc>
                <a:spcPct val="100000"/>
              </a:lnSpc>
              <a:spcBef>
                <a:spcPts val="0"/>
              </a:spcBef>
              <a:spcAft>
                <a:spcPts val="0"/>
              </a:spcAft>
              <a:buClrTx/>
              <a:buSzTx/>
              <a:buFontTx/>
              <a:buNone/>
              <a:tabLst/>
              <a:defRPr kumimoji="0" sz="1400" b="0" i="0" u="none" strike="noStrike" cap="none" spc="0" normalizeH="0" baseline="0">
                <a:ln>
                  <a:noFill/>
                </a:ln>
                <a:solidFill>
                  <a:srgbClr val="FFFFFF"/>
                </a:solidFill>
                <a:effectLst/>
                <a:uLnTx/>
                <a:uFillTx/>
                <a:ea typeface="Amazon Ember Display" panose="020B0403020204020204" pitchFamily="34" charset="0"/>
                <a:cs typeface="Amazon Ember Display" panose="020B0403020204020204" pitchFamily="34" charset="0"/>
              </a:defRPr>
            </a:lvl1pPr>
          </a:lstStyle>
          <a:p>
            <a:r>
              <a:rPr lang="en-US" sz="1800" dirty="0" err="1">
                <a:solidFill>
                  <a:schemeClr val="tx1"/>
                </a:solidFill>
                <a:latin typeface="Amazon Ember Display" panose="020B0604020202020204" charset="0"/>
                <a:ea typeface="Amazon Ember Display" panose="020B0604020202020204" charset="0"/>
                <a:cs typeface="Amazon Ember Display" panose="020B0604020202020204" charset="0"/>
              </a:rPr>
              <a:t>SummerFox</a:t>
            </a:r>
            <a:r>
              <a:rPr lang="en-US" sz="1800" dirty="0">
                <a:solidFill>
                  <a:schemeClr val="tx1"/>
                </a:solidFill>
                <a:latin typeface="Amazon Ember Display" panose="020B0604020202020204" charset="0"/>
                <a:ea typeface="Amazon Ember Display" panose="020B0604020202020204" charset="0"/>
                <a:cs typeface="Amazon Ember Display" panose="020B0604020202020204" charset="0"/>
              </a:rPr>
              <a:t> @ </a:t>
            </a:r>
            <a:r>
              <a:rPr lang="en-US" sz="1800" dirty="0">
                <a:latin typeface="Amazon Ember Display" panose="020B0604020202020204" charset="0"/>
                <a:ea typeface="Amazon Ember Display" panose="020B0604020202020204" charset="0"/>
                <a:cs typeface="Amazon Ember Display" panose="020B0604020202020204" charset="0"/>
              </a:rPr>
              <a:t>Amazon EC2 </a:t>
            </a:r>
          </a:p>
        </p:txBody>
      </p:sp>
      <p:cxnSp>
        <p:nvCxnSpPr>
          <p:cNvPr id="38" name="Straight Arrow Connector 37">
            <a:extLst>
              <a:ext uri="{FF2B5EF4-FFF2-40B4-BE49-F238E27FC236}">
                <a16:creationId xmlns:a16="http://schemas.microsoft.com/office/drawing/2014/main" id="{544F7F2B-EF24-096C-5F54-BB9AAE465EE5}"/>
              </a:ext>
            </a:extLst>
          </p:cNvPr>
          <p:cNvCxnSpPr>
            <a:cxnSpLocks/>
          </p:cNvCxnSpPr>
          <p:nvPr/>
        </p:nvCxnSpPr>
        <p:spPr>
          <a:xfrm>
            <a:off x="2864653" y="2659529"/>
            <a:ext cx="625720"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4" name="Rectangle: Rounded Corners 54">
            <a:extLst>
              <a:ext uri="{FF2B5EF4-FFF2-40B4-BE49-F238E27FC236}">
                <a16:creationId xmlns:a16="http://schemas.microsoft.com/office/drawing/2014/main" id="{DB390362-3779-2452-69C2-B654FBAC4466}"/>
              </a:ext>
            </a:extLst>
          </p:cNvPr>
          <p:cNvSpPr/>
          <p:nvPr/>
        </p:nvSpPr>
        <p:spPr>
          <a:xfrm>
            <a:off x="5486938" y="2654094"/>
            <a:ext cx="1754338" cy="607158"/>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Grenadier scores</a:t>
            </a:r>
          </a:p>
        </p:txBody>
      </p:sp>
      <p:sp>
        <p:nvSpPr>
          <p:cNvPr id="52" name="TextBox 51">
            <a:extLst>
              <a:ext uri="{FF2B5EF4-FFF2-40B4-BE49-F238E27FC236}">
                <a16:creationId xmlns:a16="http://schemas.microsoft.com/office/drawing/2014/main" id="{78FBF17A-D373-548E-814E-D8D68C9599D7}"/>
              </a:ext>
            </a:extLst>
          </p:cNvPr>
          <p:cNvSpPr txBox="1"/>
          <p:nvPr/>
        </p:nvSpPr>
        <p:spPr>
          <a:xfrm>
            <a:off x="6296383" y="5046626"/>
            <a:ext cx="488916" cy="307777"/>
          </a:xfrm>
          <a:prstGeom prst="rect">
            <a:avLst/>
          </a:prstGeom>
          <a:noFill/>
        </p:spPr>
        <p:txBody>
          <a:bodyPr wrap="none" lIns="0" rIns="0" rtlCol="0">
            <a:spAutoFit/>
          </a:bodyPr>
          <a:lstStyle/>
          <a:p>
            <a:pPr algn="ctr"/>
            <a:r>
              <a:rPr lang="en-US" sz="1400" dirty="0">
                <a:latin typeface="Amazon Ember Display" panose="020B0604020202020204" charset="0"/>
                <a:ea typeface="Amazon Ember Display" panose="020B0604020202020204" charset="0"/>
                <a:cs typeface="Amazon Ember Display" panose="020B0604020202020204" charset="0"/>
              </a:rPr>
              <a:t>Agent</a:t>
            </a:r>
          </a:p>
        </p:txBody>
      </p:sp>
      <p:pic>
        <p:nvPicPr>
          <p:cNvPr id="53" name="Graphic 52">
            <a:extLst>
              <a:ext uri="{FF2B5EF4-FFF2-40B4-BE49-F238E27FC236}">
                <a16:creationId xmlns:a16="http://schemas.microsoft.com/office/drawing/2014/main" id="{4C5324CA-1E50-E064-8F0E-8478CEB3A7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0595" y="4560519"/>
            <a:ext cx="504372" cy="504372"/>
          </a:xfrm>
          <a:prstGeom prst="rect">
            <a:avLst/>
          </a:prstGeom>
        </p:spPr>
      </p:pic>
      <p:sp>
        <p:nvSpPr>
          <p:cNvPr id="54" name="TextBox 53">
            <a:extLst>
              <a:ext uri="{FF2B5EF4-FFF2-40B4-BE49-F238E27FC236}">
                <a16:creationId xmlns:a16="http://schemas.microsoft.com/office/drawing/2014/main" id="{5B81A757-2E0B-C20A-0276-9A49ADBB6458}"/>
              </a:ext>
            </a:extLst>
          </p:cNvPr>
          <p:cNvSpPr txBox="1"/>
          <p:nvPr/>
        </p:nvSpPr>
        <p:spPr>
          <a:xfrm>
            <a:off x="7251346" y="5046355"/>
            <a:ext cx="488916" cy="307777"/>
          </a:xfrm>
          <a:prstGeom prst="rect">
            <a:avLst/>
          </a:prstGeom>
          <a:noFill/>
        </p:spPr>
        <p:txBody>
          <a:bodyPr wrap="none" lIns="0" rIns="0" rtlCol="0">
            <a:spAutoFit/>
          </a:bodyPr>
          <a:lstStyle/>
          <a:p>
            <a:pPr algn="ctr"/>
            <a:r>
              <a:rPr lang="en-US" sz="1400" dirty="0">
                <a:latin typeface="Amazon Ember Display" panose="020B0604020202020204" charset="0"/>
                <a:ea typeface="Amazon Ember Display" panose="020B0604020202020204" charset="0"/>
                <a:cs typeface="Amazon Ember Display" panose="020B0604020202020204" charset="0"/>
              </a:rPr>
              <a:t>Agent</a:t>
            </a:r>
          </a:p>
        </p:txBody>
      </p:sp>
      <p:pic>
        <p:nvPicPr>
          <p:cNvPr id="55" name="Graphic 54">
            <a:extLst>
              <a:ext uri="{FF2B5EF4-FFF2-40B4-BE49-F238E27FC236}">
                <a16:creationId xmlns:a16="http://schemas.microsoft.com/office/drawing/2014/main" id="{A8A6A15C-3D0C-7FBB-8441-FC84E20F3B1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35558" y="4560248"/>
            <a:ext cx="504372" cy="504372"/>
          </a:xfrm>
          <a:prstGeom prst="rect">
            <a:avLst/>
          </a:prstGeom>
        </p:spPr>
      </p:pic>
      <p:sp>
        <p:nvSpPr>
          <p:cNvPr id="56" name="TextBox 55">
            <a:extLst>
              <a:ext uri="{FF2B5EF4-FFF2-40B4-BE49-F238E27FC236}">
                <a16:creationId xmlns:a16="http://schemas.microsoft.com/office/drawing/2014/main" id="{6640BBDE-7239-E088-7100-678E111582E4}"/>
              </a:ext>
            </a:extLst>
          </p:cNvPr>
          <p:cNvSpPr txBox="1"/>
          <p:nvPr/>
        </p:nvSpPr>
        <p:spPr>
          <a:xfrm>
            <a:off x="8195890" y="5045384"/>
            <a:ext cx="488916" cy="307777"/>
          </a:xfrm>
          <a:prstGeom prst="rect">
            <a:avLst/>
          </a:prstGeom>
          <a:noFill/>
        </p:spPr>
        <p:txBody>
          <a:bodyPr wrap="none" lIns="0" rIns="0" rtlCol="0">
            <a:spAutoFit/>
          </a:bodyPr>
          <a:lstStyle/>
          <a:p>
            <a:pPr algn="ctr"/>
            <a:r>
              <a:rPr lang="en-US" sz="1400" dirty="0">
                <a:latin typeface="Amazon Ember Display" panose="020B0604020202020204" charset="0"/>
                <a:ea typeface="Amazon Ember Display" panose="020B0604020202020204" charset="0"/>
                <a:cs typeface="Amazon Ember Display" panose="020B0604020202020204" charset="0"/>
              </a:rPr>
              <a:t>Agent</a:t>
            </a:r>
          </a:p>
        </p:txBody>
      </p:sp>
      <p:pic>
        <p:nvPicPr>
          <p:cNvPr id="57" name="Graphic 56">
            <a:extLst>
              <a:ext uri="{FF2B5EF4-FFF2-40B4-BE49-F238E27FC236}">
                <a16:creationId xmlns:a16="http://schemas.microsoft.com/office/drawing/2014/main" id="{72C4C90C-416B-0488-66FE-625ED15F4E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0102" y="4559277"/>
            <a:ext cx="504372" cy="504372"/>
          </a:xfrm>
          <a:prstGeom prst="rect">
            <a:avLst/>
          </a:prstGeom>
        </p:spPr>
      </p:pic>
      <p:sp>
        <p:nvSpPr>
          <p:cNvPr id="29" name="Rectangle: Rounded Corners 54">
            <a:extLst>
              <a:ext uri="{FF2B5EF4-FFF2-40B4-BE49-F238E27FC236}">
                <a16:creationId xmlns:a16="http://schemas.microsoft.com/office/drawing/2014/main" id="{DA0A7434-CEE5-A4D9-D6CF-009053168DE1}"/>
              </a:ext>
            </a:extLst>
          </p:cNvPr>
          <p:cNvSpPr/>
          <p:nvPr/>
        </p:nvSpPr>
        <p:spPr>
          <a:xfrm>
            <a:off x="7333585" y="1989899"/>
            <a:ext cx="1754338" cy="607158"/>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Candles scanners</a:t>
            </a:r>
          </a:p>
        </p:txBody>
      </p:sp>
      <p:sp>
        <p:nvSpPr>
          <p:cNvPr id="32" name="Rectangle: Rounded Corners 54">
            <a:extLst>
              <a:ext uri="{FF2B5EF4-FFF2-40B4-BE49-F238E27FC236}">
                <a16:creationId xmlns:a16="http://schemas.microsoft.com/office/drawing/2014/main" id="{552E4DA9-88E3-D63B-3A50-DF309488818C}"/>
              </a:ext>
            </a:extLst>
          </p:cNvPr>
          <p:cNvSpPr/>
          <p:nvPr/>
        </p:nvSpPr>
        <p:spPr>
          <a:xfrm>
            <a:off x="3648548" y="1976283"/>
            <a:ext cx="1754338" cy="607158"/>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News </a:t>
            </a:r>
          </a:p>
        </p:txBody>
      </p:sp>
      <p:sp>
        <p:nvSpPr>
          <p:cNvPr id="33" name="Rectangle: Rounded Corners 54">
            <a:extLst>
              <a:ext uri="{FF2B5EF4-FFF2-40B4-BE49-F238E27FC236}">
                <a16:creationId xmlns:a16="http://schemas.microsoft.com/office/drawing/2014/main" id="{804003A1-28ED-DAC7-DDFD-3FFFC34A2445}"/>
              </a:ext>
            </a:extLst>
          </p:cNvPr>
          <p:cNvSpPr/>
          <p:nvPr/>
        </p:nvSpPr>
        <p:spPr>
          <a:xfrm>
            <a:off x="3648548" y="2661091"/>
            <a:ext cx="1754338" cy="607158"/>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err="1">
                <a:solidFill>
                  <a:schemeClr val="tx1"/>
                </a:solidFill>
                <a:latin typeface="Amazon Ember Display" panose="020B0604020202020204" charset="0"/>
                <a:ea typeface="Amazon Ember Display" panose="020B0604020202020204" charset="0"/>
                <a:cs typeface="Amazon Ember Display" panose="020B0604020202020204" charset="0"/>
              </a:rPr>
              <a:t>SummerFox</a:t>
            </a: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 reports</a:t>
            </a:r>
          </a:p>
        </p:txBody>
      </p:sp>
      <p:sp>
        <p:nvSpPr>
          <p:cNvPr id="1054" name="Rounded Rectangle 5">
            <a:extLst>
              <a:ext uri="{FF2B5EF4-FFF2-40B4-BE49-F238E27FC236}">
                <a16:creationId xmlns:a16="http://schemas.microsoft.com/office/drawing/2014/main" id="{826264AE-AAAE-A02C-45FE-80EE9EB8EA0C}"/>
              </a:ext>
            </a:extLst>
          </p:cNvPr>
          <p:cNvSpPr/>
          <p:nvPr/>
        </p:nvSpPr>
        <p:spPr>
          <a:xfrm>
            <a:off x="3555293" y="1913826"/>
            <a:ext cx="5624939" cy="1448418"/>
          </a:xfrm>
          <a:prstGeom prst="roundRect">
            <a:avLst>
              <a:gd name="adj" fmla="val 8074"/>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lIns="45720" tIns="45720" rIns="45720" rtlCol="0" anchor="ctr"/>
          <a:lstStyle/>
          <a:p>
            <a:pPr algn="ctr"/>
            <a:endParaRPr lang="en-DE" dirty="0">
              <a:solidFill>
                <a:schemeClr val="bg1"/>
              </a:solidFill>
            </a:endParaRPr>
          </a:p>
        </p:txBody>
      </p:sp>
      <p:sp>
        <p:nvSpPr>
          <p:cNvPr id="1061" name="Rectangle: Rounded Corners 54">
            <a:extLst>
              <a:ext uri="{FF2B5EF4-FFF2-40B4-BE49-F238E27FC236}">
                <a16:creationId xmlns:a16="http://schemas.microsoft.com/office/drawing/2014/main" id="{81B7AFBD-9673-32B6-DC6E-2A8679FF7556}"/>
              </a:ext>
            </a:extLst>
          </p:cNvPr>
          <p:cNvSpPr/>
          <p:nvPr/>
        </p:nvSpPr>
        <p:spPr>
          <a:xfrm>
            <a:off x="5486938" y="1984348"/>
            <a:ext cx="1754338" cy="607158"/>
          </a:xfrm>
          <a:prstGeom prst="roundRect">
            <a:avLst>
              <a:gd name="adj" fmla="val 15900"/>
            </a:avLst>
          </a:prstGeom>
          <a:solidFill>
            <a:schemeClr val="bg2"/>
          </a:solidFill>
          <a:ln w="19050">
            <a:gradFill flip="none" rotWithShape="1">
              <a:gsLst>
                <a:gs pos="0">
                  <a:schemeClr val="accent3"/>
                </a:gs>
                <a:gs pos="50000">
                  <a:schemeClr val="accent1"/>
                </a:gs>
                <a:gs pos="100000">
                  <a:schemeClr val="accent2"/>
                </a:gs>
              </a:gsLst>
              <a:path path="circle">
                <a:fillToRect l="100000" t="100000"/>
              </a:path>
              <a:tileRect r="-100000" b="-100000"/>
            </a:gra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Amazon Ember Display" panose="020B0604020202020204" charset="0"/>
                <a:ea typeface="Amazon Ember Display" panose="020B0604020202020204" charset="0"/>
                <a:cs typeface="Amazon Ember Display" panose="020B0604020202020204" charset="0"/>
              </a:rPr>
              <a:t>IPF fundamentals</a:t>
            </a:r>
          </a:p>
        </p:txBody>
      </p:sp>
      <p:pic>
        <p:nvPicPr>
          <p:cNvPr id="1069" name="Graphic 1068">
            <a:extLst>
              <a:ext uri="{FF2B5EF4-FFF2-40B4-BE49-F238E27FC236}">
                <a16:creationId xmlns:a16="http://schemas.microsoft.com/office/drawing/2014/main" id="{7CC1ED4A-4ABD-0E26-C995-6BAD994AFC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64548" y="2855530"/>
            <a:ext cx="1431107" cy="335543"/>
          </a:xfrm>
          <a:prstGeom prst="rect">
            <a:avLst/>
          </a:prstGeom>
        </p:spPr>
      </p:pic>
      <p:sp>
        <p:nvSpPr>
          <p:cNvPr id="1070" name="TextBox 1069"/>
          <p:cNvSpPr txBox="1"/>
          <p:nvPr/>
        </p:nvSpPr>
        <p:spPr>
          <a:xfrm>
            <a:off x="533601" y="833774"/>
            <a:ext cx="10972800" cy="640080"/>
          </a:xfrm>
          <a:prstGeom prst="rect">
            <a:avLst/>
          </a:prstGeom>
          <a:noFill/>
        </p:spPr>
        <p:txBody>
          <a:bodyPr wrap="square">
            <a:spAutoFit/>
          </a:bodyPr>
          <a:lstStyle/>
          <a:p>
            <a:r>
              <a:rPr sz="3600" dirty="0">
                <a:latin typeface="Amazon Ember Display" panose="020B0604020202020204" charset="0"/>
                <a:ea typeface="Amazon Ember Display" panose="020B0604020202020204" charset="0"/>
                <a:cs typeface="Amazon Ember Display" panose="020B0604020202020204" charset="0"/>
              </a:rPr>
              <a:t>Products as tools, not just apps</a:t>
            </a:r>
          </a:p>
        </p:txBody>
      </p:sp>
      <p:cxnSp>
        <p:nvCxnSpPr>
          <p:cNvPr id="14" name="Straight Arrow Connector 13">
            <a:extLst>
              <a:ext uri="{FF2B5EF4-FFF2-40B4-BE49-F238E27FC236}">
                <a16:creationId xmlns:a16="http://schemas.microsoft.com/office/drawing/2014/main" id="{D2F79131-3142-C3D2-A4A3-4A988D72E457}"/>
              </a:ext>
            </a:extLst>
          </p:cNvPr>
          <p:cNvCxnSpPr>
            <a:cxnSpLocks/>
          </p:cNvCxnSpPr>
          <p:nvPr/>
        </p:nvCxnSpPr>
        <p:spPr>
          <a:xfrm flipV="1">
            <a:off x="8326808" y="3362244"/>
            <a:ext cx="0" cy="1130037"/>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49" name="Straight Arrow Connector 1048">
            <a:extLst>
              <a:ext uri="{FF2B5EF4-FFF2-40B4-BE49-F238E27FC236}">
                <a16:creationId xmlns:a16="http://schemas.microsoft.com/office/drawing/2014/main" id="{84BA2C20-5C07-104F-ED78-64BC60CC86F5}"/>
              </a:ext>
            </a:extLst>
          </p:cNvPr>
          <p:cNvCxnSpPr>
            <a:cxnSpLocks/>
          </p:cNvCxnSpPr>
          <p:nvPr/>
        </p:nvCxnSpPr>
        <p:spPr>
          <a:xfrm>
            <a:off x="1308112" y="2674525"/>
            <a:ext cx="625720"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53" name="Straight Arrow Connector 1052">
            <a:extLst>
              <a:ext uri="{FF2B5EF4-FFF2-40B4-BE49-F238E27FC236}">
                <a16:creationId xmlns:a16="http://schemas.microsoft.com/office/drawing/2014/main" id="{9C8F05A3-8590-D9E0-02E8-ECB7CA91B295}"/>
              </a:ext>
            </a:extLst>
          </p:cNvPr>
          <p:cNvCxnSpPr>
            <a:cxnSpLocks/>
            <a:stCxn id="33" idx="2"/>
          </p:cNvCxnSpPr>
          <p:nvPr/>
        </p:nvCxnSpPr>
        <p:spPr>
          <a:xfrm>
            <a:off x="4525717" y="3268249"/>
            <a:ext cx="0" cy="534004"/>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2" name="Straight Arrow Connector 1061">
            <a:extLst>
              <a:ext uri="{FF2B5EF4-FFF2-40B4-BE49-F238E27FC236}">
                <a16:creationId xmlns:a16="http://schemas.microsoft.com/office/drawing/2014/main" id="{CD8D0DEF-8B7E-D1AD-4880-8A951B46FA9F}"/>
              </a:ext>
            </a:extLst>
          </p:cNvPr>
          <p:cNvCxnSpPr>
            <a:cxnSpLocks/>
            <a:stCxn id="26" idx="3"/>
            <a:endCxn id="15" idx="1"/>
          </p:cNvCxnSpPr>
          <p:nvPr/>
        </p:nvCxnSpPr>
        <p:spPr>
          <a:xfrm>
            <a:off x="9180233" y="4753860"/>
            <a:ext cx="572785"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65" name="Rectangle 1064">
            <a:extLst>
              <a:ext uri="{FF2B5EF4-FFF2-40B4-BE49-F238E27FC236}">
                <a16:creationId xmlns:a16="http://schemas.microsoft.com/office/drawing/2014/main" id="{1CCF70E5-9262-001F-AE9C-AB29FBB74F7D}"/>
              </a:ext>
            </a:extLst>
          </p:cNvPr>
          <p:cNvSpPr/>
          <p:nvPr/>
        </p:nvSpPr>
        <p:spPr>
          <a:xfrm>
            <a:off x="8042150" y="4492279"/>
            <a:ext cx="759933" cy="847284"/>
          </a:xfrm>
          <a:prstGeom prst="rect">
            <a:avLst/>
          </a:prstGeom>
          <a:noFill/>
          <a:ln w="190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DE"/>
          </a:p>
        </p:txBody>
      </p:sp>
      <p:cxnSp>
        <p:nvCxnSpPr>
          <p:cNvPr id="1068" name="Straight Arrow Connector 1067">
            <a:extLst>
              <a:ext uri="{FF2B5EF4-FFF2-40B4-BE49-F238E27FC236}">
                <a16:creationId xmlns:a16="http://schemas.microsoft.com/office/drawing/2014/main" id="{66B615FF-EC97-73C0-5935-DC0527C410F3}"/>
              </a:ext>
            </a:extLst>
          </p:cNvPr>
          <p:cNvCxnSpPr>
            <a:cxnSpLocks/>
          </p:cNvCxnSpPr>
          <p:nvPr/>
        </p:nvCxnSpPr>
        <p:spPr>
          <a:xfrm>
            <a:off x="8513805" y="3369041"/>
            <a:ext cx="0" cy="1116441"/>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076" name="Graphic 1075" descr="Magnifying glass with solid fill">
            <a:extLst>
              <a:ext uri="{FF2B5EF4-FFF2-40B4-BE49-F238E27FC236}">
                <a16:creationId xmlns:a16="http://schemas.microsoft.com/office/drawing/2014/main" id="{ACB64468-FDFB-53B1-1861-C27E599C80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115649" y="4690052"/>
            <a:ext cx="481161" cy="481161"/>
          </a:xfrm>
          <a:prstGeom prst="rect">
            <a:avLst/>
          </a:prstGeom>
        </p:spPr>
      </p:pic>
      <p:pic>
        <p:nvPicPr>
          <p:cNvPr id="1078" name="Graphic 1077" descr="Tools with solid fill">
            <a:extLst>
              <a:ext uri="{FF2B5EF4-FFF2-40B4-BE49-F238E27FC236}">
                <a16:creationId xmlns:a16="http://schemas.microsoft.com/office/drawing/2014/main" id="{80D4EA71-BDDB-4B46-14EA-822CC86B95E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63564" y="4699724"/>
            <a:ext cx="481161" cy="481161"/>
          </a:xfrm>
          <a:prstGeom prst="rect">
            <a:avLst/>
          </a:prstGeom>
        </p:spPr>
      </p:pic>
      <p:cxnSp>
        <p:nvCxnSpPr>
          <p:cNvPr id="1082" name="Straight Connector 1081">
            <a:extLst>
              <a:ext uri="{FF2B5EF4-FFF2-40B4-BE49-F238E27FC236}">
                <a16:creationId xmlns:a16="http://schemas.microsoft.com/office/drawing/2014/main" id="{5EE32F41-7211-D966-2493-41B5EF669F72}"/>
              </a:ext>
            </a:extLst>
          </p:cNvPr>
          <p:cNvCxnSpPr>
            <a:cxnSpLocks/>
          </p:cNvCxnSpPr>
          <p:nvPr/>
        </p:nvCxnSpPr>
        <p:spPr>
          <a:xfrm>
            <a:off x="10033686" y="4812957"/>
            <a:ext cx="1180071" cy="307016"/>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1085" name="Straight Connector 1084">
            <a:extLst>
              <a:ext uri="{FF2B5EF4-FFF2-40B4-BE49-F238E27FC236}">
                <a16:creationId xmlns:a16="http://schemas.microsoft.com/office/drawing/2014/main" id="{85061E36-499D-816E-EDDF-CB7F345A074B}"/>
              </a:ext>
            </a:extLst>
          </p:cNvPr>
          <p:cNvCxnSpPr>
            <a:cxnSpLocks/>
          </p:cNvCxnSpPr>
          <p:nvPr/>
        </p:nvCxnSpPr>
        <p:spPr>
          <a:xfrm flipV="1">
            <a:off x="10033686" y="4811463"/>
            <a:ext cx="1180071" cy="323540"/>
          </a:xfrm>
          <a:prstGeom prst="line">
            <a:avLst/>
          </a:prstGeom>
          <a:ln w="76200"/>
        </p:spPr>
        <p:style>
          <a:lnRef idx="3">
            <a:schemeClr val="accent5"/>
          </a:lnRef>
          <a:fillRef idx="0">
            <a:schemeClr val="accent5"/>
          </a:fillRef>
          <a:effectRef idx="2">
            <a:schemeClr val="accent5"/>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Decision rule #1: when MCP is the right answer</a:t>
            </a:r>
          </a:p>
        </p:txBody>
      </p:sp>
      <p:sp>
        <p:nvSpPr>
          <p:cNvPr id="3" name="Text Placeholder 2"/>
          <p:cNvSpPr>
            <a:spLocks noGrp="1"/>
          </p:cNvSpPr>
          <p:nvPr>
            <p:ph type="body" idx="1"/>
          </p:nvPr>
        </p:nvSpPr>
        <p:spPr/>
        <p:txBody>
          <a:bodyPr/>
          <a:lstStyle/>
          <a:p>
            <a:pPr algn="ctr"/>
            <a:r>
              <a:rPr dirty="0"/>
              <a:t>Use it when</a:t>
            </a:r>
          </a:p>
        </p:txBody>
      </p:sp>
      <p:sp>
        <p:nvSpPr>
          <p:cNvPr id="4" name="Content Placeholder 3"/>
          <p:cNvSpPr>
            <a:spLocks noGrp="1"/>
          </p:cNvSpPr>
          <p:nvPr>
            <p:ph sz="half" idx="2"/>
          </p:nvPr>
        </p:nvSpPr>
        <p:spPr>
          <a:xfrm>
            <a:off x="609598" y="2194560"/>
            <a:ext cx="4910669" cy="1733808"/>
          </a:xfrm>
        </p:spPr>
        <p:txBody>
          <a:bodyPr wrap="square"/>
          <a:lstStyle/>
          <a:p>
            <a:r>
              <a:rPr sz="2000" dirty="0"/>
              <a:t>The answer already exists somewhere authoritative</a:t>
            </a:r>
          </a:p>
          <a:p>
            <a:r>
              <a:rPr sz="2000" dirty="0"/>
              <a:t>The model just needs to fetch it correctly</a:t>
            </a:r>
          </a:p>
          <a:p>
            <a:r>
              <a:rPr sz="2000" dirty="0"/>
              <a:t>More than one consumer will want the same data</a:t>
            </a:r>
          </a:p>
        </p:txBody>
      </p:sp>
      <p:sp>
        <p:nvSpPr>
          <p:cNvPr id="5" name="Text Placeholder 4"/>
          <p:cNvSpPr>
            <a:spLocks noGrp="1"/>
          </p:cNvSpPr>
          <p:nvPr>
            <p:ph type="body" sz="quarter" idx="3"/>
          </p:nvPr>
        </p:nvSpPr>
        <p:spPr/>
        <p:txBody>
          <a:bodyPr/>
          <a:lstStyle/>
          <a:p>
            <a:pPr algn="ctr"/>
            <a:r>
              <a:rPr dirty="0"/>
              <a:t>Don’t</a:t>
            </a:r>
            <a:r>
              <a:rPr lang="en-US" dirty="0"/>
              <a:t> use</a:t>
            </a:r>
            <a:endParaRPr dirty="0"/>
          </a:p>
        </p:txBody>
      </p:sp>
      <p:sp>
        <p:nvSpPr>
          <p:cNvPr id="6" name="Content Placeholder 5"/>
          <p:cNvSpPr>
            <a:spLocks noGrp="1"/>
          </p:cNvSpPr>
          <p:nvPr>
            <p:ph sz="quarter" idx="4"/>
          </p:nvPr>
        </p:nvSpPr>
        <p:spPr>
          <a:xfrm>
            <a:off x="6334125" y="2194560"/>
            <a:ext cx="5248656" cy="1733808"/>
          </a:xfrm>
        </p:spPr>
        <p:txBody>
          <a:bodyPr wrap="square"/>
          <a:lstStyle/>
          <a:p>
            <a:r>
              <a:rPr sz="2000" dirty="0"/>
              <a:t>As a substitute for a calculation engine</a:t>
            </a:r>
          </a:p>
          <a:p>
            <a:r>
              <a:rPr sz="2000" dirty="0"/>
              <a:t>When the consumer is one fixed pipeline </a:t>
            </a:r>
            <a:r>
              <a:rPr lang="en-US" sz="2000" dirty="0"/>
              <a:t>–</a:t>
            </a:r>
            <a:r>
              <a:rPr sz="2000" dirty="0"/>
              <a:t> just call the API</a:t>
            </a:r>
          </a:p>
          <a:p>
            <a:r>
              <a:rPr sz="2000" dirty="0"/>
              <a:t>To </a:t>
            </a:r>
            <a:r>
              <a:rPr lang="en-US" sz="2000" dirty="0"/>
              <a:t>deal with </a:t>
            </a:r>
            <a:r>
              <a:rPr sz="2000" dirty="0"/>
              <a:t>a data-quality problem upstream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SummerFox</a:t>
            </a:r>
            <a:r>
              <a:rPr lang="en-US" dirty="0"/>
              <a:t>: the market report, written by agents</a:t>
            </a:r>
          </a:p>
        </p:txBody>
      </p:sp>
      <p:sp>
        <p:nvSpPr>
          <p:cNvPr id="3" name="Content Placeholder 2"/>
          <p:cNvSpPr>
            <a:spLocks noGrp="1"/>
          </p:cNvSpPr>
          <p:nvPr>
            <p:ph idx="1"/>
          </p:nvPr>
        </p:nvSpPr>
        <p:spPr>
          <a:xfrm>
            <a:off x="609599" y="1737360"/>
            <a:ext cx="4308390" cy="4206240"/>
          </a:xfrm>
        </p:spPr>
        <p:txBody>
          <a:bodyPr wrap="square">
            <a:normAutofit/>
          </a:bodyPr>
          <a:lstStyle/>
          <a:p>
            <a:pPr marL="342900" indent="-342900">
              <a:spcBef>
                <a:spcPts val="600"/>
              </a:spcBef>
              <a:spcAft>
                <a:spcPts val="600"/>
              </a:spcAft>
              <a:buFont typeface="Arial" panose="020B0604020202020204" pitchFamily="34" charset="0"/>
              <a:buChar char="•"/>
            </a:pPr>
            <a:r>
              <a:rPr lang="en-US" sz="2000" dirty="0"/>
              <a:t>Ask about a stock or a portfolio, get a structured report in seconds </a:t>
            </a:r>
          </a:p>
          <a:p>
            <a:pPr marL="342900" indent="-342900">
              <a:spcBef>
                <a:spcPts val="600"/>
              </a:spcBef>
              <a:spcAft>
                <a:spcPts val="600"/>
              </a:spcAft>
              <a:buFont typeface="Arial" panose="020B0604020202020204" pitchFamily="34" charset="0"/>
              <a:buChar char="•"/>
            </a:pPr>
            <a:r>
              <a:rPr lang="en-US" sz="2000" dirty="0"/>
              <a:t>Every number &amp; data point comes from </a:t>
            </a:r>
            <a:r>
              <a:rPr lang="en-US" sz="2000" dirty="0" err="1"/>
              <a:t>dxFeed</a:t>
            </a:r>
            <a:r>
              <a:rPr lang="en-US" sz="2000" dirty="0"/>
              <a:t>: candles, news, fundamentals, instrument profiles</a:t>
            </a:r>
          </a:p>
          <a:p>
            <a:pPr marL="342900" indent="-342900">
              <a:spcBef>
                <a:spcPts val="600"/>
              </a:spcBef>
              <a:spcAft>
                <a:spcPts val="600"/>
              </a:spcAft>
              <a:buFont typeface="Arial" panose="020B0604020202020204" pitchFamily="34" charset="0"/>
              <a:buChar char="•"/>
            </a:pPr>
            <a:r>
              <a:rPr lang="en-US" sz="2000" dirty="0"/>
              <a:t>One report, any language</a:t>
            </a:r>
          </a:p>
          <a:p>
            <a:pPr marL="342900" indent="-342900">
              <a:spcBef>
                <a:spcPts val="600"/>
              </a:spcBef>
              <a:spcAft>
                <a:spcPts val="600"/>
              </a:spcAft>
              <a:buFont typeface="Arial" panose="020B0604020202020204" pitchFamily="34" charset="0"/>
              <a:buChar char="•"/>
            </a:pPr>
            <a:r>
              <a:rPr lang="en-US" sz="2000" dirty="0"/>
              <a:t>Per-symbol and portfolio views</a:t>
            </a:r>
          </a:p>
          <a:p>
            <a:pPr marL="342900" indent="-342900">
              <a:spcBef>
                <a:spcPts val="600"/>
              </a:spcBef>
              <a:spcAft>
                <a:spcPts val="600"/>
              </a:spcAft>
              <a:buFont typeface="Arial" panose="020B0604020202020204" pitchFamily="34" charset="0"/>
              <a:buChar char="•"/>
            </a:pPr>
            <a:r>
              <a:rPr lang="en-US" sz="2000" dirty="0"/>
              <a:t>Now with licence-free financial news on Google's GDELT GKG (</a:t>
            </a:r>
            <a:r>
              <a:rPr lang="en-US" sz="2000" dirty="0" err="1"/>
              <a:t>BigQuery</a:t>
            </a:r>
            <a:r>
              <a:rPr lang="en-US" sz="2000" dirty="0"/>
              <a:t> public dataset)</a:t>
            </a:r>
          </a:p>
        </p:txBody>
      </p:sp>
      <p:pic>
        <p:nvPicPr>
          <p:cNvPr id="10" name="Picture 9">
            <a:extLst>
              <a:ext uri="{FF2B5EF4-FFF2-40B4-BE49-F238E27FC236}">
                <a16:creationId xmlns:a16="http://schemas.microsoft.com/office/drawing/2014/main" id="{EAC82596-0BC0-D10F-6685-F4446EBE0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8284" y="1737360"/>
            <a:ext cx="6229362" cy="436728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0CE6398-158C-67F3-E02F-FBC2377CB659}"/>
              </a:ext>
            </a:extLst>
          </p:cNvPr>
          <p:cNvSpPr txBox="1">
            <a:spLocks/>
          </p:cNvSpPr>
          <p:nvPr/>
        </p:nvSpPr>
        <p:spPr>
          <a:xfrm>
            <a:off x="301752" y="301752"/>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err="1"/>
              <a:t>dxFeed</a:t>
            </a:r>
            <a:r>
              <a:rPr lang="en-US" sz="4000" dirty="0"/>
              <a:t> </a:t>
            </a:r>
            <a:r>
              <a:rPr lang="en-US" sz="4000" dirty="0" err="1"/>
              <a:t>SummerFox</a:t>
            </a:r>
            <a:r>
              <a:rPr lang="en-US" sz="4000" dirty="0"/>
              <a:t> in Action</a:t>
            </a:r>
          </a:p>
        </p:txBody>
      </p:sp>
      <p:pic>
        <p:nvPicPr>
          <p:cNvPr id="1026" name="Picture 2">
            <a:extLst>
              <a:ext uri="{FF2B5EF4-FFF2-40B4-BE49-F238E27FC236}">
                <a16:creationId xmlns:a16="http://schemas.microsoft.com/office/drawing/2014/main" id="{5FE15B1C-5474-AE6C-45A3-CA58FDCE52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28400"/>
            <a:ext cx="12192741" cy="5529600"/>
          </a:xfrm>
          <a:prstGeom prst="rect">
            <a:avLst/>
          </a:prstGeom>
          <a:noFill/>
          <a:ln w="38100">
            <a:noFill/>
          </a:ln>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4BD810A8-1EE6-2B84-9BE1-B54B2632E601}"/>
              </a:ext>
            </a:extLst>
          </p:cNvPr>
          <p:cNvGrpSpPr/>
          <p:nvPr/>
        </p:nvGrpSpPr>
        <p:grpSpPr>
          <a:xfrm>
            <a:off x="1414448" y="828532"/>
            <a:ext cx="5612885" cy="2139035"/>
            <a:chOff x="1414448" y="828532"/>
            <a:chExt cx="5612885" cy="2139035"/>
          </a:xfrm>
        </p:grpSpPr>
        <p:sp>
          <p:nvSpPr>
            <p:cNvPr id="5" name="TextBox 4">
              <a:extLst>
                <a:ext uri="{FF2B5EF4-FFF2-40B4-BE49-F238E27FC236}">
                  <a16:creationId xmlns:a16="http://schemas.microsoft.com/office/drawing/2014/main" id="{7BA8A307-45C7-B818-6B72-8C4CF4C502BA}"/>
                </a:ext>
              </a:extLst>
            </p:cNvPr>
            <p:cNvSpPr txBox="1"/>
            <p:nvPr/>
          </p:nvSpPr>
          <p:spPr>
            <a:xfrm>
              <a:off x="1414448" y="828532"/>
              <a:ext cx="3779623"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What is the high-level outlook?</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15" name="Rectangle 14">
              <a:extLst>
                <a:ext uri="{FF2B5EF4-FFF2-40B4-BE49-F238E27FC236}">
                  <a16:creationId xmlns:a16="http://schemas.microsoft.com/office/drawing/2014/main" id="{4EE695EF-DA7D-FD1D-1F6E-92C4ADA28B84}"/>
                </a:ext>
              </a:extLst>
            </p:cNvPr>
            <p:cNvSpPr/>
            <p:nvPr/>
          </p:nvSpPr>
          <p:spPr>
            <a:xfrm>
              <a:off x="2391833" y="2184401"/>
              <a:ext cx="4635500" cy="783166"/>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21" name="Straight Connector 20">
              <a:extLst>
                <a:ext uri="{FF2B5EF4-FFF2-40B4-BE49-F238E27FC236}">
                  <a16:creationId xmlns:a16="http://schemas.microsoft.com/office/drawing/2014/main" id="{D26CFF99-C8C3-1139-C7E3-778FD7733CC4}"/>
                </a:ext>
              </a:extLst>
            </p:cNvPr>
            <p:cNvCxnSpPr>
              <a:cxnSpLocks/>
              <a:stCxn id="5" idx="2"/>
              <a:endCxn id="15" idx="0"/>
            </p:cNvCxnSpPr>
            <p:nvPr/>
          </p:nvCxnSpPr>
          <p:spPr>
            <a:xfrm>
              <a:off x="3304260" y="1228642"/>
              <a:ext cx="1405323" cy="955759"/>
            </a:xfrm>
            <a:prstGeom prst="line">
              <a:avLst/>
            </a:prstGeom>
            <a:ln w="38100"/>
          </p:spPr>
          <p:style>
            <a:lnRef idx="3">
              <a:schemeClr val="accent6"/>
            </a:lnRef>
            <a:fillRef idx="0">
              <a:schemeClr val="accent6"/>
            </a:fillRef>
            <a:effectRef idx="2">
              <a:schemeClr val="accent6"/>
            </a:effectRef>
            <a:fontRef idx="minor">
              <a:schemeClr val="tx1"/>
            </a:fontRef>
          </p:style>
        </p:cxnSp>
      </p:grpSp>
      <p:grpSp>
        <p:nvGrpSpPr>
          <p:cNvPr id="46" name="Group 45">
            <a:extLst>
              <a:ext uri="{FF2B5EF4-FFF2-40B4-BE49-F238E27FC236}">
                <a16:creationId xmlns:a16="http://schemas.microsoft.com/office/drawing/2014/main" id="{5CC2CB5A-214E-6DBF-A677-32B2B5E110A5}"/>
              </a:ext>
            </a:extLst>
          </p:cNvPr>
          <p:cNvGrpSpPr/>
          <p:nvPr/>
        </p:nvGrpSpPr>
        <p:grpSpPr>
          <a:xfrm>
            <a:off x="6599395" y="828532"/>
            <a:ext cx="5380938" cy="3138101"/>
            <a:chOff x="6599395" y="828532"/>
            <a:chExt cx="5380938" cy="3138101"/>
          </a:xfrm>
        </p:grpSpPr>
        <p:sp>
          <p:nvSpPr>
            <p:cNvPr id="3" name="TextBox 2">
              <a:extLst>
                <a:ext uri="{FF2B5EF4-FFF2-40B4-BE49-F238E27FC236}">
                  <a16:creationId xmlns:a16="http://schemas.microsoft.com/office/drawing/2014/main" id="{77D2152A-48BC-4244-5C6F-180751E2EF82}"/>
                </a:ext>
              </a:extLst>
            </p:cNvPr>
            <p:cNvSpPr txBox="1"/>
            <p:nvPr/>
          </p:nvSpPr>
          <p:spPr>
            <a:xfrm>
              <a:off x="6599395" y="828532"/>
              <a:ext cx="4508757"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What data-driven insights are there? </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25" name="Rectangle 24">
              <a:extLst>
                <a:ext uri="{FF2B5EF4-FFF2-40B4-BE49-F238E27FC236}">
                  <a16:creationId xmlns:a16="http://schemas.microsoft.com/office/drawing/2014/main" id="{2D39D952-F15C-280F-B952-BA9A18398B75}"/>
                </a:ext>
              </a:extLst>
            </p:cNvPr>
            <p:cNvSpPr/>
            <p:nvPr/>
          </p:nvSpPr>
          <p:spPr>
            <a:xfrm>
              <a:off x="7344833" y="3310034"/>
              <a:ext cx="4635500" cy="656599"/>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26" name="Straight Connector 25">
              <a:extLst>
                <a:ext uri="{FF2B5EF4-FFF2-40B4-BE49-F238E27FC236}">
                  <a16:creationId xmlns:a16="http://schemas.microsoft.com/office/drawing/2014/main" id="{EB7DE6D8-381D-BC83-035D-F5551BD6D133}"/>
                </a:ext>
              </a:extLst>
            </p:cNvPr>
            <p:cNvCxnSpPr>
              <a:cxnSpLocks/>
              <a:stCxn id="3" idx="2"/>
              <a:endCxn id="25" idx="0"/>
            </p:cNvCxnSpPr>
            <p:nvPr/>
          </p:nvCxnSpPr>
          <p:spPr>
            <a:xfrm>
              <a:off x="8853774" y="1228642"/>
              <a:ext cx="808809" cy="2081392"/>
            </a:xfrm>
            <a:prstGeom prst="line">
              <a:avLst/>
            </a:prstGeom>
            <a:ln w="38100"/>
          </p:spPr>
          <p:style>
            <a:lnRef idx="3">
              <a:schemeClr val="accent6"/>
            </a:lnRef>
            <a:fillRef idx="0">
              <a:schemeClr val="accent6"/>
            </a:fillRef>
            <a:effectRef idx="2">
              <a:schemeClr val="accent6"/>
            </a:effectRef>
            <a:fontRef idx="minor">
              <a:schemeClr val="tx1"/>
            </a:fontRef>
          </p:style>
        </p:cxnSp>
      </p:grpSp>
      <p:grpSp>
        <p:nvGrpSpPr>
          <p:cNvPr id="47" name="Group 46">
            <a:extLst>
              <a:ext uri="{FF2B5EF4-FFF2-40B4-BE49-F238E27FC236}">
                <a16:creationId xmlns:a16="http://schemas.microsoft.com/office/drawing/2014/main" id="{2204DCE3-49D7-38C3-7C6A-331013C31323}"/>
              </a:ext>
            </a:extLst>
          </p:cNvPr>
          <p:cNvGrpSpPr/>
          <p:nvPr/>
        </p:nvGrpSpPr>
        <p:grpSpPr>
          <a:xfrm>
            <a:off x="403139" y="4389534"/>
            <a:ext cx="11577194" cy="2261643"/>
            <a:chOff x="403139" y="4389534"/>
            <a:chExt cx="11577194" cy="2261643"/>
          </a:xfrm>
        </p:grpSpPr>
        <p:sp>
          <p:nvSpPr>
            <p:cNvPr id="8" name="TextBox 7">
              <a:extLst>
                <a:ext uri="{FF2B5EF4-FFF2-40B4-BE49-F238E27FC236}">
                  <a16:creationId xmlns:a16="http://schemas.microsoft.com/office/drawing/2014/main" id="{7A723966-A228-CC38-013E-D080A8950CDD}"/>
                </a:ext>
              </a:extLst>
            </p:cNvPr>
            <p:cNvSpPr txBox="1"/>
            <p:nvPr/>
          </p:nvSpPr>
          <p:spPr>
            <a:xfrm>
              <a:off x="403139" y="6251067"/>
              <a:ext cx="4566340"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How do recent news affect the stock?</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31" name="Rectangle 30">
              <a:extLst>
                <a:ext uri="{FF2B5EF4-FFF2-40B4-BE49-F238E27FC236}">
                  <a16:creationId xmlns:a16="http://schemas.microsoft.com/office/drawing/2014/main" id="{DF9ABCF7-36AB-FFD6-925D-767D34889686}"/>
                </a:ext>
              </a:extLst>
            </p:cNvPr>
            <p:cNvSpPr/>
            <p:nvPr/>
          </p:nvSpPr>
          <p:spPr>
            <a:xfrm>
              <a:off x="7344833" y="4389534"/>
              <a:ext cx="4635500" cy="656599"/>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2" name="Straight Connector 31">
              <a:extLst>
                <a:ext uri="{FF2B5EF4-FFF2-40B4-BE49-F238E27FC236}">
                  <a16:creationId xmlns:a16="http://schemas.microsoft.com/office/drawing/2014/main" id="{7ACD79E9-104B-F06A-96C9-16A9F7F68E5D}"/>
                </a:ext>
              </a:extLst>
            </p:cNvPr>
            <p:cNvCxnSpPr>
              <a:cxnSpLocks/>
              <a:stCxn id="8" idx="0"/>
              <a:endCxn id="31" idx="1"/>
            </p:cNvCxnSpPr>
            <p:nvPr/>
          </p:nvCxnSpPr>
          <p:spPr>
            <a:xfrm flipV="1">
              <a:off x="2686309" y="4717834"/>
              <a:ext cx="4658524" cy="1533233"/>
            </a:xfrm>
            <a:prstGeom prst="line">
              <a:avLst/>
            </a:prstGeom>
            <a:ln w="38100"/>
          </p:spPr>
          <p:style>
            <a:lnRef idx="3">
              <a:schemeClr val="accent6"/>
            </a:lnRef>
            <a:fillRef idx="0">
              <a:schemeClr val="accent6"/>
            </a:fillRef>
            <a:effectRef idx="2">
              <a:schemeClr val="accent6"/>
            </a:effectRef>
            <a:fontRef idx="minor">
              <a:schemeClr val="tx1"/>
            </a:fontRef>
          </p:style>
        </p:cxnSp>
      </p:grpSp>
      <p:grpSp>
        <p:nvGrpSpPr>
          <p:cNvPr id="48" name="Group 47">
            <a:extLst>
              <a:ext uri="{FF2B5EF4-FFF2-40B4-BE49-F238E27FC236}">
                <a16:creationId xmlns:a16="http://schemas.microsoft.com/office/drawing/2014/main" id="{4FE549FE-1BDA-3AD2-3856-54D15C88B78B}"/>
              </a:ext>
            </a:extLst>
          </p:cNvPr>
          <p:cNvGrpSpPr/>
          <p:nvPr/>
        </p:nvGrpSpPr>
        <p:grpSpPr>
          <a:xfrm>
            <a:off x="7222522" y="5517712"/>
            <a:ext cx="4812959" cy="1228278"/>
            <a:chOff x="7222522" y="5517712"/>
            <a:chExt cx="4812959" cy="1228278"/>
          </a:xfrm>
        </p:grpSpPr>
        <p:sp>
          <p:nvSpPr>
            <p:cNvPr id="10" name="TextBox 9">
              <a:extLst>
                <a:ext uri="{FF2B5EF4-FFF2-40B4-BE49-F238E27FC236}">
                  <a16:creationId xmlns:a16="http://schemas.microsoft.com/office/drawing/2014/main" id="{B1E09CA8-02F7-65A1-A3F2-72229267ECB5}"/>
                </a:ext>
              </a:extLst>
            </p:cNvPr>
            <p:cNvSpPr txBox="1"/>
            <p:nvPr/>
          </p:nvSpPr>
          <p:spPr>
            <a:xfrm>
              <a:off x="7222522" y="6345880"/>
              <a:ext cx="4812959"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What is the current market consensus?</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36" name="Rectangle 35">
              <a:extLst>
                <a:ext uri="{FF2B5EF4-FFF2-40B4-BE49-F238E27FC236}">
                  <a16:creationId xmlns:a16="http://schemas.microsoft.com/office/drawing/2014/main" id="{02ECDBEE-DFC3-14C5-BFD6-D01A0B549A7F}"/>
                </a:ext>
              </a:extLst>
            </p:cNvPr>
            <p:cNvSpPr/>
            <p:nvPr/>
          </p:nvSpPr>
          <p:spPr>
            <a:xfrm>
              <a:off x="7344833" y="5517712"/>
              <a:ext cx="4635500" cy="656599"/>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 name="Straight Connector 36">
              <a:extLst>
                <a:ext uri="{FF2B5EF4-FFF2-40B4-BE49-F238E27FC236}">
                  <a16:creationId xmlns:a16="http://schemas.microsoft.com/office/drawing/2014/main" id="{6360861E-7A9B-DEA6-E11C-05EB6F76555F}"/>
                </a:ext>
              </a:extLst>
            </p:cNvPr>
            <p:cNvCxnSpPr>
              <a:cxnSpLocks/>
              <a:stCxn id="10" idx="0"/>
              <a:endCxn id="36" idx="2"/>
            </p:cNvCxnSpPr>
            <p:nvPr/>
          </p:nvCxnSpPr>
          <p:spPr>
            <a:xfrm flipV="1">
              <a:off x="9629002" y="6174311"/>
              <a:ext cx="33581" cy="171569"/>
            </a:xfrm>
            <a:prstGeom prst="line">
              <a:avLst/>
            </a:prstGeom>
            <a:ln w="38100"/>
          </p:spPr>
          <p:style>
            <a:lnRef idx="3">
              <a:schemeClr val="accent6"/>
            </a:lnRef>
            <a:fillRef idx="0">
              <a:schemeClr val="accent6"/>
            </a:fillRef>
            <a:effectRef idx="2">
              <a:schemeClr val="accent6"/>
            </a:effectRef>
            <a:fontRef idx="minor">
              <a:schemeClr val="tx1"/>
            </a:fontRef>
          </p:style>
        </p:cxn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headline is not a ticker</a:t>
            </a:r>
          </a:p>
        </p:txBody>
      </p:sp>
      <p:graphicFrame>
        <p:nvGraphicFramePr>
          <p:cNvPr id="3" name="Table 3"/>
          <p:cNvGraphicFramePr>
            <a:graphicFrameLocks noGrp="1"/>
          </p:cNvGraphicFramePr>
          <p:nvPr>
            <p:extLst>
              <p:ext uri="{D42A27DB-BD31-4B8C-83A1-F6EECF244321}">
                <p14:modId xmlns:p14="http://schemas.microsoft.com/office/powerpoint/2010/main" val="3490489243"/>
              </p:ext>
            </p:extLst>
          </p:nvPr>
        </p:nvGraphicFramePr>
        <p:xfrm>
          <a:off x="609599" y="1737360"/>
          <a:ext cx="10621880" cy="2560320"/>
        </p:xfrm>
        <a:graphic>
          <a:graphicData uri="http://schemas.openxmlformats.org/drawingml/2006/table">
            <a:tbl>
              <a:tblPr firstRow="1" bandRow="1">
                <a:tableStyleId>{5C22544A-7EE6-4342-B048-85BDC9FD1C3A}</a:tableStyleId>
              </a:tblPr>
              <a:tblGrid>
                <a:gridCol w="3203424">
                  <a:extLst>
                    <a:ext uri="{9D8B030D-6E8A-4147-A177-3AD203B41FA5}">
                      <a16:colId xmlns:a16="http://schemas.microsoft.com/office/drawing/2014/main" val="20000"/>
                    </a:ext>
                  </a:extLst>
                </a:gridCol>
                <a:gridCol w="3709228">
                  <a:extLst>
                    <a:ext uri="{9D8B030D-6E8A-4147-A177-3AD203B41FA5}">
                      <a16:colId xmlns:a16="http://schemas.microsoft.com/office/drawing/2014/main" val="20002"/>
                    </a:ext>
                  </a:extLst>
                </a:gridCol>
                <a:gridCol w="3709228">
                  <a:extLst>
                    <a:ext uri="{9D8B030D-6E8A-4147-A177-3AD203B41FA5}">
                      <a16:colId xmlns:a16="http://schemas.microsoft.com/office/drawing/2014/main" val="4124409514"/>
                    </a:ext>
                  </a:extLst>
                </a:gridCol>
              </a:tblGrid>
              <a:tr h="640080">
                <a:tc>
                  <a:txBody>
                    <a:bodyPr/>
                    <a:lstStyle/>
                    <a:p>
                      <a:r>
                        <a:rPr sz="1500" b="1" dirty="0"/>
                        <a:t>What the text says</a:t>
                      </a:r>
                    </a:p>
                  </a:txBody>
                  <a:tcPr/>
                </a:tc>
                <a:tc>
                  <a:txBody>
                    <a:bodyPr/>
                    <a:lstStyle/>
                    <a:p>
                      <a:r>
                        <a:rPr sz="1500" b="1" dirty="0"/>
                        <a:t>The trap</a:t>
                      </a:r>
                    </a:p>
                  </a:txBody>
                  <a:tcPr/>
                </a:tc>
                <a:tc>
                  <a:txBody>
                    <a:bodyPr/>
                    <a:lstStyle/>
                    <a:p>
                      <a:r>
                        <a:rPr sz="1500" b="1" dirty="0"/>
                        <a:t>What gets stored</a:t>
                      </a:r>
                    </a:p>
                  </a:txBody>
                  <a:tcPr/>
                </a:tc>
                <a:extLst>
                  <a:ext uri="{0D108BD9-81ED-4DB2-BD59-A6C34878D82A}">
                    <a16:rowId xmlns:a16="http://schemas.microsoft.com/office/drawing/2014/main" val="10000"/>
                  </a:ext>
                </a:extLst>
              </a:tr>
              <a:tr h="640080">
                <a:tc>
                  <a:txBody>
                    <a:bodyPr/>
                    <a:lstStyle/>
                    <a:p>
                      <a:r>
                        <a:rPr sz="1500" dirty="0"/>
                        <a:t>"Marvell to join S&amp;P 500"</a:t>
                      </a:r>
                    </a:p>
                  </a:txBody>
                  <a:tcPr/>
                </a:tc>
                <a:tc>
                  <a:txBody>
                    <a:bodyPr/>
                    <a:lstStyle/>
                    <a:p>
                      <a:r>
                        <a:rPr sz="1500" dirty="0"/>
                        <a:t>The louder name is not the subject</a:t>
                      </a:r>
                    </a:p>
                  </a:txBody>
                  <a:tcPr/>
                </a:tc>
                <a:tc>
                  <a:txBody>
                    <a:bodyPr/>
                    <a:lstStyle/>
                    <a:p>
                      <a:r>
                        <a:rPr sz="1500" dirty="0" err="1"/>
                        <a:t>stock:MRVL</a:t>
                      </a:r>
                      <a:r>
                        <a:rPr sz="1500" dirty="0"/>
                        <a:t> primary</a:t>
                      </a:r>
                      <a:endParaRPr lang="en-US" sz="1500" dirty="0"/>
                    </a:p>
                    <a:p>
                      <a:r>
                        <a:rPr sz="1500" dirty="0" err="1"/>
                        <a:t>index:SPX</a:t>
                      </a:r>
                      <a:r>
                        <a:rPr sz="1500" dirty="0"/>
                        <a:t> secondary</a:t>
                      </a:r>
                    </a:p>
                  </a:txBody>
                  <a:tcPr/>
                </a:tc>
                <a:extLst>
                  <a:ext uri="{0D108BD9-81ED-4DB2-BD59-A6C34878D82A}">
                    <a16:rowId xmlns:a16="http://schemas.microsoft.com/office/drawing/2014/main" val="10001"/>
                  </a:ext>
                </a:extLst>
              </a:tr>
              <a:tr h="640080">
                <a:tc>
                  <a:txBody>
                    <a:bodyPr/>
                    <a:lstStyle/>
                    <a:p>
                      <a:r>
                        <a:rPr sz="1500" dirty="0"/>
                        <a:t>"</a:t>
                      </a:r>
                      <a:r>
                        <a:rPr lang="en-US" sz="1500" dirty="0"/>
                        <a:t>[…] </a:t>
                      </a:r>
                      <a:r>
                        <a:rPr sz="1500" dirty="0"/>
                        <a:t>Source: Nasdaq"</a:t>
                      </a:r>
                      <a:r>
                        <a:rPr lang="en-US" sz="1500" dirty="0"/>
                        <a:t>,</a:t>
                      </a:r>
                    </a:p>
                    <a:p>
                      <a:r>
                        <a:rPr lang="en-US" sz="1500" dirty="0"/>
                        <a:t>"A quiet day on Nasdaq"</a:t>
                      </a:r>
                      <a:endParaRPr sz="1500" dirty="0"/>
                    </a:p>
                  </a:txBody>
                  <a:tcPr/>
                </a:tc>
                <a:tc>
                  <a:txBody>
                    <a:bodyPr/>
                    <a:lstStyle/>
                    <a:p>
                      <a:r>
                        <a:rPr sz="1500" dirty="0"/>
                        <a:t>The org name </a:t>
                      </a:r>
                      <a:r>
                        <a:rPr lang="en-US" sz="1500" dirty="0"/>
                        <a:t>produces </a:t>
                      </a:r>
                      <a:r>
                        <a:rPr sz="1500" dirty="0"/>
                        <a:t>bogus NDAQ matches</a:t>
                      </a:r>
                    </a:p>
                  </a:txBody>
                  <a:tcPr/>
                </a:tc>
                <a:tc>
                  <a:txBody>
                    <a:bodyPr/>
                    <a:lstStyle/>
                    <a:p>
                      <a:r>
                        <a:rPr sz="1500" dirty="0"/>
                        <a:t>nothing</a:t>
                      </a:r>
                    </a:p>
                  </a:txBody>
                  <a:tcPr/>
                </a:tc>
                <a:extLst>
                  <a:ext uri="{0D108BD9-81ED-4DB2-BD59-A6C34878D82A}">
                    <a16:rowId xmlns:a16="http://schemas.microsoft.com/office/drawing/2014/main" val="10002"/>
                  </a:ext>
                </a:extLst>
              </a:tr>
              <a:tr h="640080">
                <a:tc>
                  <a:txBody>
                    <a:bodyPr/>
                    <a:lstStyle/>
                    <a:p>
                      <a:r>
                        <a:rPr sz="1500" dirty="0"/>
                        <a:t>"COMP</a:t>
                      </a:r>
                      <a:r>
                        <a:rPr lang="en-US" sz="1500" dirty="0"/>
                        <a:t> rises 2%</a:t>
                      </a:r>
                      <a:r>
                        <a:rPr sz="1500" dirty="0"/>
                        <a:t>" with no class prefix</a:t>
                      </a:r>
                    </a:p>
                  </a:txBody>
                  <a:tcPr/>
                </a:tc>
                <a:tc>
                  <a:txBody>
                    <a:bodyPr/>
                    <a:lstStyle/>
                    <a:p>
                      <a:r>
                        <a:rPr sz="1500" dirty="0"/>
                        <a:t>Compass Inc. or the Nasdaq Composite</a:t>
                      </a:r>
                      <a:r>
                        <a:rPr lang="en-US" sz="1500" dirty="0"/>
                        <a:t>?</a:t>
                      </a:r>
                      <a:r>
                        <a:rPr sz="1500" dirty="0"/>
                        <a:t> </a:t>
                      </a:r>
                      <a:r>
                        <a:rPr lang="en-US" sz="1500" dirty="0"/>
                        <a:t>T</a:t>
                      </a:r>
                      <a:r>
                        <a:rPr sz="1500" dirty="0"/>
                        <a:t>he string cannot tell you</a:t>
                      </a:r>
                    </a:p>
                  </a:txBody>
                  <a:tcPr/>
                </a:tc>
                <a:tc>
                  <a:txBody>
                    <a:bodyPr/>
                    <a:lstStyle/>
                    <a:p>
                      <a:r>
                        <a:rPr lang="en-US" sz="1500" dirty="0"/>
                        <a:t>nothing</a:t>
                      </a:r>
                      <a:r>
                        <a:rPr sz="1500" dirty="0"/>
                        <a:t>, not guessed</a:t>
                      </a:r>
                    </a:p>
                  </a:txBody>
                  <a:tcPr/>
                </a:tc>
                <a:extLst>
                  <a:ext uri="{0D108BD9-81ED-4DB2-BD59-A6C34878D82A}">
                    <a16:rowId xmlns:a16="http://schemas.microsoft.com/office/drawing/2014/main" val="10003"/>
                  </a:ext>
                </a:extLst>
              </a:tr>
            </a:tbl>
          </a:graphicData>
        </a:graphic>
      </p:graphicFrame>
      <p:sp>
        <p:nvSpPr>
          <p:cNvPr id="4" name="Shape 4"/>
          <p:cNvSpPr txBox="1"/>
          <p:nvPr/>
        </p:nvSpPr>
        <p:spPr>
          <a:xfrm>
            <a:off x="609600" y="4819850"/>
            <a:ext cx="10972800" cy="548640"/>
          </a:xfrm>
          <a:prstGeom prst="rect">
            <a:avLst/>
          </a:prstGeom>
          <a:noFill/>
          <a:ln>
            <a:noFill/>
          </a:ln>
        </p:spPr>
        <p:txBody>
          <a:bodyPr wrap="square" lIns="91440" tIns="45720" rIns="91440" bIns="45720" rtlCol="0">
            <a:normAutofit/>
          </a:bodyPr>
          <a:lstStyle/>
          <a:p>
            <a:r>
              <a:rPr lang="en-US" sz="1600" b="1" i="1" dirty="0"/>
              <a:t>Turning a sentence into a symbol is a judgement – exactly where a model is both necessary and dangerous.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Still no silver bullet</a:t>
            </a:r>
            <a:endParaRPr dirty="0"/>
          </a:p>
        </p:txBody>
      </p:sp>
      <p:sp>
        <p:nvSpPr>
          <p:cNvPr id="3" name="Shape 3"/>
          <p:cNvSpPr txBox="1"/>
          <p:nvPr/>
        </p:nvSpPr>
        <p:spPr>
          <a:xfrm>
            <a:off x="60960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a:solidFill>
                  <a:srgbClr val="FFFFFF"/>
                </a:solidFill>
              </a:rPr>
              <a:t>Article</a:t>
            </a:r>
          </a:p>
        </p:txBody>
      </p:sp>
      <p:sp>
        <p:nvSpPr>
          <p:cNvPr id="4" name="Shape 4"/>
          <p:cNvSpPr txBox="1"/>
          <p:nvPr/>
        </p:nvSpPr>
        <p:spPr>
          <a:xfrm>
            <a:off x="518160" y="3291840"/>
            <a:ext cx="1783080" cy="640080"/>
          </a:xfrm>
          <a:prstGeom prst="rect">
            <a:avLst/>
          </a:prstGeom>
          <a:noFill/>
          <a:ln>
            <a:noFill/>
          </a:ln>
        </p:spPr>
        <p:txBody>
          <a:bodyPr wrap="square" lIns="91440" tIns="45720" rIns="91440" bIns="45720" rtlCol="0">
            <a:normAutofit/>
          </a:bodyPr>
          <a:lstStyle/>
          <a:p>
            <a:pPr algn="ctr"/>
            <a:r>
              <a:rPr lang="en-US" sz="1200" i="1" dirty="0"/>
              <a:t>raw text</a:t>
            </a:r>
          </a:p>
        </p:txBody>
      </p:sp>
      <p:sp>
        <p:nvSpPr>
          <p:cNvPr id="5" name="Arrow 5"/>
          <p:cNvSpPr/>
          <p:nvPr/>
        </p:nvSpPr>
        <p:spPr>
          <a:xfrm>
            <a:off x="2255520" y="2606040"/>
            <a:ext cx="182880" cy="274320"/>
          </a:xfrm>
          <a:prstGeom prst="rightArrow">
            <a:avLst/>
          </a:prstGeom>
          <a:solidFill>
            <a:srgbClr val="FFFFFF"/>
          </a:solidFill>
          <a:ln>
            <a:noFill/>
          </a:ln>
        </p:spPr>
        <p:txBody>
          <a:bodyPr/>
          <a:lstStyle/>
          <a:p>
            <a:endParaRPr/>
          </a:p>
        </p:txBody>
      </p:sp>
      <p:sp>
        <p:nvSpPr>
          <p:cNvPr id="12" name="Shape 12"/>
          <p:cNvSpPr txBox="1"/>
          <p:nvPr/>
        </p:nvSpPr>
        <p:spPr>
          <a:xfrm>
            <a:off x="2484120" y="2286000"/>
            <a:ext cx="7223760" cy="914400"/>
          </a:xfrm>
          <a:prstGeom prst="roundRect">
            <a:avLst/>
          </a:prstGeom>
          <a:solidFill>
            <a:srgbClr val="FF9900"/>
          </a:solidFill>
          <a:ln w="19050">
            <a:solidFill>
              <a:srgbClr val="FF9900"/>
            </a:solidFill>
          </a:ln>
        </p:spPr>
        <p:txBody>
          <a:bodyPr wrap="square" lIns="91440" tIns="45720" rIns="91440" bIns="45720" rtlCol="0" anchor="ctr">
            <a:normAutofit/>
          </a:bodyPr>
          <a:lstStyle/>
          <a:p>
            <a:pPr algn="ctr"/>
            <a:r>
              <a:rPr lang="en-US" sz="1400" b="1" dirty="0">
                <a:solidFill>
                  <a:srgbClr val="000000"/>
                </a:solidFill>
              </a:rPr>
              <a:t>LLM-for-everything</a:t>
            </a:r>
          </a:p>
        </p:txBody>
      </p:sp>
      <p:sp>
        <p:nvSpPr>
          <p:cNvPr id="17" name="Arrow 17"/>
          <p:cNvSpPr/>
          <p:nvPr/>
        </p:nvSpPr>
        <p:spPr>
          <a:xfrm>
            <a:off x="9753600" y="2606040"/>
            <a:ext cx="182880" cy="274320"/>
          </a:xfrm>
          <a:prstGeom prst="rightArrow">
            <a:avLst/>
          </a:prstGeom>
          <a:solidFill>
            <a:srgbClr val="FFFFFF"/>
          </a:solidFill>
          <a:ln>
            <a:noFill/>
          </a:ln>
        </p:spPr>
        <p:txBody>
          <a:bodyPr/>
          <a:lstStyle/>
          <a:p>
            <a:endParaRPr/>
          </a:p>
        </p:txBody>
      </p:sp>
      <p:sp>
        <p:nvSpPr>
          <p:cNvPr id="18" name="Shape 18"/>
          <p:cNvSpPr txBox="1"/>
          <p:nvPr/>
        </p:nvSpPr>
        <p:spPr>
          <a:xfrm>
            <a:off x="998220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dirty="0">
                <a:solidFill>
                  <a:srgbClr val="FFFFFF"/>
                </a:solidFill>
              </a:rPr>
              <a:t>Store (DB)</a:t>
            </a:r>
          </a:p>
        </p:txBody>
      </p:sp>
      <p:sp>
        <p:nvSpPr>
          <p:cNvPr id="26" name="Shape 13">
            <a:extLst>
              <a:ext uri="{FF2B5EF4-FFF2-40B4-BE49-F238E27FC236}">
                <a16:creationId xmlns:a16="http://schemas.microsoft.com/office/drawing/2014/main" id="{692E45B8-6444-288F-7DC2-81DD0AF7BC23}"/>
              </a:ext>
            </a:extLst>
          </p:cNvPr>
          <p:cNvSpPr txBox="1"/>
          <p:nvPr/>
        </p:nvSpPr>
        <p:spPr>
          <a:xfrm>
            <a:off x="2484120" y="3291840"/>
            <a:ext cx="7223760" cy="274321"/>
          </a:xfrm>
          <a:prstGeom prst="rect">
            <a:avLst/>
          </a:prstGeom>
          <a:noFill/>
          <a:ln>
            <a:noFill/>
          </a:ln>
        </p:spPr>
        <p:txBody>
          <a:bodyPr wrap="square" lIns="91440" tIns="45720" rIns="91440" bIns="45720" rtlCol="0">
            <a:normAutofit/>
          </a:bodyPr>
          <a:lstStyle/>
          <a:p>
            <a:pPr algn="ctr"/>
            <a:r>
              <a:rPr lang="en-US" sz="1200" i="1" dirty="0"/>
              <a:t>Traps: LLM inference costs, Runtime, Precision</a:t>
            </a:r>
          </a:p>
          <a:p>
            <a:pPr algn="ctr"/>
            <a:endParaRPr lang="en-US" sz="1200" i="1" dirty="0"/>
          </a:p>
        </p:txBody>
      </p:sp>
      <p:sp>
        <p:nvSpPr>
          <p:cNvPr id="7" name="Shape 4">
            <a:extLst>
              <a:ext uri="{FF2B5EF4-FFF2-40B4-BE49-F238E27FC236}">
                <a16:creationId xmlns:a16="http://schemas.microsoft.com/office/drawing/2014/main" id="{DBA10BC8-D45E-1CB4-ADAF-E0A5BD940DDD}"/>
              </a:ext>
            </a:extLst>
          </p:cNvPr>
          <p:cNvSpPr txBox="1"/>
          <p:nvPr/>
        </p:nvSpPr>
        <p:spPr>
          <a:xfrm>
            <a:off x="9936480" y="3247323"/>
            <a:ext cx="1783080" cy="640080"/>
          </a:xfrm>
          <a:prstGeom prst="rect">
            <a:avLst/>
          </a:prstGeom>
          <a:noFill/>
          <a:ln>
            <a:noFill/>
          </a:ln>
        </p:spPr>
        <p:txBody>
          <a:bodyPr wrap="square" lIns="91440" tIns="45720" rIns="91440" bIns="45720" rtlCol="0">
            <a:normAutofit/>
          </a:bodyPr>
          <a:lstStyle/>
          <a:p>
            <a:pPr algn="ctr"/>
            <a:r>
              <a:rPr lang="en-US" sz="1200" i="1" dirty="0"/>
              <a:t>data used in downstream tasks</a:t>
            </a:r>
          </a:p>
        </p:txBody>
      </p:sp>
      <p:graphicFrame>
        <p:nvGraphicFramePr>
          <p:cNvPr id="11" name="Table 3">
            <a:extLst>
              <a:ext uri="{FF2B5EF4-FFF2-40B4-BE49-F238E27FC236}">
                <a16:creationId xmlns:a16="http://schemas.microsoft.com/office/drawing/2014/main" id="{9E5F574D-42FE-62D0-2BB4-933F047E4F38}"/>
              </a:ext>
            </a:extLst>
          </p:cNvPr>
          <p:cNvGraphicFramePr>
            <a:graphicFrameLocks noGrp="1"/>
          </p:cNvGraphicFramePr>
          <p:nvPr>
            <p:extLst>
              <p:ext uri="{D42A27DB-BD31-4B8C-83A1-F6EECF244321}">
                <p14:modId xmlns:p14="http://schemas.microsoft.com/office/powerpoint/2010/main" val="4173561077"/>
              </p:ext>
            </p:extLst>
          </p:nvPr>
        </p:nvGraphicFramePr>
        <p:xfrm>
          <a:off x="829719" y="4148263"/>
          <a:ext cx="10391886" cy="1275614"/>
        </p:xfrm>
        <a:graphic>
          <a:graphicData uri="http://schemas.openxmlformats.org/drawingml/2006/table">
            <a:tbl>
              <a:tblPr firstRow="1" bandRow="1">
                <a:tableStyleId>{5C22544A-7EE6-4342-B048-85BDC9FD1C3A}</a:tableStyleId>
              </a:tblPr>
              <a:tblGrid>
                <a:gridCol w="2405889">
                  <a:extLst>
                    <a:ext uri="{9D8B030D-6E8A-4147-A177-3AD203B41FA5}">
                      <a16:colId xmlns:a16="http://schemas.microsoft.com/office/drawing/2014/main" val="20000"/>
                    </a:ext>
                  </a:extLst>
                </a:gridCol>
                <a:gridCol w="2794359">
                  <a:extLst>
                    <a:ext uri="{9D8B030D-6E8A-4147-A177-3AD203B41FA5}">
                      <a16:colId xmlns:a16="http://schemas.microsoft.com/office/drawing/2014/main" val="1331446990"/>
                    </a:ext>
                  </a:extLst>
                </a:gridCol>
                <a:gridCol w="2501973">
                  <a:extLst>
                    <a:ext uri="{9D8B030D-6E8A-4147-A177-3AD203B41FA5}">
                      <a16:colId xmlns:a16="http://schemas.microsoft.com/office/drawing/2014/main" val="20002"/>
                    </a:ext>
                  </a:extLst>
                </a:gridCol>
                <a:gridCol w="2689665">
                  <a:extLst>
                    <a:ext uri="{9D8B030D-6E8A-4147-A177-3AD203B41FA5}">
                      <a16:colId xmlns:a16="http://schemas.microsoft.com/office/drawing/2014/main" val="4124409514"/>
                    </a:ext>
                  </a:extLst>
                </a:gridCol>
              </a:tblGrid>
              <a:tr h="637807">
                <a:tc>
                  <a:txBody>
                    <a:bodyPr/>
                    <a:lstStyle/>
                    <a:p>
                      <a:r>
                        <a:rPr lang="en-US" sz="1400" b="1" dirty="0"/>
                        <a:t>Text volume: ~330 tokens / article</a:t>
                      </a:r>
                      <a:endParaRPr sz="1400" b="1" dirty="0"/>
                    </a:p>
                  </a:txBody>
                  <a:tcPr/>
                </a:tc>
                <a:tc>
                  <a:txBody>
                    <a:bodyPr/>
                    <a:lstStyle/>
                    <a:p>
                      <a:r>
                        <a:rPr lang="en-US" sz="1400" b="1" dirty="0"/>
                        <a:t>LLM cost: $0.4 – $8 per </a:t>
                      </a:r>
                      <a:r>
                        <a:rPr lang="en-US" sz="1400" b="1" dirty="0" err="1"/>
                        <a:t>Mtok</a:t>
                      </a:r>
                      <a:endParaRPr sz="14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t>Runtime: 6 s/call </a:t>
                      </a:r>
                    </a:p>
                    <a:p>
                      <a:endParaRPr sz="1400" b="1" dirty="0"/>
                    </a:p>
                  </a:txBody>
                  <a:tcPr/>
                </a:tc>
                <a:tc>
                  <a:txBody>
                    <a:bodyPr/>
                    <a:lstStyle/>
                    <a:p>
                      <a:r>
                        <a:rPr lang="en-US" sz="1400" b="1" dirty="0"/>
                        <a:t>Precision (article -&gt; ticker)</a:t>
                      </a:r>
                      <a:endParaRPr sz="1400" b="1" dirty="0"/>
                    </a:p>
                  </a:txBody>
                  <a:tcPr/>
                </a:tc>
                <a:extLst>
                  <a:ext uri="{0D108BD9-81ED-4DB2-BD59-A6C34878D82A}">
                    <a16:rowId xmlns:a16="http://schemas.microsoft.com/office/drawing/2014/main" val="10000"/>
                  </a:ext>
                </a:extLst>
              </a:tr>
              <a:tr h="637807">
                <a:tc>
                  <a:txBody>
                    <a:bodyPr/>
                    <a:lstStyle/>
                    <a:p>
                      <a:r>
                        <a:rPr lang="en-US" sz="1400" dirty="0"/>
                        <a:t>All articles: </a:t>
                      </a:r>
                      <a:r>
                        <a:rPr lang="en-US" sz="1400" b="1" dirty="0"/>
                        <a:t>~49 K/day</a:t>
                      </a:r>
                      <a:endParaRPr sz="1400" dirty="0"/>
                    </a:p>
                  </a:txBody>
                  <a:tcPr/>
                </a:tc>
                <a:tc>
                  <a:txBody>
                    <a:bodyPr/>
                    <a:lstStyle/>
                    <a:p>
                      <a:r>
                        <a:rPr lang="en-US" sz="1400" b="1" dirty="0"/>
                        <a:t>$6.5 – $130/day</a:t>
                      </a:r>
                      <a:endParaRPr sz="1400" b="1" dirty="0"/>
                    </a:p>
                  </a:txBody>
                  <a:tcPr/>
                </a:tc>
                <a:tc>
                  <a:txBody>
                    <a:bodyPr/>
                    <a:lstStyle/>
                    <a:p>
                      <a:r>
                        <a:rPr lang="en-US" sz="1400" b="1" dirty="0"/>
                        <a:t>~8 </a:t>
                      </a:r>
                      <a:r>
                        <a:rPr lang="en-US" sz="1400" b="1" dirty="0" err="1"/>
                        <a:t>hrs</a:t>
                      </a:r>
                      <a:r>
                        <a:rPr lang="en-US" sz="1400" b="1" dirty="0"/>
                        <a:t>/day</a:t>
                      </a:r>
                      <a:endParaRPr sz="1400" b="1" dirty="0"/>
                    </a:p>
                  </a:txBody>
                  <a:tcPr/>
                </a:tc>
                <a:tc>
                  <a:txBody>
                    <a:bodyPr/>
                    <a:lstStyle/>
                    <a:p>
                      <a:r>
                        <a:rPr lang="en-US" sz="1400" b="1" dirty="0"/>
                        <a:t>27%</a:t>
                      </a:r>
                      <a:endParaRPr sz="1400" b="1" dirty="0"/>
                    </a:p>
                  </a:txBody>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E3392-EB49-E3B2-53BE-5703CA2903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4DF195-B194-D4D8-B355-8386D9674C92}"/>
              </a:ext>
            </a:extLst>
          </p:cNvPr>
          <p:cNvSpPr>
            <a:spLocks noGrp="1"/>
          </p:cNvSpPr>
          <p:nvPr>
            <p:ph type="title"/>
          </p:nvPr>
        </p:nvSpPr>
        <p:spPr/>
        <p:txBody>
          <a:bodyPr/>
          <a:lstStyle/>
          <a:p>
            <a:r>
              <a:rPr dirty="0"/>
              <a:t>Four layers, each with one job</a:t>
            </a:r>
          </a:p>
        </p:txBody>
      </p:sp>
      <p:sp>
        <p:nvSpPr>
          <p:cNvPr id="3" name="Shape 3">
            <a:extLst>
              <a:ext uri="{FF2B5EF4-FFF2-40B4-BE49-F238E27FC236}">
                <a16:creationId xmlns:a16="http://schemas.microsoft.com/office/drawing/2014/main" id="{A6DE2326-7B27-4420-1453-29A43D7DD0E8}"/>
              </a:ext>
            </a:extLst>
          </p:cNvPr>
          <p:cNvSpPr txBox="1"/>
          <p:nvPr/>
        </p:nvSpPr>
        <p:spPr>
          <a:xfrm>
            <a:off x="60960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a:solidFill>
                  <a:srgbClr val="FFFFFF"/>
                </a:solidFill>
              </a:rPr>
              <a:t>Article</a:t>
            </a:r>
          </a:p>
        </p:txBody>
      </p:sp>
      <p:sp>
        <p:nvSpPr>
          <p:cNvPr id="4" name="Shape 4">
            <a:extLst>
              <a:ext uri="{FF2B5EF4-FFF2-40B4-BE49-F238E27FC236}">
                <a16:creationId xmlns:a16="http://schemas.microsoft.com/office/drawing/2014/main" id="{6F52BFF4-EE2A-DD34-8BD6-65139CE360AE}"/>
              </a:ext>
            </a:extLst>
          </p:cNvPr>
          <p:cNvSpPr txBox="1"/>
          <p:nvPr/>
        </p:nvSpPr>
        <p:spPr>
          <a:xfrm>
            <a:off x="518160" y="3291840"/>
            <a:ext cx="1783080" cy="640080"/>
          </a:xfrm>
          <a:prstGeom prst="rect">
            <a:avLst/>
          </a:prstGeom>
          <a:noFill/>
          <a:ln>
            <a:noFill/>
          </a:ln>
        </p:spPr>
        <p:txBody>
          <a:bodyPr wrap="square" lIns="91440" tIns="45720" rIns="91440" bIns="45720" rtlCol="0">
            <a:normAutofit/>
          </a:bodyPr>
          <a:lstStyle/>
          <a:p>
            <a:pPr algn="ctr"/>
            <a:r>
              <a:rPr lang="en-US" sz="1200" i="1"/>
              <a:t>raw text</a:t>
            </a:r>
          </a:p>
        </p:txBody>
      </p:sp>
      <p:sp>
        <p:nvSpPr>
          <p:cNvPr id="5" name="Arrow 5">
            <a:extLst>
              <a:ext uri="{FF2B5EF4-FFF2-40B4-BE49-F238E27FC236}">
                <a16:creationId xmlns:a16="http://schemas.microsoft.com/office/drawing/2014/main" id="{B5C01659-FC6E-6A78-29AF-D0A236BA9F17}"/>
              </a:ext>
            </a:extLst>
          </p:cNvPr>
          <p:cNvSpPr/>
          <p:nvPr/>
        </p:nvSpPr>
        <p:spPr>
          <a:xfrm>
            <a:off x="2255520" y="2606040"/>
            <a:ext cx="182880" cy="274320"/>
          </a:xfrm>
          <a:prstGeom prst="rightArrow">
            <a:avLst/>
          </a:prstGeom>
          <a:solidFill>
            <a:srgbClr val="FFFFFF"/>
          </a:solidFill>
          <a:ln>
            <a:noFill/>
          </a:ln>
        </p:spPr>
        <p:txBody>
          <a:bodyPr/>
          <a:lstStyle/>
          <a:p>
            <a:endParaRPr/>
          </a:p>
        </p:txBody>
      </p:sp>
      <p:sp>
        <p:nvSpPr>
          <p:cNvPr id="6" name="Shape 6">
            <a:extLst>
              <a:ext uri="{FF2B5EF4-FFF2-40B4-BE49-F238E27FC236}">
                <a16:creationId xmlns:a16="http://schemas.microsoft.com/office/drawing/2014/main" id="{F53718ED-F87B-65D3-5689-8297E869429C}"/>
              </a:ext>
            </a:extLst>
          </p:cNvPr>
          <p:cNvSpPr txBox="1"/>
          <p:nvPr/>
        </p:nvSpPr>
        <p:spPr>
          <a:xfrm>
            <a:off x="248412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a:solidFill>
                  <a:srgbClr val="FFFFFF"/>
                </a:solidFill>
              </a:rPr>
              <a:t>Rule matchers</a:t>
            </a:r>
          </a:p>
        </p:txBody>
      </p:sp>
      <p:sp>
        <p:nvSpPr>
          <p:cNvPr id="7" name="Shape 7">
            <a:extLst>
              <a:ext uri="{FF2B5EF4-FFF2-40B4-BE49-F238E27FC236}">
                <a16:creationId xmlns:a16="http://schemas.microsoft.com/office/drawing/2014/main" id="{CD48E718-B078-69A8-6805-287643C093B0}"/>
              </a:ext>
            </a:extLst>
          </p:cNvPr>
          <p:cNvSpPr txBox="1"/>
          <p:nvPr/>
        </p:nvSpPr>
        <p:spPr>
          <a:xfrm>
            <a:off x="2392680" y="3291840"/>
            <a:ext cx="1783080" cy="640080"/>
          </a:xfrm>
          <a:prstGeom prst="rect">
            <a:avLst/>
          </a:prstGeom>
          <a:noFill/>
          <a:ln>
            <a:noFill/>
          </a:ln>
        </p:spPr>
        <p:txBody>
          <a:bodyPr wrap="square" lIns="91440" tIns="45720" rIns="91440" bIns="45720" rtlCol="0">
            <a:normAutofit/>
          </a:bodyPr>
          <a:lstStyle/>
          <a:p>
            <a:pPr algn="ctr"/>
            <a:r>
              <a:rPr lang="en-US" sz="1200" i="1"/>
              <a:t>deterministic candidates</a:t>
            </a:r>
          </a:p>
        </p:txBody>
      </p:sp>
      <p:sp>
        <p:nvSpPr>
          <p:cNvPr id="8" name="Arrow 8">
            <a:extLst>
              <a:ext uri="{FF2B5EF4-FFF2-40B4-BE49-F238E27FC236}">
                <a16:creationId xmlns:a16="http://schemas.microsoft.com/office/drawing/2014/main" id="{B5052977-4F1D-76AD-C038-A097C8505B1A}"/>
              </a:ext>
            </a:extLst>
          </p:cNvPr>
          <p:cNvSpPr/>
          <p:nvPr/>
        </p:nvSpPr>
        <p:spPr>
          <a:xfrm>
            <a:off x="4130040" y="2606040"/>
            <a:ext cx="182880" cy="274320"/>
          </a:xfrm>
          <a:prstGeom prst="rightArrow">
            <a:avLst/>
          </a:prstGeom>
          <a:solidFill>
            <a:srgbClr val="FFFFFF"/>
          </a:solidFill>
          <a:ln>
            <a:noFill/>
          </a:ln>
        </p:spPr>
        <p:txBody>
          <a:bodyPr/>
          <a:lstStyle/>
          <a:p>
            <a:endParaRPr/>
          </a:p>
        </p:txBody>
      </p:sp>
      <p:sp>
        <p:nvSpPr>
          <p:cNvPr id="9" name="Shape 9">
            <a:extLst>
              <a:ext uri="{FF2B5EF4-FFF2-40B4-BE49-F238E27FC236}">
                <a16:creationId xmlns:a16="http://schemas.microsoft.com/office/drawing/2014/main" id="{10D3B6A6-4B54-0E4E-949C-C7EF429DB9BC}"/>
              </a:ext>
            </a:extLst>
          </p:cNvPr>
          <p:cNvSpPr txBox="1"/>
          <p:nvPr/>
        </p:nvSpPr>
        <p:spPr>
          <a:xfrm>
            <a:off x="435864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a:solidFill>
                  <a:srgbClr val="FFFFFF"/>
                </a:solidFill>
              </a:rPr>
              <a:t>Enrichment gate</a:t>
            </a:r>
          </a:p>
        </p:txBody>
      </p:sp>
      <p:sp>
        <p:nvSpPr>
          <p:cNvPr id="10" name="Shape 10">
            <a:extLst>
              <a:ext uri="{FF2B5EF4-FFF2-40B4-BE49-F238E27FC236}">
                <a16:creationId xmlns:a16="http://schemas.microsoft.com/office/drawing/2014/main" id="{8539B172-293B-75B9-DA55-07751F7132BC}"/>
              </a:ext>
            </a:extLst>
          </p:cNvPr>
          <p:cNvSpPr txBox="1"/>
          <p:nvPr/>
        </p:nvSpPr>
        <p:spPr>
          <a:xfrm>
            <a:off x="4267200" y="3291840"/>
            <a:ext cx="1783080" cy="640080"/>
          </a:xfrm>
          <a:prstGeom prst="rect">
            <a:avLst/>
          </a:prstGeom>
          <a:noFill/>
          <a:ln>
            <a:noFill/>
          </a:ln>
        </p:spPr>
        <p:txBody>
          <a:bodyPr wrap="square" lIns="91440" tIns="45720" rIns="91440" bIns="45720" rtlCol="0">
            <a:normAutofit/>
          </a:bodyPr>
          <a:lstStyle/>
          <a:p>
            <a:pPr algn="ctr"/>
            <a:r>
              <a:rPr lang="en-US" sz="1200" i="1"/>
              <a:t>who is worth LLM money</a:t>
            </a:r>
          </a:p>
        </p:txBody>
      </p:sp>
      <p:sp>
        <p:nvSpPr>
          <p:cNvPr id="11" name="Arrow 11">
            <a:extLst>
              <a:ext uri="{FF2B5EF4-FFF2-40B4-BE49-F238E27FC236}">
                <a16:creationId xmlns:a16="http://schemas.microsoft.com/office/drawing/2014/main" id="{20F58C1E-271E-32CD-F8A2-13A0AF7EBB57}"/>
              </a:ext>
            </a:extLst>
          </p:cNvPr>
          <p:cNvSpPr/>
          <p:nvPr/>
        </p:nvSpPr>
        <p:spPr>
          <a:xfrm>
            <a:off x="6004560" y="2606040"/>
            <a:ext cx="182880" cy="274320"/>
          </a:xfrm>
          <a:prstGeom prst="rightArrow">
            <a:avLst/>
          </a:prstGeom>
          <a:solidFill>
            <a:srgbClr val="FFFFFF"/>
          </a:solidFill>
          <a:ln>
            <a:noFill/>
          </a:ln>
        </p:spPr>
        <p:txBody>
          <a:bodyPr/>
          <a:lstStyle/>
          <a:p>
            <a:endParaRPr/>
          </a:p>
        </p:txBody>
      </p:sp>
      <p:sp>
        <p:nvSpPr>
          <p:cNvPr id="12" name="Shape 12">
            <a:extLst>
              <a:ext uri="{FF2B5EF4-FFF2-40B4-BE49-F238E27FC236}">
                <a16:creationId xmlns:a16="http://schemas.microsoft.com/office/drawing/2014/main" id="{31FD51A9-A69D-B75C-6B8F-8E7FBE1CA87C}"/>
              </a:ext>
            </a:extLst>
          </p:cNvPr>
          <p:cNvSpPr txBox="1"/>
          <p:nvPr/>
        </p:nvSpPr>
        <p:spPr>
          <a:xfrm>
            <a:off x="6233160" y="2286000"/>
            <a:ext cx="1600200" cy="914400"/>
          </a:xfrm>
          <a:prstGeom prst="roundRect">
            <a:avLst/>
          </a:prstGeom>
          <a:solidFill>
            <a:srgbClr val="FF9900"/>
          </a:solidFill>
          <a:ln w="19050">
            <a:solidFill>
              <a:srgbClr val="FF9900"/>
            </a:solidFill>
          </a:ln>
        </p:spPr>
        <p:txBody>
          <a:bodyPr wrap="square" lIns="91440" tIns="45720" rIns="91440" bIns="45720" rtlCol="0" anchor="ctr">
            <a:normAutofit/>
          </a:bodyPr>
          <a:lstStyle/>
          <a:p>
            <a:pPr algn="ctr"/>
            <a:r>
              <a:rPr lang="en-US" sz="1400" b="1">
                <a:solidFill>
                  <a:srgbClr val="000000"/>
                </a:solidFill>
              </a:rPr>
              <a:t>LLM</a:t>
            </a:r>
          </a:p>
        </p:txBody>
      </p:sp>
      <p:sp>
        <p:nvSpPr>
          <p:cNvPr id="13" name="Shape 13">
            <a:extLst>
              <a:ext uri="{FF2B5EF4-FFF2-40B4-BE49-F238E27FC236}">
                <a16:creationId xmlns:a16="http://schemas.microsoft.com/office/drawing/2014/main" id="{B42C8368-47E6-0F6A-099C-93A3CE7A17F6}"/>
              </a:ext>
            </a:extLst>
          </p:cNvPr>
          <p:cNvSpPr txBox="1"/>
          <p:nvPr/>
        </p:nvSpPr>
        <p:spPr>
          <a:xfrm>
            <a:off x="6141720" y="3291840"/>
            <a:ext cx="1783080" cy="640080"/>
          </a:xfrm>
          <a:prstGeom prst="rect">
            <a:avLst/>
          </a:prstGeom>
          <a:noFill/>
          <a:ln>
            <a:noFill/>
          </a:ln>
        </p:spPr>
        <p:txBody>
          <a:bodyPr wrap="square" lIns="91440" tIns="45720" rIns="91440" bIns="45720" rtlCol="0">
            <a:normAutofit/>
          </a:bodyPr>
          <a:lstStyle/>
          <a:p>
            <a:pPr algn="ctr"/>
            <a:r>
              <a:rPr lang="en-US" sz="1200" i="1" dirty="0"/>
              <a:t>final say on symbols</a:t>
            </a:r>
          </a:p>
          <a:p>
            <a:pPr algn="ctr"/>
            <a:r>
              <a:rPr lang="en-US" sz="1200" i="1" dirty="0"/>
              <a:t>3% of the volume</a:t>
            </a:r>
          </a:p>
        </p:txBody>
      </p:sp>
      <p:sp>
        <p:nvSpPr>
          <p:cNvPr id="14" name="Arrow 14">
            <a:extLst>
              <a:ext uri="{FF2B5EF4-FFF2-40B4-BE49-F238E27FC236}">
                <a16:creationId xmlns:a16="http://schemas.microsoft.com/office/drawing/2014/main" id="{6B59135F-5D34-8C71-4252-C9D1962EE0E3}"/>
              </a:ext>
            </a:extLst>
          </p:cNvPr>
          <p:cNvSpPr/>
          <p:nvPr/>
        </p:nvSpPr>
        <p:spPr>
          <a:xfrm>
            <a:off x="7879080" y="2606040"/>
            <a:ext cx="182880" cy="274320"/>
          </a:xfrm>
          <a:prstGeom prst="rightArrow">
            <a:avLst/>
          </a:prstGeom>
          <a:solidFill>
            <a:srgbClr val="FFFFFF"/>
          </a:solidFill>
          <a:ln>
            <a:noFill/>
          </a:ln>
        </p:spPr>
        <p:txBody>
          <a:bodyPr/>
          <a:lstStyle/>
          <a:p>
            <a:endParaRPr/>
          </a:p>
        </p:txBody>
      </p:sp>
      <p:sp>
        <p:nvSpPr>
          <p:cNvPr id="15" name="Shape 15">
            <a:extLst>
              <a:ext uri="{FF2B5EF4-FFF2-40B4-BE49-F238E27FC236}">
                <a16:creationId xmlns:a16="http://schemas.microsoft.com/office/drawing/2014/main" id="{E6CFD6A2-BA90-8974-8D37-DC179EC82162}"/>
              </a:ext>
            </a:extLst>
          </p:cNvPr>
          <p:cNvSpPr txBox="1"/>
          <p:nvPr/>
        </p:nvSpPr>
        <p:spPr>
          <a:xfrm>
            <a:off x="810768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a:solidFill>
                  <a:srgbClr val="FFFFFF"/>
                </a:solidFill>
              </a:rPr>
              <a:t>Universe validation</a:t>
            </a:r>
          </a:p>
        </p:txBody>
      </p:sp>
      <p:sp>
        <p:nvSpPr>
          <p:cNvPr id="16" name="Shape 16">
            <a:extLst>
              <a:ext uri="{FF2B5EF4-FFF2-40B4-BE49-F238E27FC236}">
                <a16:creationId xmlns:a16="http://schemas.microsoft.com/office/drawing/2014/main" id="{D3B49B73-ACF7-5FC6-A5A8-7E820465C7CE}"/>
              </a:ext>
            </a:extLst>
          </p:cNvPr>
          <p:cNvSpPr txBox="1"/>
          <p:nvPr/>
        </p:nvSpPr>
        <p:spPr>
          <a:xfrm>
            <a:off x="8016240" y="3291840"/>
            <a:ext cx="1783080" cy="640080"/>
          </a:xfrm>
          <a:prstGeom prst="rect">
            <a:avLst/>
          </a:prstGeom>
          <a:noFill/>
          <a:ln>
            <a:noFill/>
          </a:ln>
        </p:spPr>
        <p:txBody>
          <a:bodyPr wrap="square" lIns="91440" tIns="45720" rIns="91440" bIns="45720" rtlCol="0">
            <a:normAutofit/>
          </a:bodyPr>
          <a:lstStyle/>
          <a:p>
            <a:pPr algn="ctr"/>
            <a:r>
              <a:rPr lang="en-US" sz="1200" i="1" dirty="0" err="1"/>
              <a:t>dxFeed</a:t>
            </a:r>
            <a:r>
              <a:rPr lang="en-US" sz="1200" i="1" dirty="0"/>
              <a:t> IPF / universe files</a:t>
            </a:r>
          </a:p>
        </p:txBody>
      </p:sp>
      <p:sp>
        <p:nvSpPr>
          <p:cNvPr id="17" name="Arrow 17">
            <a:extLst>
              <a:ext uri="{FF2B5EF4-FFF2-40B4-BE49-F238E27FC236}">
                <a16:creationId xmlns:a16="http://schemas.microsoft.com/office/drawing/2014/main" id="{AF2259D6-9109-9026-2EAE-3C18966E7EC8}"/>
              </a:ext>
            </a:extLst>
          </p:cNvPr>
          <p:cNvSpPr/>
          <p:nvPr/>
        </p:nvSpPr>
        <p:spPr>
          <a:xfrm>
            <a:off x="9753600" y="2606040"/>
            <a:ext cx="182880" cy="274320"/>
          </a:xfrm>
          <a:prstGeom prst="rightArrow">
            <a:avLst/>
          </a:prstGeom>
          <a:solidFill>
            <a:srgbClr val="FFFFFF"/>
          </a:solidFill>
          <a:ln>
            <a:noFill/>
          </a:ln>
        </p:spPr>
        <p:txBody>
          <a:bodyPr/>
          <a:lstStyle/>
          <a:p>
            <a:endParaRPr/>
          </a:p>
        </p:txBody>
      </p:sp>
      <p:sp>
        <p:nvSpPr>
          <p:cNvPr id="18" name="Shape 18">
            <a:extLst>
              <a:ext uri="{FF2B5EF4-FFF2-40B4-BE49-F238E27FC236}">
                <a16:creationId xmlns:a16="http://schemas.microsoft.com/office/drawing/2014/main" id="{BB58AA41-4982-150B-503A-C4C6C778A6DB}"/>
              </a:ext>
            </a:extLst>
          </p:cNvPr>
          <p:cNvSpPr txBox="1"/>
          <p:nvPr/>
        </p:nvSpPr>
        <p:spPr>
          <a:xfrm>
            <a:off x="9982200" y="2286000"/>
            <a:ext cx="1600200" cy="91440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ctr"/>
            <a:r>
              <a:rPr lang="en-US" sz="1400" b="1" dirty="0">
                <a:solidFill>
                  <a:srgbClr val="FFFFFF"/>
                </a:solidFill>
              </a:rPr>
              <a:t>Store (DB)</a:t>
            </a:r>
          </a:p>
        </p:txBody>
      </p:sp>
      <p:sp>
        <p:nvSpPr>
          <p:cNvPr id="19" name="Shape 19">
            <a:extLst>
              <a:ext uri="{FF2B5EF4-FFF2-40B4-BE49-F238E27FC236}">
                <a16:creationId xmlns:a16="http://schemas.microsoft.com/office/drawing/2014/main" id="{4C832186-D1DB-25B2-B06D-82E853AF7F1D}"/>
              </a:ext>
            </a:extLst>
          </p:cNvPr>
          <p:cNvSpPr txBox="1"/>
          <p:nvPr/>
        </p:nvSpPr>
        <p:spPr>
          <a:xfrm>
            <a:off x="9890760" y="3291840"/>
            <a:ext cx="1783080" cy="640080"/>
          </a:xfrm>
          <a:prstGeom prst="rect">
            <a:avLst/>
          </a:prstGeom>
          <a:noFill/>
          <a:ln>
            <a:noFill/>
          </a:ln>
        </p:spPr>
        <p:txBody>
          <a:bodyPr wrap="square" lIns="91440" tIns="45720" rIns="91440" bIns="45720" rtlCol="0">
            <a:normAutofit/>
          </a:bodyPr>
          <a:lstStyle/>
          <a:p>
            <a:pPr algn="ctr"/>
            <a:r>
              <a:rPr lang="en-US" sz="1200" i="1"/>
              <a:t>never decided by the model</a:t>
            </a:r>
          </a:p>
        </p:txBody>
      </p:sp>
      <p:sp>
        <p:nvSpPr>
          <p:cNvPr id="20" name="Shape 20">
            <a:extLst>
              <a:ext uri="{FF2B5EF4-FFF2-40B4-BE49-F238E27FC236}">
                <a16:creationId xmlns:a16="http://schemas.microsoft.com/office/drawing/2014/main" id="{E2525EA2-D559-8DD2-BE90-EA3B4EACC12B}"/>
              </a:ext>
            </a:extLst>
          </p:cNvPr>
          <p:cNvSpPr txBox="1"/>
          <p:nvPr/>
        </p:nvSpPr>
        <p:spPr>
          <a:xfrm>
            <a:off x="6004560" y="1907132"/>
            <a:ext cx="2057400" cy="274320"/>
          </a:xfrm>
          <a:prstGeom prst="rect">
            <a:avLst/>
          </a:prstGeom>
          <a:noFill/>
          <a:ln>
            <a:noFill/>
          </a:ln>
        </p:spPr>
        <p:txBody>
          <a:bodyPr wrap="square" lIns="91440" tIns="45720" rIns="91440" bIns="45720" rtlCol="0">
            <a:normAutofit/>
          </a:bodyPr>
          <a:lstStyle/>
          <a:p>
            <a:pPr algn="ctr"/>
            <a:r>
              <a:rPr lang="en-US" sz="1200" i="1" dirty="0">
                <a:solidFill>
                  <a:srgbClr val="FF9900"/>
                </a:solidFill>
              </a:rPr>
              <a:t>the only probabilistic stage!</a:t>
            </a:r>
          </a:p>
        </p:txBody>
      </p:sp>
      <p:graphicFrame>
        <p:nvGraphicFramePr>
          <p:cNvPr id="26" name="Table 3">
            <a:extLst>
              <a:ext uri="{FF2B5EF4-FFF2-40B4-BE49-F238E27FC236}">
                <a16:creationId xmlns:a16="http://schemas.microsoft.com/office/drawing/2014/main" id="{F4B64E60-3D41-77DA-97FB-469D314A3E70}"/>
              </a:ext>
            </a:extLst>
          </p:cNvPr>
          <p:cNvGraphicFramePr>
            <a:graphicFrameLocks noGrp="1"/>
          </p:cNvGraphicFramePr>
          <p:nvPr/>
        </p:nvGraphicFramePr>
        <p:xfrm>
          <a:off x="825499" y="4144871"/>
          <a:ext cx="10346268" cy="1566240"/>
        </p:xfrm>
        <a:graphic>
          <a:graphicData uri="http://schemas.openxmlformats.org/drawingml/2006/table">
            <a:tbl>
              <a:tblPr firstRow="1" bandRow="1">
                <a:tableStyleId>{5C22544A-7EE6-4342-B048-85BDC9FD1C3A}</a:tableStyleId>
              </a:tblPr>
              <a:tblGrid>
                <a:gridCol w="2395328">
                  <a:extLst>
                    <a:ext uri="{9D8B030D-6E8A-4147-A177-3AD203B41FA5}">
                      <a16:colId xmlns:a16="http://schemas.microsoft.com/office/drawing/2014/main" val="20000"/>
                    </a:ext>
                  </a:extLst>
                </a:gridCol>
                <a:gridCol w="2782092">
                  <a:extLst>
                    <a:ext uri="{9D8B030D-6E8A-4147-A177-3AD203B41FA5}">
                      <a16:colId xmlns:a16="http://schemas.microsoft.com/office/drawing/2014/main" val="1331446990"/>
                    </a:ext>
                  </a:extLst>
                </a:gridCol>
                <a:gridCol w="2490990">
                  <a:extLst>
                    <a:ext uri="{9D8B030D-6E8A-4147-A177-3AD203B41FA5}">
                      <a16:colId xmlns:a16="http://schemas.microsoft.com/office/drawing/2014/main" val="20002"/>
                    </a:ext>
                  </a:extLst>
                </a:gridCol>
                <a:gridCol w="2677858">
                  <a:extLst>
                    <a:ext uri="{9D8B030D-6E8A-4147-A177-3AD203B41FA5}">
                      <a16:colId xmlns:a16="http://schemas.microsoft.com/office/drawing/2014/main" val="4124409514"/>
                    </a:ext>
                  </a:extLst>
                </a:gridCol>
              </a:tblGrid>
              <a:tr h="522080">
                <a:tc>
                  <a:txBody>
                    <a:bodyPr/>
                    <a:lstStyle/>
                    <a:p>
                      <a:r>
                        <a:rPr lang="en-US" sz="1400" b="1" dirty="0"/>
                        <a:t>Text volume: ~330 tokens / article</a:t>
                      </a:r>
                      <a:endParaRPr sz="1400" b="1" dirty="0"/>
                    </a:p>
                  </a:txBody>
                  <a:tcPr/>
                </a:tc>
                <a:tc>
                  <a:txBody>
                    <a:bodyPr/>
                    <a:lstStyle/>
                    <a:p>
                      <a:r>
                        <a:rPr lang="en-US" sz="1400" b="1" dirty="0"/>
                        <a:t>LLM cost: $0.4 – $8 per </a:t>
                      </a:r>
                      <a:r>
                        <a:rPr lang="en-US" sz="1400" b="1" dirty="0" err="1"/>
                        <a:t>Mtok</a:t>
                      </a:r>
                      <a:endParaRPr sz="14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t>Runtime: 6 s/call </a:t>
                      </a:r>
                    </a:p>
                    <a:p>
                      <a:endParaRPr sz="1400" b="1" dirty="0"/>
                    </a:p>
                  </a:txBody>
                  <a:tcPr/>
                </a:tc>
                <a:tc>
                  <a:txBody>
                    <a:bodyPr/>
                    <a:lstStyle/>
                    <a:p>
                      <a:r>
                        <a:rPr lang="en-US" sz="1400" b="1" dirty="0"/>
                        <a:t>Precision (article -&gt; ticker)</a:t>
                      </a:r>
                      <a:endParaRPr sz="1400" b="1" dirty="0"/>
                    </a:p>
                  </a:txBody>
                  <a:tcPr/>
                </a:tc>
                <a:extLst>
                  <a:ext uri="{0D108BD9-81ED-4DB2-BD59-A6C34878D82A}">
                    <a16:rowId xmlns:a16="http://schemas.microsoft.com/office/drawing/2014/main" val="10000"/>
                  </a:ext>
                </a:extLst>
              </a:tr>
              <a:tr h="522080">
                <a:tc>
                  <a:txBody>
                    <a:bodyPr/>
                    <a:lstStyle/>
                    <a:p>
                      <a:r>
                        <a:rPr lang="en-US" sz="1400" dirty="0"/>
                        <a:t>All articles: </a:t>
                      </a:r>
                      <a:r>
                        <a:rPr lang="en-US" sz="1400" b="1" dirty="0"/>
                        <a:t>~49 K/day</a:t>
                      </a:r>
                      <a:endParaRPr sz="1400" dirty="0"/>
                    </a:p>
                  </a:txBody>
                  <a:tcPr/>
                </a:tc>
                <a:tc>
                  <a:txBody>
                    <a:bodyPr/>
                    <a:lstStyle/>
                    <a:p>
                      <a:r>
                        <a:rPr lang="en-US" sz="1400" b="1" dirty="0"/>
                        <a:t>$6.5 – $130/day</a:t>
                      </a:r>
                      <a:endParaRPr sz="1400" b="1" dirty="0"/>
                    </a:p>
                  </a:txBody>
                  <a:tcPr/>
                </a:tc>
                <a:tc>
                  <a:txBody>
                    <a:bodyPr/>
                    <a:lstStyle/>
                    <a:p>
                      <a:r>
                        <a:rPr lang="en-US" sz="1400" b="1" dirty="0"/>
                        <a:t>~8 </a:t>
                      </a:r>
                      <a:r>
                        <a:rPr lang="en-US" sz="1400" b="1" dirty="0" err="1"/>
                        <a:t>hrs</a:t>
                      </a:r>
                      <a:r>
                        <a:rPr lang="en-US" sz="1400" b="1" dirty="0"/>
                        <a:t>/day</a:t>
                      </a:r>
                      <a:endParaRPr sz="1400" b="1" dirty="0"/>
                    </a:p>
                  </a:txBody>
                  <a:tcPr/>
                </a:tc>
                <a:tc>
                  <a:txBody>
                    <a:bodyPr/>
                    <a:lstStyle/>
                    <a:p>
                      <a:r>
                        <a:rPr lang="en-US" sz="1400" b="1" dirty="0"/>
                        <a:t>27%</a:t>
                      </a:r>
                      <a:endParaRPr sz="1400" b="1" dirty="0"/>
                    </a:p>
                  </a:txBody>
                  <a:tcPr/>
                </a:tc>
                <a:extLst>
                  <a:ext uri="{0D108BD9-81ED-4DB2-BD59-A6C34878D82A}">
                    <a16:rowId xmlns:a16="http://schemas.microsoft.com/office/drawing/2014/main" val="10001"/>
                  </a:ext>
                </a:extLst>
              </a:tr>
              <a:tr h="522080">
                <a:tc>
                  <a:txBody>
                    <a:bodyPr/>
                    <a:lstStyle/>
                    <a:p>
                      <a:r>
                        <a:rPr lang="en-US" sz="1400" dirty="0"/>
                        <a:t>Gated approach: </a:t>
                      </a:r>
                      <a:r>
                        <a:rPr lang="en-US" sz="1400" b="1" dirty="0"/>
                        <a:t>1350/day</a:t>
                      </a:r>
                      <a:endParaRPr sz="1400" b="1" dirty="0"/>
                    </a:p>
                  </a:txBody>
                  <a:tcPr/>
                </a:tc>
                <a:tc>
                  <a:txBody>
                    <a:bodyPr/>
                    <a:lstStyle/>
                    <a:p>
                      <a:r>
                        <a:rPr lang="en-US" sz="1400" b="1" dirty="0"/>
                        <a:t>&lt;$4/day</a:t>
                      </a:r>
                      <a:endParaRPr sz="1400" b="1" dirty="0"/>
                    </a:p>
                  </a:txBody>
                  <a:tcPr/>
                </a:tc>
                <a:tc>
                  <a:txBody>
                    <a:bodyPr/>
                    <a:lstStyle/>
                    <a:p>
                      <a:r>
                        <a:rPr lang="en-US" sz="1400" b="1" dirty="0"/>
                        <a:t>14 min/day</a:t>
                      </a:r>
                      <a:endParaRPr sz="1400" b="1" dirty="0"/>
                    </a:p>
                  </a:txBody>
                  <a:tcPr/>
                </a:tc>
                <a:tc>
                  <a:txBody>
                    <a:bodyPr/>
                    <a:lstStyle/>
                    <a:p>
                      <a:r>
                        <a:rPr lang="en-US" sz="1400" b="1" dirty="0"/>
                        <a:t>68%</a:t>
                      </a:r>
                      <a:endParaRPr sz="1400" b="1" dirty="0"/>
                    </a:p>
                  </a:txBody>
                  <a:tcPr/>
                </a:tc>
                <a:extLst>
                  <a:ext uri="{0D108BD9-81ED-4DB2-BD59-A6C34878D82A}">
                    <a16:rowId xmlns:a16="http://schemas.microsoft.com/office/drawing/2014/main" val="4095302835"/>
                  </a:ext>
                </a:extLst>
              </a:tr>
            </a:tbl>
          </a:graphicData>
        </a:graphic>
      </p:graphicFrame>
    </p:spTree>
    <p:extLst>
      <p:ext uri="{BB962C8B-B14F-4D97-AF65-F5344CB8AC3E}">
        <p14:creationId xmlns:p14="http://schemas.microsoft.com/office/powerpoint/2010/main" val="73777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Decision rule #2: where the model belongs</a:t>
            </a:r>
          </a:p>
        </p:txBody>
      </p:sp>
      <p:sp>
        <p:nvSpPr>
          <p:cNvPr id="3" name="Content Placeholder 2"/>
          <p:cNvSpPr>
            <a:spLocks noGrp="1"/>
          </p:cNvSpPr>
          <p:nvPr>
            <p:ph idx="1"/>
          </p:nvPr>
        </p:nvSpPr>
        <p:spPr>
          <a:xfrm>
            <a:off x="609600" y="1737360"/>
            <a:ext cx="10972800" cy="2720745"/>
          </a:xfrm>
        </p:spPr>
        <p:txBody>
          <a:bodyPr wrap="square"/>
          <a:lstStyle/>
          <a:p>
            <a:pPr marL="514350" indent="-514350">
              <a:buFont typeface="+mj-lt"/>
              <a:buAutoNum type="arabicPeriod"/>
            </a:pPr>
            <a:r>
              <a:rPr dirty="0"/>
              <a:t>Put the model where </a:t>
            </a:r>
            <a:r>
              <a:rPr u="sng" dirty="0"/>
              <a:t>judgement is genuinely required</a:t>
            </a:r>
            <a:r>
              <a:rPr lang="en-US" u="sng" dirty="0"/>
              <a:t>.</a:t>
            </a:r>
          </a:p>
          <a:p>
            <a:pPr marL="514350" indent="-514350">
              <a:buFont typeface="+mj-lt"/>
              <a:buAutoNum type="arabicPeriod"/>
            </a:pPr>
            <a:r>
              <a:rPr dirty="0"/>
              <a:t>Put </a:t>
            </a:r>
            <a:r>
              <a:rPr u="sng" dirty="0"/>
              <a:t>deterministic code</a:t>
            </a:r>
            <a:r>
              <a:rPr dirty="0"/>
              <a:t> on both sides of it</a:t>
            </a:r>
            <a:r>
              <a:rPr lang="en-US" dirty="0"/>
              <a:t>.</a:t>
            </a:r>
            <a:endParaRPr dirty="0"/>
          </a:p>
          <a:p>
            <a:pPr marL="514350" indent="-514350">
              <a:buFont typeface="+mj-lt"/>
              <a:buAutoNum type="arabicPeriod"/>
            </a:pPr>
            <a:r>
              <a:rPr dirty="0"/>
              <a:t>Make something </a:t>
            </a:r>
            <a:r>
              <a:rPr u="sng" dirty="0"/>
              <a:t>other than the model</a:t>
            </a:r>
            <a:r>
              <a:rPr dirty="0"/>
              <a:t> decide what gets stored</a:t>
            </a:r>
            <a:r>
              <a:rPr lang="en-US" dirty="0"/>
              <a:t>.</a:t>
            </a:r>
          </a:p>
          <a:p>
            <a:r>
              <a:rPr lang="en-US" dirty="0"/>
              <a:t>This results in predictable costs, runtime, and precision.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5">
            <a:extLst>
              <a:ext uri="{FF2B5EF4-FFF2-40B4-BE49-F238E27FC236}">
                <a16:creationId xmlns:a16="http://schemas.microsoft.com/office/drawing/2014/main" id="{DD31924C-0B48-7BC7-5C7D-F84DF0051784}"/>
              </a:ext>
            </a:extLst>
          </p:cNvPr>
          <p:cNvSpPr txBox="1">
            <a:spLocks/>
          </p:cNvSpPr>
          <p:nvPr/>
        </p:nvSpPr>
        <p:spPr>
          <a:xfrm>
            <a:off x="301752" y="301752"/>
            <a:ext cx="11374887"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sz="4000"/>
              <a:t>Sometimes the harness contains no model at all</a:t>
            </a:r>
          </a:p>
        </p:txBody>
      </p:sp>
      <p:sp>
        <p:nvSpPr>
          <p:cNvPr id="4" name="Text Placeholder 3">
            <a:extLst>
              <a:ext uri="{FF2B5EF4-FFF2-40B4-BE49-F238E27FC236}">
                <a16:creationId xmlns:a16="http://schemas.microsoft.com/office/drawing/2014/main" id="{ACC2DE8C-1EA7-BF73-F577-8B6A84D4785F}"/>
              </a:ext>
            </a:extLst>
          </p:cNvPr>
          <p:cNvSpPr txBox="1">
            <a:spLocks/>
          </p:cNvSpPr>
          <p:nvPr/>
        </p:nvSpPr>
        <p:spPr>
          <a:xfrm>
            <a:off x="563476" y="4450320"/>
            <a:ext cx="10515600" cy="1791728"/>
          </a:xfrm>
          <a:prstGeom prst="rect">
            <a:avLst/>
          </a:prstGeom>
        </p:spPr>
        <p:txBody>
          <a:bodyPr rtlCol="0"/>
          <a:lstStyle>
            <a:lvl1pPr marL="457200" indent="-457200" algn="l" defTabSz="914400" rtl="0" eaLnBrk="1" latinLnBrk="0" hangingPunct="1">
              <a:lnSpc>
                <a:spcPct val="90000"/>
              </a:lnSpc>
              <a:spcBef>
                <a:spcPts val="0"/>
              </a:spcBef>
              <a:spcAft>
                <a:spcPts val="1200"/>
              </a:spcAft>
              <a:buFont typeface="Arial" panose="020B0604020202020204" pitchFamily="34" charset="0"/>
              <a:buChar char="•"/>
              <a:defRPr sz="2800" b="0" i="0" kern="1200" baseline="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0"/>
              </a:spcBef>
              <a:spcAft>
                <a:spcPts val="1200"/>
              </a:spcAft>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buNone/>
            </a:pPr>
            <a:r>
              <a:rPr lang="en-US" sz="2400" dirty="0"/>
              <a:t>The needle in the haystack problem: rare and fuzzily defined events</a:t>
            </a:r>
          </a:p>
          <a:p>
            <a:pPr marL="0" indent="0" fontAlgn="base">
              <a:buNone/>
            </a:pPr>
            <a:r>
              <a:rPr lang="en-US" sz="2400" dirty="0"/>
              <a:t>Rule-based or feature engineered conditions:</a:t>
            </a:r>
          </a:p>
          <a:p>
            <a:pPr lvl="1" fontAlgn="base"/>
            <a:r>
              <a:rPr lang="en-US" sz="2000" dirty="0"/>
              <a:t>must be manually constructed or selected</a:t>
            </a:r>
          </a:p>
          <a:p>
            <a:pPr lvl="1" fontAlgn="base"/>
            <a:r>
              <a:rPr lang="en-US" sz="2000" dirty="0"/>
              <a:t>must be calibrated and recalibrated, may get outdated quickly</a:t>
            </a:r>
          </a:p>
        </p:txBody>
      </p:sp>
      <p:pic>
        <p:nvPicPr>
          <p:cNvPr id="3074" name="Picture 2">
            <a:extLst>
              <a:ext uri="{FF2B5EF4-FFF2-40B4-BE49-F238E27FC236}">
                <a16:creationId xmlns:a16="http://schemas.microsoft.com/office/drawing/2014/main" id="{A35A5BE8-1DD3-9E7E-3E1E-106A8F678E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476" y="1821474"/>
            <a:ext cx="3468774" cy="227446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A1E6FBB1-3893-114E-B105-0BA1F76A80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1001" y="1821473"/>
            <a:ext cx="3468775" cy="227446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7AAF8B5-F0DE-DA9D-2C7E-21720E534A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78527" y="1821474"/>
            <a:ext cx="3468775" cy="2274463"/>
          </a:xfrm>
          <a:prstGeom prst="rect">
            <a:avLst/>
          </a:prstGeom>
        </p:spPr>
      </p:pic>
      <p:sp>
        <p:nvSpPr>
          <p:cNvPr id="90" name="Subtitle"/>
          <p:cNvSpPr txBox="1"/>
          <p:nvPr/>
        </p:nvSpPr>
        <p:spPr>
          <a:xfrm>
            <a:off x="301752" y="950000"/>
            <a:ext cx="11374887" cy="420000"/>
          </a:xfrm>
          <a:prstGeom prst="rect">
            <a:avLst/>
          </a:prstGeom>
          <a:noFill/>
        </p:spPr>
        <p:txBody>
          <a:bodyPr wrap="square">
            <a:normAutofit fontScale="85000" lnSpcReduction="10000"/>
          </a:bodyPr>
          <a:lstStyle/>
          <a:p>
            <a:r>
              <a:rPr lang="en-US" sz="1600" i="1" dirty="0"/>
              <a:t>Grenadier: a 0-100 anomaly score for the order book of every US-listed stock, once a second, from one in-house model. No LLM anywhere in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5">
            <a:extLst>
              <a:ext uri="{FF2B5EF4-FFF2-40B4-BE49-F238E27FC236}">
                <a16:creationId xmlns:a16="http://schemas.microsoft.com/office/drawing/2014/main" id="{DD2CB4AF-7BCC-EC29-66C2-D009E23D4991}"/>
              </a:ext>
            </a:extLst>
          </p:cNvPr>
          <p:cNvSpPr txBox="1">
            <a:spLocks/>
          </p:cNvSpPr>
          <p:nvPr/>
        </p:nvSpPr>
        <p:spPr>
          <a:xfrm>
            <a:off x="301752" y="301752"/>
            <a:ext cx="1129651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sz="4000"/>
              <a:t>The bet: one universal model, or a zoo</a:t>
            </a:r>
          </a:p>
        </p:txBody>
      </p:sp>
      <p:sp>
        <p:nvSpPr>
          <p:cNvPr id="4" name="Text Placeholder 3">
            <a:extLst>
              <a:ext uri="{FF2B5EF4-FFF2-40B4-BE49-F238E27FC236}">
                <a16:creationId xmlns:a16="http://schemas.microsoft.com/office/drawing/2014/main" id="{6D14BC6F-5137-F4D9-4120-B27C2DE0888F}"/>
              </a:ext>
            </a:extLst>
          </p:cNvPr>
          <p:cNvSpPr txBox="1">
            <a:spLocks/>
          </p:cNvSpPr>
          <p:nvPr/>
        </p:nvSpPr>
        <p:spPr>
          <a:xfrm>
            <a:off x="6811874" y="1656736"/>
            <a:ext cx="4854747" cy="4492799"/>
          </a:xfrm>
          <a:prstGeom prst="rect">
            <a:avLst/>
          </a:prstGeom>
        </p:spPr>
        <p:txBody>
          <a:bodyPr rtlCol="0"/>
          <a:lstStyle>
            <a:lvl1pPr marL="457200" indent="-457200" algn="l" defTabSz="914400" rtl="0" eaLnBrk="1" latinLnBrk="0" hangingPunct="1">
              <a:lnSpc>
                <a:spcPct val="90000"/>
              </a:lnSpc>
              <a:spcBef>
                <a:spcPts val="0"/>
              </a:spcBef>
              <a:spcAft>
                <a:spcPts val="1200"/>
              </a:spcAft>
              <a:buFont typeface="Arial" panose="020B0604020202020204" pitchFamily="34" charset="0"/>
              <a:buChar char="•"/>
              <a:defRPr sz="2800" b="0" i="0" kern="1200" baseline="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0"/>
              </a:spcBef>
              <a:spcAft>
                <a:spcPts val="1200"/>
              </a:spcAft>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The key risk:</a:t>
            </a:r>
          </a:p>
          <a:p>
            <a:pPr marL="0" indent="0">
              <a:buNone/>
            </a:pPr>
            <a:r>
              <a:rPr lang="en-US" sz="1800" i="1" dirty="0"/>
              <a:t>"Transfer learning fails: a universal model that covers a wide instrument universe is unfeasible."</a:t>
            </a:r>
          </a:p>
          <a:p>
            <a:pPr marL="0" indent="0">
              <a:buNone/>
            </a:pPr>
            <a:r>
              <a:rPr lang="en-US" sz="1800" dirty="0"/>
              <a:t>Fallback plan: a per-symbol model zoo.</a:t>
            </a:r>
          </a:p>
          <a:p>
            <a:pPr marL="0" indent="0">
              <a:buNone/>
            </a:pPr>
            <a:endParaRPr lang="en-US" sz="1200" dirty="0"/>
          </a:p>
          <a:p>
            <a:pPr fontAlgn="base"/>
            <a:r>
              <a:rPr lang="en-US" sz="1800" dirty="0"/>
              <a:t>One unsupervised autoencoder, 20 GB of proprietary L2 order-book data</a:t>
            </a:r>
          </a:p>
          <a:p>
            <a:pPr fontAlgn="base"/>
            <a:r>
              <a:rPr lang="en-US" sz="1800" dirty="0" err="1"/>
              <a:t>Generalises</a:t>
            </a:r>
            <a:r>
              <a:rPr lang="en-US" sz="1800" dirty="0"/>
              <a:t> to new instruments without retraining</a:t>
            </a:r>
          </a:p>
        </p:txBody>
      </p:sp>
      <p:grpSp>
        <p:nvGrpSpPr>
          <p:cNvPr id="2" name="Group 1">
            <a:extLst>
              <a:ext uri="{FF2B5EF4-FFF2-40B4-BE49-F238E27FC236}">
                <a16:creationId xmlns:a16="http://schemas.microsoft.com/office/drawing/2014/main" id="{C47B4397-C18B-A9EC-344C-F66A59AD63A2}"/>
              </a:ext>
            </a:extLst>
          </p:cNvPr>
          <p:cNvGrpSpPr/>
          <p:nvPr/>
        </p:nvGrpSpPr>
        <p:grpSpPr>
          <a:xfrm>
            <a:off x="525378" y="2231913"/>
            <a:ext cx="1254646" cy="2967442"/>
            <a:chOff x="525376" y="2591421"/>
            <a:chExt cx="1254646" cy="2967442"/>
          </a:xfrm>
        </p:grpSpPr>
        <p:pic>
          <p:nvPicPr>
            <p:cNvPr id="3074" name="Picture 2">
              <a:extLst>
                <a:ext uri="{FF2B5EF4-FFF2-40B4-BE49-F238E27FC236}">
                  <a16:creationId xmlns:a16="http://schemas.microsoft.com/office/drawing/2014/main" id="{E8D66C54-E895-948C-2B77-13E503C80A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5377" y="2591421"/>
              <a:ext cx="1254645" cy="82266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E1CD0B85-28EA-50DC-C7F6-651B888125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376" y="3665824"/>
              <a:ext cx="1254645" cy="82266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3BC5D96B-5461-FD45-1B84-58430359F3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376" y="4736197"/>
              <a:ext cx="1254645" cy="822666"/>
            </a:xfrm>
            <a:prstGeom prst="rect">
              <a:avLst/>
            </a:prstGeom>
          </p:spPr>
        </p:pic>
      </p:grpSp>
      <p:pic>
        <p:nvPicPr>
          <p:cNvPr id="4098" name="Picture 2">
            <a:extLst>
              <a:ext uri="{FF2B5EF4-FFF2-40B4-BE49-F238E27FC236}">
                <a16:creationId xmlns:a16="http://schemas.microsoft.com/office/drawing/2014/main" id="{CEF4873E-950A-A7F3-EBD3-AF22BEC1D8E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88956" y="1278792"/>
            <a:ext cx="4162506" cy="508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Target vs delivered</a:t>
            </a:r>
          </a:p>
        </p:txBody>
      </p:sp>
      <p:graphicFrame>
        <p:nvGraphicFramePr>
          <p:cNvPr id="3" name="Table 2"/>
          <p:cNvGraphicFramePr>
            <a:graphicFrameLocks noGrp="1"/>
          </p:cNvGraphicFramePr>
          <p:nvPr>
            <p:extLst>
              <p:ext uri="{D42A27DB-BD31-4B8C-83A1-F6EECF244321}">
                <p14:modId xmlns:p14="http://schemas.microsoft.com/office/powerpoint/2010/main" val="468670167"/>
              </p:ext>
            </p:extLst>
          </p:nvPr>
        </p:nvGraphicFramePr>
        <p:xfrm>
          <a:off x="1186249" y="1920240"/>
          <a:ext cx="9866869" cy="2749296"/>
        </p:xfrm>
        <a:graphic>
          <a:graphicData uri="http://schemas.openxmlformats.org/drawingml/2006/table">
            <a:tbl>
              <a:tblPr firstRow="1" bandRow="1">
                <a:tableStyleId>{5C22544A-7EE6-4342-B048-85BDC9FD1C3A}</a:tableStyleId>
              </a:tblPr>
              <a:tblGrid>
                <a:gridCol w="2792510">
                  <a:extLst>
                    <a:ext uri="{9D8B030D-6E8A-4147-A177-3AD203B41FA5}">
                      <a16:colId xmlns:a16="http://schemas.microsoft.com/office/drawing/2014/main" val="20000"/>
                    </a:ext>
                  </a:extLst>
                </a:gridCol>
                <a:gridCol w="3033700">
                  <a:extLst>
                    <a:ext uri="{9D8B030D-6E8A-4147-A177-3AD203B41FA5}">
                      <a16:colId xmlns:a16="http://schemas.microsoft.com/office/drawing/2014/main" val="20001"/>
                    </a:ext>
                  </a:extLst>
                </a:gridCol>
                <a:gridCol w="4040659">
                  <a:extLst>
                    <a:ext uri="{9D8B030D-6E8A-4147-A177-3AD203B41FA5}">
                      <a16:colId xmlns:a16="http://schemas.microsoft.com/office/drawing/2014/main" val="20002"/>
                    </a:ext>
                  </a:extLst>
                </a:gridCol>
              </a:tblGrid>
              <a:tr h="530352">
                <a:tc>
                  <a:txBody>
                    <a:bodyPr/>
                    <a:lstStyle/>
                    <a:p>
                      <a:endParaRPr dirty="0"/>
                    </a:p>
                  </a:txBody>
                  <a:tcPr/>
                </a:tc>
                <a:tc>
                  <a:txBody>
                    <a:bodyPr/>
                    <a:lstStyle/>
                    <a:p>
                      <a:r>
                        <a:rPr sz="1600" b="1"/>
                        <a:t>Target</a:t>
                      </a:r>
                    </a:p>
                  </a:txBody>
                  <a:tcPr/>
                </a:tc>
                <a:tc>
                  <a:txBody>
                    <a:bodyPr/>
                    <a:lstStyle/>
                    <a:p>
                      <a:r>
                        <a:rPr sz="1600" b="1"/>
                        <a:t>Delivered</a:t>
                      </a:r>
                    </a:p>
                  </a:txBody>
                  <a:tcPr/>
                </a:tc>
                <a:extLst>
                  <a:ext uri="{0D108BD9-81ED-4DB2-BD59-A6C34878D82A}">
                    <a16:rowId xmlns:a16="http://schemas.microsoft.com/office/drawing/2014/main" val="10000"/>
                  </a:ext>
                </a:extLst>
              </a:tr>
              <a:tr h="530352">
                <a:tc>
                  <a:txBody>
                    <a:bodyPr/>
                    <a:lstStyle/>
                    <a:p>
                      <a:r>
                        <a:rPr sz="1600"/>
                        <a:t>Coverage</a:t>
                      </a:r>
                    </a:p>
                  </a:txBody>
                  <a:tcPr/>
                </a:tc>
                <a:tc>
                  <a:txBody>
                    <a:bodyPr/>
                    <a:lstStyle/>
                    <a:p>
                      <a:r>
                        <a:rPr sz="1600"/>
                        <a:t>2,600+ US stocks</a:t>
                      </a:r>
                    </a:p>
                  </a:txBody>
                  <a:tcPr/>
                </a:tc>
                <a:tc>
                  <a:txBody>
                    <a:bodyPr/>
                    <a:lstStyle/>
                    <a:p>
                      <a:r>
                        <a:rPr sz="1600"/>
                        <a:t>Full US equity universe</a:t>
                      </a:r>
                    </a:p>
                  </a:txBody>
                  <a:tcPr/>
                </a:tc>
                <a:extLst>
                  <a:ext uri="{0D108BD9-81ED-4DB2-BD59-A6C34878D82A}">
                    <a16:rowId xmlns:a16="http://schemas.microsoft.com/office/drawing/2014/main" val="10001"/>
                  </a:ext>
                </a:extLst>
              </a:tr>
              <a:tr h="530352">
                <a:tc>
                  <a:txBody>
                    <a:bodyPr/>
                    <a:lstStyle/>
                    <a:p>
                      <a:r>
                        <a:rPr sz="1600"/>
                        <a:t>Throughput</a:t>
                      </a:r>
                    </a:p>
                  </a:txBody>
                  <a:tcPr/>
                </a:tc>
                <a:tc>
                  <a:txBody>
                    <a:bodyPr/>
                    <a:lstStyle/>
                    <a:p>
                      <a:r>
                        <a:rPr sz="1600" dirty="0"/>
                        <a:t>2,600 RPS (1/symbol/sec)</a:t>
                      </a:r>
                    </a:p>
                  </a:txBody>
                  <a:tcPr/>
                </a:tc>
                <a:tc>
                  <a:txBody>
                    <a:bodyPr/>
                    <a:lstStyle/>
                    <a:p>
                      <a:r>
                        <a:rPr sz="1600"/>
                        <a:t>4,000 RPS</a:t>
                      </a:r>
                    </a:p>
                  </a:txBody>
                  <a:tcPr/>
                </a:tc>
                <a:extLst>
                  <a:ext uri="{0D108BD9-81ED-4DB2-BD59-A6C34878D82A}">
                    <a16:rowId xmlns:a16="http://schemas.microsoft.com/office/drawing/2014/main" val="10002"/>
                  </a:ext>
                </a:extLst>
              </a:tr>
              <a:tr h="530352">
                <a:tc>
                  <a:txBody>
                    <a:bodyPr/>
                    <a:lstStyle/>
                    <a:p>
                      <a:r>
                        <a:rPr sz="1600"/>
                        <a:t>Latency (same region)</a:t>
                      </a:r>
                    </a:p>
                  </a:txBody>
                  <a:tcPr/>
                </a:tc>
                <a:tc>
                  <a:txBody>
                    <a:bodyPr/>
                    <a:lstStyle/>
                    <a:p>
                      <a:r>
                        <a:rPr sz="1600" dirty="0"/>
                        <a:t>Sub-second</a:t>
                      </a:r>
                    </a:p>
                  </a:txBody>
                  <a:tcPr/>
                </a:tc>
                <a:tc>
                  <a:txBody>
                    <a:bodyPr/>
                    <a:lstStyle/>
                    <a:p>
                      <a:r>
                        <a:rPr sz="1600" dirty="0"/>
                        <a:t>p50 51 </a:t>
                      </a:r>
                      <a:r>
                        <a:rPr sz="1600" dirty="0" err="1"/>
                        <a:t>ms</a:t>
                      </a:r>
                      <a:endParaRPr lang="en-US" sz="1600" dirty="0"/>
                    </a:p>
                    <a:p>
                      <a:r>
                        <a:rPr sz="1600" dirty="0"/>
                        <a:t>p99 223 </a:t>
                      </a:r>
                      <a:r>
                        <a:rPr sz="1600" dirty="0" err="1"/>
                        <a:t>ms</a:t>
                      </a:r>
                      <a:endParaRPr sz="1600" dirty="0"/>
                    </a:p>
                  </a:txBody>
                  <a:tcPr/>
                </a:tc>
                <a:extLst>
                  <a:ext uri="{0D108BD9-81ED-4DB2-BD59-A6C34878D82A}">
                    <a16:rowId xmlns:a16="http://schemas.microsoft.com/office/drawing/2014/main" val="10003"/>
                  </a:ext>
                </a:extLst>
              </a:tr>
              <a:tr h="530352">
                <a:tc>
                  <a:txBody>
                    <a:bodyPr/>
                    <a:lstStyle/>
                    <a:p>
                      <a:r>
                        <a:rPr sz="1600" dirty="0"/>
                        <a:t>Running cost</a:t>
                      </a:r>
                    </a:p>
                  </a:txBody>
                  <a:tcPr/>
                </a:tc>
                <a:tc>
                  <a:txBody>
                    <a:bodyPr/>
                    <a:lstStyle/>
                    <a:p>
                      <a:r>
                        <a:rPr lang="en-US" sz="1600" dirty="0"/>
                        <a:t>Fixed budget per</a:t>
                      </a:r>
                      <a:r>
                        <a:rPr sz="1600" dirty="0"/>
                        <a:t> month</a:t>
                      </a:r>
                    </a:p>
                  </a:txBody>
                  <a:tcPr/>
                </a:tc>
                <a:tc>
                  <a:txBody>
                    <a:bodyPr/>
                    <a:lstStyle/>
                    <a:p>
                      <a:r>
                        <a:rPr lang="en-US" sz="1600" dirty="0"/>
                        <a:t>~1/5 of the budget</a:t>
                      </a:r>
                    </a:p>
                    <a:p>
                      <a:r>
                        <a:rPr lang="en-US" sz="1600" dirty="0"/>
                        <a:t>~1/20 for a representative subset</a:t>
                      </a:r>
                      <a:endParaRPr sz="1600" dirty="0"/>
                    </a:p>
                  </a:txBody>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E360FEE9-E22C-28CA-8A1B-9A57B8AD32A6}"/>
              </a:ext>
            </a:extLst>
          </p:cNvPr>
          <p:cNvGrpSpPr/>
          <p:nvPr/>
        </p:nvGrpSpPr>
        <p:grpSpPr>
          <a:xfrm>
            <a:off x="0" y="1257300"/>
            <a:ext cx="12188546" cy="5600700"/>
            <a:chOff x="0" y="1257300"/>
            <a:chExt cx="12188546" cy="5600700"/>
          </a:xfrm>
        </p:grpSpPr>
        <p:pic>
          <p:nvPicPr>
            <p:cNvPr id="5122" name="Picture 2">
              <a:extLst>
                <a:ext uri="{FF2B5EF4-FFF2-40B4-BE49-F238E27FC236}">
                  <a16:creationId xmlns:a16="http://schemas.microsoft.com/office/drawing/2014/main" id="{4281F69E-7255-70AA-44A6-07AFACC9EB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57300"/>
              <a:ext cx="12188546" cy="5600700"/>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24">
              <a:extLst>
                <a:ext uri="{FF2B5EF4-FFF2-40B4-BE49-F238E27FC236}">
                  <a16:creationId xmlns:a16="http://schemas.microsoft.com/office/drawing/2014/main" id="{C9E4DB39-E5D4-7D89-5E99-6C51DFC56CAA}"/>
                </a:ext>
              </a:extLst>
            </p:cNvPr>
            <p:cNvSpPr/>
            <p:nvPr/>
          </p:nvSpPr>
          <p:spPr>
            <a:xfrm>
              <a:off x="99060" y="1285906"/>
              <a:ext cx="2309360" cy="371504"/>
            </a:xfrm>
            <a:prstGeom prst="rect">
              <a:avLst/>
            </a:prstGeom>
            <a:solidFill>
              <a:srgbClr val="0E1117"/>
            </a:solidFill>
            <a:ln>
              <a:solidFill>
                <a:srgbClr val="0E1117"/>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DE"/>
            </a:p>
          </p:txBody>
        </p:sp>
      </p:grpSp>
      <p:sp>
        <p:nvSpPr>
          <p:cNvPr id="3" name="Title 5">
            <a:extLst>
              <a:ext uri="{FF2B5EF4-FFF2-40B4-BE49-F238E27FC236}">
                <a16:creationId xmlns:a16="http://schemas.microsoft.com/office/drawing/2014/main" id="{39590381-D50E-A687-4E2C-416145C01493}"/>
              </a:ext>
            </a:extLst>
          </p:cNvPr>
          <p:cNvSpPr txBox="1">
            <a:spLocks/>
          </p:cNvSpPr>
          <p:nvPr/>
        </p:nvSpPr>
        <p:spPr>
          <a:xfrm>
            <a:off x="301752" y="301752"/>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err="1"/>
              <a:t>dxFeed</a:t>
            </a:r>
            <a:r>
              <a:rPr lang="en-US" sz="4000" dirty="0"/>
              <a:t> Grenadier in Action</a:t>
            </a:r>
          </a:p>
        </p:txBody>
      </p:sp>
      <p:grpSp>
        <p:nvGrpSpPr>
          <p:cNvPr id="27" name="Group 26">
            <a:extLst>
              <a:ext uri="{FF2B5EF4-FFF2-40B4-BE49-F238E27FC236}">
                <a16:creationId xmlns:a16="http://schemas.microsoft.com/office/drawing/2014/main" id="{2E3EE830-6554-C35A-8847-860F9E5CDADC}"/>
              </a:ext>
            </a:extLst>
          </p:cNvPr>
          <p:cNvGrpSpPr/>
          <p:nvPr/>
        </p:nvGrpSpPr>
        <p:grpSpPr>
          <a:xfrm>
            <a:off x="2408420" y="857190"/>
            <a:ext cx="8815436" cy="3394770"/>
            <a:chOff x="2408420" y="857190"/>
            <a:chExt cx="8815436" cy="3394770"/>
          </a:xfrm>
        </p:grpSpPr>
        <p:sp>
          <p:nvSpPr>
            <p:cNvPr id="2" name="TextBox 1">
              <a:extLst>
                <a:ext uri="{FF2B5EF4-FFF2-40B4-BE49-F238E27FC236}">
                  <a16:creationId xmlns:a16="http://schemas.microsoft.com/office/drawing/2014/main" id="{8D79918D-5F3E-7B32-D00B-4D77C35E265F}"/>
                </a:ext>
              </a:extLst>
            </p:cNvPr>
            <p:cNvSpPr txBox="1"/>
            <p:nvPr/>
          </p:nvSpPr>
          <p:spPr>
            <a:xfrm>
              <a:off x="2408420" y="857190"/>
              <a:ext cx="6080260"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Large volume concentration far from the spread  </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5" name="Rectangle 4">
              <a:extLst>
                <a:ext uri="{FF2B5EF4-FFF2-40B4-BE49-F238E27FC236}">
                  <a16:creationId xmlns:a16="http://schemas.microsoft.com/office/drawing/2014/main" id="{C49D6DBE-2CB1-4C3B-7120-18A0436F6499}"/>
                </a:ext>
              </a:extLst>
            </p:cNvPr>
            <p:cNvSpPr/>
            <p:nvPr/>
          </p:nvSpPr>
          <p:spPr>
            <a:xfrm>
              <a:off x="9357360" y="2179320"/>
              <a:ext cx="1866496" cy="2072640"/>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6" name="Straight Connector 5">
              <a:extLst>
                <a:ext uri="{FF2B5EF4-FFF2-40B4-BE49-F238E27FC236}">
                  <a16:creationId xmlns:a16="http://schemas.microsoft.com/office/drawing/2014/main" id="{D47BCE3C-90D9-A369-A713-E15968BE69E9}"/>
                </a:ext>
              </a:extLst>
            </p:cNvPr>
            <p:cNvCxnSpPr>
              <a:cxnSpLocks/>
              <a:stCxn id="2" idx="2"/>
              <a:endCxn id="5" idx="1"/>
            </p:cNvCxnSpPr>
            <p:nvPr/>
          </p:nvCxnSpPr>
          <p:spPr>
            <a:xfrm>
              <a:off x="5448550" y="1257300"/>
              <a:ext cx="3908810" cy="1958340"/>
            </a:xfrm>
            <a:prstGeom prst="line">
              <a:avLst/>
            </a:prstGeom>
            <a:ln w="38100"/>
          </p:spPr>
          <p:style>
            <a:lnRef idx="3">
              <a:schemeClr val="accent6"/>
            </a:lnRef>
            <a:fillRef idx="0">
              <a:schemeClr val="accent6"/>
            </a:fillRef>
            <a:effectRef idx="2">
              <a:schemeClr val="accent6"/>
            </a:effectRef>
            <a:fontRef idx="minor">
              <a:schemeClr val="tx1"/>
            </a:fontRef>
          </p:style>
        </p:cxnSp>
      </p:grpSp>
      <p:grpSp>
        <p:nvGrpSpPr>
          <p:cNvPr id="28" name="Group 27">
            <a:extLst>
              <a:ext uri="{FF2B5EF4-FFF2-40B4-BE49-F238E27FC236}">
                <a16:creationId xmlns:a16="http://schemas.microsoft.com/office/drawing/2014/main" id="{C2C1E30F-0183-F351-50E6-DB98EEFF0C62}"/>
              </a:ext>
            </a:extLst>
          </p:cNvPr>
          <p:cNvGrpSpPr/>
          <p:nvPr/>
        </p:nvGrpSpPr>
        <p:grpSpPr>
          <a:xfrm>
            <a:off x="312516" y="4124295"/>
            <a:ext cx="11376564" cy="2444144"/>
            <a:chOff x="312516" y="4124295"/>
            <a:chExt cx="11376564" cy="2444144"/>
          </a:xfrm>
        </p:grpSpPr>
        <p:sp>
          <p:nvSpPr>
            <p:cNvPr id="19" name="TextBox 18">
              <a:extLst>
                <a:ext uri="{FF2B5EF4-FFF2-40B4-BE49-F238E27FC236}">
                  <a16:creationId xmlns:a16="http://schemas.microsoft.com/office/drawing/2014/main" id="{C1CAFB63-276E-EF72-4929-1C597A6B1909}"/>
                </a:ext>
              </a:extLst>
            </p:cNvPr>
            <p:cNvSpPr txBox="1"/>
            <p:nvPr/>
          </p:nvSpPr>
          <p:spPr>
            <a:xfrm>
              <a:off x="312516" y="4124295"/>
              <a:ext cx="4541424" cy="400110"/>
            </a:xfrm>
            <a:prstGeom prst="rect">
              <a:avLst/>
            </a:prstGeom>
            <a:noFill/>
          </p:spPr>
          <p:txBody>
            <a:bodyPr wrap="square">
              <a:spAutoFit/>
            </a:bodyPr>
            <a:lstStyle/>
            <a:p>
              <a:pPr rtl="0">
                <a:buNone/>
              </a:pPr>
              <a:r>
                <a:rPr lang="en-US" sz="2000" b="0" i="0" u="none" strike="noStrike" dirty="0">
                  <a:solidFill>
                    <a:schemeClr val="accent6"/>
                  </a:solidFill>
                  <a:effectLst/>
                  <a:latin typeface="Amazon Ember Display" panose="020B0604020202020204" charset="0"/>
                  <a:ea typeface="Amazon Ember Display" panose="020B0604020202020204" charset="0"/>
                  <a:cs typeface="Amazon Ember Display" panose="020B0604020202020204" charset="0"/>
                </a:rPr>
                <a:t>Anomaly-free state of the order book</a:t>
              </a:r>
              <a:endParaRPr lang="en-US" sz="2000" dirty="0">
                <a:solidFill>
                  <a:schemeClr val="accent6"/>
                </a:solidFill>
                <a:effectLst/>
                <a:latin typeface="Amazon Ember Display" panose="020B0604020202020204" charset="0"/>
                <a:ea typeface="Amazon Ember Display" panose="020B0604020202020204" charset="0"/>
                <a:cs typeface="Amazon Ember Display" panose="020B0604020202020204" charset="0"/>
              </a:endParaRPr>
            </a:p>
          </p:txBody>
        </p:sp>
        <p:sp>
          <p:nvSpPr>
            <p:cNvPr id="20" name="Rectangle 19">
              <a:extLst>
                <a:ext uri="{FF2B5EF4-FFF2-40B4-BE49-F238E27FC236}">
                  <a16:creationId xmlns:a16="http://schemas.microsoft.com/office/drawing/2014/main" id="{22BEC6B7-CDF0-DD29-E0A1-94A993EB24F5}"/>
                </a:ext>
              </a:extLst>
            </p:cNvPr>
            <p:cNvSpPr/>
            <p:nvPr/>
          </p:nvSpPr>
          <p:spPr>
            <a:xfrm>
              <a:off x="373380" y="4495799"/>
              <a:ext cx="11315700" cy="2072640"/>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Decision rule #3: when to train your own</a:t>
            </a:r>
            <a:r>
              <a:rPr lang="en-US" dirty="0"/>
              <a:t> model</a:t>
            </a:r>
            <a:endParaRPr dirty="0"/>
          </a:p>
        </p:txBody>
      </p:sp>
      <p:graphicFrame>
        <p:nvGraphicFramePr>
          <p:cNvPr id="6" name="Table 5">
            <a:extLst>
              <a:ext uri="{FF2B5EF4-FFF2-40B4-BE49-F238E27FC236}">
                <a16:creationId xmlns:a16="http://schemas.microsoft.com/office/drawing/2014/main" id="{F6E4C072-2AE4-5E75-4597-7F6DD2830CD1}"/>
              </a:ext>
            </a:extLst>
          </p:cNvPr>
          <p:cNvGraphicFramePr>
            <a:graphicFrameLocks noGrp="1"/>
          </p:cNvGraphicFramePr>
          <p:nvPr>
            <p:extLst>
              <p:ext uri="{D42A27DB-BD31-4B8C-83A1-F6EECF244321}">
                <p14:modId xmlns:p14="http://schemas.microsoft.com/office/powerpoint/2010/main" val="850096422"/>
              </p:ext>
            </p:extLst>
          </p:nvPr>
        </p:nvGraphicFramePr>
        <p:xfrm>
          <a:off x="960446" y="2059072"/>
          <a:ext cx="9718005" cy="3828002"/>
        </p:xfrm>
        <a:graphic>
          <a:graphicData uri="http://schemas.openxmlformats.org/drawingml/2006/table">
            <a:tbl>
              <a:tblPr/>
              <a:tblGrid>
                <a:gridCol w="2029890">
                  <a:extLst>
                    <a:ext uri="{9D8B030D-6E8A-4147-A177-3AD203B41FA5}">
                      <a16:colId xmlns:a16="http://schemas.microsoft.com/office/drawing/2014/main" val="4063981940"/>
                    </a:ext>
                  </a:extLst>
                </a:gridCol>
                <a:gridCol w="3676134">
                  <a:extLst>
                    <a:ext uri="{9D8B030D-6E8A-4147-A177-3AD203B41FA5}">
                      <a16:colId xmlns:a16="http://schemas.microsoft.com/office/drawing/2014/main" val="1130441371"/>
                    </a:ext>
                  </a:extLst>
                </a:gridCol>
                <a:gridCol w="4011981">
                  <a:extLst>
                    <a:ext uri="{9D8B030D-6E8A-4147-A177-3AD203B41FA5}">
                      <a16:colId xmlns:a16="http://schemas.microsoft.com/office/drawing/2014/main" val="2423457569"/>
                    </a:ext>
                  </a:extLst>
                </a:gridCol>
              </a:tblGrid>
              <a:tr h="433329">
                <a:tc>
                  <a:txBody>
                    <a:bodyPr/>
                    <a:lstStyle/>
                    <a:p>
                      <a:pPr>
                        <a:buNone/>
                      </a:pP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DE" sz="1800" b="1" dirty="0">
                          <a:solidFill>
                            <a:schemeClr val="accent1"/>
                          </a:solidFill>
                        </a:rPr>
                        <a:t>Use an LLM when…</a:t>
                      </a:r>
                      <a:endParaRPr lang="en-US" sz="1800" b="1" dirty="0">
                        <a:solidFill>
                          <a:schemeClr val="accent1"/>
                        </a:solidFill>
                      </a:endParaRPr>
                    </a:p>
                    <a:p>
                      <a:pPr algn="ctr">
                        <a:buNone/>
                      </a:pPr>
                      <a:r>
                        <a:rPr lang="en-US" sz="1800" dirty="0">
                          <a:solidFill>
                            <a:schemeClr val="accent1"/>
                          </a:solidFill>
                        </a:rPr>
                        <a:t>(</a:t>
                      </a:r>
                      <a:r>
                        <a:rPr lang="en-DE" sz="1800" dirty="0" err="1">
                          <a:solidFill>
                            <a:schemeClr val="accent1"/>
                          </a:solidFill>
                        </a:rPr>
                        <a:t>SummerFox</a:t>
                      </a:r>
                      <a:r>
                        <a:rPr lang="en-US" sz="1800" dirty="0">
                          <a:solidFill>
                            <a:schemeClr val="accent1"/>
                          </a:solidFill>
                        </a:rPr>
                        <a:t>)</a:t>
                      </a:r>
                      <a:endParaRPr lang="en-DE" sz="1800" dirty="0">
                        <a:solidFill>
                          <a:schemeClr val="accent1"/>
                        </a:solidFill>
                      </a:endParaRP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DE" sz="1800" b="1" dirty="0">
                          <a:solidFill>
                            <a:schemeClr val="accent1"/>
                          </a:solidFill>
                        </a:rPr>
                        <a:t>Train your own when…</a:t>
                      </a:r>
                      <a:r>
                        <a:rPr lang="en-DE" sz="1800" dirty="0">
                          <a:solidFill>
                            <a:schemeClr val="accent1"/>
                          </a:solidFill>
                        </a:rPr>
                        <a:t> </a:t>
                      </a:r>
                      <a:endParaRPr lang="en-US" sz="1800" dirty="0">
                        <a:solidFill>
                          <a:schemeClr val="accent1"/>
                        </a:solidFill>
                      </a:endParaRPr>
                    </a:p>
                    <a:p>
                      <a:pPr algn="ctr">
                        <a:buNone/>
                      </a:pPr>
                      <a:r>
                        <a:rPr lang="en-US" sz="1800" dirty="0">
                          <a:solidFill>
                            <a:schemeClr val="accent1"/>
                          </a:solidFill>
                        </a:rPr>
                        <a:t>(</a:t>
                      </a:r>
                      <a:r>
                        <a:rPr lang="en-DE" sz="1800" dirty="0">
                          <a:solidFill>
                            <a:schemeClr val="accent1"/>
                          </a:solidFill>
                        </a:rPr>
                        <a:t>Grenadier</a:t>
                      </a:r>
                      <a:r>
                        <a:rPr lang="en-US" sz="1800" dirty="0">
                          <a:solidFill>
                            <a:schemeClr val="accent1"/>
                          </a:solidFill>
                        </a:rPr>
                        <a:t>)</a:t>
                      </a:r>
                      <a:endParaRPr lang="en-DE" sz="1800" dirty="0">
                        <a:solidFill>
                          <a:schemeClr val="accent1"/>
                        </a:solidFill>
                      </a:endParaRP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3075636"/>
                  </a:ext>
                </a:extLst>
              </a:tr>
              <a:tr h="619042">
                <a:tc>
                  <a:txBody>
                    <a:bodyPr/>
                    <a:lstStyle/>
                    <a:p>
                      <a:pPr>
                        <a:buNone/>
                      </a:pPr>
                      <a:r>
                        <a:rPr lang="en-DE" sz="1800" b="1" dirty="0"/>
                        <a:t>The input</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dirty="0"/>
                        <a:t>is language: headlines, filings, a question a human typed</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DE" sz="1800" dirty="0"/>
                        <a:t>is a numeric signal: 20 GB of order-book snapshots</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0681342"/>
                  </a:ext>
                </a:extLst>
              </a:tr>
              <a:tr h="433329">
                <a:tc>
                  <a:txBody>
                    <a:bodyPr/>
                    <a:lstStyle/>
                    <a:p>
                      <a:pPr>
                        <a:buNone/>
                      </a:pPr>
                      <a:r>
                        <a:rPr lang="en-DE" sz="1800" b="1" dirty="0"/>
                        <a:t>"Correct" means</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dirty="0"/>
                        <a:t>a judgement a human expert would agree with</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DE" sz="1800" dirty="0"/>
                        <a:t>a statistic: reconstruction error against what normal looks like</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1757750"/>
                  </a:ext>
                </a:extLst>
              </a:tr>
              <a:tr h="587082">
                <a:tc>
                  <a:txBody>
                    <a:bodyPr/>
                    <a:lstStyle/>
                    <a:p>
                      <a:pPr>
                        <a:buNone/>
                      </a:pPr>
                      <a:r>
                        <a:rPr lang="en-DE" sz="1800" b="1" dirty="0"/>
                        <a:t>The knowledge</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dirty="0"/>
                        <a:t>lives in the world — companies, events, context</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DE" sz="1800" dirty="0"/>
                        <a:t>lives only in your data —</a:t>
                      </a:r>
                      <a:r>
                        <a:rPr lang="ru-RU" sz="1800" dirty="0"/>
                        <a:t> </a:t>
                      </a:r>
                      <a:r>
                        <a:rPr lang="en-DE" sz="1800" dirty="0"/>
                        <a:t>there's no LLM that ever saw it</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9994810"/>
                  </a:ext>
                </a:extLst>
              </a:tr>
              <a:tr h="619042">
                <a:tc>
                  <a:txBody>
                    <a:bodyPr/>
                    <a:lstStyle/>
                    <a:p>
                      <a:pPr>
                        <a:buNone/>
                      </a:pPr>
                      <a:r>
                        <a:rPr lang="en-DE" sz="1800" b="1" dirty="0"/>
                        <a:t>Volume &amp; latency</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a:t>thousands of calls a day, seconds are fine</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800" dirty="0"/>
                        <a:t>thousands of </a:t>
                      </a:r>
                      <a:r>
                        <a:rPr lang="en-DE" sz="1800" dirty="0"/>
                        <a:t>inferences a second, forever, </a:t>
                      </a:r>
                      <a:r>
                        <a:rPr lang="en-US" sz="1800" dirty="0"/>
                        <a:t>with sub-second latency</a:t>
                      </a:r>
                      <a:r>
                        <a:rPr lang="en-DE" sz="1800" dirty="0"/>
                        <a:t> — no LLM does that at any price</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5032444"/>
                  </a:ext>
                </a:extLst>
              </a:tr>
              <a:tr h="619042">
                <a:tc>
                  <a:txBody>
                    <a:bodyPr/>
                    <a:lstStyle/>
                    <a:p>
                      <a:pPr>
                        <a:buNone/>
                      </a:pPr>
                      <a:r>
                        <a:rPr lang="en-DE" sz="1800" b="1" dirty="0"/>
                        <a:t>Economics</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dirty="0"/>
                        <a:t>pay per call because each call is worth it</a:t>
                      </a:r>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DE" sz="1800" dirty="0"/>
                        <a:t>pay </a:t>
                      </a:r>
                      <a:r>
                        <a:rPr lang="en-US" sz="1800" dirty="0"/>
                        <a:t>per day/month because load is tested and predictable</a:t>
                      </a:r>
                      <a:endParaRPr lang="en-DE" sz="1800" dirty="0"/>
                    </a:p>
                  </a:txBody>
                  <a:tcPr marL="27532" marR="27532" marT="13766" marB="1376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0590858"/>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
            </a:r>
            <a:r>
              <a:rPr dirty="0"/>
              <a:t>ix evals, three buckets</a:t>
            </a:r>
          </a:p>
        </p:txBody>
      </p:sp>
      <p:graphicFrame>
        <p:nvGraphicFramePr>
          <p:cNvPr id="3" name="Table 2"/>
          <p:cNvGraphicFramePr>
            <a:graphicFrameLocks noGrp="1"/>
          </p:cNvGraphicFramePr>
          <p:nvPr>
            <p:extLst>
              <p:ext uri="{D42A27DB-BD31-4B8C-83A1-F6EECF244321}">
                <p14:modId xmlns:p14="http://schemas.microsoft.com/office/powerpoint/2010/main" val="2913391162"/>
              </p:ext>
            </p:extLst>
          </p:nvPr>
        </p:nvGraphicFramePr>
        <p:xfrm>
          <a:off x="640080" y="1828800"/>
          <a:ext cx="10972800" cy="329184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70262">
                <a:tc>
                  <a:txBody>
                    <a:bodyPr/>
                    <a:lstStyle/>
                    <a:p>
                      <a:r>
                        <a:rPr sz="1400" b="1"/>
                        <a:t>Type</a:t>
                      </a:r>
                    </a:p>
                  </a:txBody>
                  <a:tcPr/>
                </a:tc>
                <a:tc>
                  <a:txBody>
                    <a:bodyPr/>
                    <a:lstStyle/>
                    <a:p>
                      <a:r>
                        <a:rPr sz="1400" b="1"/>
                        <a:t>Our layer</a:t>
                      </a:r>
                    </a:p>
                  </a:txBody>
                  <a:tcPr/>
                </a:tc>
                <a:tc>
                  <a:txBody>
                    <a:bodyPr/>
                    <a:lstStyle/>
                    <a:p>
                      <a:r>
                        <a:rPr sz="1400" b="1"/>
                        <a:t>What it catches</a:t>
                      </a:r>
                    </a:p>
                  </a:txBody>
                  <a:tcPr/>
                </a:tc>
                <a:extLst>
                  <a:ext uri="{0D108BD9-81ED-4DB2-BD59-A6C34878D82A}">
                    <a16:rowId xmlns:a16="http://schemas.microsoft.com/office/drawing/2014/main" val="10000"/>
                  </a:ext>
                </a:extLst>
              </a:tr>
              <a:tr h="470262">
                <a:tc>
                  <a:txBody>
                    <a:bodyPr/>
                    <a:lstStyle/>
                    <a:p>
                      <a:r>
                        <a:rPr sz="1400" b="1"/>
                        <a:t>Code</a:t>
                      </a:r>
                    </a:p>
                  </a:txBody>
                  <a:tcPr/>
                </a:tc>
                <a:tc>
                  <a:txBody>
                    <a:bodyPr/>
                    <a:lstStyle/>
                    <a:p>
                      <a:r>
                        <a:rPr sz="1400" b="0" dirty="0"/>
                        <a:t>Data</a:t>
                      </a:r>
                      <a:r>
                        <a:rPr lang="en-US" sz="1400" b="0" dirty="0"/>
                        <a:t>:</a:t>
                      </a:r>
                      <a:r>
                        <a:rPr sz="1400" b="0" dirty="0"/>
                        <a:t> assertions vs source of truth</a:t>
                      </a:r>
                    </a:p>
                  </a:txBody>
                  <a:tcPr/>
                </a:tc>
                <a:tc>
                  <a:txBody>
                    <a:bodyPr/>
                    <a:lstStyle/>
                    <a:p>
                      <a:r>
                        <a:rPr sz="1400" b="0"/>
                        <a:t>Wrong values</a:t>
                      </a:r>
                    </a:p>
                  </a:txBody>
                  <a:tcPr/>
                </a:tc>
                <a:extLst>
                  <a:ext uri="{0D108BD9-81ED-4DB2-BD59-A6C34878D82A}">
                    <a16:rowId xmlns:a16="http://schemas.microsoft.com/office/drawing/2014/main" val="10001"/>
                  </a:ext>
                </a:extLst>
              </a:tr>
              <a:tr h="470262">
                <a:tc>
                  <a:txBody>
                    <a:bodyPr/>
                    <a:lstStyle/>
                    <a:p>
                      <a:r>
                        <a:rPr sz="1400" b="1"/>
                        <a:t>Code</a:t>
                      </a:r>
                    </a:p>
                  </a:txBody>
                  <a:tcPr/>
                </a:tc>
                <a:tc>
                  <a:txBody>
                    <a:bodyPr/>
                    <a:lstStyle/>
                    <a:p>
                      <a:r>
                        <a:rPr sz="1400" b="0" dirty="0"/>
                        <a:t>Tool</a:t>
                      </a:r>
                      <a:r>
                        <a:rPr lang="en-US" sz="1400" b="0" dirty="0"/>
                        <a:t>:</a:t>
                      </a:r>
                      <a:r>
                        <a:rPr sz="1400" b="0" dirty="0"/>
                        <a:t> trace replay against golden traces</a:t>
                      </a:r>
                      <a:r>
                        <a:rPr lang="en-US" sz="1400" b="0" dirty="0"/>
                        <a:t> (</a:t>
                      </a:r>
                      <a:r>
                        <a:rPr lang="en-US" sz="1400" b="0" dirty="0" err="1"/>
                        <a:t>SummerFox</a:t>
                      </a:r>
                      <a:r>
                        <a:rPr lang="en-US" sz="1400" b="0" dirty="0"/>
                        <a:t>)</a:t>
                      </a:r>
                      <a:endParaRPr sz="1400" b="0" dirty="0"/>
                    </a:p>
                  </a:txBody>
                  <a:tcPr/>
                </a:tc>
                <a:tc>
                  <a:txBody>
                    <a:bodyPr/>
                    <a:lstStyle/>
                    <a:p>
                      <a:r>
                        <a:rPr sz="1400" b="0"/>
                        <a:t>Right answer, wrong call</a:t>
                      </a:r>
                    </a:p>
                  </a:txBody>
                  <a:tcPr/>
                </a:tc>
                <a:extLst>
                  <a:ext uri="{0D108BD9-81ED-4DB2-BD59-A6C34878D82A}">
                    <a16:rowId xmlns:a16="http://schemas.microsoft.com/office/drawing/2014/main" val="10002"/>
                  </a:ext>
                </a:extLst>
              </a:tr>
              <a:tr h="470262">
                <a:tc>
                  <a:txBody>
                    <a:bodyPr/>
                    <a:lstStyle/>
                    <a:p>
                      <a:r>
                        <a:rPr sz="1400" b="1"/>
                        <a:t>Code</a:t>
                      </a:r>
                    </a:p>
                  </a:txBody>
                  <a:tcPr/>
                </a:tc>
                <a:tc>
                  <a:txBody>
                    <a:bodyPr/>
                    <a:lstStyle/>
                    <a:p>
                      <a:r>
                        <a:rPr sz="1400" b="0" dirty="0"/>
                        <a:t>Config</a:t>
                      </a:r>
                      <a:r>
                        <a:rPr lang="en-US" sz="1400" b="0" dirty="0"/>
                        <a:t>:</a:t>
                      </a:r>
                      <a:r>
                        <a:rPr sz="1400" b="0" dirty="0"/>
                        <a:t> label menus test-pinned to the prompt</a:t>
                      </a:r>
                    </a:p>
                  </a:txBody>
                  <a:tcPr/>
                </a:tc>
                <a:tc>
                  <a:txBody>
                    <a:bodyPr/>
                    <a:lstStyle/>
                    <a:p>
                      <a:r>
                        <a:rPr sz="1400" b="0"/>
                        <a:t>Config drift</a:t>
                      </a:r>
                    </a:p>
                  </a:txBody>
                  <a:tcPr/>
                </a:tc>
                <a:extLst>
                  <a:ext uri="{0D108BD9-81ED-4DB2-BD59-A6C34878D82A}">
                    <a16:rowId xmlns:a16="http://schemas.microsoft.com/office/drawing/2014/main" val="10003"/>
                  </a:ext>
                </a:extLst>
              </a:tr>
              <a:tr h="470262">
                <a:tc>
                  <a:txBody>
                    <a:bodyPr/>
                    <a:lstStyle/>
                    <a:p>
                      <a:r>
                        <a:rPr sz="1400" b="1"/>
                        <a:t>Code</a:t>
                      </a:r>
                    </a:p>
                  </a:txBody>
                  <a:tcPr/>
                </a:tc>
                <a:tc>
                  <a:txBody>
                    <a:bodyPr/>
                    <a:lstStyle/>
                    <a:p>
                      <a:r>
                        <a:rPr sz="1400" b="0" dirty="0"/>
                        <a:t>Model</a:t>
                      </a:r>
                      <a:r>
                        <a:rPr lang="en-US" sz="1400" b="0" dirty="0"/>
                        <a:t>:</a:t>
                      </a:r>
                      <a:r>
                        <a:rPr sz="1400" b="0" dirty="0"/>
                        <a:t> precision/recall on a held-out labelled set (Grenadier)</a:t>
                      </a:r>
                    </a:p>
                  </a:txBody>
                  <a:tcPr/>
                </a:tc>
                <a:tc>
                  <a:txBody>
                    <a:bodyPr/>
                    <a:lstStyle/>
                    <a:p>
                      <a:r>
                        <a:rPr sz="1400" b="0"/>
                        <a:t>Detection quality</a:t>
                      </a:r>
                    </a:p>
                  </a:txBody>
                  <a:tcPr/>
                </a:tc>
                <a:extLst>
                  <a:ext uri="{0D108BD9-81ED-4DB2-BD59-A6C34878D82A}">
                    <a16:rowId xmlns:a16="http://schemas.microsoft.com/office/drawing/2014/main" val="10004"/>
                  </a:ext>
                </a:extLst>
              </a:tr>
              <a:tr h="470262">
                <a:tc>
                  <a:txBody>
                    <a:bodyPr/>
                    <a:lstStyle/>
                    <a:p>
                      <a:r>
                        <a:rPr sz="1400" b="1"/>
                        <a:t>Model-graded</a:t>
                      </a:r>
                    </a:p>
                  </a:txBody>
                  <a:tcPr/>
                </a:tc>
                <a:tc>
                  <a:txBody>
                    <a:bodyPr/>
                    <a:lstStyle/>
                    <a:p>
                      <a:r>
                        <a:rPr sz="1400" b="0" dirty="0"/>
                        <a:t>Agent</a:t>
                      </a:r>
                      <a:r>
                        <a:rPr lang="en-US" sz="1400" b="0" dirty="0"/>
                        <a:t>:</a:t>
                      </a:r>
                      <a:r>
                        <a:rPr sz="1400" b="0" dirty="0"/>
                        <a:t> faithfulness, no fabrication (Inspect, </a:t>
                      </a:r>
                      <a:r>
                        <a:rPr sz="1400" b="0" dirty="0" err="1"/>
                        <a:t>Deepeval</a:t>
                      </a:r>
                      <a:r>
                        <a:rPr sz="1400" b="0" dirty="0"/>
                        <a:t>)</a:t>
                      </a:r>
                    </a:p>
                  </a:txBody>
                  <a:tcPr/>
                </a:tc>
                <a:tc>
                  <a:txBody>
                    <a:bodyPr/>
                    <a:lstStyle/>
                    <a:p>
                      <a:r>
                        <a:rPr sz="1400" b="0"/>
                        <a:t>Plausible fiction</a:t>
                      </a:r>
                    </a:p>
                  </a:txBody>
                  <a:tcPr/>
                </a:tc>
                <a:extLst>
                  <a:ext uri="{0D108BD9-81ED-4DB2-BD59-A6C34878D82A}">
                    <a16:rowId xmlns:a16="http://schemas.microsoft.com/office/drawing/2014/main" val="10005"/>
                  </a:ext>
                </a:extLst>
              </a:tr>
              <a:tr h="470268">
                <a:tc>
                  <a:txBody>
                    <a:bodyPr/>
                    <a:lstStyle/>
                    <a:p>
                      <a:r>
                        <a:rPr sz="1400" b="1"/>
                        <a:t>Human</a:t>
                      </a:r>
                    </a:p>
                  </a:txBody>
                  <a:tcPr/>
                </a:tc>
                <a:tc>
                  <a:txBody>
                    <a:bodyPr/>
                    <a:lstStyle/>
                    <a:p>
                      <a:r>
                        <a:rPr sz="1400" b="0" dirty="0"/>
                        <a:t>Sampled review of production traces, back into the golden set</a:t>
                      </a:r>
                    </a:p>
                  </a:txBody>
                  <a:tcPr/>
                </a:tc>
                <a:tc>
                  <a:txBody>
                    <a:bodyPr/>
                    <a:lstStyle/>
                    <a:p>
                      <a:r>
                        <a:rPr sz="1400" b="0" dirty="0"/>
                        <a:t>Everything we didn't think of</a:t>
                      </a:r>
                    </a:p>
                  </a:txBody>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Bonus: quality control and AI economics</a:t>
            </a:r>
            <a:endParaRPr dirty="0"/>
          </a:p>
        </p:txBody>
      </p:sp>
      <p:sp>
        <p:nvSpPr>
          <p:cNvPr id="8" name="Rectangle: Rounded Corners 7">
            <a:extLst>
              <a:ext uri="{FF2B5EF4-FFF2-40B4-BE49-F238E27FC236}">
                <a16:creationId xmlns:a16="http://schemas.microsoft.com/office/drawing/2014/main" id="{F14005C7-F14F-6753-0CED-95FAC15714C6}"/>
              </a:ext>
            </a:extLst>
          </p:cNvPr>
          <p:cNvSpPr/>
          <p:nvPr/>
        </p:nvSpPr>
        <p:spPr>
          <a:xfrm>
            <a:off x="1619058" y="2081506"/>
            <a:ext cx="3997406" cy="1127923"/>
          </a:xfrm>
          <a:prstGeom prst="roundRect">
            <a:avLst>
              <a:gd name="adj" fmla="val 5840"/>
            </a:avLst>
          </a:prstGeom>
          <a:noFill/>
          <a:ln w="19050">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t>Noise floor: ~</a:t>
            </a:r>
            <a:r>
              <a:rPr lang="en-DE" dirty="0"/>
              <a:t>40% of articles come back different on identical input</a:t>
            </a:r>
            <a:endParaRPr lang="en-US" dirty="0">
              <a:solidFill>
                <a:srgbClr val="FFFFFF"/>
              </a:solidFill>
              <a:latin typeface="Amazon Ember Display"/>
            </a:endParaRPr>
          </a:p>
        </p:txBody>
      </p:sp>
      <p:sp>
        <p:nvSpPr>
          <p:cNvPr id="6" name="Rectangle: Rounded Corners 5">
            <a:extLst>
              <a:ext uri="{FF2B5EF4-FFF2-40B4-BE49-F238E27FC236}">
                <a16:creationId xmlns:a16="http://schemas.microsoft.com/office/drawing/2014/main" id="{4577E538-1B4D-3675-7B18-D24B56EDDFF8}"/>
              </a:ext>
            </a:extLst>
          </p:cNvPr>
          <p:cNvSpPr/>
          <p:nvPr/>
        </p:nvSpPr>
        <p:spPr>
          <a:xfrm>
            <a:off x="6575537" y="2069453"/>
            <a:ext cx="3997405" cy="1127921"/>
          </a:xfrm>
          <a:prstGeom prst="roundRect">
            <a:avLst>
              <a:gd name="adj" fmla="val 2958"/>
            </a:avLst>
          </a:prstGeom>
          <a:noFill/>
          <a:ln w="19050">
            <a:gradFill>
              <a:gsLst>
                <a:gs pos="0">
                  <a:srgbClr val="FE6277"/>
                </a:gs>
                <a:gs pos="100000">
                  <a:srgbClr val="FE35C3"/>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defRPr/>
            </a:pPr>
            <a:r>
              <a:rPr kumimoji="0" lang="en-US" sz="1800" b="0" i="0" u="none" strike="noStrike" kern="1200" cap="none" spc="0" normalizeH="0" baseline="0" noProof="0" dirty="0">
                <a:ln>
                  <a:noFill/>
                </a:ln>
                <a:solidFill>
                  <a:srgbClr val="FFFFFF"/>
                </a:solidFill>
                <a:effectLst/>
                <a:uLnTx/>
                <a:uFillTx/>
                <a:latin typeface="Amazon Ember Display"/>
                <a:ea typeface="+mn-ea"/>
                <a:cs typeface="+mn-cs"/>
              </a:rPr>
              <a:t>No reproducibility: measure </a:t>
            </a:r>
            <a:r>
              <a:rPr lang="en-DE" dirty="0"/>
              <a:t>old-vs-old before you measure old-vs-new</a:t>
            </a:r>
            <a:endParaRPr kumimoji="0" lang="en-US" sz="1800" b="0" i="0" u="none" strike="noStrike" kern="1200" cap="none" spc="0" normalizeH="0" baseline="0" noProof="0" dirty="0">
              <a:ln>
                <a:noFill/>
              </a:ln>
              <a:solidFill>
                <a:srgbClr val="FFFFFF"/>
              </a:solidFill>
              <a:effectLst/>
              <a:uLnTx/>
              <a:uFillTx/>
              <a:latin typeface="Amazon Ember Display"/>
              <a:ea typeface="+mn-ea"/>
              <a:cs typeface="+mn-cs"/>
            </a:endParaRPr>
          </a:p>
        </p:txBody>
      </p:sp>
      <p:sp>
        <p:nvSpPr>
          <p:cNvPr id="11" name="Rectangle: Rounded Corners 10">
            <a:extLst>
              <a:ext uri="{FF2B5EF4-FFF2-40B4-BE49-F238E27FC236}">
                <a16:creationId xmlns:a16="http://schemas.microsoft.com/office/drawing/2014/main" id="{515CCD81-6C91-F026-2FCA-32CD75B41B7E}"/>
              </a:ext>
            </a:extLst>
          </p:cNvPr>
          <p:cNvSpPr/>
          <p:nvPr/>
        </p:nvSpPr>
        <p:spPr>
          <a:xfrm>
            <a:off x="1619058" y="3424613"/>
            <a:ext cx="3997406" cy="1127923"/>
          </a:xfrm>
          <a:prstGeom prst="roundRect">
            <a:avLst>
              <a:gd name="adj" fmla="val 5840"/>
            </a:avLst>
          </a:prstGeom>
          <a:noFill/>
          <a:ln w="19050">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t>Each prompt edit, no matter how trivial, is a new deployment</a:t>
            </a:r>
            <a:endParaRPr lang="en-US" dirty="0">
              <a:solidFill>
                <a:srgbClr val="FFFFFF"/>
              </a:solidFill>
              <a:latin typeface="Amazon Ember Display"/>
            </a:endParaRPr>
          </a:p>
        </p:txBody>
      </p:sp>
      <p:sp>
        <p:nvSpPr>
          <p:cNvPr id="13" name="Rectangle: Rounded Corners 12">
            <a:extLst>
              <a:ext uri="{FF2B5EF4-FFF2-40B4-BE49-F238E27FC236}">
                <a16:creationId xmlns:a16="http://schemas.microsoft.com/office/drawing/2014/main" id="{44F1CA25-FE79-248D-4D93-DE8E5C926775}"/>
              </a:ext>
            </a:extLst>
          </p:cNvPr>
          <p:cNvSpPr/>
          <p:nvPr/>
        </p:nvSpPr>
        <p:spPr>
          <a:xfrm>
            <a:off x="1619058" y="4767720"/>
            <a:ext cx="3997406" cy="1127923"/>
          </a:xfrm>
          <a:prstGeom prst="roundRect">
            <a:avLst>
              <a:gd name="adj" fmla="val 5840"/>
            </a:avLst>
          </a:prstGeom>
          <a:noFill/>
          <a:ln w="19050">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t>Multi-vendor fallback helps deal with outages and model degradations</a:t>
            </a:r>
            <a:endParaRPr lang="en-US" dirty="0">
              <a:solidFill>
                <a:srgbClr val="FFFFFF"/>
              </a:solidFill>
              <a:latin typeface="Amazon Ember Display"/>
            </a:endParaRPr>
          </a:p>
        </p:txBody>
      </p:sp>
      <p:sp>
        <p:nvSpPr>
          <p:cNvPr id="15" name="Rectangle: Rounded Corners 14">
            <a:extLst>
              <a:ext uri="{FF2B5EF4-FFF2-40B4-BE49-F238E27FC236}">
                <a16:creationId xmlns:a16="http://schemas.microsoft.com/office/drawing/2014/main" id="{CB1B9858-9221-A6F3-FF08-E5EA15ACAA96}"/>
              </a:ext>
            </a:extLst>
          </p:cNvPr>
          <p:cNvSpPr/>
          <p:nvPr/>
        </p:nvSpPr>
        <p:spPr>
          <a:xfrm>
            <a:off x="6575536" y="3412558"/>
            <a:ext cx="3997405" cy="1127921"/>
          </a:xfrm>
          <a:prstGeom prst="roundRect">
            <a:avLst>
              <a:gd name="adj" fmla="val 2958"/>
            </a:avLst>
          </a:prstGeom>
          <a:noFill/>
          <a:ln w="19050">
            <a:gradFill>
              <a:gsLst>
                <a:gs pos="0">
                  <a:srgbClr val="FE6277"/>
                </a:gs>
                <a:gs pos="100000">
                  <a:srgbClr val="FE35C3"/>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t>Approach your AI-related costs on a per-call, not per-month, basis</a:t>
            </a:r>
          </a:p>
        </p:txBody>
      </p:sp>
      <p:sp>
        <p:nvSpPr>
          <p:cNvPr id="17" name="Rectangle: Rounded Corners 16">
            <a:extLst>
              <a:ext uri="{FF2B5EF4-FFF2-40B4-BE49-F238E27FC236}">
                <a16:creationId xmlns:a16="http://schemas.microsoft.com/office/drawing/2014/main" id="{E38CC02B-B96D-5379-CA5C-AF3749426C9D}"/>
              </a:ext>
            </a:extLst>
          </p:cNvPr>
          <p:cNvSpPr/>
          <p:nvPr/>
        </p:nvSpPr>
        <p:spPr>
          <a:xfrm>
            <a:off x="6575536" y="4755667"/>
            <a:ext cx="3997405" cy="1127921"/>
          </a:xfrm>
          <a:prstGeom prst="roundRect">
            <a:avLst>
              <a:gd name="adj" fmla="val 2958"/>
            </a:avLst>
          </a:prstGeom>
          <a:noFill/>
          <a:ln w="19050">
            <a:gradFill>
              <a:gsLst>
                <a:gs pos="0">
                  <a:srgbClr val="FE6277"/>
                </a:gs>
                <a:gs pos="100000">
                  <a:srgbClr val="FE35C3"/>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t>Token accounting must be built into the audit trail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blueprint</a:t>
            </a:r>
          </a:p>
        </p:txBody>
      </p:sp>
      <p:sp>
        <p:nvSpPr>
          <p:cNvPr id="3" name="Shape 3"/>
          <p:cNvSpPr txBox="1"/>
          <p:nvPr/>
        </p:nvSpPr>
        <p:spPr>
          <a:xfrm>
            <a:off x="609600" y="1645920"/>
            <a:ext cx="5303520" cy="73152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l"/>
            <a:r>
              <a:rPr lang="en-US" sz="1600" b="1"/>
              <a:t>Does the answer already exist somewhere authoritative?</a:t>
            </a:r>
          </a:p>
        </p:txBody>
      </p:sp>
      <p:sp>
        <p:nvSpPr>
          <p:cNvPr id="4" name="Arrow 4"/>
          <p:cNvSpPr/>
          <p:nvPr/>
        </p:nvSpPr>
        <p:spPr>
          <a:xfrm>
            <a:off x="6111240" y="1872048"/>
            <a:ext cx="548640" cy="274320"/>
          </a:xfrm>
          <a:prstGeom prst="rightArrow">
            <a:avLst/>
          </a:prstGeom>
          <a:solidFill>
            <a:srgbClr val="FFFFFF"/>
          </a:solidFill>
          <a:ln>
            <a:noFill/>
          </a:ln>
        </p:spPr>
        <p:txBody>
          <a:bodyPr/>
          <a:lstStyle/>
          <a:p>
            <a:endParaRPr/>
          </a:p>
        </p:txBody>
      </p:sp>
      <p:sp>
        <p:nvSpPr>
          <p:cNvPr id="5" name="Shape 5"/>
          <p:cNvSpPr txBox="1"/>
          <p:nvPr/>
        </p:nvSpPr>
        <p:spPr>
          <a:xfrm>
            <a:off x="6858000" y="1645920"/>
            <a:ext cx="4724400" cy="731520"/>
          </a:xfrm>
          <a:prstGeom prst="roundRect">
            <a:avLst/>
          </a:prstGeom>
          <a:solidFill>
            <a:srgbClr val="FF9900"/>
          </a:solidFill>
          <a:ln w="19050">
            <a:solidFill>
              <a:srgbClr val="FF9900"/>
            </a:solidFill>
          </a:ln>
        </p:spPr>
        <p:txBody>
          <a:bodyPr wrap="square" lIns="91440" tIns="45720" rIns="91440" bIns="45720" rtlCol="0" anchor="ctr">
            <a:normAutofit/>
          </a:bodyPr>
          <a:lstStyle/>
          <a:p>
            <a:pPr algn="l"/>
            <a:r>
              <a:rPr lang="en-US" sz="1600" b="1">
                <a:solidFill>
                  <a:srgbClr val="000000"/>
                </a:solidFill>
              </a:rPr>
              <a:t>MCP</a:t>
            </a:r>
            <a:r>
              <a:rPr lang="en-US" sz="1200" i="1">
                <a:solidFill>
                  <a:srgbClr val="000000"/>
                </a:solidFill>
              </a:rPr>
              <a:t>  fetch it correctly; never compute it</a:t>
            </a:r>
          </a:p>
        </p:txBody>
      </p:sp>
      <p:sp>
        <p:nvSpPr>
          <p:cNvPr id="6" name="Shape 6"/>
          <p:cNvSpPr txBox="1"/>
          <p:nvPr/>
        </p:nvSpPr>
        <p:spPr>
          <a:xfrm>
            <a:off x="609600" y="2651760"/>
            <a:ext cx="5303520" cy="73152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l"/>
            <a:r>
              <a:rPr lang="en-US" sz="1600" b="1"/>
              <a:t>Is judgement genuinely required?</a:t>
            </a:r>
          </a:p>
        </p:txBody>
      </p:sp>
      <p:sp>
        <p:nvSpPr>
          <p:cNvPr id="7" name="Arrow 7"/>
          <p:cNvSpPr/>
          <p:nvPr/>
        </p:nvSpPr>
        <p:spPr>
          <a:xfrm>
            <a:off x="6111240" y="2886538"/>
            <a:ext cx="548640" cy="274320"/>
          </a:xfrm>
          <a:prstGeom prst="rightArrow">
            <a:avLst/>
          </a:prstGeom>
          <a:solidFill>
            <a:srgbClr val="FFFFFF"/>
          </a:solidFill>
          <a:ln>
            <a:noFill/>
          </a:ln>
        </p:spPr>
        <p:txBody>
          <a:bodyPr/>
          <a:lstStyle/>
          <a:p>
            <a:endParaRPr/>
          </a:p>
        </p:txBody>
      </p:sp>
      <p:sp>
        <p:nvSpPr>
          <p:cNvPr id="8" name="Shape 8"/>
          <p:cNvSpPr txBox="1"/>
          <p:nvPr/>
        </p:nvSpPr>
        <p:spPr>
          <a:xfrm>
            <a:off x="6858000" y="2651760"/>
            <a:ext cx="4724400" cy="731520"/>
          </a:xfrm>
          <a:prstGeom prst="roundRect">
            <a:avLst/>
          </a:prstGeom>
          <a:solidFill>
            <a:srgbClr val="FF9900"/>
          </a:solidFill>
          <a:ln w="19050">
            <a:solidFill>
              <a:srgbClr val="FF9900"/>
            </a:solidFill>
          </a:ln>
        </p:spPr>
        <p:txBody>
          <a:bodyPr wrap="square" lIns="91440" tIns="45720" rIns="91440" bIns="45720" rtlCol="0" anchor="ctr">
            <a:normAutofit/>
          </a:bodyPr>
          <a:lstStyle/>
          <a:p>
            <a:pPr algn="l"/>
            <a:r>
              <a:rPr lang="en-US" sz="1600" b="1" dirty="0">
                <a:solidFill>
                  <a:srgbClr val="000000"/>
                </a:solidFill>
              </a:rPr>
              <a:t>A model – gated approach</a:t>
            </a:r>
            <a:r>
              <a:rPr lang="en-US" sz="1200" i="1" dirty="0">
                <a:solidFill>
                  <a:srgbClr val="000000"/>
                </a:solidFill>
              </a:rPr>
              <a:t>  deterministic code on both sides, something else decides what is stored</a:t>
            </a:r>
          </a:p>
        </p:txBody>
      </p:sp>
      <p:sp>
        <p:nvSpPr>
          <p:cNvPr id="9" name="Shape 9"/>
          <p:cNvSpPr txBox="1"/>
          <p:nvPr/>
        </p:nvSpPr>
        <p:spPr>
          <a:xfrm>
            <a:off x="609600" y="3657600"/>
            <a:ext cx="5303520" cy="731520"/>
          </a:xfrm>
          <a:prstGeom prst="roundRect">
            <a:avLst/>
          </a:prstGeom>
          <a:solidFill>
            <a:srgbClr val="1B2A41"/>
          </a:solidFill>
          <a:ln w="19050">
            <a:solidFill>
              <a:srgbClr val="8C9BB5"/>
            </a:solidFill>
          </a:ln>
        </p:spPr>
        <p:txBody>
          <a:bodyPr wrap="square" lIns="91440" tIns="45720" rIns="91440" bIns="45720" rtlCol="0" anchor="ctr">
            <a:normAutofit/>
          </a:bodyPr>
          <a:lstStyle/>
          <a:p>
            <a:pPr algn="l"/>
            <a:r>
              <a:rPr lang="en-US" sz="1600" b="1"/>
              <a:t>Narrow task, high volume, your own data?</a:t>
            </a:r>
          </a:p>
        </p:txBody>
      </p:sp>
      <p:sp>
        <p:nvSpPr>
          <p:cNvPr id="10" name="Arrow 10"/>
          <p:cNvSpPr/>
          <p:nvPr/>
        </p:nvSpPr>
        <p:spPr>
          <a:xfrm>
            <a:off x="6111240" y="3886200"/>
            <a:ext cx="548640" cy="274320"/>
          </a:xfrm>
          <a:prstGeom prst="rightArrow">
            <a:avLst/>
          </a:prstGeom>
          <a:solidFill>
            <a:srgbClr val="FFFFFF"/>
          </a:solidFill>
          <a:ln>
            <a:noFill/>
          </a:ln>
        </p:spPr>
        <p:txBody>
          <a:bodyPr/>
          <a:lstStyle/>
          <a:p>
            <a:endParaRPr/>
          </a:p>
        </p:txBody>
      </p:sp>
      <p:sp>
        <p:nvSpPr>
          <p:cNvPr id="11" name="Shape 11"/>
          <p:cNvSpPr txBox="1"/>
          <p:nvPr/>
        </p:nvSpPr>
        <p:spPr>
          <a:xfrm>
            <a:off x="6858000" y="3657600"/>
            <a:ext cx="4724400" cy="731520"/>
          </a:xfrm>
          <a:prstGeom prst="roundRect">
            <a:avLst/>
          </a:prstGeom>
          <a:solidFill>
            <a:srgbClr val="FF9900"/>
          </a:solidFill>
          <a:ln w="19050">
            <a:solidFill>
              <a:srgbClr val="FF9900"/>
            </a:solidFill>
          </a:ln>
        </p:spPr>
        <p:txBody>
          <a:bodyPr wrap="square" lIns="91440" tIns="45720" rIns="91440" bIns="45720" rtlCol="0" anchor="ctr">
            <a:normAutofit/>
          </a:bodyPr>
          <a:lstStyle/>
          <a:p>
            <a:pPr algn="l"/>
            <a:r>
              <a:rPr lang="en-US" sz="1600" b="1" dirty="0">
                <a:solidFill>
                  <a:srgbClr val="000000"/>
                </a:solidFill>
              </a:rPr>
              <a:t>Train your own model</a:t>
            </a:r>
            <a:r>
              <a:rPr lang="en-US" sz="1200" i="1" dirty="0">
                <a:solidFill>
                  <a:srgbClr val="000000"/>
                </a:solidFill>
              </a:rPr>
              <a:t>  no LLM does 2,600 inferences a second at any price</a:t>
            </a:r>
          </a:p>
        </p:txBody>
      </p:sp>
      <p:sp>
        <p:nvSpPr>
          <p:cNvPr id="12" name="Shape 12"/>
          <p:cNvSpPr txBox="1"/>
          <p:nvPr/>
        </p:nvSpPr>
        <p:spPr>
          <a:xfrm>
            <a:off x="1299078" y="4754879"/>
            <a:ext cx="9598047" cy="1367894"/>
          </a:xfrm>
          <a:prstGeom prst="roundRect">
            <a:avLst/>
          </a:prstGeom>
          <a:noFill/>
          <a:ln w="19050">
            <a:solidFill>
              <a:srgbClr val="FF9900"/>
            </a:solidFill>
          </a:ln>
        </p:spPr>
        <p:txBody>
          <a:bodyPr wrap="square" lIns="91440" tIns="45720" rIns="91440" bIns="45720" rtlCol="0" anchor="ctr">
            <a:normAutofit/>
          </a:bodyPr>
          <a:lstStyle/>
          <a:p>
            <a:pPr algn="ctr"/>
            <a:r>
              <a:rPr lang="en-US" sz="2400" b="1" dirty="0"/>
              <a:t>Key call: establish key metrics and estimate design decisions </a:t>
            </a:r>
            <a:r>
              <a:rPr lang="en-US" sz="2400" b="1" u="sng" dirty="0"/>
              <a:t>before you start scaling.</a:t>
            </a:r>
            <a:endParaRPr lang="en-US" sz="2400" b="1"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5">
            <a:extLst>
              <a:ext uri="{FF2B5EF4-FFF2-40B4-BE49-F238E27FC236}">
                <a16:creationId xmlns:a16="http://schemas.microsoft.com/office/drawing/2014/main" id="{6FC8D4DB-07EE-F32C-32FF-0BA0BE821827}"/>
              </a:ext>
            </a:extLst>
          </p:cNvPr>
          <p:cNvSpPr txBox="1">
            <a:spLocks/>
          </p:cNvSpPr>
          <p:nvPr/>
        </p:nvSpPr>
        <p:spPr>
          <a:xfrm>
            <a:off x="301752" y="301752"/>
            <a:ext cx="10972800"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a:t>Key Takeaways</a:t>
            </a:r>
          </a:p>
        </p:txBody>
      </p:sp>
      <p:sp>
        <p:nvSpPr>
          <p:cNvPr id="4" name="Text Placeholder 3">
            <a:extLst>
              <a:ext uri="{FF2B5EF4-FFF2-40B4-BE49-F238E27FC236}">
                <a16:creationId xmlns:a16="http://schemas.microsoft.com/office/drawing/2014/main" id="{A824859C-4EA1-A547-4BE4-F4769528D481}"/>
              </a:ext>
            </a:extLst>
          </p:cNvPr>
          <p:cNvSpPr txBox="1">
            <a:spLocks/>
          </p:cNvSpPr>
          <p:nvPr/>
        </p:nvSpPr>
        <p:spPr>
          <a:xfrm>
            <a:off x="584837" y="1613008"/>
            <a:ext cx="10515600" cy="4169954"/>
          </a:xfrm>
          <a:prstGeom prst="rect">
            <a:avLst/>
          </a:prstGeom>
        </p:spPr>
        <p:txBody>
          <a:bodyPr rtlCol="0"/>
          <a:lstStyle>
            <a:lvl1pPr marL="457200" indent="-457200" algn="l" defTabSz="914400" rtl="0" eaLnBrk="1" latinLnBrk="0" hangingPunct="1">
              <a:lnSpc>
                <a:spcPct val="90000"/>
              </a:lnSpc>
              <a:spcBef>
                <a:spcPts val="0"/>
              </a:spcBef>
              <a:spcAft>
                <a:spcPts val="1200"/>
              </a:spcAft>
              <a:buFont typeface="Arial" panose="020B0604020202020204" pitchFamily="34" charset="0"/>
              <a:buChar char="•"/>
              <a:defRPr sz="2800" b="0" i="0" kern="1200" baseline="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0"/>
              </a:spcBef>
              <a:spcAft>
                <a:spcPts val="1200"/>
              </a:spcAft>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r>
              <a:rPr lang="en-US" dirty="0"/>
              <a:t>The model is a component. </a:t>
            </a:r>
            <a:r>
              <a:rPr lang="en-US" u="sng" dirty="0"/>
              <a:t>The harness is the product.</a:t>
            </a:r>
          </a:p>
          <a:p>
            <a:pPr fontAlgn="base"/>
            <a:r>
              <a:rPr lang="en-US" dirty="0"/>
              <a:t>Provide facts as </a:t>
            </a:r>
            <a:r>
              <a:rPr lang="en-US" u="sng" dirty="0"/>
              <a:t>tools via MCP.</a:t>
            </a:r>
          </a:p>
          <a:p>
            <a:pPr fontAlgn="base"/>
            <a:r>
              <a:rPr lang="en-US" dirty="0"/>
              <a:t>Rely on LLM judgement in a </a:t>
            </a:r>
            <a:r>
              <a:rPr lang="en-US" u="sng" dirty="0"/>
              <a:t>gated model.</a:t>
            </a:r>
          </a:p>
          <a:p>
            <a:pPr fontAlgn="base"/>
            <a:r>
              <a:rPr lang="en-US" dirty="0"/>
              <a:t>Form numeric, high-volume, high-throughput signals in </a:t>
            </a:r>
            <a:r>
              <a:rPr lang="en-US" u="sng" dirty="0"/>
              <a:t>your own </a:t>
            </a:r>
            <a:r>
              <a:rPr lang="en-US" u="sng" dirty="0" err="1"/>
              <a:t>specialised</a:t>
            </a:r>
            <a:r>
              <a:rPr lang="en-US" u="sng" dirty="0"/>
              <a:t> model.</a:t>
            </a:r>
          </a:p>
          <a:p>
            <a:pPr fontAlgn="base"/>
            <a:r>
              <a:rPr lang="en-US" u="sng" dirty="0"/>
              <a:t>Price and measure every call before you pay for it,</a:t>
            </a:r>
            <a:r>
              <a:rPr lang="en-US" dirty="0"/>
              <a:t> or the pilot never becomes a product.</a:t>
            </a:r>
          </a:p>
          <a:p>
            <a:pPr fontAlgn="base"/>
            <a:r>
              <a:rPr lang="en-US" dirty="0"/>
              <a:t>Sometimes the right harness contains </a:t>
            </a:r>
            <a:r>
              <a:rPr lang="en-US" u="sng" dirty="0"/>
              <a:t>no LLM at 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oogle Shape;144;p33">
            <a:extLst>
              <a:ext uri="{FF2B5EF4-FFF2-40B4-BE49-F238E27FC236}">
                <a16:creationId xmlns:a16="http://schemas.microsoft.com/office/drawing/2014/main" id="{5BC6093E-B8DF-2BEA-63C6-9B8F32508B65}"/>
              </a:ext>
            </a:extLst>
          </p:cNvPr>
          <p:cNvPicPr preferRelativeResize="0"/>
          <p:nvPr/>
        </p:nvPicPr>
        <p:blipFill>
          <a:blip r:embed="rId2">
            <a:alphaModFix/>
          </a:blip>
          <a:stretch>
            <a:fillRect/>
          </a:stretch>
        </p:blipFill>
        <p:spPr>
          <a:xfrm>
            <a:off x="840113" y="1379900"/>
            <a:ext cx="6265332" cy="3674760"/>
          </a:xfrm>
          <a:prstGeom prst="rect">
            <a:avLst/>
          </a:prstGeom>
          <a:noFill/>
          <a:ln>
            <a:noFill/>
          </a:ln>
        </p:spPr>
      </p:pic>
      <p:sp>
        <p:nvSpPr>
          <p:cNvPr id="5" name="Text Placeholder 3">
            <a:extLst>
              <a:ext uri="{FF2B5EF4-FFF2-40B4-BE49-F238E27FC236}">
                <a16:creationId xmlns:a16="http://schemas.microsoft.com/office/drawing/2014/main" id="{329F917B-7ED3-A599-EEC4-40D03741EE5B}"/>
              </a:ext>
            </a:extLst>
          </p:cNvPr>
          <p:cNvSpPr txBox="1">
            <a:spLocks/>
          </p:cNvSpPr>
          <p:nvPr/>
        </p:nvSpPr>
        <p:spPr>
          <a:xfrm>
            <a:off x="1160287" y="5392572"/>
            <a:ext cx="10307781" cy="590931"/>
          </a:xfrm>
          <a:prstGeom prst="rect">
            <a:avLst/>
          </a:prstGeom>
        </p:spPr>
        <p:txBody>
          <a:bodyPr rtlCol="0"/>
          <a:lstStyle>
            <a:lvl1pPr marL="457200" indent="-457200" algn="l" defTabSz="914400" rtl="0" eaLnBrk="1" latinLnBrk="0" hangingPunct="1">
              <a:lnSpc>
                <a:spcPct val="90000"/>
              </a:lnSpc>
              <a:spcBef>
                <a:spcPts val="0"/>
              </a:spcBef>
              <a:spcAft>
                <a:spcPts val="1200"/>
              </a:spcAft>
              <a:buFont typeface="Arial" panose="020B0604020202020204" pitchFamily="34" charset="0"/>
              <a:buChar char="•"/>
              <a:defRPr sz="2800" b="0" i="0" kern="1200" baseline="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0"/>
              </a:spcBef>
              <a:spcAft>
                <a:spcPts val="1200"/>
              </a:spcAft>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hlinkClick r:id="rId3"/>
              </a:rPr>
              <a:t>https://dxfeed.com/solutions/summerfox-market-intelligence-plus-ai/</a:t>
            </a:r>
            <a:r>
              <a:rPr lang="en-US" sz="2400" dirty="0"/>
              <a:t> </a:t>
            </a:r>
          </a:p>
          <a:p>
            <a:pPr marL="0" indent="0">
              <a:buNone/>
            </a:pPr>
            <a:endParaRPr lang="en-US" sz="2400" dirty="0"/>
          </a:p>
        </p:txBody>
      </p:sp>
      <p:sp>
        <p:nvSpPr>
          <p:cNvPr id="6" name="Title 5">
            <a:extLst>
              <a:ext uri="{FF2B5EF4-FFF2-40B4-BE49-F238E27FC236}">
                <a16:creationId xmlns:a16="http://schemas.microsoft.com/office/drawing/2014/main" id="{BF73E6D2-4F89-20F0-DAE6-EF0F32F2D4F2}"/>
              </a:ext>
            </a:extLst>
          </p:cNvPr>
          <p:cNvSpPr txBox="1">
            <a:spLocks/>
          </p:cNvSpPr>
          <p:nvPr/>
        </p:nvSpPr>
        <p:spPr>
          <a:xfrm>
            <a:off x="301752" y="301752"/>
            <a:ext cx="11361824"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err="1"/>
              <a:t>dxFeed</a:t>
            </a:r>
            <a:r>
              <a:rPr lang="en-US" sz="4000" dirty="0"/>
              <a:t> </a:t>
            </a:r>
            <a:r>
              <a:rPr lang="en-US" sz="4000" dirty="0" err="1"/>
              <a:t>SummerFox</a:t>
            </a:r>
            <a:r>
              <a:rPr lang="en-US" sz="4000" dirty="0"/>
              <a:t>: AI-driven market reporting</a:t>
            </a:r>
          </a:p>
        </p:txBody>
      </p:sp>
      <p:pic>
        <p:nvPicPr>
          <p:cNvPr id="3" name="Graphic 2">
            <a:extLst>
              <a:ext uri="{FF2B5EF4-FFF2-40B4-BE49-F238E27FC236}">
                <a16:creationId xmlns:a16="http://schemas.microsoft.com/office/drawing/2014/main" id="{0D27C5A8-7C19-D6B9-4071-0B8E0E8DDB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11221" y="1379900"/>
            <a:ext cx="3657159" cy="365715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62E4F92D-CF6C-6008-843D-308885A9E8E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23579" y="1385029"/>
            <a:ext cx="3657159" cy="3657159"/>
          </a:xfrm>
          <a:prstGeom prst="rect">
            <a:avLst/>
          </a:prstGeom>
        </p:spPr>
      </p:pic>
      <p:sp>
        <p:nvSpPr>
          <p:cNvPr id="5" name="Text Placeholder 3">
            <a:extLst>
              <a:ext uri="{FF2B5EF4-FFF2-40B4-BE49-F238E27FC236}">
                <a16:creationId xmlns:a16="http://schemas.microsoft.com/office/drawing/2014/main" id="{833896B7-3983-F57B-9AED-75756F758719}"/>
              </a:ext>
            </a:extLst>
          </p:cNvPr>
          <p:cNvSpPr txBox="1">
            <a:spLocks/>
          </p:cNvSpPr>
          <p:nvPr/>
        </p:nvSpPr>
        <p:spPr>
          <a:xfrm>
            <a:off x="1228250" y="5267194"/>
            <a:ext cx="10307781" cy="1000000"/>
          </a:xfrm>
          <a:prstGeom prst="rect">
            <a:avLst/>
          </a:prstGeom>
        </p:spPr>
        <p:txBody>
          <a:bodyPr rtlCol="0"/>
          <a:lstStyle>
            <a:lvl1pPr marL="457200" indent="-457200" algn="l" defTabSz="914400" rtl="0" eaLnBrk="1" latinLnBrk="0" hangingPunct="1">
              <a:lnSpc>
                <a:spcPct val="90000"/>
              </a:lnSpc>
              <a:spcBef>
                <a:spcPts val="0"/>
              </a:spcBef>
              <a:spcAft>
                <a:spcPts val="1200"/>
              </a:spcAft>
              <a:buFont typeface="Arial" panose="020B0604020202020204" pitchFamily="34" charset="0"/>
              <a:buChar char="•"/>
              <a:defRPr sz="2800" b="0" i="0" kern="1200" baseline="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0"/>
              </a:spcBef>
              <a:spcAft>
                <a:spcPts val="1200"/>
              </a:spcAft>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spcAft>
                <a:spcPts val="667"/>
              </a:spcAft>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800" dirty="0">
                <a:hlinkClick r:id="rId3"/>
              </a:rPr>
              <a:t>https://dxfeed.com/solutions/dxfeed-grenadier/</a:t>
            </a:r>
            <a:endParaRPr lang="en-US" sz="2400" dirty="0"/>
          </a:p>
          <a:p>
            <a:pPr marL="0" indent="0" algn="ctr">
              <a:buNone/>
            </a:pPr>
            <a:r>
              <a:rPr lang="en-US" sz="1400" dirty="0">
                <a:hlinkClick r:id="rId4"/>
              </a:rPr>
              <a:t>Press release: https://dxfeed.com/dxfeed-grenadier-recognized-as-best-ai-based-solution/</a:t>
            </a:r>
          </a:p>
        </p:txBody>
      </p:sp>
      <p:sp>
        <p:nvSpPr>
          <p:cNvPr id="6" name="Title 5">
            <a:extLst>
              <a:ext uri="{FF2B5EF4-FFF2-40B4-BE49-F238E27FC236}">
                <a16:creationId xmlns:a16="http://schemas.microsoft.com/office/drawing/2014/main" id="{82EE4DF3-C5A4-ECCD-1F4A-FA517339069C}"/>
              </a:ext>
            </a:extLst>
          </p:cNvPr>
          <p:cNvSpPr txBox="1">
            <a:spLocks/>
          </p:cNvSpPr>
          <p:nvPr/>
        </p:nvSpPr>
        <p:spPr>
          <a:xfrm>
            <a:off x="301752" y="301752"/>
            <a:ext cx="11401013" cy="590931"/>
          </a:xfrm>
          <a:prstGeom prst="rect">
            <a:avLst/>
          </a:prstGeom>
        </p:spPr>
        <p:txBody>
          <a:bodyPr/>
          <a:lst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4000" dirty="0" err="1"/>
              <a:t>dxFeed</a:t>
            </a:r>
            <a:r>
              <a:rPr lang="en-US" sz="4000" dirty="0"/>
              <a:t> Grenadier: L2-based anomaly detection </a:t>
            </a:r>
          </a:p>
        </p:txBody>
      </p:sp>
      <p:pic>
        <p:nvPicPr>
          <p:cNvPr id="8" name="Picture 7">
            <a:extLst>
              <a:ext uri="{FF2B5EF4-FFF2-40B4-BE49-F238E27FC236}">
                <a16:creationId xmlns:a16="http://schemas.microsoft.com/office/drawing/2014/main" id="{612C508E-BEA9-7720-EEBB-52719A23F8F1}"/>
              </a:ext>
            </a:extLst>
          </p:cNvPr>
          <p:cNvPicPr>
            <a:picLocks noChangeAspect="1"/>
          </p:cNvPicPr>
          <p:nvPr/>
        </p:nvPicPr>
        <p:blipFill>
          <a:blip r:embed="rId5"/>
          <a:stretch>
            <a:fillRect/>
          </a:stretch>
        </p:blipFill>
        <p:spPr>
          <a:xfrm>
            <a:off x="835694" y="1622800"/>
            <a:ext cx="6388763" cy="319438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4F088-5C7E-B06A-86B0-1619E20FFF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504AC6-5F1B-9FE7-3A5A-0E7A6D069E81}"/>
              </a:ext>
            </a:extLst>
          </p:cNvPr>
          <p:cNvSpPr txBox="1"/>
          <p:nvPr/>
        </p:nvSpPr>
        <p:spPr bwMode="white">
          <a:xfrm>
            <a:off x="425017" y="2232467"/>
            <a:ext cx="8413750" cy="1079500"/>
          </a:xfrm>
          <a:prstGeom prst="rect">
            <a:avLst/>
          </a:prstGeom>
          <a:noFill/>
        </p:spPr>
        <p:txBody>
          <a:bodyPr lIns="182880" tIns="91440" rIns="146304" bIns="91440"/>
          <a:lstStyle>
            <a:lvl1pPr defTabSz="1097278">
              <a:lnSpc>
                <a:spcPct val="90000"/>
              </a:lnSpc>
              <a:spcBef>
                <a:spcPct val="0"/>
              </a:spcBef>
              <a:buNone/>
              <a:defRPr lang="en-US" sz="6600" b="0" cap="none" spc="-118" baseline="0" dirty="0" smtClean="0">
                <a:ln w="3175">
                  <a:noFill/>
                </a:ln>
                <a:solidFill>
                  <a:schemeClr val="bg1"/>
                </a:solidFill>
                <a:effectLst/>
                <a:latin typeface="Amazon Ember Light" panose="020B0403020204020204" pitchFamily="34" charset="0"/>
                <a:ea typeface="Amazon Ember Light" panose="020B0403020204020204" pitchFamily="34" charset="0"/>
                <a:cs typeface="Amazon Ember Light" panose="020B0403020204020204" pitchFamily="34" charset="0"/>
              </a:defRPr>
            </a:lvl1pPr>
          </a:lstStyle>
          <a:p>
            <a:pPr eaLnBrk="1" fontAlgn="auto" hangingPunct="1">
              <a:spcAft>
                <a:spcPts val="0"/>
              </a:spcAft>
              <a:defRPr/>
            </a:pPr>
            <a:r>
              <a:rPr sz="6600" b="1" spc="-3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Thank you!</a:t>
            </a:r>
          </a:p>
        </p:txBody>
      </p:sp>
      <p:sp>
        <p:nvSpPr>
          <p:cNvPr id="4" name="Text Placeholder 12">
            <a:extLst>
              <a:ext uri="{FF2B5EF4-FFF2-40B4-BE49-F238E27FC236}">
                <a16:creationId xmlns:a16="http://schemas.microsoft.com/office/drawing/2014/main" id="{9E4C56C7-1201-05EB-20A9-9C71CA8D1C6C}"/>
              </a:ext>
            </a:extLst>
          </p:cNvPr>
          <p:cNvSpPr txBox="1">
            <a:spLocks/>
          </p:cNvSpPr>
          <p:nvPr/>
        </p:nvSpPr>
        <p:spPr>
          <a:xfrm>
            <a:off x="514225" y="4894456"/>
            <a:ext cx="4002170" cy="837271"/>
          </a:xfrm>
          <a:prstGeom prst="rect">
            <a:avLst/>
          </a:prstGeom>
        </p:spPr>
        <p:txBody>
          <a:bodyPr tIns="91440" anchor="t" anchorCtr="0"/>
          <a:lstStyle>
            <a:lvl1pPr marL="0" indent="0" algn="l" defTabSz="914400" rtl="0" eaLnBrk="1" latinLnBrk="0" hangingPunct="1">
              <a:lnSpc>
                <a:spcPct val="90000"/>
              </a:lnSpc>
              <a:spcBef>
                <a:spcPts val="1000"/>
              </a:spcBef>
              <a:spcAft>
                <a:spcPts val="300"/>
              </a:spcAft>
              <a:buFont typeface="Arial" panose="020B0604020202020204" pitchFamily="34" charset="0"/>
              <a:buNone/>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365760" indent="0" algn="l" defTabSz="914400" rtl="0" eaLnBrk="1" latinLnBrk="0" hangingPunct="1">
              <a:lnSpc>
                <a:spcPct val="90000"/>
              </a:lnSpc>
              <a:spcBef>
                <a:spcPts val="500"/>
              </a:spcBef>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777240" indent="0" algn="l" defTabSz="914400" rtl="0" eaLnBrk="1" latinLnBrk="0" hangingPunct="1">
              <a:lnSpc>
                <a:spcPct val="90000"/>
              </a:lnSpc>
              <a:spcBef>
                <a:spcPts val="500"/>
              </a:spcBef>
              <a:buFont typeface="Arial" panose="020B0604020202020204" pitchFamily="34" charset="0"/>
              <a:buNone/>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05156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05156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endParaRPr lang="en-US" sz="1600" dirty="0"/>
          </a:p>
        </p:txBody>
      </p:sp>
      <p:sp>
        <p:nvSpPr>
          <p:cNvPr id="14" name="Text Placeholder 12">
            <a:extLst>
              <a:ext uri="{FF2B5EF4-FFF2-40B4-BE49-F238E27FC236}">
                <a16:creationId xmlns:a16="http://schemas.microsoft.com/office/drawing/2014/main" id="{AB93C608-0576-93E0-595F-58BF08A79EA5}"/>
              </a:ext>
            </a:extLst>
          </p:cNvPr>
          <p:cNvSpPr txBox="1">
            <a:spLocks/>
          </p:cNvSpPr>
          <p:nvPr/>
        </p:nvSpPr>
        <p:spPr>
          <a:xfrm>
            <a:off x="514225" y="4411856"/>
            <a:ext cx="3429000" cy="482600"/>
          </a:xfrm>
          <a:prstGeom prst="rect">
            <a:avLst/>
          </a:prstGeom>
        </p:spPr>
        <p:txBody>
          <a:bodyPr anchor="b" anchorCtr="0"/>
          <a:lstStyle>
            <a:lvl1pPr marL="0" indent="0" algn="l" defTabSz="914400" rtl="0" eaLnBrk="1" latinLnBrk="0" hangingPunct="1">
              <a:lnSpc>
                <a:spcPct val="90000"/>
              </a:lnSpc>
              <a:spcBef>
                <a:spcPts val="1000"/>
              </a:spcBef>
              <a:buFont typeface="Arial" panose="020B0604020202020204" pitchFamily="34" charset="0"/>
              <a:buNone/>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365760" indent="0" algn="l" defTabSz="914400" rtl="0" eaLnBrk="1" latinLnBrk="0" hangingPunct="1">
              <a:lnSpc>
                <a:spcPct val="90000"/>
              </a:lnSpc>
              <a:spcBef>
                <a:spcPts val="500"/>
              </a:spcBef>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777240" indent="0" algn="l" defTabSz="914400" rtl="0" eaLnBrk="1" latinLnBrk="0" hangingPunct="1">
              <a:lnSpc>
                <a:spcPct val="90000"/>
              </a:lnSpc>
              <a:spcBef>
                <a:spcPts val="500"/>
              </a:spcBef>
              <a:buFont typeface="Arial" panose="020B0604020202020204" pitchFamily="34" charset="0"/>
              <a:buNone/>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05156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05156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sz="2400" dirty="0"/>
              <a:t>Anton Antonov</a:t>
            </a:r>
            <a:endParaRPr lang="en-US" sz="2400" dirty="0"/>
          </a:p>
        </p:txBody>
      </p:sp>
      <p:pic>
        <p:nvPicPr>
          <p:cNvPr id="6" name="Graphic 5" descr="Envelope">
            <a:extLst>
              <a:ext uri="{FF2B5EF4-FFF2-40B4-BE49-F238E27FC236}">
                <a16:creationId xmlns:a16="http://schemas.microsoft.com/office/drawing/2014/main" id="{EA4E3F3A-81BD-EB14-E119-271CDAE575C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0172" y="4958684"/>
            <a:ext cx="318257" cy="318257"/>
          </a:xfrm>
          <a:prstGeom prst="rect">
            <a:avLst/>
          </a:prstGeom>
        </p:spPr>
      </p:pic>
      <p:pic>
        <p:nvPicPr>
          <p:cNvPr id="7" name="Picture 6">
            <a:extLst>
              <a:ext uri="{FF2B5EF4-FFF2-40B4-BE49-F238E27FC236}">
                <a16:creationId xmlns:a16="http://schemas.microsoft.com/office/drawing/2014/main" id="{853CD8D4-75CD-E02D-5CBA-3E4C8A7A04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524" y="5276941"/>
            <a:ext cx="243980" cy="243980"/>
          </a:xfrm>
          <a:prstGeom prst="rect">
            <a:avLst/>
          </a:prstGeom>
        </p:spPr>
      </p:pic>
      <p:sp>
        <p:nvSpPr>
          <p:cNvPr id="9" name="Text Placeholder 5">
            <a:extLst>
              <a:ext uri="{FF2B5EF4-FFF2-40B4-BE49-F238E27FC236}">
                <a16:creationId xmlns:a16="http://schemas.microsoft.com/office/drawing/2014/main" id="{B9DB6501-E983-3572-B0E9-09EDD43A7581}"/>
              </a:ext>
            </a:extLst>
          </p:cNvPr>
          <p:cNvSpPr txBox="1">
            <a:spLocks/>
          </p:cNvSpPr>
          <p:nvPr/>
        </p:nvSpPr>
        <p:spPr>
          <a:xfrm>
            <a:off x="995912" y="4894456"/>
            <a:ext cx="3036614" cy="1778000"/>
          </a:xfrm>
          <a:prstGeom prst="rect">
            <a:avLst/>
          </a:prstGeom>
        </p:spPr>
        <p:txBody>
          <a:bodyPr vert="horz" lIns="0" tIns="91440" rIns="91440" bIns="45720" rtlCol="0" anchor="t" anchorCtr="0">
            <a:noAutofit/>
          </a:bodyPr>
          <a:lstStyle>
            <a:lvl1pPr marL="0" indent="0" algn="l" defTabSz="914400" rtl="0" eaLnBrk="1" latinLnBrk="0" hangingPunct="1">
              <a:lnSpc>
                <a:spcPct val="90000"/>
              </a:lnSpc>
              <a:spcBef>
                <a:spcPts val="0"/>
              </a:spcBef>
              <a:spcAft>
                <a:spcPts val="300"/>
              </a:spcAft>
              <a:buClr>
                <a:schemeClr val="tx1"/>
              </a:buClr>
              <a:buSzPct val="90000"/>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365760" indent="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None/>
              <a:defRPr sz="24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77724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20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05156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05156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9pPr>
          </a:lstStyle>
          <a:p>
            <a:r>
              <a:rPr lang="en-US" dirty="0">
                <a:latin typeface="Amazon Ember Display" panose="020B0604020202020204" charset="0"/>
                <a:ea typeface="Amazon Ember Display" panose="020B0604020202020204" charset="0"/>
                <a:cs typeface="Amazon Ember Display" panose="020B0604020202020204" charset="0"/>
                <a:hlinkClick r:id="rId4"/>
              </a:rPr>
              <a:t>antonov@dxfeed.com</a:t>
            </a:r>
          </a:p>
          <a:p>
            <a:r>
              <a:rPr lang="en-US" b="0" i="0" dirty="0">
                <a:effectLst/>
                <a:latin typeface="Amazon Ember Display" panose="020B0604020202020204" charset="0"/>
                <a:ea typeface="Amazon Ember Display" panose="020B0604020202020204" charset="0"/>
                <a:cs typeface="Amazon Ember Display" panose="020B0604020202020204" charset="0"/>
                <a:hlinkClick r:id="rId5"/>
              </a:rPr>
              <a:t>linkedin.com/in/</a:t>
            </a:r>
            <a:r>
              <a:rPr lang="en-US" b="0" i="0" dirty="0" err="1">
                <a:effectLst/>
                <a:latin typeface="Amazon Ember Display" panose="020B0604020202020204" charset="0"/>
                <a:ea typeface="Amazon Ember Display" panose="020B0604020202020204" charset="0"/>
                <a:cs typeface="Amazon Ember Display" panose="020B0604020202020204" charset="0"/>
                <a:hlinkClick r:id="rId5"/>
              </a:rPr>
              <a:t>tonytonov</a:t>
            </a:r>
            <a:endParaRPr lang="en-US" dirty="0">
              <a:latin typeface="Amazon Ember Display" panose="020B0604020202020204" charset="0"/>
              <a:ea typeface="Amazon Ember Display" panose="020B0604020202020204" charset="0"/>
              <a:cs typeface="Amazon Ember Display" panose="020B0604020202020204" charset="0"/>
            </a:endParaRPr>
          </a:p>
        </p:txBody>
      </p:sp>
      <p:sp>
        <p:nvSpPr>
          <p:cNvPr id="10" name="Text Placeholder 2">
            <a:extLst>
              <a:ext uri="{FF2B5EF4-FFF2-40B4-BE49-F238E27FC236}">
                <a16:creationId xmlns:a16="http://schemas.microsoft.com/office/drawing/2014/main" id="{500D4878-C697-5A4F-A70E-DF8099E2AF24}"/>
              </a:ext>
            </a:extLst>
          </p:cNvPr>
          <p:cNvSpPr txBox="1">
            <a:spLocks/>
          </p:cNvSpPr>
          <p:nvPr/>
        </p:nvSpPr>
        <p:spPr>
          <a:xfrm>
            <a:off x="4819777" y="4411856"/>
            <a:ext cx="3429000" cy="482600"/>
          </a:xfrm>
          <a:prstGeom prst="rect">
            <a:avLst/>
          </a:prstGeom>
        </p:spPr>
        <p:txBody>
          <a:bodyPr vert="horz" wrap="square" lIns="0" tIns="45720" rIns="0" bIns="45720" rtlCol="0">
            <a:spAutoFit/>
          </a:bodyPr>
          <a:lstStyle>
            <a:lvl1pPr marL="0" indent="0" algn="l" defTabSz="914400" rtl="0" eaLnBrk="1" latinLnBrk="0" hangingPunct="1">
              <a:lnSpc>
                <a:spcPct val="90000"/>
              </a:lnSpc>
              <a:spcBef>
                <a:spcPts val="1000"/>
              </a:spcBef>
              <a:spcAft>
                <a:spcPts val="3000"/>
              </a:spcAft>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lgn="l" defTabSz="914400" rtl="0" eaLnBrk="1" latinLnBrk="0" hangingPunct="1">
              <a:lnSpc>
                <a:spcPct val="90000"/>
              </a:lnSpc>
              <a:spcBef>
                <a:spcPts val="500"/>
              </a:spcBef>
              <a:spcAft>
                <a:spcPts val="3000"/>
              </a:spcAft>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lgn="l" defTabSz="914400" rtl="0" eaLnBrk="1" latinLnBrk="0" hangingPunct="1">
              <a:lnSpc>
                <a:spcPct val="90000"/>
              </a:lnSpc>
              <a:spcBef>
                <a:spcPts val="500"/>
              </a:spcBef>
              <a:spcAft>
                <a:spcPts val="3000"/>
              </a:spcAft>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lgn="l" defTabSz="914400" rtl="0" eaLnBrk="1" latinLnBrk="0" hangingPunct="1">
              <a:lnSpc>
                <a:spcPct val="90000"/>
              </a:lnSpc>
              <a:spcBef>
                <a:spcPts val="500"/>
              </a:spcBef>
              <a:spcAft>
                <a:spcPts val="3000"/>
              </a:spcAft>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lgn="l" defTabSz="914400" rtl="0" eaLnBrk="1" latinLnBrk="0" hangingPunct="1">
              <a:lnSpc>
                <a:spcPct val="90000"/>
              </a:lnSpc>
              <a:spcBef>
                <a:spcPts val="500"/>
              </a:spcBef>
              <a:spcAft>
                <a:spcPts val="3000"/>
              </a:spcAft>
              <a:buFont typeface="Arial" panose="020B0604020202020204" pitchFamily="34" charset="0"/>
              <a:buNone/>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Arseni Yustus</a:t>
            </a:r>
            <a:endParaRPr lang="en-US" dirty="0"/>
          </a:p>
        </p:txBody>
      </p:sp>
      <p:pic>
        <p:nvPicPr>
          <p:cNvPr id="11" name="Graphic 10" descr="Envelope">
            <a:extLst>
              <a:ext uri="{FF2B5EF4-FFF2-40B4-BE49-F238E27FC236}">
                <a16:creationId xmlns:a16="http://schemas.microsoft.com/office/drawing/2014/main" id="{F8BB6C4E-EFBE-8838-9D5B-4863597126C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740756" y="4958684"/>
            <a:ext cx="318257" cy="318257"/>
          </a:xfrm>
          <a:prstGeom prst="rect">
            <a:avLst/>
          </a:prstGeom>
        </p:spPr>
      </p:pic>
      <p:pic>
        <p:nvPicPr>
          <p:cNvPr id="12" name="Picture 11">
            <a:extLst>
              <a:ext uri="{FF2B5EF4-FFF2-40B4-BE49-F238E27FC236}">
                <a16:creationId xmlns:a16="http://schemas.microsoft.com/office/drawing/2014/main" id="{8F8D3A24-040B-2C80-C465-B28EB8AD3C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1108" y="5276941"/>
            <a:ext cx="243980" cy="243980"/>
          </a:xfrm>
          <a:prstGeom prst="rect">
            <a:avLst/>
          </a:prstGeom>
        </p:spPr>
      </p:pic>
      <p:sp>
        <p:nvSpPr>
          <p:cNvPr id="13" name="Text Placeholder 5">
            <a:extLst>
              <a:ext uri="{FF2B5EF4-FFF2-40B4-BE49-F238E27FC236}">
                <a16:creationId xmlns:a16="http://schemas.microsoft.com/office/drawing/2014/main" id="{237B1C0B-1B2B-8FE6-336E-702FF35AE6E7}"/>
              </a:ext>
            </a:extLst>
          </p:cNvPr>
          <p:cNvSpPr txBox="1">
            <a:spLocks/>
          </p:cNvSpPr>
          <p:nvPr/>
        </p:nvSpPr>
        <p:spPr>
          <a:xfrm>
            <a:off x="5186495" y="4894456"/>
            <a:ext cx="3246305" cy="1778000"/>
          </a:xfrm>
          <a:prstGeom prst="rect">
            <a:avLst/>
          </a:prstGeom>
        </p:spPr>
        <p:txBody>
          <a:bodyPr vert="horz" lIns="0" tIns="91440" rIns="91440" bIns="45720" rtlCol="0" anchor="t" anchorCtr="0">
            <a:noAutofit/>
          </a:bodyPr>
          <a:lstStyle>
            <a:lvl1pPr marL="0" indent="0" algn="l" defTabSz="914400" rtl="0" eaLnBrk="1" latinLnBrk="0" hangingPunct="1">
              <a:lnSpc>
                <a:spcPct val="90000"/>
              </a:lnSpc>
              <a:spcBef>
                <a:spcPts val="0"/>
              </a:spcBef>
              <a:spcAft>
                <a:spcPts val="300"/>
              </a:spcAft>
              <a:buClr>
                <a:schemeClr val="tx1"/>
              </a:buClr>
              <a:buSzPct val="90000"/>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365760" indent="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None/>
              <a:defRPr sz="24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77724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20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05156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051560" indent="0" algn="l" defTabSz="914400" rtl="0" eaLnBrk="1" latinLnBrk="0" hangingPunct="1">
              <a:lnSpc>
                <a:spcPct val="90000"/>
              </a:lnSpc>
              <a:spcBef>
                <a:spcPts val="0"/>
              </a:spcBef>
              <a:spcAft>
                <a:spcPts val="600"/>
              </a:spcAft>
              <a:buClr>
                <a:schemeClr val="tx1"/>
              </a:buClr>
              <a:buFont typeface="Amazon Ember" panose="020B0603020204020204" pitchFamily="34" charset="0"/>
              <a:buNone/>
              <a:defRPr sz="180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9pPr>
          </a:lstStyle>
          <a:p>
            <a:r>
              <a:rPr lang="de-DE" dirty="0">
                <a:latin typeface="Amazon Ember Display" panose="020B0604020202020204" charset="0"/>
                <a:ea typeface="Amazon Ember Display" panose="020B0604020202020204" charset="0"/>
                <a:cs typeface="Amazon Ember Display" panose="020B0604020202020204" charset="0"/>
                <a:hlinkClick r:id="rId6"/>
              </a:rPr>
              <a:t>ayustus@amazon.com</a:t>
            </a:r>
            <a:endParaRPr lang="de-DE" dirty="0">
              <a:latin typeface="Amazon Ember Display" panose="020B0604020202020204" charset="0"/>
              <a:ea typeface="Amazon Ember Display" panose="020B0604020202020204" charset="0"/>
              <a:cs typeface="Amazon Ember Display" panose="020B0604020202020204" charset="0"/>
            </a:endParaRPr>
          </a:p>
          <a:p>
            <a:r>
              <a:rPr lang="en-US" b="0" i="0" dirty="0">
                <a:effectLst/>
                <a:latin typeface="Amazon Ember Display" panose="020B0604020202020204" charset="0"/>
                <a:ea typeface="Amazon Ember Display" panose="020B0604020202020204" charset="0"/>
                <a:cs typeface="Amazon Ember Display" panose="020B0604020202020204" charset="0"/>
                <a:hlinkClick r:id="rId7"/>
              </a:rPr>
              <a:t>linkedin.com/in/arseni-yustus</a:t>
            </a:r>
            <a:endParaRPr lang="en-US" dirty="0">
              <a:latin typeface="Amazon Ember Display" panose="020B0604020202020204" charset="0"/>
              <a:ea typeface="Amazon Ember Display" panose="020B0604020202020204" charset="0"/>
              <a:cs typeface="Amazon Ember Display" panose="020B0604020202020204" charset="0"/>
            </a:endParaRPr>
          </a:p>
        </p:txBody>
      </p:sp>
    </p:spTree>
    <p:extLst>
      <p:ext uri="{BB962C8B-B14F-4D97-AF65-F5344CB8AC3E}">
        <p14:creationId xmlns:p14="http://schemas.microsoft.com/office/powerpoint/2010/main" val="2246473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WS Confidential Dark">
  <a:themeElements>
    <a:clrScheme name="AWS 2024">
      <a:dk1>
        <a:srgbClr val="000000"/>
      </a:dk1>
      <a:lt1>
        <a:srgbClr val="FFFFFF"/>
      </a:lt1>
      <a:dk2>
        <a:srgbClr val="161D26"/>
      </a:dk2>
      <a:lt2>
        <a:srgbClr val="F3F3F7"/>
      </a:lt2>
      <a:accent1>
        <a:srgbClr val="41B3FF"/>
      </a:accent1>
      <a:accent2>
        <a:srgbClr val="AD5CFF"/>
      </a:accent2>
      <a:accent3>
        <a:srgbClr val="00E500"/>
      </a:accent3>
      <a:accent4>
        <a:srgbClr val="FF5C85"/>
      </a:accent4>
      <a:accent5>
        <a:srgbClr val="FF693C"/>
      </a:accent5>
      <a:accent6>
        <a:srgbClr val="FBD332"/>
      </a:accent6>
      <a:hlink>
        <a:srgbClr val="41B1E8"/>
      </a:hlink>
      <a:folHlink>
        <a:srgbClr val="41B1E8"/>
      </a:folHlink>
    </a:clrScheme>
    <a:fontScheme name="Office">
      <a:majorFont>
        <a:latin typeface="Amazon Ember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Display"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ne Brand 2022 Dark">
      <a:dk1>
        <a:srgbClr val="000000"/>
      </a:dk1>
      <a:lt1>
        <a:sysClr val="window" lastClr="FFFFFF"/>
      </a:lt1>
      <a:dk2>
        <a:srgbClr val="232F3E"/>
      </a:dk2>
      <a:lt2>
        <a:srgbClr val="F1F3F3"/>
      </a:lt2>
      <a:accent1>
        <a:srgbClr val="FF8500"/>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Heavy and Normal">
      <a:majorFont>
        <a:latin typeface="Amazon Ember Heavy"/>
        <a:ea typeface=""/>
        <a:cs typeface=""/>
      </a:majorFont>
      <a:minorFont>
        <a:latin typeface="Amazon Emb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ne Brand 2022 Dark">
      <a:dk1>
        <a:srgbClr val="000000"/>
      </a:dk1>
      <a:lt1>
        <a:sysClr val="window" lastClr="FFFFFF"/>
      </a:lt1>
      <a:dk2>
        <a:srgbClr val="232F3E"/>
      </a:dk2>
      <a:lt2>
        <a:srgbClr val="F1F3F3"/>
      </a:lt2>
      <a:accent1>
        <a:srgbClr val="FF8500"/>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Heavy and Normal">
      <a:majorFont>
        <a:latin typeface="Amazon Ember Heavy"/>
        <a:ea typeface=""/>
        <a:cs typeface=""/>
      </a:majorFont>
      <a:minorFont>
        <a:latin typeface="Amazon Emb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31027CB-BA99-4849-AD2B-D501A617C772}">
  <we:reference id="wa200001625" version="1.0.0.8" store="en-US" storeType="OMEX"/>
  <we:alternateReferences>
    <we:reference id="wa200001625" version="1.0.0.8" store="wa200001625"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CD80A91D9EC14E92C17E69EF3A2BFE" ma:contentTypeVersion="9" ma:contentTypeDescription="Create a new document." ma:contentTypeScope="" ma:versionID="1558017cf29c5a8d309e5e170555e707">
  <xsd:schema xmlns:xsd="http://www.w3.org/2001/XMLSchema" xmlns:xs="http://www.w3.org/2001/XMLSchema" xmlns:p="http://schemas.microsoft.com/office/2006/metadata/properties" xmlns:ns3="f32db497-3570-4542-bbc8-186541c6fd73" targetNamespace="http://schemas.microsoft.com/office/2006/metadata/properties" ma:root="true" ma:fieldsID="3d800a3d70ee97799fd0397161a8cf79" ns3:_="">
    <xsd:import namespace="f32db497-3570-4542-bbc8-186541c6fd73"/>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GenerationTime" minOccurs="0"/>
                <xsd:element ref="ns3:MediaServiceEventHashCode"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32db497-3570-4542-bbc8-186541c6fd73"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_activity" ma:index="16"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f32db497-3570-4542-bbc8-186541c6fd7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FD1DBDA-4831-495C-A64A-7E0E891A59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32db497-3570-4542-bbc8-186541c6fd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F42B0A-A8AC-4A76-B95F-6579CE1F074D}">
  <ds:schemaRefs>
    <ds:schemaRef ds:uri="http://schemas.microsoft.com/office/2006/documentManagement/types"/>
    <ds:schemaRef ds:uri="http://www.w3.org/XML/1998/namespace"/>
    <ds:schemaRef ds:uri="http://schemas.openxmlformats.org/package/2006/metadata/core-properties"/>
    <ds:schemaRef ds:uri="http://purl.org/dc/elements/1.1/"/>
    <ds:schemaRef ds:uri="http://purl.org/dc/terms/"/>
    <ds:schemaRef ds:uri="http://schemas.microsoft.com/office/2006/metadata/properties"/>
    <ds:schemaRef ds:uri="http://schemas.microsoft.com/office/infopath/2007/PartnerControls"/>
    <ds:schemaRef ds:uri="f32db497-3570-4542-bbc8-186541c6fd73"/>
    <ds:schemaRef ds:uri="http://purl.org/dc/dcmitype/"/>
  </ds:schemaRefs>
</ds:datastoreItem>
</file>

<file path=customXml/itemProps3.xml><?xml version="1.0" encoding="utf-8"?>
<ds:datastoreItem xmlns:ds="http://schemas.openxmlformats.org/officeDocument/2006/customXml" ds:itemID="{F665F800-8F1E-4165-A19C-C5C76F33DD4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100171</TotalTime>
  <Words>4199</Words>
  <Application>Microsoft Office PowerPoint</Application>
  <PresentationFormat>Widescreen</PresentationFormat>
  <Paragraphs>468</Paragraphs>
  <Slides>39</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Arial</vt:lpstr>
      <vt:lpstr>Amazon Ember</vt:lpstr>
      <vt:lpstr>Amazon Ember Display</vt:lpstr>
      <vt:lpstr>Amazon Ember Mono</vt:lpstr>
      <vt:lpstr>AWS Confidential Dark</vt:lpstr>
      <vt:lpstr>From Demo to Production: A Year of Agentic AI in Financial Markets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About dxFeed</vt:lpstr>
      <vt:lpstr>What we shipped this year</vt:lpstr>
      <vt:lpstr>The model stopped being the interesting part</vt:lpstr>
      <vt:lpstr>dxMCP: what's on the surface</vt:lpstr>
      <vt:lpstr>PowerPoint Presentation</vt:lpstr>
      <vt:lpstr>PowerPoint Presentation</vt:lpstr>
      <vt:lpstr>PowerPoint Presentation</vt:lpstr>
      <vt:lpstr>Decision rule #1: when MCP is the right answer</vt:lpstr>
      <vt:lpstr>SummerFox: the market report, written by agents</vt:lpstr>
      <vt:lpstr>PowerPoint Presentation</vt:lpstr>
      <vt:lpstr>A headline is not a ticker</vt:lpstr>
      <vt:lpstr>Still no silver bullet</vt:lpstr>
      <vt:lpstr>Four layers, each with one job</vt:lpstr>
      <vt:lpstr>Decision rule #2: where the model belongs</vt:lpstr>
      <vt:lpstr>PowerPoint Presentation</vt:lpstr>
      <vt:lpstr>PowerPoint Presentation</vt:lpstr>
      <vt:lpstr>Target vs delivered</vt:lpstr>
      <vt:lpstr>PowerPoint Presentation</vt:lpstr>
      <vt:lpstr>Decision rule #3: when to train your own model</vt:lpstr>
      <vt:lpstr>Six evals, three buckets</vt:lpstr>
      <vt:lpstr>Bonus: quality control and AI economics</vt:lpstr>
      <vt:lpstr>The blueprint</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template includes</dc:title>
  <dc:creator>Microsoft Office User</dc:creator>
  <cp:lastModifiedBy>Anton Antonov</cp:lastModifiedBy>
  <cp:revision>171</cp:revision>
  <dcterms:created xsi:type="dcterms:W3CDTF">2022-07-18T16:28:56Z</dcterms:created>
  <dcterms:modified xsi:type="dcterms:W3CDTF">2026-09-21T10:00:54Z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29eed6f-34eb-4453-9f97-09510b9b219f_Enabled">
    <vt:lpwstr>true</vt:lpwstr>
  </property>
  <property fmtid="{D5CDD505-2E9C-101B-9397-08002B2CF9AE}" pid="3" name="MSIP_Label_929eed6f-34eb-4453-9f97-09510b9b219f_SetDate">
    <vt:lpwstr>2025-06-10T16:50:23Z</vt:lpwstr>
  </property>
  <property fmtid="{D5CDD505-2E9C-101B-9397-08002B2CF9AE}" pid="4" name="MSIP_Label_929eed6f-34eb-4453-9f97-09510b9b219f_Method">
    <vt:lpwstr>Standard</vt:lpwstr>
  </property>
  <property fmtid="{D5CDD505-2E9C-101B-9397-08002B2CF9AE}" pid="5" name="MSIP_Label_929eed6f-34eb-4453-9f97-09510b9b219f_Name">
    <vt:lpwstr>Amazon Pending_Classification</vt:lpwstr>
  </property>
  <property fmtid="{D5CDD505-2E9C-101B-9397-08002B2CF9AE}" pid="6" name="MSIP_Label_929eed6f-34eb-4453-9f97-09510b9b219f_SiteId">
    <vt:lpwstr>5280104a-472d-4538-9ccf-1e1d0efe8b1b</vt:lpwstr>
  </property>
  <property fmtid="{D5CDD505-2E9C-101B-9397-08002B2CF9AE}" pid="7" name="MSIP_Label_929eed6f-34eb-4453-9f97-09510b9b219f_ActionId">
    <vt:lpwstr>f2e41863-918f-47a1-96bc-57a4c0e85597</vt:lpwstr>
  </property>
  <property fmtid="{D5CDD505-2E9C-101B-9397-08002B2CF9AE}" pid="8" name="MSIP_Label_929eed6f-34eb-4453-9f97-09510b9b219f_ContentBits">
    <vt:lpwstr>0</vt:lpwstr>
  </property>
  <property fmtid="{D5CDD505-2E9C-101B-9397-08002B2CF9AE}" pid="9" name="MSIP_Label_929eed6f-34eb-4453-9f97-09510b9b219f_Tag">
    <vt:lpwstr>50, 3, 0, 1</vt:lpwstr>
  </property>
  <property fmtid="{D5CDD505-2E9C-101B-9397-08002B2CF9AE}" pid="10" name="ContentTypeId">
    <vt:lpwstr>0x0101000DCD80A91D9EC14E92C17E69EF3A2BFE</vt:lpwstr>
  </property>
</Properties>
</file>